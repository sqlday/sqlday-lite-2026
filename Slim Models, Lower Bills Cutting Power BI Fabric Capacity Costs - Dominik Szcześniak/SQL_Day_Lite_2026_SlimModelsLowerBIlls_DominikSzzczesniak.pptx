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  <p:sldMasterId id="2147483648" r:id="rId6"/>
  </p:sldMasterIdLst>
  <p:sldIdLst>
    <p:sldId id="262" r:id="rId7"/>
    <p:sldId id="260" r:id="rId8"/>
    <p:sldId id="297" r:id="rId9"/>
    <p:sldId id="263" r:id="rId10"/>
    <p:sldId id="264" r:id="rId11"/>
    <p:sldId id="265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5" r:id="rId28"/>
    <p:sldId id="286" r:id="rId29"/>
    <p:sldId id="287" r:id="rId30"/>
    <p:sldId id="299" r:id="rId31"/>
    <p:sldId id="300" r:id="rId32"/>
    <p:sldId id="288" r:id="rId33"/>
    <p:sldId id="289" r:id="rId34"/>
    <p:sldId id="301" r:id="rId35"/>
    <p:sldId id="290" r:id="rId36"/>
    <p:sldId id="291" r:id="rId37"/>
    <p:sldId id="294" r:id="rId38"/>
    <p:sldId id="295" r:id="rId39"/>
    <p:sldId id="292" r:id="rId40"/>
    <p:sldId id="298" r:id="rId41"/>
    <p:sldId id="26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E7324-C98F-4BCC-815A-61297D4D9195}" v="1" dt="2026-10-02T09:17:28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47"/>
  </p:normalViewPr>
  <p:slideViewPr>
    <p:cSldViewPr snapToGrid="0" snapToObjects="1">
      <p:cViewPr varScale="1">
        <p:scale>
          <a:sx n="103" d="100"/>
          <a:sy n="103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Szcześniak" userId="fdb5197758b81320" providerId="LiveId" clId="{EA3CD4E9-4D57-4EC7-9CE8-72163E0F9A30}"/>
    <pc:docChg chg="modSld">
      <pc:chgData name="Dominik Szcześniak" userId="fdb5197758b81320" providerId="LiveId" clId="{EA3CD4E9-4D57-4EC7-9CE8-72163E0F9A30}" dt="2026-10-02T09:17:32.041" v="34"/>
      <pc:docMkLst>
        <pc:docMk/>
      </pc:docMkLst>
      <pc:sldChg chg="addSp delSp modSp mod">
        <pc:chgData name="Dominik Szcześniak" userId="fdb5197758b81320" providerId="LiveId" clId="{EA3CD4E9-4D57-4EC7-9CE8-72163E0F9A30}" dt="2026-10-02T09:17:32.041" v="34"/>
        <pc:sldMkLst>
          <pc:docMk/>
          <pc:sldMk cId="1412571465" sldId="297"/>
        </pc:sldMkLst>
        <pc:spChg chg="add mod">
          <ac:chgData name="Dominik Szcześniak" userId="fdb5197758b81320" providerId="LiveId" clId="{EA3CD4E9-4D57-4EC7-9CE8-72163E0F9A30}" dt="2026-10-02T09:17:26.142" v="31" actId="20577"/>
          <ac:spMkLst>
            <pc:docMk/>
            <pc:sldMk cId="1412571465" sldId="297"/>
            <ac:spMk id="7" creationId="{E4A68272-D4F2-E675-6EEC-4A862E6D525C}"/>
          </ac:spMkLst>
        </pc:spChg>
        <pc:spChg chg="add del mod">
          <ac:chgData name="Dominik Szcześniak" userId="fdb5197758b81320" providerId="LiveId" clId="{EA3CD4E9-4D57-4EC7-9CE8-72163E0F9A30}" dt="2026-10-02T09:17:32.041" v="34"/>
          <ac:spMkLst>
            <pc:docMk/>
            <pc:sldMk cId="1412571465" sldId="297"/>
            <ac:spMk id="8" creationId="{7D45159A-4492-AD0E-D854-6D411B5713AD}"/>
          </ac:spMkLst>
        </pc:spChg>
        <pc:picChg chg="mod">
          <ac:chgData name="Dominik Szcześniak" userId="fdb5197758b81320" providerId="LiveId" clId="{EA3CD4E9-4D57-4EC7-9CE8-72163E0F9A30}" dt="2026-10-02T09:16:51.766" v="0" actId="1076"/>
          <ac:picMkLst>
            <pc:docMk/>
            <pc:sldMk cId="1412571465" sldId="297"/>
            <ac:picMk id="11" creationId="{5A65CCE1-839A-0A79-2A42-51F86D0B09EF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l-PL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A7B0B8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0B7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F13-451E-B483-D7B27ECDF92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120 GB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571-4480-90DD-7FED14B1065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64</a:t>
                    </a:r>
                    <a:r>
                      <a:rPr lang="en-US" baseline="0"/>
                      <a:t> GB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F13-451E-B483-D7B27ECDF921}"/>
                </c:ext>
              </c:extLst>
            </c:dLbl>
            <c:numFmt formatCode="#,##0&quot; GB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E2329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2"/>
              <c:pt idx="0">
                <c:v>Before</c:v>
              </c:pt>
              <c:pt idx="1">
                <c:v>After</c:v>
              </c:pt>
            </c:strLit>
          </c:cat>
          <c:val>
            <c:numLit>
              <c:formatCode>General</c:formatCode>
              <c:ptCount val="2"/>
              <c:pt idx="0">
                <c:v>140</c:v>
              </c:pt>
              <c:pt idx="1">
                <c:v>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F13-451E-B483-D7B27ECDF9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3C4C3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E2329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75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2BD0-3E8F-915C-23F3-4FFF40C2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57ABD-964D-D1CB-61C2-086DBC52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639E-E6C4-F10B-274F-ECD5D6F9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8FADB-9722-FDB8-B825-864C61B9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4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B3D7-1930-B4FB-9105-9FE20DA2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1CB7F-1780-0551-9659-8D10E3F74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2E86E-CBED-7855-4BD6-99FF8E21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93B68-AF0E-47B7-944F-2D5C3635EE72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40884-ACDE-0AFA-E7A3-1C4ED9A5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1847D-EB62-DF0B-F206-14B477D8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F0B12-98C5-4A96-B45A-20E859E73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06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AccentBar"/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90" name="DeckFooter"/>
          <p:cNvSpPr txBox="1"/>
          <p:nvPr userDrawn="1"/>
        </p:nvSpPr>
        <p:spPr>
          <a:xfrm>
            <a:off x="838200" y="6477000"/>
            <a:ext cx="6000000" cy="254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en-US" sz="1000" dirty="0">
                <a:solidFill>
                  <a:schemeClr val="accent3"/>
                </a:solidFill>
              </a:rPr>
              <a:t>Slim Models, Lower Bills  ·  SQL Day Lite Gdańsk</a:t>
            </a:r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20FCF-99F2-7A24-42F1-EBD4F337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475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20CC-F572-DE62-0AAB-CCC45741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2F9E-3C55-8F8A-D67A-7C9AA57BE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18A68-7E6F-4792-81EA-3F8FCF2AD9D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732D-4FFE-1FB3-4CFA-9B128DD83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36AF-2FAC-96CE-CCF7-B6189B2D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swal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swald" pitchFamily="2" charset="-1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swald" pitchFamily="2" charset="-1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swald" pitchFamily="2" charset="-1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3D775-E80F-CAB2-1F2C-5020F1A6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4617C-8654-6B2F-DDAB-AB7E8B04A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6F55-9A02-7E37-0FAD-8ACF83D5B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93B68-AF0E-47B7-944F-2D5C3635EE72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10368-A742-8D37-B938-E3F14FD80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26E71-F21E-E919-72C1-619B5482A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F0B12-98C5-4A96-B45A-20E859E73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69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kontakt@danesawszedzie.p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D8929C10-0841-4659-A29C-CBD419188C9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B700475-98F1-405B-BF2C-ADF5C86B4B4B}"/>
              </a:ext>
            </a:extLst>
          </p:cNvPr>
          <p:cNvSpPr txBox="1"/>
          <p:nvPr/>
        </p:nvSpPr>
        <p:spPr>
          <a:xfrm>
            <a:off x="838200" y="2159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 b="1" dirty="0">
                <a:solidFill>
                  <a:srgbClr val="0B7A6B"/>
                </a:solidFill>
              </a:rPr>
              <a:t>SQL Day Lite 2026 · Gdańsk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A33EDBD-1DCB-456D-9368-07BE27CDD776}"/>
              </a:ext>
            </a:extLst>
          </p:cNvPr>
          <p:cNvSpPr txBox="1"/>
          <p:nvPr/>
        </p:nvSpPr>
        <p:spPr>
          <a:xfrm>
            <a:off x="838200" y="2540000"/>
            <a:ext cx="10922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4800" b="1">
                <a:solidFill>
                  <a:srgbClr val="1E2329"/>
                </a:solidFill>
                <a:latin typeface="Segoe UI Semibold"/>
                <a:cs typeface="Segoe UI Semibold"/>
              </a:rPr>
              <a:t>Slim Models, Lower Bills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DCE0187-982A-4A17-A2D7-5CE9677CE735}"/>
              </a:ext>
            </a:extLst>
          </p:cNvPr>
          <p:cNvSpPr txBox="1"/>
          <p:nvPr/>
        </p:nvSpPr>
        <p:spPr>
          <a:xfrm>
            <a:off x="838200" y="34925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>
                <a:solidFill>
                  <a:srgbClr val="3A4450"/>
                </a:solidFill>
              </a:rPr>
              <a:t>Cutting Power BI and Fabric capacity costs from the inside</a:t>
            </a:r>
            <a:endParaRPr lang="pl-PL" sz="2400">
              <a:solidFill>
                <a:srgbClr val="3A4450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6C2C418-C6FB-4E86-8D5B-0AD00AD450B5}"/>
              </a:ext>
            </a:extLst>
          </p:cNvPr>
          <p:cNvSpPr txBox="1"/>
          <p:nvPr/>
        </p:nvSpPr>
        <p:spPr>
          <a:xfrm>
            <a:off x="838200" y="4597400"/>
            <a:ext cx="109220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rgbClr val="5B6B7A"/>
                </a:solidFill>
              </a:rPr>
              <a:t>Two real projects, dozens of models and one very big fact table</a:t>
            </a:r>
            <a:endParaRPr lang="pl-PL" dirty="0">
              <a:solidFill>
                <a:srgbClr val="5B6B7A"/>
              </a:solidFill>
            </a:endParaRPr>
          </a:p>
          <a:p>
            <a:endParaRPr lang="pl-PL" dirty="0">
              <a:solidFill>
                <a:srgbClr val="5B6B7A"/>
              </a:solidFill>
            </a:endParaRPr>
          </a:p>
          <a:p>
            <a:endParaRPr lang="pl-PL" dirty="0">
              <a:solidFill>
                <a:srgbClr val="5B6B7A"/>
              </a:solidFill>
            </a:endParaRPr>
          </a:p>
          <a:p>
            <a:endParaRPr lang="pl-PL" dirty="0">
              <a:solidFill>
                <a:srgbClr val="5B6B7A"/>
              </a:solidFill>
            </a:endParaRPr>
          </a:p>
          <a:p>
            <a:endParaRPr lang="pl-PL" dirty="0">
              <a:solidFill>
                <a:srgbClr val="5B6B7A"/>
              </a:solidFill>
            </a:endParaRPr>
          </a:p>
          <a:p>
            <a:r>
              <a:rPr lang="pl-PL" b="1" dirty="0">
                <a:solidFill>
                  <a:srgbClr val="5B6B7A"/>
                </a:solidFill>
              </a:rPr>
              <a:t>Dominik Szcześniak </a:t>
            </a:r>
            <a:r>
              <a:rPr lang="pl-PL" dirty="0">
                <a:solidFill>
                  <a:srgbClr val="5B6B7A"/>
                </a:solidFill>
              </a:rPr>
              <a:t>/ Senior BI Developer / Dane Są Wszędzie </a:t>
            </a:r>
          </a:p>
        </p:txBody>
      </p:sp>
    </p:spTree>
    <p:extLst>
      <p:ext uri="{BB962C8B-B14F-4D97-AF65-F5344CB8AC3E}">
        <p14:creationId xmlns:p14="http://schemas.microsoft.com/office/powerpoint/2010/main" val="428184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a 4">
            <a:extLst>
              <a:ext uri="{FF2B5EF4-FFF2-40B4-BE49-F238E27FC236}">
                <a16:creationId xmlns:a16="http://schemas.microsoft.com/office/drawing/2014/main" id="{FC87DFA0-2F98-EEF0-B21C-C94C44FEEF3B}"/>
              </a:ext>
            </a:extLst>
          </p:cNvPr>
          <p:cNvGrpSpPr/>
          <p:nvPr/>
        </p:nvGrpSpPr>
        <p:grpSpPr>
          <a:xfrm>
            <a:off x="685800" y="431800"/>
            <a:ext cx="10820400" cy="5765800"/>
            <a:chOff x="685800" y="431800"/>
            <a:chExt cx="10820400" cy="5765800"/>
          </a:xfrm>
        </p:grpSpPr>
        <p:sp>
          <p:nvSpPr>
            <p:cNvPr id="4" name="Section Divider Bottom">
              <a:extLst>
                <a:ext uri="{FF2B5EF4-FFF2-40B4-BE49-F238E27FC236}">
                  <a16:creationId xmlns:a16="http://schemas.microsoft.com/office/drawing/2014/main" id="{DCB3FAE7-7D92-4287-86AB-3689210E72FA}"/>
                </a:ext>
              </a:extLst>
            </p:cNvPr>
            <p:cNvSpPr/>
            <p:nvPr/>
          </p:nvSpPr>
          <p:spPr>
            <a:xfrm>
              <a:off x="685800" y="4800600"/>
              <a:ext cx="10820400" cy="12700"/>
            </a:xfrm>
            <a:prstGeom prst="rect">
              <a:avLst/>
            </a:prstGeom>
            <a:solidFill>
              <a:srgbClr val="D9E1E8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l-PL"/>
            </a:p>
          </p:txBody>
        </p:sp>
        <p:sp>
          <p:nvSpPr>
            <p:cNvPr id="2" name="Section Divider Top">
              <a:extLst>
                <a:ext uri="{FF2B5EF4-FFF2-40B4-BE49-F238E27FC236}">
                  <a16:creationId xmlns:a16="http://schemas.microsoft.com/office/drawing/2014/main" id="{592FA4A1-93D3-412C-B122-CF831C6CF17B}"/>
                </a:ext>
              </a:extLst>
            </p:cNvPr>
            <p:cNvSpPr/>
            <p:nvPr/>
          </p:nvSpPr>
          <p:spPr>
            <a:xfrm>
              <a:off x="685800" y="2768600"/>
              <a:ext cx="10820400" cy="12700"/>
            </a:xfrm>
            <a:prstGeom prst="rect">
              <a:avLst/>
            </a:prstGeom>
            <a:solidFill>
              <a:srgbClr val="D9E1E8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l-PL"/>
            </a:p>
          </p:txBody>
        </p:sp>
        <p:pic>
          <p:nvPicPr>
            <p:cNvPr id="3" name="Obraz 2">
              <a:extLst>
                <a:ext uri="{FF2B5EF4-FFF2-40B4-BE49-F238E27FC236}">
                  <a16:creationId xmlns:a16="http://schemas.microsoft.com/office/drawing/2014/main" id="{0F081450-2AE8-22BD-F26B-2D78BE9B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2400" y="3632200"/>
              <a:ext cx="2895600" cy="850900"/>
            </a:xfrm>
            <a:prstGeom prst="rect">
              <a:avLst/>
            </a:prstGeom>
          </p:spPr>
        </p:pic>
        <p:pic>
          <p:nvPicPr>
            <p:cNvPr id="6" name="Obraz 5">
              <a:extLst>
                <a:ext uri="{FF2B5EF4-FFF2-40B4-BE49-F238E27FC236}">
                  <a16:creationId xmlns:a16="http://schemas.microsoft.com/office/drawing/2014/main" id="{1679883A-2046-D5DA-A2FE-9403DD516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3000" y="3733800"/>
              <a:ext cx="4445000" cy="622300"/>
            </a:xfrm>
            <a:prstGeom prst="rect">
              <a:avLst/>
            </a:prstGeom>
          </p:spPr>
        </p:pic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98783738-BCDB-AF7F-3643-782099ED1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6000" y="5562600"/>
              <a:ext cx="2489200" cy="546100"/>
            </a:xfrm>
            <a:prstGeom prst="rect">
              <a:avLst/>
            </a:prstGeom>
          </p:spPr>
        </p:pic>
        <p:pic>
          <p:nvPicPr>
            <p:cNvPr id="8" name="Obraz 7">
              <a:extLst>
                <a:ext uri="{FF2B5EF4-FFF2-40B4-BE49-F238E27FC236}">
                  <a16:creationId xmlns:a16="http://schemas.microsoft.com/office/drawing/2014/main" id="{0336A083-A46B-5F16-AFA6-B584103A9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0" y="5511800"/>
              <a:ext cx="1676400" cy="685800"/>
            </a:xfrm>
            <a:prstGeom prst="rect">
              <a:avLst/>
            </a:prstGeom>
          </p:spPr>
        </p:pic>
        <p:pic>
          <p:nvPicPr>
            <p:cNvPr id="10" name="Grafika 9">
              <a:extLst>
                <a:ext uri="{FF2B5EF4-FFF2-40B4-BE49-F238E27FC236}">
                  <a16:creationId xmlns:a16="http://schemas.microsoft.com/office/drawing/2014/main" id="{0A15739E-A208-5641-6A8C-B43E3944DB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48400" y="1562100"/>
              <a:ext cx="4267200" cy="889000"/>
            </a:xfrm>
            <a:prstGeom prst="rect">
              <a:avLst/>
            </a:prstGeom>
          </p:spPr>
        </p:pic>
        <p:pic>
          <p:nvPicPr>
            <p:cNvPr id="18" name="Grafika 17">
              <a:extLst>
                <a:ext uri="{FF2B5EF4-FFF2-40B4-BE49-F238E27FC236}">
                  <a16:creationId xmlns:a16="http://schemas.microsoft.com/office/drawing/2014/main" id="{9033AEB1-6B3E-B56A-2356-BF52653A82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8400" y="1625600"/>
              <a:ext cx="3149600" cy="838200"/>
            </a:xfrm>
            <a:prstGeom prst="rect">
              <a:avLst/>
            </a:prstGeom>
          </p:spPr>
        </p:pic>
        <p:sp>
          <p:nvSpPr>
            <p:cNvPr id="19" name="pole tekstowe 18">
              <a:extLst>
                <a:ext uri="{FF2B5EF4-FFF2-40B4-BE49-F238E27FC236}">
                  <a16:creationId xmlns:a16="http://schemas.microsoft.com/office/drawing/2014/main" id="{CA0E56EB-39C5-FECF-E463-ABDC264F1FCC}"/>
                </a:ext>
              </a:extLst>
            </p:cNvPr>
            <p:cNvSpPr txBox="1"/>
            <p:nvPr/>
          </p:nvSpPr>
          <p:spPr>
            <a:xfrm>
              <a:off x="685800" y="431800"/>
              <a:ext cx="6604000" cy="431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B2239"/>
                  </a:solidFill>
                  <a:latin typeface="Aptos Display"/>
                </a:rPr>
                <a:t>PARTNERS &amp; SPONSORS</a:t>
              </a:r>
            </a:p>
          </p:txBody>
        </p:sp>
        <p:sp>
          <p:nvSpPr>
            <p:cNvPr id="21" name="pole tekstowe 20">
              <a:extLst>
                <a:ext uri="{FF2B5EF4-FFF2-40B4-BE49-F238E27FC236}">
                  <a16:creationId xmlns:a16="http://schemas.microsoft.com/office/drawing/2014/main" id="{366A59E4-9424-DE13-C6DB-2DDB522FF43E}"/>
                </a:ext>
              </a:extLst>
            </p:cNvPr>
            <p:cNvSpPr txBox="1"/>
            <p:nvPr/>
          </p:nvSpPr>
          <p:spPr>
            <a:xfrm>
              <a:off x="685800" y="3073400"/>
              <a:ext cx="2286000" cy="22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E85D04"/>
                  </a:solidFill>
                  <a:latin typeface="Aptos"/>
                </a:rPr>
                <a:t>GOLD SPONSORS</a:t>
              </a:r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3377BE66-D5FE-8D9E-E9D6-DDD016F3E905}"/>
                </a:ext>
              </a:extLst>
            </p:cNvPr>
            <p:cNvSpPr txBox="1"/>
            <p:nvPr/>
          </p:nvSpPr>
          <p:spPr>
            <a:xfrm>
              <a:off x="685800" y="5105400"/>
              <a:ext cx="2286000" cy="22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E85D04"/>
                  </a:solidFill>
                  <a:latin typeface="Aptos"/>
                </a:rPr>
                <a:t>PATRONS</a:t>
              </a:r>
            </a:p>
          </p:txBody>
        </p:sp>
        <p:sp>
          <p:nvSpPr>
            <p:cNvPr id="24" name="Organizer Section Label">
              <a:extLst>
                <a:ext uri="{FF2B5EF4-FFF2-40B4-BE49-F238E27FC236}">
                  <a16:creationId xmlns:a16="http://schemas.microsoft.com/office/drawing/2014/main" id="{F647E6F6-5516-4F64-BDF0-880254706A14}"/>
                </a:ext>
              </a:extLst>
            </p:cNvPr>
            <p:cNvSpPr txBox="1"/>
            <p:nvPr/>
          </p:nvSpPr>
          <p:spPr>
            <a:xfrm>
              <a:off x="685800" y="1168400"/>
              <a:ext cx="2286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l-PL" sz="1100" b="1">
                  <a:solidFill>
                    <a:srgbClr val="E85D04"/>
                  </a:solidFill>
                  <a:latin typeface="Aptos"/>
                </a:rPr>
                <a:t>ORGANIZERS</a:t>
              </a:r>
            </a:p>
          </p:txBody>
        </p:sp>
        <p:sp>
          <p:nvSpPr>
            <p:cNvPr id="27" name="Title Accent">
              <a:extLst>
                <a:ext uri="{FF2B5EF4-FFF2-40B4-BE49-F238E27FC236}">
                  <a16:creationId xmlns:a16="http://schemas.microsoft.com/office/drawing/2014/main" id="{5B583DAD-45A3-43CC-91BA-989A34E7DC4F}"/>
                </a:ext>
              </a:extLst>
            </p:cNvPr>
            <p:cNvSpPr/>
            <p:nvPr/>
          </p:nvSpPr>
          <p:spPr>
            <a:xfrm>
              <a:off x="685800" y="939800"/>
              <a:ext cx="584200" cy="38100"/>
            </a:xfrm>
            <a:prstGeom prst="rect">
              <a:avLst/>
            </a:prstGeom>
            <a:solidFill>
              <a:srgbClr val="E85D0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92935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E9D8-4D14-2043-3C1B-E3CA2289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A575-F8D7-5113-DB47-338F47BBA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277" y="119270"/>
            <a:ext cx="11754679" cy="443947"/>
          </a:xfrm>
        </p:spPr>
        <p:txBody>
          <a:bodyPr anchor="t">
            <a:normAutofit/>
          </a:bodyPr>
          <a:lstStyle/>
          <a:p>
            <a:pPr algn="l"/>
            <a:r>
              <a:rPr lang="en-US" sz="2000" b="1" dirty="0">
                <a:latin typeface="Barlow" panose="00000500000000000000" pitchFamily="2" charset="0"/>
              </a:rPr>
              <a:t>Intro</a:t>
            </a:r>
            <a:endParaRPr lang="en-GB" sz="2000" dirty="0">
              <a:latin typeface="Barlow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9BDD3-24BC-9BA2-9590-75BF7D298B93}"/>
              </a:ext>
            </a:extLst>
          </p:cNvPr>
          <p:cNvSpPr txBox="1"/>
          <p:nvPr/>
        </p:nvSpPr>
        <p:spPr>
          <a:xfrm>
            <a:off x="7759097" y="1539433"/>
            <a:ext cx="3869635" cy="3939540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pPr algn="l"/>
            <a:r>
              <a:rPr lang="en-US" sz="2000" b="1" i="0" dirty="0">
                <a:effectLst/>
                <a:latin typeface="barlow" panose="00000500000000000000" pitchFamily="2" charset="0"/>
              </a:rPr>
              <a:t>About me</a:t>
            </a:r>
            <a:endParaRPr lang="en-GB" sz="2000" b="1" i="0" dirty="0">
              <a:effectLst/>
              <a:latin typeface="barlow" panose="00000500000000000000" pitchFamily="2" charset="0"/>
            </a:endParaRPr>
          </a:p>
          <a:p>
            <a:endParaRPr lang="en-IE" sz="14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r>
              <a:rPr lang="en-US" sz="1200" b="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In the data industry for about </a:t>
            </a:r>
            <a:r>
              <a:rPr lang="pl-PL" sz="1200" dirty="0">
                <a:solidFill>
                  <a:srgbClr val="242424"/>
                </a:solidFill>
                <a:latin typeface="barlow" panose="00000500000000000000" pitchFamily="2" charset="0"/>
              </a:rPr>
              <a:t>9</a:t>
            </a:r>
            <a:r>
              <a:rPr lang="en-US" sz="1200" b="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 years.</a:t>
            </a: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</a:rPr>
              <a:t>Mostly on the Microsoft stack, both on-prem and in the cloud</a:t>
            </a:r>
          </a:p>
          <a:p>
            <a:pPr algn="l"/>
            <a:endParaRPr lang="en-US" sz="1200" b="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  <a:p>
            <a:pPr algn="l"/>
            <a:r>
              <a:rPr lang="en-US" sz="1200" b="1" dirty="0">
                <a:solidFill>
                  <a:srgbClr val="242424"/>
                </a:solidFill>
                <a:latin typeface="barlow" panose="00000500000000000000" pitchFamily="2" charset="0"/>
              </a:rPr>
              <a:t>Current project: Databricks + Power BI as the semantic layer</a:t>
            </a: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</a:rPr>
              <a:t>Industries: logistics, banking, finance, FMCG, sports (football), HR</a:t>
            </a:r>
          </a:p>
          <a:p>
            <a:pPr algn="l"/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endParaRPr lang="en-US" sz="1200" dirty="0">
              <a:solidFill>
                <a:srgbClr val="242424"/>
              </a:solidFill>
              <a:latin typeface="barlow" panose="00000500000000000000" pitchFamily="2" charset="0"/>
              <a:sym typeface="Wingdings" panose="05000000000000000000" pitchFamily="2" charset="2"/>
            </a:endParaRP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  <a:sym typeface="Wingdings" panose="05000000000000000000" pitchFamily="2" charset="2"/>
            </a:endParaRP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endParaRPr lang="en-US" sz="1200" b="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</p:txBody>
      </p:sp>
      <p:pic>
        <p:nvPicPr>
          <p:cNvPr id="5" name="Obraz 4" descr="Obraz zawierający wzór, kwadrat, Symetria, sztuka&#10;&#10;Zawartość wygenerowana przez AI może być niepoprawna.">
            <a:extLst>
              <a:ext uri="{FF2B5EF4-FFF2-40B4-BE49-F238E27FC236}">
                <a16:creationId xmlns:a16="http://schemas.microsoft.com/office/drawing/2014/main" id="{548835B5-6A18-4A1C-17A3-F04E53FFE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1" y="1012722"/>
            <a:ext cx="2496481" cy="2496481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10CDC757-95F5-82B8-2F60-F8A081EA0F5C}"/>
              </a:ext>
            </a:extLst>
          </p:cNvPr>
          <p:cNvSpPr txBox="1"/>
          <p:nvPr/>
        </p:nvSpPr>
        <p:spPr>
          <a:xfrm>
            <a:off x="563270" y="4189471"/>
            <a:ext cx="3869635" cy="2308324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Podcast </a:t>
            </a:r>
            <a:r>
              <a:rPr lang="en-US" sz="1200" dirty="0"/>
              <a:t>🎙️</a:t>
            </a:r>
            <a:r>
              <a:rPr lang="en-US" sz="1200" b="1" dirty="0">
                <a:solidFill>
                  <a:srgbClr val="242424"/>
                </a:solidFill>
                <a:latin typeface="barlow" panose="00000500000000000000" pitchFamily="2" charset="0"/>
              </a:rPr>
              <a:t> </a:t>
            </a:r>
            <a:r>
              <a:rPr lang="en-US" sz="120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: Dane </a:t>
            </a:r>
            <a:r>
              <a:rPr lang="en-US" sz="1200" i="0" dirty="0" err="1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Są</a:t>
            </a:r>
            <a:r>
              <a:rPr lang="en-US" sz="120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 </a:t>
            </a:r>
            <a:r>
              <a:rPr lang="en-US" sz="1200" i="0" dirty="0" err="1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Wszędzie</a:t>
            </a:r>
            <a:r>
              <a:rPr lang="pl-PL" sz="120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 </a:t>
            </a:r>
            <a:r>
              <a:rPr lang="pl-PL" sz="1200" i="0" dirty="0" err="1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available</a:t>
            </a:r>
            <a:r>
              <a:rPr lang="pl-PL" sz="120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 on </a:t>
            </a:r>
            <a:r>
              <a:rPr lang="pl-PL" sz="1200" i="0" dirty="0" err="1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Spotify</a:t>
            </a:r>
            <a:r>
              <a:rPr lang="pl-PL" sz="120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, YouTube, Apple </a:t>
            </a:r>
            <a:r>
              <a:rPr lang="pl-PL" sz="1200" i="0" dirty="0" err="1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Podcasts</a:t>
            </a:r>
            <a:endParaRPr lang="en-US" sz="120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endParaRPr lang="en-US" sz="1200" b="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  <a:p>
            <a:r>
              <a:rPr lang="en-US" sz="1200" b="1" dirty="0">
                <a:solidFill>
                  <a:srgbClr val="242424"/>
                </a:solidFill>
                <a:latin typeface="barlow" panose="00000500000000000000" pitchFamily="2" charset="0"/>
              </a:rPr>
              <a:t>Blog </a:t>
            </a:r>
            <a:r>
              <a:rPr lang="en-US" sz="1200" dirty="0"/>
              <a:t>📊✍️ 🧩💡 </a:t>
            </a:r>
            <a: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</a:rPr>
              <a:t>: danesawszedzie.pl</a:t>
            </a:r>
          </a:p>
          <a:p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</a:rPr>
            </a:br>
            <a:r>
              <a:rPr lang="en-US" sz="1200" b="1" dirty="0">
                <a:solidFill>
                  <a:srgbClr val="242424"/>
                </a:solidFill>
                <a:latin typeface="barlow" panose="00000500000000000000" pitchFamily="2" charset="0"/>
              </a:rPr>
              <a:t>IG @danesawszedzie</a:t>
            </a: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r>
              <a:rPr lang="en-US" sz="1200" b="1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Mail</a:t>
            </a:r>
            <a:r>
              <a:rPr lang="en-US" sz="1200" b="0" i="0" dirty="0">
                <a:solidFill>
                  <a:srgbClr val="242424"/>
                </a:solidFill>
                <a:effectLst/>
                <a:latin typeface="barlow" panose="00000500000000000000" pitchFamily="2" charset="0"/>
              </a:rPr>
              <a:t>: </a:t>
            </a:r>
            <a:r>
              <a:rPr lang="en-US" sz="1200" b="0" i="0" dirty="0">
                <a:solidFill>
                  <a:srgbClr val="242424"/>
                </a:solidFill>
                <a:effectLst/>
                <a:latin typeface="barlow" panose="00000500000000000000" pitchFamily="2" charset="0"/>
                <a:hlinkClick r:id="rId3"/>
              </a:rPr>
              <a:t>konta</a:t>
            </a:r>
            <a: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hlinkClick r:id="rId3"/>
              </a:rPr>
              <a:t>kt@danesawszedzie.pl</a:t>
            </a:r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endParaRPr lang="en-US" sz="1200" b="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endParaRPr lang="en-US" sz="1200" b="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5A65CCE1-839A-0A79-2A42-51F86D0B0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430" y="-56994"/>
            <a:ext cx="2317956" cy="2317956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E4A68272-D4F2-E675-6EEC-4A862E6D525C}"/>
              </a:ext>
            </a:extLst>
          </p:cNvPr>
          <p:cNvSpPr txBox="1"/>
          <p:nvPr/>
        </p:nvSpPr>
        <p:spPr>
          <a:xfrm>
            <a:off x="2179981" y="3560275"/>
            <a:ext cx="3869635" cy="1877437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pPr algn="l"/>
            <a:r>
              <a:rPr lang="pl-PL" sz="2000" b="1" i="0" dirty="0">
                <a:effectLst/>
                <a:latin typeface="barlow" panose="00000500000000000000" pitchFamily="2" charset="0"/>
              </a:rPr>
              <a:t>Scan to </a:t>
            </a:r>
            <a:r>
              <a:rPr lang="pl-PL" sz="2000" b="1" i="0" dirty="0" err="1">
                <a:effectLst/>
                <a:latin typeface="barlow" panose="00000500000000000000" pitchFamily="2" charset="0"/>
              </a:rPr>
              <a:t>check</a:t>
            </a:r>
            <a:r>
              <a:rPr lang="pl-PL" sz="2000" b="1" i="0" dirty="0">
                <a:effectLst/>
                <a:latin typeface="barlow" panose="00000500000000000000" pitchFamily="2" charset="0"/>
              </a:rPr>
              <a:t> out my podcast</a:t>
            </a:r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br>
              <a:rPr lang="en-US" sz="1200" dirty="0">
                <a:solidFill>
                  <a:srgbClr val="242424"/>
                </a:solidFill>
                <a:latin typeface="barlow" panose="00000500000000000000" pitchFamily="2" charset="0"/>
                <a:sym typeface="Wingdings" panose="05000000000000000000" pitchFamily="2" charset="2"/>
              </a:rPr>
            </a:br>
            <a:endParaRPr lang="en-US" sz="1200" dirty="0">
              <a:solidFill>
                <a:srgbClr val="242424"/>
              </a:solidFill>
              <a:latin typeface="barlow" panose="00000500000000000000" pitchFamily="2" charset="0"/>
              <a:sym typeface="Wingdings" panose="05000000000000000000" pitchFamily="2" charset="2"/>
            </a:endParaRP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  <a:sym typeface="Wingdings" panose="05000000000000000000" pitchFamily="2" charset="2"/>
            </a:endParaRPr>
          </a:p>
          <a:p>
            <a:pPr algn="l"/>
            <a:endParaRPr lang="en-US" sz="1200" dirty="0">
              <a:solidFill>
                <a:srgbClr val="242424"/>
              </a:solidFill>
              <a:latin typeface="barlow" panose="00000500000000000000" pitchFamily="2" charset="0"/>
            </a:endParaRPr>
          </a:p>
          <a:p>
            <a:pPr algn="l"/>
            <a:endParaRPr lang="en-US" sz="1200" b="0" i="0" dirty="0">
              <a:solidFill>
                <a:srgbClr val="242424"/>
              </a:solidFill>
              <a:effectLst/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7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6B655A-9CA1-73E8-CA8E-32A838E8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pl-PL"/>
              <a:t>Agenda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4AC1D5F-DFFF-4366-A503-F676E8B4F1CE}"/>
              </a:ext>
            </a:extLst>
          </p:cNvPr>
          <p:cNvSpPr txBox="1"/>
          <p:nvPr/>
        </p:nvSpPr>
        <p:spPr>
          <a:xfrm>
            <a:off x="927100" y="18542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800" b="1">
                <a:solidFill>
                  <a:srgbClr val="0B7A6B"/>
                </a:solidFill>
                <a:latin typeface="Segoe UI Semibold"/>
                <a:cs typeface="Segoe UI Semibold"/>
              </a:rPr>
              <a:t>01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F8472E1-8409-481F-8F67-E61C32AA7A92}"/>
              </a:ext>
            </a:extLst>
          </p:cNvPr>
          <p:cNvSpPr txBox="1"/>
          <p:nvPr/>
        </p:nvSpPr>
        <p:spPr>
          <a:xfrm>
            <a:off x="1905000" y="1905000"/>
            <a:ext cx="9144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 b="1">
                <a:solidFill>
                  <a:srgbClr val="1E2329"/>
                </a:solidFill>
              </a:rPr>
              <a:t>Semantic models as a serving layer</a:t>
            </a:r>
            <a:endParaRPr lang="pl-PL" sz="2400" b="1">
              <a:solidFill>
                <a:srgbClr val="1E2329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C1792DC-6548-4C6B-A2FE-325644AF9A26}"/>
              </a:ext>
            </a:extLst>
          </p:cNvPr>
          <p:cNvSpPr txBox="1"/>
          <p:nvPr/>
        </p:nvSpPr>
        <p:spPr>
          <a:xfrm>
            <a:off x="927100" y="26416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800" b="1">
                <a:solidFill>
                  <a:srgbClr val="0B7A6B"/>
                </a:solidFill>
                <a:latin typeface="Segoe UI Semibold"/>
                <a:cs typeface="Segoe UI Semibold"/>
              </a:rPr>
              <a:t>02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1BA2F04-DF3D-4595-B0DB-4DF5BB70B328}"/>
              </a:ext>
            </a:extLst>
          </p:cNvPr>
          <p:cNvSpPr txBox="1"/>
          <p:nvPr/>
        </p:nvSpPr>
        <p:spPr>
          <a:xfrm>
            <a:off x="1905000" y="2692400"/>
            <a:ext cx="9144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 b="1">
                <a:solidFill>
                  <a:srgbClr val="1E2329"/>
                </a:solidFill>
              </a:rPr>
              <a:t>Where the memory goes (demo)</a:t>
            </a:r>
            <a:endParaRPr lang="pl-PL" sz="2400" b="1">
              <a:solidFill>
                <a:srgbClr val="1E2329"/>
              </a:solidFill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C5C68FE-4655-4843-8639-9CC35D6CED2F}"/>
              </a:ext>
            </a:extLst>
          </p:cNvPr>
          <p:cNvSpPr txBox="1"/>
          <p:nvPr/>
        </p:nvSpPr>
        <p:spPr>
          <a:xfrm>
            <a:off x="927100" y="34290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800" b="1">
                <a:solidFill>
                  <a:srgbClr val="0B7A6B"/>
                </a:solidFill>
                <a:latin typeface="Segoe UI Semibold"/>
                <a:cs typeface="Segoe UI Semibold"/>
              </a:rPr>
              <a:t>03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EB5A358-C339-417C-8B17-B87C6BA47BD9}"/>
              </a:ext>
            </a:extLst>
          </p:cNvPr>
          <p:cNvSpPr txBox="1"/>
          <p:nvPr/>
        </p:nvSpPr>
        <p:spPr>
          <a:xfrm>
            <a:off x="1905000" y="3479800"/>
            <a:ext cx="9144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 b="1" dirty="0">
                <a:solidFill>
                  <a:srgbClr val="1E2329"/>
                </a:solidFill>
              </a:rPr>
              <a:t>Case 1: a 1</a:t>
            </a:r>
            <a:r>
              <a:rPr lang="pl-PL" sz="2400" b="1" dirty="0">
                <a:solidFill>
                  <a:srgbClr val="1E2329"/>
                </a:solidFill>
              </a:rPr>
              <a:t>2</a:t>
            </a:r>
            <a:r>
              <a:rPr lang="en-US" sz="2400" b="1" dirty="0">
                <a:solidFill>
                  <a:srgbClr val="1E2329"/>
                </a:solidFill>
              </a:rPr>
              <a:t>0 GB model</a:t>
            </a:r>
            <a:endParaRPr lang="pl-PL" sz="2400" b="1" dirty="0">
              <a:solidFill>
                <a:srgbClr val="1E2329"/>
              </a:solidFill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55AA3E63-6939-43CE-92DE-B597CD115C30}"/>
              </a:ext>
            </a:extLst>
          </p:cNvPr>
          <p:cNvSpPr txBox="1"/>
          <p:nvPr/>
        </p:nvSpPr>
        <p:spPr>
          <a:xfrm>
            <a:off x="927100" y="42164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800" b="1">
                <a:solidFill>
                  <a:srgbClr val="0B7A6B"/>
                </a:solidFill>
                <a:latin typeface="Segoe UI Semibold"/>
                <a:cs typeface="Segoe UI Semibold"/>
              </a:rPr>
              <a:t>04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FCF48FC9-9663-4F18-B4B1-003F051E0799}"/>
              </a:ext>
            </a:extLst>
          </p:cNvPr>
          <p:cNvSpPr txBox="1"/>
          <p:nvPr/>
        </p:nvSpPr>
        <p:spPr>
          <a:xfrm>
            <a:off x="1905000" y="4267200"/>
            <a:ext cx="9144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 b="1" dirty="0">
                <a:solidFill>
                  <a:srgbClr val="1E2329"/>
                </a:solidFill>
              </a:rPr>
              <a:t>Case 2: a mandated cost cut</a:t>
            </a:r>
            <a:endParaRPr lang="pl-PL" sz="2400" b="1" dirty="0">
              <a:solidFill>
                <a:srgbClr val="1E2329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EC6FED0A-F5BC-47EC-B4EC-7DEEAC9407BA}"/>
              </a:ext>
            </a:extLst>
          </p:cNvPr>
          <p:cNvSpPr txBox="1"/>
          <p:nvPr/>
        </p:nvSpPr>
        <p:spPr>
          <a:xfrm>
            <a:off x="927100" y="50038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800" b="1">
                <a:solidFill>
                  <a:srgbClr val="0B7A6B"/>
                </a:solidFill>
                <a:latin typeface="Segoe UI Semibold"/>
                <a:cs typeface="Segoe UI Semibold"/>
              </a:rPr>
              <a:t>05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DB6E528-BCDD-46E0-BCCA-68E0C5A0353F}"/>
              </a:ext>
            </a:extLst>
          </p:cNvPr>
          <p:cNvSpPr txBox="1"/>
          <p:nvPr/>
        </p:nvSpPr>
        <p:spPr>
          <a:xfrm>
            <a:off x="1905000" y="5054600"/>
            <a:ext cx="9144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400" b="1">
                <a:solidFill>
                  <a:srgbClr val="1E2329"/>
                </a:solidFill>
              </a:rPr>
              <a:t>Takeaways and Q&amp;A</a:t>
            </a:r>
          </a:p>
        </p:txBody>
      </p:sp>
    </p:spTree>
    <p:extLst>
      <p:ext uri="{BB962C8B-B14F-4D97-AF65-F5344CB8AC3E}">
        <p14:creationId xmlns:p14="http://schemas.microsoft.com/office/powerpoint/2010/main" val="22293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24F577-B3E0-D3A2-724E-8E01DF14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pl-PL" dirty="0"/>
              <a:t>Big Picture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E69FA16-A63D-4F11-940A-3A6FAD859112}"/>
              </a:ext>
            </a:extLst>
          </p:cNvPr>
          <p:cNvSpPr txBox="1"/>
          <p:nvPr/>
        </p:nvSpPr>
        <p:spPr>
          <a:xfrm>
            <a:off x="927100" y="30480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Databricks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9B08E6C-E9C8-4BF9-BC21-33321D598AA6}"/>
              </a:ext>
            </a:extLst>
          </p:cNvPr>
          <p:cNvSpPr txBox="1"/>
          <p:nvPr/>
        </p:nvSpPr>
        <p:spPr>
          <a:xfrm>
            <a:off x="3365500" y="30480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Gold layer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17C5059E-EC5B-4ADD-B6AE-E618A0502139}"/>
              </a:ext>
            </a:extLst>
          </p:cNvPr>
          <p:cNvSpPr/>
          <p:nvPr/>
        </p:nvSpPr>
        <p:spPr>
          <a:xfrm>
            <a:off x="5778500" y="2857500"/>
            <a:ext cx="2413000" cy="8890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2DBA110-7574-4FA6-AE3C-CA46FD21A4DE}"/>
              </a:ext>
            </a:extLst>
          </p:cNvPr>
          <p:cNvSpPr txBox="1"/>
          <p:nvPr/>
        </p:nvSpPr>
        <p:spPr>
          <a:xfrm>
            <a:off x="5778500" y="31115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2200" b="1">
                <a:solidFill>
                  <a:srgbClr val="FFFFFF"/>
                </a:solidFill>
              </a:rPr>
              <a:t>Semantic models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3DAF774-80D2-491A-B263-5F6F127FF641}"/>
              </a:ext>
            </a:extLst>
          </p:cNvPr>
          <p:cNvSpPr txBox="1"/>
          <p:nvPr/>
        </p:nvSpPr>
        <p:spPr>
          <a:xfrm>
            <a:off x="927100" y="4699000"/>
            <a:ext cx="103378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400" dirty="0">
                <a:solidFill>
                  <a:srgbClr val="3A4450"/>
                </a:solidFill>
              </a:rPr>
              <a:t>The b</a:t>
            </a:r>
            <a:r>
              <a:rPr lang="en-US" sz="2400" dirty="0" err="1">
                <a:solidFill>
                  <a:srgbClr val="3A4450"/>
                </a:solidFill>
              </a:rPr>
              <a:t>igger</a:t>
            </a:r>
            <a:r>
              <a:rPr lang="en-US" sz="2400" dirty="0">
                <a:solidFill>
                  <a:srgbClr val="3A4450"/>
                </a:solidFill>
              </a:rPr>
              <a:t> company, </a:t>
            </a:r>
            <a:r>
              <a:rPr lang="pl-PL" sz="2400" dirty="0">
                <a:solidFill>
                  <a:srgbClr val="3A4450"/>
                </a:solidFill>
              </a:rPr>
              <a:t>the </a:t>
            </a:r>
            <a:r>
              <a:rPr lang="en-US" sz="2400" dirty="0">
                <a:solidFill>
                  <a:srgbClr val="3A4450"/>
                </a:solidFill>
              </a:rPr>
              <a:t>more data</a:t>
            </a:r>
            <a:r>
              <a:rPr lang="pl-PL" sz="2400" dirty="0">
                <a:solidFill>
                  <a:srgbClr val="3A4450"/>
                </a:solidFill>
              </a:rPr>
              <a:t> -&gt; </a:t>
            </a:r>
            <a:r>
              <a:rPr lang="en-US" sz="2400" dirty="0">
                <a:solidFill>
                  <a:srgbClr val="3A4450"/>
                </a:solidFill>
              </a:rPr>
              <a:t> bigger</a:t>
            </a:r>
            <a:r>
              <a:rPr lang="pl-PL" sz="2400" dirty="0">
                <a:solidFill>
                  <a:srgbClr val="3A4450"/>
                </a:solidFill>
              </a:rPr>
              <a:t> </a:t>
            </a:r>
            <a:r>
              <a:rPr lang="pl-PL" sz="2400" dirty="0" err="1">
                <a:solidFill>
                  <a:srgbClr val="3A4450"/>
                </a:solidFill>
              </a:rPr>
              <a:t>semantic</a:t>
            </a:r>
            <a:r>
              <a:rPr lang="en-US" sz="2400" dirty="0">
                <a:solidFill>
                  <a:srgbClr val="3A4450"/>
                </a:solidFill>
              </a:rPr>
              <a:t> models.
</a:t>
            </a:r>
            <a:r>
              <a:rPr lang="en-US" sz="2400" b="1" dirty="0">
                <a:solidFill>
                  <a:srgbClr val="3A4450"/>
                </a:solidFill>
              </a:rPr>
              <a:t>And a bigger capacity bill.</a:t>
            </a:r>
            <a:endParaRPr lang="pl-PL" sz="2400" dirty="0">
              <a:solidFill>
                <a:srgbClr val="3A4450"/>
              </a:solidFill>
            </a:endParaRPr>
          </a:p>
        </p:txBody>
      </p:sp>
      <p:sp>
        <p:nvSpPr>
          <p:cNvPr id="19" name="Strzałka: w prawo 18">
            <a:extLst>
              <a:ext uri="{FF2B5EF4-FFF2-40B4-BE49-F238E27FC236}">
                <a16:creationId xmlns:a16="http://schemas.microsoft.com/office/drawing/2014/main" id="{2BDF95D7-3B66-41D5-AA6D-F5F558DF4D59}"/>
              </a:ext>
            </a:extLst>
          </p:cNvPr>
          <p:cNvSpPr/>
          <p:nvPr/>
        </p:nvSpPr>
        <p:spPr>
          <a:xfrm>
            <a:off x="2705100" y="3200400"/>
            <a:ext cx="381000" cy="2032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0" name="Strzałka: w prawo 19">
            <a:extLst>
              <a:ext uri="{FF2B5EF4-FFF2-40B4-BE49-F238E27FC236}">
                <a16:creationId xmlns:a16="http://schemas.microsoft.com/office/drawing/2014/main" id="{D60DD106-4E2F-41EB-B968-339B21AF490F}"/>
              </a:ext>
            </a:extLst>
          </p:cNvPr>
          <p:cNvSpPr/>
          <p:nvPr/>
        </p:nvSpPr>
        <p:spPr>
          <a:xfrm>
            <a:off x="5143500" y="3200400"/>
            <a:ext cx="381000" cy="2032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1" name="Strzałka: w prawo 20">
            <a:extLst>
              <a:ext uri="{FF2B5EF4-FFF2-40B4-BE49-F238E27FC236}">
                <a16:creationId xmlns:a16="http://schemas.microsoft.com/office/drawing/2014/main" id="{E270A1AA-E368-46FE-895D-5B1D54959821}"/>
              </a:ext>
            </a:extLst>
          </p:cNvPr>
          <p:cNvSpPr/>
          <p:nvPr/>
        </p:nvSpPr>
        <p:spPr>
          <a:xfrm>
            <a:off x="8445500" y="3200400"/>
            <a:ext cx="381000" cy="2032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2D79A222-A270-4689-9FCD-5C5C71CEB20C}"/>
              </a:ext>
            </a:extLst>
          </p:cNvPr>
          <p:cNvSpPr txBox="1"/>
          <p:nvPr/>
        </p:nvSpPr>
        <p:spPr>
          <a:xfrm>
            <a:off x="9042400" y="2870200"/>
            <a:ext cx="2032000" cy="127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Reports
Excel pivot tables
LLMs and AI tools</a:t>
            </a:r>
            <a:endParaRPr lang="pl-PL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95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2C2334-AD64-37E0-0B85-66B22275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 dirty="0"/>
              <a:t>One model per domain.</a:t>
            </a:r>
            <a:br>
              <a:rPr lang="en-US" dirty="0"/>
            </a:br>
            <a:r>
              <a:rPr lang="en-US" dirty="0"/>
              <a:t>Please don’t build one model for everything.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61D0071-5999-4167-BBE0-4C72412BE9BE}"/>
              </a:ext>
            </a:extLst>
          </p:cNvPr>
          <p:cNvSpPr txBox="1"/>
          <p:nvPr/>
        </p:nvSpPr>
        <p:spPr>
          <a:xfrm>
            <a:off x="927100" y="1651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 b="1">
                <a:solidFill>
                  <a:srgbClr val="5B6B7A"/>
                </a:solidFill>
              </a:rPr>
              <a:t>One model for everything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7E008761-4053-4DF0-8C00-2B08AA0E494D}"/>
              </a:ext>
            </a:extLst>
          </p:cNvPr>
          <p:cNvSpPr/>
          <p:nvPr/>
        </p:nvSpPr>
        <p:spPr>
          <a:xfrm>
            <a:off x="927100" y="2032000"/>
            <a:ext cx="4826000" cy="2540000"/>
          </a:xfrm>
          <a:prstGeom prst="rect">
            <a:avLst/>
          </a:prstGeom>
          <a:noFill/>
          <a:ln w="12700" cap="flat" cmpd="sng" algn="ctr">
            <a:solidFill>
              <a:srgbClr val="A7B0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en-US" sz="2000" b="1">
                <a:solidFill>
                  <a:srgbClr val="3A4450"/>
                </a:solidFill>
              </a:rPr>
              <a:t>All facts, all history, all users</a:t>
            </a:r>
            <a:endParaRPr lang="pl-PL" sz="2000" b="1">
              <a:solidFill>
                <a:srgbClr val="3A4450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F9AC2F9-30AF-43A6-9FBC-16FF6BE97F12}"/>
              </a:ext>
            </a:extLst>
          </p:cNvPr>
          <p:cNvSpPr txBox="1"/>
          <p:nvPr/>
        </p:nvSpPr>
        <p:spPr>
          <a:xfrm>
            <a:off x="927100" y="48895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One refresh, one memory peak, for everything</a:t>
            </a:r>
            <a:endParaRPr lang="pl-PL">
              <a:solidFill>
                <a:srgbClr val="3A4450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48D9046-3AEB-4270-B1DC-7E0EC1F54D37}"/>
              </a:ext>
            </a:extLst>
          </p:cNvPr>
          <p:cNvSpPr txBox="1"/>
          <p:nvPr/>
        </p:nvSpPr>
        <p:spPr>
          <a:xfrm>
            <a:off x="6438900" y="1651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 b="1">
                <a:solidFill>
                  <a:srgbClr val="0B7A6B"/>
                </a:solidFill>
              </a:rPr>
              <a:t>One model per domain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17EB1D7A-A6A2-4E83-978F-15470C3B7A64}"/>
              </a:ext>
            </a:extLst>
          </p:cNvPr>
          <p:cNvSpPr/>
          <p:nvPr/>
        </p:nvSpPr>
        <p:spPr>
          <a:xfrm>
            <a:off x="6438900" y="2032000"/>
            <a:ext cx="2349500" cy="1206500"/>
          </a:xfrm>
          <a:prstGeom prst="rect">
            <a:avLst/>
          </a:prstGeom>
          <a:noFill/>
          <a:ln w="19050" cap="flat" cmpd="sng" algn="ctr">
            <a:solidFill>
              <a:srgbClr val="0B7A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pl-PL" sz="2000" b="1">
                <a:solidFill>
                  <a:srgbClr val="0B7A6B"/>
                </a:solidFill>
              </a:rPr>
              <a:t>Finance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21DEA820-376D-401C-8C31-C296281AABC1}"/>
              </a:ext>
            </a:extLst>
          </p:cNvPr>
          <p:cNvSpPr/>
          <p:nvPr/>
        </p:nvSpPr>
        <p:spPr>
          <a:xfrm>
            <a:off x="8915400" y="2032000"/>
            <a:ext cx="2349500" cy="1206500"/>
          </a:xfrm>
          <a:prstGeom prst="rect">
            <a:avLst/>
          </a:prstGeom>
          <a:noFill/>
          <a:ln w="19050" cap="flat" cmpd="sng" algn="ctr">
            <a:solidFill>
              <a:srgbClr val="0B7A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pl-PL" sz="2000" b="1">
                <a:solidFill>
                  <a:srgbClr val="0B7A6B"/>
                </a:solidFill>
              </a:rPr>
              <a:t>Sales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4F59E72C-3858-4ABF-A71F-764AC3B35C51}"/>
              </a:ext>
            </a:extLst>
          </p:cNvPr>
          <p:cNvSpPr/>
          <p:nvPr/>
        </p:nvSpPr>
        <p:spPr>
          <a:xfrm>
            <a:off x="6438900" y="3365500"/>
            <a:ext cx="2349500" cy="1206500"/>
          </a:xfrm>
          <a:prstGeom prst="rect">
            <a:avLst/>
          </a:prstGeom>
          <a:noFill/>
          <a:ln w="19050" cap="flat" cmpd="sng" algn="ctr">
            <a:solidFill>
              <a:srgbClr val="0B7A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pl-PL" sz="2000" b="1">
                <a:solidFill>
                  <a:srgbClr val="0B7A6B"/>
                </a:solidFill>
              </a:rPr>
              <a:t>Supply chain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6CA1143-DA9F-4507-9C09-D02DC027AE84}"/>
              </a:ext>
            </a:extLst>
          </p:cNvPr>
          <p:cNvSpPr/>
          <p:nvPr/>
        </p:nvSpPr>
        <p:spPr>
          <a:xfrm>
            <a:off x="8915400" y="3365500"/>
            <a:ext cx="2349500" cy="1206500"/>
          </a:xfrm>
          <a:prstGeom prst="rect">
            <a:avLst/>
          </a:prstGeom>
          <a:noFill/>
          <a:ln w="19050" cap="flat" cmpd="sng" algn="ctr">
            <a:solidFill>
              <a:srgbClr val="0B7A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pl-PL" sz="2000" b="1">
                <a:solidFill>
                  <a:srgbClr val="0B7A6B"/>
                </a:solidFill>
              </a:rPr>
              <a:t>Risk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12EC1FE-EDBB-410A-B0E0-77DDF1E93F6E}"/>
              </a:ext>
            </a:extLst>
          </p:cNvPr>
          <p:cNvSpPr txBox="1"/>
          <p:nvPr/>
        </p:nvSpPr>
        <p:spPr>
          <a:xfrm>
            <a:off x="6438900" y="48895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Own schedule, smaller peaks, a clear owner</a:t>
            </a:r>
            <a:endParaRPr lang="pl-PL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86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D86218-55FE-98C6-B789-B22245D6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SSAS, AAS or Power BI:</a:t>
            </a:r>
            <a:br>
              <a:rPr lang="en-US"/>
            </a:br>
            <a:r>
              <a:rPr lang="en-US"/>
              <a:t>same VertiPaq engine, same tricks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B5A5E41-AD2E-4713-BB89-D7887F3D7BAF}"/>
              </a:ext>
            </a:extLst>
          </p:cNvPr>
          <p:cNvSpPr txBox="1"/>
          <p:nvPr/>
        </p:nvSpPr>
        <p:spPr>
          <a:xfrm>
            <a:off x="1181100" y="2730500"/>
            <a:ext cx="27432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SQL Server Analysis Services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9C22016-F618-4438-A235-7637889460C1}"/>
              </a:ext>
            </a:extLst>
          </p:cNvPr>
          <p:cNvSpPr txBox="1"/>
          <p:nvPr/>
        </p:nvSpPr>
        <p:spPr>
          <a:xfrm>
            <a:off x="1181100" y="3492500"/>
            <a:ext cx="2743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5B6B7A"/>
                </a:solidFill>
              </a:rPr>
              <a:t>on-premises</a:t>
            </a:r>
            <a:endParaRPr lang="pl-PL" sz="1600">
              <a:solidFill>
                <a:srgbClr val="5B6B7A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25493BA-9C6E-445F-B996-7ED4235D47DA}"/>
              </a:ext>
            </a:extLst>
          </p:cNvPr>
          <p:cNvSpPr txBox="1"/>
          <p:nvPr/>
        </p:nvSpPr>
        <p:spPr>
          <a:xfrm>
            <a:off x="4724400" y="2730500"/>
            <a:ext cx="27432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Azure Analysis Services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FF4C209-BF2B-4A82-9283-89A59186D7ED}"/>
              </a:ext>
            </a:extLst>
          </p:cNvPr>
          <p:cNvSpPr txBox="1"/>
          <p:nvPr/>
        </p:nvSpPr>
        <p:spPr>
          <a:xfrm>
            <a:off x="4724400" y="3492500"/>
            <a:ext cx="2743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5B6B7A"/>
                </a:solidFill>
              </a:rPr>
              <a:t>priced per server tier</a:t>
            </a:r>
            <a:endParaRPr lang="pl-PL" sz="1600">
              <a:solidFill>
                <a:srgbClr val="5B6B7A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EEB4237-929F-4C7F-8127-4EABDDAE3E71}"/>
              </a:ext>
            </a:extLst>
          </p:cNvPr>
          <p:cNvSpPr txBox="1"/>
          <p:nvPr/>
        </p:nvSpPr>
        <p:spPr>
          <a:xfrm>
            <a:off x="8267700" y="2730500"/>
            <a:ext cx="27432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000" b="1" dirty="0">
                <a:solidFill>
                  <a:srgbClr val="1E2329"/>
                </a:solidFill>
              </a:rPr>
              <a:t>Power </a:t>
            </a:r>
            <a:r>
              <a:rPr lang="pl-PL" sz="2000" b="1" dirty="0">
                <a:solidFill>
                  <a:srgbClr val="1E2329"/>
                </a:solidFill>
              </a:rPr>
              <a:t>BI </a:t>
            </a:r>
            <a:r>
              <a:rPr lang="en-US" sz="2000" b="1" dirty="0">
                <a:solidFill>
                  <a:srgbClr val="1E2329"/>
                </a:solidFill>
              </a:rPr>
              <a:t>semantic models</a:t>
            </a:r>
            <a:endParaRPr lang="pl-PL" sz="2000" b="1" dirty="0">
              <a:solidFill>
                <a:srgbClr val="1E2329"/>
              </a:solidFill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8561753-BFAF-4116-9EED-B925F997EF8D}"/>
              </a:ext>
            </a:extLst>
          </p:cNvPr>
          <p:cNvSpPr txBox="1"/>
          <p:nvPr/>
        </p:nvSpPr>
        <p:spPr>
          <a:xfrm>
            <a:off x="8267700" y="3492500"/>
            <a:ext cx="2743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5B6B7A"/>
                </a:solidFill>
              </a:rPr>
              <a:t>priced per capacity</a:t>
            </a:r>
            <a:endParaRPr lang="pl-PL" sz="1600">
              <a:solidFill>
                <a:srgbClr val="5B6B7A"/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ED1E588-1DB4-4C28-970E-73E906BF7000}"/>
              </a:ext>
            </a:extLst>
          </p:cNvPr>
          <p:cNvSpPr txBox="1"/>
          <p:nvPr/>
        </p:nvSpPr>
        <p:spPr>
          <a:xfrm>
            <a:off x="927100" y="4445000"/>
            <a:ext cx="103378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b="1" dirty="0">
                <a:solidFill>
                  <a:srgbClr val="3A4450"/>
                </a:solidFill>
              </a:rPr>
              <a:t>Same engine, same tools</a:t>
            </a:r>
            <a:r>
              <a:rPr lang="en-US" dirty="0">
                <a:solidFill>
                  <a:srgbClr val="3A4450"/>
                </a:solidFill>
              </a:rPr>
              <a:t>: DAX Studio, </a:t>
            </a:r>
            <a:r>
              <a:rPr lang="en-US" dirty="0" err="1">
                <a:solidFill>
                  <a:srgbClr val="3A4450"/>
                </a:solidFill>
              </a:rPr>
              <a:t>VertiPaq</a:t>
            </a:r>
            <a:r>
              <a:rPr lang="en-US" dirty="0">
                <a:solidFill>
                  <a:srgbClr val="3A4450"/>
                </a:solidFill>
              </a:rPr>
              <a:t> Analyzer and Tabular Editor</a:t>
            </a:r>
            <a:r>
              <a:rPr lang="pl-PL" dirty="0">
                <a:solidFill>
                  <a:srgbClr val="3A4450"/>
                </a:solidFill>
              </a:rPr>
              <a:t> 2/ 3</a:t>
            </a:r>
            <a:r>
              <a:rPr lang="en-US" dirty="0">
                <a:solidFill>
                  <a:srgbClr val="3A4450"/>
                </a:solidFill>
              </a:rPr>
              <a:t> work against all three.</a:t>
            </a:r>
            <a:endParaRPr lang="pl-PL" dirty="0">
              <a:solidFill>
                <a:srgbClr val="3A4450"/>
              </a:solidFill>
            </a:endParaRPr>
          </a:p>
        </p:txBody>
      </p:sp>
      <p:pic>
        <p:nvPicPr>
          <p:cNvPr id="13" name="Graphic 13" descr="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100" y="1968500"/>
            <a:ext cx="558800" cy="558800"/>
          </a:xfrm>
          <a:prstGeom prst="rect">
            <a:avLst/>
          </a:prstGeom>
        </p:spPr>
      </p:pic>
      <p:pic>
        <p:nvPicPr>
          <p:cNvPr id="14" name="Graphic 14" descr="Clou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400" y="1968500"/>
            <a:ext cx="558800" cy="558800"/>
          </a:xfrm>
          <a:prstGeom prst="rect">
            <a:avLst/>
          </a:prstGeom>
        </p:spPr>
      </p:pic>
      <p:pic>
        <p:nvPicPr>
          <p:cNvPr id="15" name="Graphic 15" descr="Bar char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7700" y="1968500"/>
            <a:ext cx="558800" cy="558800"/>
          </a:xfrm>
          <a:prstGeom prst="rect">
            <a:avLst/>
          </a:prstGeom>
        </p:spPr>
      </p:pic>
      <p:sp>
        <p:nvSpPr>
          <p:cNvPr id="16" name="Strzałka: w prawo 15">
            <a:extLst>
              <a:ext uri="{FF2B5EF4-FFF2-40B4-BE49-F238E27FC236}">
                <a16:creationId xmlns:a16="http://schemas.microsoft.com/office/drawing/2014/main" id="{ABEE421B-44B0-482F-8EC1-551DB6FAE32F}"/>
              </a:ext>
            </a:extLst>
          </p:cNvPr>
          <p:cNvSpPr/>
          <p:nvPr/>
        </p:nvSpPr>
        <p:spPr>
          <a:xfrm>
            <a:off x="3873500" y="2946400"/>
            <a:ext cx="381000" cy="2032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7" name="Strzałka: w prawo 16">
            <a:extLst>
              <a:ext uri="{FF2B5EF4-FFF2-40B4-BE49-F238E27FC236}">
                <a16:creationId xmlns:a16="http://schemas.microsoft.com/office/drawing/2014/main" id="{5E323E3D-580F-4C11-A5CA-42AF9664C766}"/>
              </a:ext>
            </a:extLst>
          </p:cNvPr>
          <p:cNvSpPr/>
          <p:nvPr/>
        </p:nvSpPr>
        <p:spPr>
          <a:xfrm>
            <a:off x="7416800" y="2946400"/>
            <a:ext cx="381000" cy="2032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3629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C62167-E603-1AD3-51C0-C1996865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Nobody optimizes models for fun.</a:t>
            </a:r>
            <a:br>
              <a:rPr lang="en-US"/>
            </a:br>
            <a:r>
              <a:rPr lang="en-US"/>
              <a:t>It’s either a migration or a cost cut.</a:t>
            </a:r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225000-488C-468E-911E-650F7C52CFDF}"/>
              </a:ext>
            </a:extLst>
          </p:cNvPr>
          <p:cNvSpPr txBox="1"/>
          <p:nvPr/>
        </p:nvSpPr>
        <p:spPr>
          <a:xfrm>
            <a:off x="927100" y="2159000"/>
            <a:ext cx="4445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3000" b="1">
                <a:solidFill>
                  <a:srgbClr val="1E2329"/>
                </a:solidFill>
              </a:rPr>
              <a:t>Migration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AD1702D-B248-4286-9CD1-BCDBB494D748}"/>
              </a:ext>
            </a:extLst>
          </p:cNvPr>
          <p:cNvSpPr txBox="1"/>
          <p:nvPr/>
        </p:nvSpPr>
        <p:spPr>
          <a:xfrm>
            <a:off x="927100" y="2921000"/>
            <a:ext cx="44450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rgbClr val="3A4450"/>
                </a:solidFill>
              </a:rPr>
              <a:t>Moving from SSAS or AAS to Fabric. Every model gets looked at, and priced.</a:t>
            </a:r>
            <a:endParaRPr lang="pl-PL" dirty="0">
              <a:solidFill>
                <a:srgbClr val="3A4450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3EEAA1D-46AF-4757-894C-4E389B61E97E}"/>
              </a:ext>
            </a:extLst>
          </p:cNvPr>
          <p:cNvSpPr txBox="1"/>
          <p:nvPr/>
        </p:nvSpPr>
        <p:spPr>
          <a:xfrm>
            <a:off x="927100" y="41910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500" b="1">
                <a:solidFill>
                  <a:srgbClr val="0B7A6B"/>
                </a:solidFill>
              </a:rPr>
              <a:t>Case 1 started here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5CF20F5-0A4E-47F6-9741-930DC5B42133}"/>
              </a:ext>
            </a:extLst>
          </p:cNvPr>
          <p:cNvSpPr txBox="1"/>
          <p:nvPr/>
        </p:nvSpPr>
        <p:spPr>
          <a:xfrm>
            <a:off x="6731000" y="2159000"/>
            <a:ext cx="4445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3000" b="1">
                <a:solidFill>
                  <a:srgbClr val="1E2329"/>
                </a:solidFill>
              </a:rPr>
              <a:t>Mandated cost cut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9AB01FC-9A1A-4E4C-957C-9091034065F0}"/>
              </a:ext>
            </a:extLst>
          </p:cNvPr>
          <p:cNvSpPr txBox="1"/>
          <p:nvPr/>
        </p:nvSpPr>
        <p:spPr>
          <a:xfrm>
            <a:off x="6731000" y="2921000"/>
            <a:ext cx="44450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rgbClr val="3A4450"/>
                </a:solidFill>
              </a:rPr>
              <a:t>Someone </a:t>
            </a:r>
            <a:r>
              <a:rPr lang="pl-PL" dirty="0" err="1">
                <a:solidFill>
                  <a:srgbClr val="3A4450"/>
                </a:solidFill>
              </a:rPr>
              <a:t>finds</a:t>
            </a:r>
            <a:r>
              <a:rPr lang="pl-PL" dirty="0">
                <a:solidFill>
                  <a:srgbClr val="3A4450"/>
                </a:solidFill>
              </a:rPr>
              <a:t> out</a:t>
            </a:r>
            <a:r>
              <a:rPr lang="en-US" dirty="0">
                <a:solidFill>
                  <a:srgbClr val="3A4450"/>
                </a:solidFill>
              </a:rPr>
              <a:t> </a:t>
            </a:r>
            <a:r>
              <a:rPr lang="en-US" b="1" dirty="0">
                <a:solidFill>
                  <a:srgbClr val="3A4450"/>
                </a:solidFill>
              </a:rPr>
              <a:t>it costs too much</a:t>
            </a:r>
            <a:r>
              <a:rPr lang="en-US" dirty="0">
                <a:solidFill>
                  <a:srgbClr val="3A4450"/>
                </a:solidFill>
              </a:rPr>
              <a:t>. </a:t>
            </a:r>
            <a:r>
              <a:rPr lang="pl-PL" dirty="0">
                <a:solidFill>
                  <a:srgbClr val="3A4450"/>
                </a:solidFill>
              </a:rPr>
              <a:t>Not</a:t>
            </a:r>
            <a:r>
              <a:rPr lang="en-US" dirty="0">
                <a:solidFill>
                  <a:srgbClr val="3A4450"/>
                </a:solidFill>
              </a:rPr>
              <a:t> </a:t>
            </a:r>
            <a:r>
              <a:rPr lang="pl-PL" dirty="0" err="1">
                <a:solidFill>
                  <a:srgbClr val="3A4450"/>
                </a:solidFill>
              </a:rPr>
              <a:t>only</a:t>
            </a:r>
            <a:r>
              <a:rPr lang="en-US" dirty="0">
                <a:solidFill>
                  <a:srgbClr val="3A4450"/>
                </a:solidFill>
              </a:rPr>
              <a:t> after the first cloud bill.</a:t>
            </a:r>
            <a:endParaRPr lang="pl-PL" dirty="0">
              <a:solidFill>
                <a:srgbClr val="3A4450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D57D3A9-A0FF-4D1D-BDD9-84FB69F2D55D}"/>
              </a:ext>
            </a:extLst>
          </p:cNvPr>
          <p:cNvSpPr txBox="1"/>
          <p:nvPr/>
        </p:nvSpPr>
        <p:spPr>
          <a:xfrm>
            <a:off x="6731000" y="41910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500" b="1">
                <a:solidFill>
                  <a:srgbClr val="0B7A6B"/>
                </a:solidFill>
              </a:rPr>
              <a:t>Case 2 started here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70038E97-9DF0-4E92-A643-8ED1820FD019}"/>
              </a:ext>
            </a:extLst>
          </p:cNvPr>
          <p:cNvSpPr/>
          <p:nvPr/>
        </p:nvSpPr>
        <p:spPr>
          <a:xfrm>
            <a:off x="6096000" y="2095500"/>
            <a:ext cx="12700" cy="25400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893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CB2799-0737-7842-430B-7C509A96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The bill came down to one thing: model size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753D2E6-B116-41F1-AEB0-08896105A47A}"/>
              </a:ext>
            </a:extLst>
          </p:cNvPr>
          <p:cNvSpPr txBox="1"/>
          <p:nvPr/>
        </p:nvSpPr>
        <p:spPr>
          <a:xfrm>
            <a:off x="927100" y="2159000"/>
            <a:ext cx="5080000" cy="1397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8800" b="1">
                <a:solidFill>
                  <a:srgbClr val="0B7A6B"/>
                </a:solidFill>
                <a:latin typeface="Segoe UI Semibold"/>
                <a:cs typeface="Segoe UI Semibold"/>
              </a:rPr>
              <a:t>Size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389384F-BD28-4837-A565-C8160E398D21}"/>
              </a:ext>
            </a:extLst>
          </p:cNvPr>
          <p:cNvSpPr txBox="1"/>
          <p:nvPr/>
        </p:nvSpPr>
        <p:spPr>
          <a:xfrm>
            <a:off x="927100" y="3619500"/>
            <a:ext cx="457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000">
                <a:solidFill>
                  <a:srgbClr val="3A4450"/>
                </a:solidFill>
              </a:rPr>
              <a:t>decides the capacity SKU you have to reserve</a:t>
            </a:r>
            <a:endParaRPr lang="pl-PL" sz="2000">
              <a:solidFill>
                <a:srgbClr val="3A4450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A48BA9-7A7D-4E3E-A52D-9DB2451F0B27}"/>
              </a:ext>
            </a:extLst>
          </p:cNvPr>
          <p:cNvSpPr txBox="1"/>
          <p:nvPr/>
        </p:nvSpPr>
        <p:spPr>
          <a:xfrm>
            <a:off x="6184900" y="1778000"/>
            <a:ext cx="48514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>
                <a:solidFill>
                  <a:srgbClr val="1E2329"/>
                </a:solidFill>
              </a:rPr>
              <a:t>Memory limit per model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60A189C-473E-471A-A8D2-FDB4CC837759}"/>
              </a:ext>
            </a:extLst>
          </p:cNvPr>
          <p:cNvSpPr txBox="1"/>
          <p:nvPr/>
        </p:nvSpPr>
        <p:spPr>
          <a:xfrm>
            <a:off x="6184900" y="2133600"/>
            <a:ext cx="48514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One model has to fit under the SKU’s memory limit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063E36E-5036-483A-98AF-0AE8A8FAE7CF}"/>
              </a:ext>
            </a:extLst>
          </p:cNvPr>
          <p:cNvSpPr txBox="1"/>
          <p:nvPr/>
        </p:nvSpPr>
        <p:spPr>
          <a:xfrm>
            <a:off x="6184900" y="3175000"/>
            <a:ext cx="48514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 dirty="0" err="1">
                <a:solidFill>
                  <a:srgbClr val="1E2329"/>
                </a:solidFill>
              </a:rPr>
              <a:t>Refresh</a:t>
            </a:r>
            <a:endParaRPr lang="pl-PL" b="1" dirty="0">
              <a:solidFill>
                <a:srgbClr val="1E2329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E8E90E2-A2BF-4CF8-B493-208ABC0FC1F7}"/>
              </a:ext>
            </a:extLst>
          </p:cNvPr>
          <p:cNvSpPr txBox="1"/>
          <p:nvPr/>
        </p:nvSpPr>
        <p:spPr>
          <a:xfrm>
            <a:off x="6184900" y="3530600"/>
            <a:ext cx="48514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 dirty="0">
                <a:solidFill>
                  <a:srgbClr val="3A4450"/>
                </a:solidFill>
              </a:rPr>
              <a:t>A full refresh holds the old and new copy at once</a:t>
            </a:r>
            <a:endParaRPr lang="pl-PL" sz="1500" dirty="0">
              <a:solidFill>
                <a:srgbClr val="3A4450"/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00F0FAA-5AA6-4617-AF9B-1A63AF5D1420}"/>
              </a:ext>
            </a:extLst>
          </p:cNvPr>
          <p:cNvSpPr txBox="1"/>
          <p:nvPr/>
        </p:nvSpPr>
        <p:spPr>
          <a:xfrm>
            <a:off x="6184900" y="4572000"/>
            <a:ext cx="48514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>
                <a:solidFill>
                  <a:srgbClr val="1E2329"/>
                </a:solidFill>
              </a:rPr>
              <a:t>Refresh windows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6CF45D3-E7D3-46A1-A982-5E447ED7EA8C}"/>
              </a:ext>
            </a:extLst>
          </p:cNvPr>
          <p:cNvSpPr txBox="1"/>
          <p:nvPr/>
        </p:nvSpPr>
        <p:spPr>
          <a:xfrm>
            <a:off x="6184900" y="4927600"/>
            <a:ext cx="48514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Bigger models refresh longer and hit timeouts</a:t>
            </a:r>
            <a:endParaRPr lang="pl-PL" sz="1500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81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85C41B-3219-17CC-C4B3-1F4A4D20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Demo: where does the memory actually go?</a:t>
            </a:r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99BD578-792C-4B37-ACF8-311108D707E9}"/>
              </a:ext>
            </a:extLst>
          </p:cNvPr>
          <p:cNvSpPr txBox="1"/>
          <p:nvPr/>
        </p:nvSpPr>
        <p:spPr>
          <a:xfrm>
            <a:off x="927100" y="17907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3200" b="1">
                <a:solidFill>
                  <a:srgbClr val="0B7A6B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448EF94-C002-4119-B21D-E461FAB4E8AA}"/>
              </a:ext>
            </a:extLst>
          </p:cNvPr>
          <p:cNvSpPr txBox="1"/>
          <p:nvPr/>
        </p:nvSpPr>
        <p:spPr>
          <a:xfrm>
            <a:off x="1587500" y="18415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400" b="1">
                <a:solidFill>
                  <a:srgbClr val="1E2329"/>
                </a:solidFill>
              </a:rPr>
              <a:t>DAX Studio → View Metrics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9FD2E97-FF80-49E8-8242-66FD61793041}"/>
              </a:ext>
            </a:extLst>
          </p:cNvPr>
          <p:cNvSpPr txBox="1"/>
          <p:nvPr/>
        </p:nvSpPr>
        <p:spPr>
          <a:xfrm>
            <a:off x="1587500" y="22987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>
                <a:solidFill>
                  <a:srgbClr val="5B6B7A"/>
                </a:solidFill>
              </a:rPr>
              <a:t>VertiPaq Analyzer: size and cardinality per column</a:t>
            </a:r>
            <a:endParaRPr lang="pl-PL" sz="1700">
              <a:solidFill>
                <a:srgbClr val="5B6B7A"/>
              </a:solidFill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5879698-9DFA-4721-A1D8-D0F578E7F74A}"/>
              </a:ext>
            </a:extLst>
          </p:cNvPr>
          <p:cNvSpPr txBox="1"/>
          <p:nvPr/>
        </p:nvSpPr>
        <p:spPr>
          <a:xfrm>
            <a:off x="927100" y="28702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3200" b="1">
                <a:solidFill>
                  <a:srgbClr val="0B7A6B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CCEBBC0-78D9-48CF-95B5-103E8633ACCF}"/>
              </a:ext>
            </a:extLst>
          </p:cNvPr>
          <p:cNvSpPr txBox="1"/>
          <p:nvPr/>
        </p:nvSpPr>
        <p:spPr>
          <a:xfrm>
            <a:off x="1587500" y="29210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400" b="1">
                <a:solidFill>
                  <a:srgbClr val="1E2329"/>
                </a:solidFill>
              </a:rPr>
              <a:t>Sort by size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31F0C89-7C54-442D-9B5D-3AAE19C00FC3}"/>
              </a:ext>
            </a:extLst>
          </p:cNvPr>
          <p:cNvSpPr txBox="1"/>
          <p:nvPr/>
        </p:nvSpPr>
        <p:spPr>
          <a:xfrm>
            <a:off x="1587500" y="3378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>
                <a:solidFill>
                  <a:srgbClr val="5B6B7A"/>
                </a:solidFill>
              </a:rPr>
              <a:t>Hash keys, duplicated values, long unique text</a:t>
            </a:r>
            <a:endParaRPr lang="pl-PL" sz="1700">
              <a:solidFill>
                <a:srgbClr val="5B6B7A"/>
              </a:solidFill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599C8E98-00B8-47DD-943B-9DC46065B5D3}"/>
              </a:ext>
            </a:extLst>
          </p:cNvPr>
          <p:cNvSpPr txBox="1"/>
          <p:nvPr/>
        </p:nvSpPr>
        <p:spPr>
          <a:xfrm>
            <a:off x="927100" y="39497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3200" b="1">
                <a:solidFill>
                  <a:srgbClr val="0B7A6B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5DFD6285-CD91-4C75-9465-C6E6C0B118D0}"/>
              </a:ext>
            </a:extLst>
          </p:cNvPr>
          <p:cNvSpPr txBox="1"/>
          <p:nvPr/>
        </p:nvSpPr>
        <p:spPr>
          <a:xfrm>
            <a:off x="1587500" y="40005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400" b="1">
                <a:solidFill>
                  <a:srgbClr val="1E2329"/>
                </a:solidFill>
              </a:rPr>
              <a:t>Fix it in Tabular Editor</a:t>
            </a:r>
            <a:endParaRPr lang="pl-PL" sz="2400" b="1">
              <a:solidFill>
                <a:srgbClr val="1E2329"/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5E15096D-C2F8-4254-B8B3-DFD3CDCDB57E}"/>
              </a:ext>
            </a:extLst>
          </p:cNvPr>
          <p:cNvSpPr txBox="1"/>
          <p:nvPr/>
        </p:nvSpPr>
        <p:spPr>
          <a:xfrm>
            <a:off x="1587500" y="44577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dirty="0">
                <a:solidFill>
                  <a:srgbClr val="5B6B7A"/>
                </a:solidFill>
              </a:rPr>
              <a:t>Remove columns, set properties, deploy</a:t>
            </a:r>
            <a:endParaRPr lang="pl-PL" sz="1700" dirty="0">
              <a:solidFill>
                <a:srgbClr val="5B6B7A"/>
              </a:solidFill>
            </a:endParaRP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E56FD31D-96C1-442A-9B10-D54A20E212A8}"/>
              </a:ext>
            </a:extLst>
          </p:cNvPr>
          <p:cNvSpPr/>
          <p:nvPr/>
        </p:nvSpPr>
        <p:spPr>
          <a:xfrm>
            <a:off x="927100" y="5207000"/>
            <a:ext cx="103378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57A9C2A6-489C-49E5-BE2A-D2A745E9F56E}"/>
              </a:ext>
            </a:extLst>
          </p:cNvPr>
          <p:cNvSpPr txBox="1"/>
          <p:nvPr/>
        </p:nvSpPr>
        <p:spPr>
          <a:xfrm>
            <a:off x="927100" y="5384800"/>
            <a:ext cx="103378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dirty="0">
                <a:solidFill>
                  <a:srgbClr val="3A4450"/>
                </a:solidFill>
              </a:rPr>
              <a:t>What I check first: % of table size, cardinality vs. row count, dictionary size</a:t>
            </a:r>
            <a:r>
              <a:rPr lang="pl-PL" sz="1700" dirty="0">
                <a:solidFill>
                  <a:srgbClr val="3A4450"/>
                </a:solidFill>
              </a:rPr>
              <a:t>, hierarchy </a:t>
            </a:r>
            <a:r>
              <a:rPr lang="pl-PL" sz="1700" dirty="0" err="1">
                <a:solidFill>
                  <a:srgbClr val="3A4450"/>
                </a:solidFill>
              </a:rPr>
              <a:t>size</a:t>
            </a:r>
            <a:endParaRPr lang="pl-PL" sz="1700" dirty="0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66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D7A202-DB49-88CB-60BD-EF56FA79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1600"/>
            <a:ext cx="10515600" cy="889000"/>
          </a:xfrm>
        </p:spPr>
        <p:txBody>
          <a:bodyPr anchor="t" anchorCtr="0">
            <a:normAutofit/>
          </a:bodyPr>
          <a:lstStyle/>
          <a:p>
            <a:r>
              <a:rPr lang="en-US" sz="4400" dirty="0"/>
              <a:t>A 1</a:t>
            </a:r>
            <a:r>
              <a:rPr lang="pl-PL" sz="4400" dirty="0"/>
              <a:t>2</a:t>
            </a:r>
            <a:r>
              <a:rPr lang="en-US" sz="4400" dirty="0"/>
              <a:t>0 GB model</a:t>
            </a:r>
            <a:endParaRPr lang="pl-PL" sz="4400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621C029-1441-B9E7-163D-3C248C6CD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19500"/>
            <a:ext cx="10515600" cy="635000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5B6B7A"/>
                </a:solidFill>
              </a:rPr>
              <a:t>Talk to the business first, then tune the engine</a:t>
            </a:r>
            <a:endParaRPr lang="pl-PL" sz="2200" dirty="0">
              <a:solidFill>
                <a:srgbClr val="5B6B7A"/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7BB6BD3B-6EEF-4467-938C-B8FFDDDE53F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83017DE-69F7-41A6-AC3C-D50E13F0C60F}"/>
              </a:ext>
            </a:extLst>
          </p:cNvPr>
          <p:cNvSpPr txBox="1"/>
          <p:nvPr/>
        </p:nvSpPr>
        <p:spPr>
          <a:xfrm>
            <a:off x="927100" y="22606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247913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369344-F058-4B27-B9AE-0F4F63434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 dirty="0"/>
              <a:t>Where we started:</a:t>
            </a:r>
            <a:br>
              <a:rPr lang="en-US" dirty="0"/>
            </a:br>
            <a:r>
              <a:rPr lang="en-US" dirty="0"/>
              <a:t>1</a:t>
            </a:r>
            <a:r>
              <a:rPr lang="pl-PL" dirty="0"/>
              <a:t>2</a:t>
            </a:r>
            <a:r>
              <a:rPr lang="en-US" dirty="0"/>
              <a:t>0 GB, billions of rows, 15 years of history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EF9A588-DF20-40EF-B514-AB6C72D1A48E}"/>
              </a:ext>
            </a:extLst>
          </p:cNvPr>
          <p:cNvSpPr txBox="1"/>
          <p:nvPr/>
        </p:nvSpPr>
        <p:spPr>
          <a:xfrm>
            <a:off x="927100" y="1905000"/>
            <a:ext cx="20955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noAutofit/>
          </a:bodyPr>
          <a:lstStyle/>
          <a:p>
            <a:r>
              <a:rPr lang="pl-PL" sz="3400" b="1" dirty="0">
                <a:solidFill>
                  <a:srgbClr val="0B7A6B"/>
                </a:solidFill>
                <a:latin typeface="Segoe UI Semibold"/>
                <a:cs typeface="Segoe UI Semibold"/>
              </a:rPr>
              <a:t>120 GB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F797CFE-B911-4135-A207-FEACC3509A5D}"/>
              </a:ext>
            </a:extLst>
          </p:cNvPr>
          <p:cNvSpPr txBox="1"/>
          <p:nvPr/>
        </p:nvSpPr>
        <p:spPr>
          <a:xfrm>
            <a:off x="927100" y="2692400"/>
            <a:ext cx="203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3A4450"/>
                </a:solidFill>
              </a:rPr>
              <a:t>model size in memory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070A97D-FE15-4887-977F-F8CA2A15A0D3}"/>
              </a:ext>
            </a:extLst>
          </p:cNvPr>
          <p:cNvSpPr txBox="1"/>
          <p:nvPr/>
        </p:nvSpPr>
        <p:spPr>
          <a:xfrm>
            <a:off x="3581400" y="1905000"/>
            <a:ext cx="20955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noAutofit/>
          </a:bodyPr>
          <a:lstStyle/>
          <a:p>
            <a:r>
              <a:rPr lang="pl-PL" sz="3400" b="1">
                <a:solidFill>
                  <a:srgbClr val="0B7A6B"/>
                </a:solidFill>
                <a:latin typeface="Segoe UI Semibold"/>
                <a:cs typeface="Segoe UI Semibold"/>
              </a:rPr>
              <a:t>Billions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6B45CF8-D981-4922-9DE3-4EF335A67747}"/>
              </a:ext>
            </a:extLst>
          </p:cNvPr>
          <p:cNvSpPr txBox="1"/>
          <p:nvPr/>
        </p:nvSpPr>
        <p:spPr>
          <a:xfrm>
            <a:off x="3581400" y="2692400"/>
            <a:ext cx="203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rgbClr val="3A4450"/>
                </a:solidFill>
              </a:rPr>
              <a:t>of rows in one fact table</a:t>
            </a:r>
            <a:endParaRPr lang="pl-PL" sz="1600" dirty="0">
              <a:solidFill>
                <a:srgbClr val="3A4450"/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B01D02B-F8D6-4C04-8C97-AE91A929296F}"/>
              </a:ext>
            </a:extLst>
          </p:cNvPr>
          <p:cNvSpPr txBox="1"/>
          <p:nvPr/>
        </p:nvSpPr>
        <p:spPr>
          <a:xfrm>
            <a:off x="6235700" y="1905000"/>
            <a:ext cx="20955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noAutofit/>
          </a:bodyPr>
          <a:lstStyle/>
          <a:p>
            <a:r>
              <a:rPr lang="pl-PL" sz="3400" b="1">
                <a:solidFill>
                  <a:srgbClr val="0B7A6B"/>
                </a:solidFill>
                <a:latin typeface="Segoe UI Semibold"/>
                <a:cs typeface="Segoe UI Semibold"/>
              </a:rPr>
              <a:t>15 years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A9244B6-AA18-4A6B-A0A0-5605F6ADFFAF}"/>
              </a:ext>
            </a:extLst>
          </p:cNvPr>
          <p:cNvSpPr txBox="1"/>
          <p:nvPr/>
        </p:nvSpPr>
        <p:spPr>
          <a:xfrm>
            <a:off x="6235700" y="2692400"/>
            <a:ext cx="203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of history kept in the model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2599BE7-AAED-42B5-8400-56EDFAF62158}"/>
              </a:ext>
            </a:extLst>
          </p:cNvPr>
          <p:cNvSpPr txBox="1"/>
          <p:nvPr/>
        </p:nvSpPr>
        <p:spPr>
          <a:xfrm>
            <a:off x="8890000" y="1905000"/>
            <a:ext cx="20955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noAutofit/>
          </a:bodyPr>
          <a:lstStyle/>
          <a:p>
            <a:r>
              <a:rPr lang="pl-PL" sz="3400" b="1">
                <a:solidFill>
                  <a:srgbClr val="0B7A6B"/>
                </a:solidFill>
                <a:latin typeface="Segoe UI Semibold"/>
                <a:cs typeface="Segoe UI Semibold"/>
              </a:rPr>
              <a:t>Full detail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EE3CEDC9-1B19-4613-B3AA-BF68FBD95C05}"/>
              </a:ext>
            </a:extLst>
          </p:cNvPr>
          <p:cNvSpPr txBox="1"/>
          <p:nvPr/>
        </p:nvSpPr>
        <p:spPr>
          <a:xfrm>
            <a:off x="8890000" y="2692400"/>
            <a:ext cx="203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every observation, no aggregates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2F166DFD-7BF8-4344-B4A5-BBCCDFD39752}"/>
              </a:ext>
            </a:extLst>
          </p:cNvPr>
          <p:cNvSpPr txBox="1"/>
          <p:nvPr/>
        </p:nvSpPr>
        <p:spPr>
          <a:xfrm>
            <a:off x="927100" y="4191000"/>
            <a:ext cx="103378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600" b="1" dirty="0">
                <a:solidFill>
                  <a:srgbClr val="1E2329"/>
                </a:solidFill>
              </a:rPr>
              <a:t>“We need all of it.”</a:t>
            </a:r>
            <a:endParaRPr lang="pl-PL" sz="2600" b="1" dirty="0">
              <a:solidFill>
                <a:srgbClr val="1E2329"/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9003E191-DCF6-4311-B044-B40CD9F9A6F3}"/>
              </a:ext>
            </a:extLst>
          </p:cNvPr>
          <p:cNvSpPr txBox="1"/>
          <p:nvPr/>
        </p:nvSpPr>
        <p:spPr>
          <a:xfrm>
            <a:off x="927100" y="4762500"/>
            <a:ext cx="103378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I hear that sentence on almost every project. It’s worth checking.</a:t>
            </a:r>
            <a:endParaRPr lang="pl-PL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570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0D60DF-05EE-6850-B14C-505C6156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First question: do you really need all the data?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F817B56-0F0B-4872-B11F-B59C7B33B33E}"/>
              </a:ext>
            </a:extLst>
          </p:cNvPr>
          <p:cNvSpPr txBox="1"/>
          <p:nvPr/>
        </p:nvSpPr>
        <p:spPr>
          <a:xfrm>
            <a:off x="927100" y="1778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Grain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BEBEE96-C145-4BCA-82E6-FDE2BD8D1495}"/>
              </a:ext>
            </a:extLst>
          </p:cNvPr>
          <p:cNvSpPr txBox="1"/>
          <p:nvPr/>
        </p:nvSpPr>
        <p:spPr>
          <a:xfrm>
            <a:off x="927100" y="2159000"/>
            <a:ext cx="5334000" cy="660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Do you need every row, or would a daily or monthly aggregate answer the question?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B2F2BF6-8901-43B2-B4D8-130BD7A59F32}"/>
              </a:ext>
            </a:extLst>
          </p:cNvPr>
          <p:cNvSpPr txBox="1"/>
          <p:nvPr/>
        </p:nvSpPr>
        <p:spPr>
          <a:xfrm>
            <a:off x="927100" y="31115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History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F9AF39A-A2E6-4B1F-A35E-DF09AE8B4502}"/>
              </a:ext>
            </a:extLst>
          </p:cNvPr>
          <p:cNvSpPr txBox="1"/>
          <p:nvPr/>
        </p:nvSpPr>
        <p:spPr>
          <a:xfrm>
            <a:off x="927100" y="3492500"/>
            <a:ext cx="5334000" cy="660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How many years do you really open at row level?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9DF95CA-1AC7-4B86-86A6-178EA1EF0E5A}"/>
              </a:ext>
            </a:extLst>
          </p:cNvPr>
          <p:cNvSpPr txBox="1"/>
          <p:nvPr/>
        </p:nvSpPr>
        <p:spPr>
          <a:xfrm>
            <a:off x="927100" y="4445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Audience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8CD36F2-3A62-4ADD-AF54-3C028C8A820D}"/>
              </a:ext>
            </a:extLst>
          </p:cNvPr>
          <p:cNvSpPr txBox="1"/>
          <p:nvPr/>
        </p:nvSpPr>
        <p:spPr>
          <a:xfrm>
            <a:off x="927100" y="4826000"/>
            <a:ext cx="5334000" cy="660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Which roles see which rows, and what does each role actually filter on?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E1A538C-FFED-456F-AF39-6D3DC0988E80}"/>
              </a:ext>
            </a:extLst>
          </p:cNvPr>
          <p:cNvSpPr txBox="1"/>
          <p:nvPr/>
        </p:nvSpPr>
        <p:spPr>
          <a:xfrm>
            <a:off x="7112000" y="19050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300" b="1">
                <a:solidFill>
                  <a:srgbClr val="7A5600"/>
                </a:solidFill>
              </a:rPr>
              <a:t>What I usually go with</a:t>
            </a:r>
            <a:endParaRPr lang="pl-PL" sz="1300" b="1">
              <a:solidFill>
                <a:srgbClr val="7A5600"/>
              </a:solidFill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0C87DFB8-2858-42C9-9AB1-A34EAB2A1EA1}"/>
              </a:ext>
            </a:extLst>
          </p:cNvPr>
          <p:cNvSpPr txBox="1"/>
          <p:nvPr/>
        </p:nvSpPr>
        <p:spPr>
          <a:xfrm>
            <a:off x="7112000" y="2286000"/>
            <a:ext cx="4152900" cy="292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200">
                <a:solidFill>
                  <a:srgbClr val="1E2329"/>
                </a:solidFill>
              </a:rPr>
              <a:t>Current year plus two years back at row level. Older data stays in the lakehouse, or comes in aggregated.</a:t>
            </a:r>
            <a:endParaRPr lang="pl-PL" sz="2200">
              <a:solidFill>
                <a:srgbClr val="1E2329"/>
              </a:solidFill>
            </a:endParaRP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972E3E56-46EE-4071-A8C2-5CD31B96F646}"/>
              </a:ext>
            </a:extLst>
          </p:cNvPr>
          <p:cNvSpPr/>
          <p:nvPr/>
        </p:nvSpPr>
        <p:spPr>
          <a:xfrm>
            <a:off x="6731000" y="1905000"/>
            <a:ext cx="12700" cy="24130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3300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63B49B-81E9-D283-B5E3-E90CBD97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 dirty="0"/>
              <a:t>The funny one:</a:t>
            </a:r>
            <a:br>
              <a:rPr lang="en-US" dirty="0"/>
            </a:br>
            <a:r>
              <a:rPr lang="en-US" dirty="0"/>
              <a:t>business roles only saw </a:t>
            </a:r>
            <a:r>
              <a:rPr lang="en-US" dirty="0" err="1"/>
              <a:t>IsCurrent</a:t>
            </a:r>
            <a:r>
              <a:rPr lang="en-US" dirty="0"/>
              <a:t> = 1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FD0F5F4-7555-4C47-BE1F-6D96DC6B53E3}"/>
              </a:ext>
            </a:extLst>
          </p:cNvPr>
          <p:cNvSpPr txBox="1"/>
          <p:nvPr/>
        </p:nvSpPr>
        <p:spPr>
          <a:xfrm>
            <a:off x="927100" y="17145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5B6B7A"/>
                </a:solidFill>
              </a:rPr>
              <a:t>Fact table rows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3F788F20-B33E-4870-B873-1F8DBD1597E8}"/>
              </a:ext>
            </a:extLst>
          </p:cNvPr>
          <p:cNvSpPr/>
          <p:nvPr/>
        </p:nvSpPr>
        <p:spPr>
          <a:xfrm>
            <a:off x="927100" y="2032000"/>
            <a:ext cx="5168900" cy="10160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pl-PL" sz="2000" b="1" dirty="0" err="1">
                <a:solidFill>
                  <a:srgbClr val="FFFFFF"/>
                </a:solidFill>
              </a:rPr>
              <a:t>IsCurrent</a:t>
            </a:r>
            <a:r>
              <a:rPr lang="pl-PL" sz="2000" b="1" dirty="0">
                <a:solidFill>
                  <a:srgbClr val="FFFFFF"/>
                </a:solidFill>
              </a:rPr>
              <a:t> = 1  ·  ~70%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07B36B0-1C7B-4AC1-BF07-235D787B29B0}"/>
              </a:ext>
            </a:extLst>
          </p:cNvPr>
          <p:cNvSpPr/>
          <p:nvPr/>
        </p:nvSpPr>
        <p:spPr>
          <a:xfrm>
            <a:off x="6096000" y="2032000"/>
            <a:ext cx="5168900" cy="10160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27000" tIns="76200" rIns="127000" bIns="76200" rtlCol="0" anchor="ctr" anchorCtr="0">
            <a:noAutofit/>
          </a:bodyPr>
          <a:lstStyle/>
          <a:p>
            <a:pPr algn="ctr"/>
            <a:r>
              <a:rPr lang="pl-PL" sz="2000" b="1" dirty="0" err="1">
                <a:solidFill>
                  <a:srgbClr val="3A4450"/>
                </a:solidFill>
              </a:rPr>
              <a:t>IsCurrent</a:t>
            </a:r>
            <a:r>
              <a:rPr lang="pl-PL" sz="2000" b="1" dirty="0">
                <a:solidFill>
                  <a:srgbClr val="3A4450"/>
                </a:solidFill>
              </a:rPr>
              <a:t> = 0  ·  ~30%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DB9E566-84A5-4C74-AC83-230F24C3C377}"/>
              </a:ext>
            </a:extLst>
          </p:cNvPr>
          <p:cNvSpPr txBox="1"/>
          <p:nvPr/>
        </p:nvSpPr>
        <p:spPr>
          <a:xfrm>
            <a:off x="927100" y="3238500"/>
            <a:ext cx="51689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>
                <a:solidFill>
                  <a:srgbClr val="0B7A6B"/>
                </a:solidFill>
              </a:rPr>
              <a:t>Business roles (Entra groups)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47C0E0F-241B-4A5C-B9A0-BA6B2E905E56}"/>
              </a:ext>
            </a:extLst>
          </p:cNvPr>
          <p:cNvSpPr txBox="1"/>
          <p:nvPr/>
        </p:nvSpPr>
        <p:spPr>
          <a:xfrm>
            <a:off x="927100" y="3619500"/>
            <a:ext cx="51689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Row filter on the fact table: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2A19E8C5-1777-489B-A61B-8DC233BF7676}"/>
              </a:ext>
            </a:extLst>
          </p:cNvPr>
          <p:cNvSpPr/>
          <p:nvPr/>
        </p:nvSpPr>
        <p:spPr>
          <a:xfrm>
            <a:off x="927100" y="3962400"/>
            <a:ext cx="5168900" cy="508000"/>
          </a:xfrm>
          <a:prstGeom prst="rect">
            <a:avLst/>
          </a:prstGeom>
          <a:solidFill>
            <a:srgbClr val="EEF0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76200" rIns="152400" bIns="76200" rtlCol="0" anchor="ctr" anchorCtr="0">
            <a:noAutofit/>
          </a:bodyPr>
          <a:lstStyle/>
          <a:p>
            <a:r>
              <a:rPr lang="pl-PL" sz="1600" dirty="0">
                <a:solidFill>
                  <a:srgbClr val="1E2329"/>
                </a:solidFill>
                <a:latin typeface="Consolas"/>
              </a:rPr>
              <a:t>'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Fact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'[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IsCurrent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] = 1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EEB40F0-671F-4488-A4FF-F91B0FA7D260}"/>
              </a:ext>
            </a:extLst>
          </p:cNvPr>
          <p:cNvSpPr txBox="1"/>
          <p:nvPr/>
        </p:nvSpPr>
        <p:spPr>
          <a:xfrm>
            <a:off x="6273800" y="3238500"/>
            <a:ext cx="49911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>
                <a:solidFill>
                  <a:srgbClr val="3A4450"/>
                </a:solidFill>
              </a:rPr>
              <a:t>Admin roles only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1C31388-FD34-441C-AD1F-1DF06820A294}"/>
              </a:ext>
            </a:extLst>
          </p:cNvPr>
          <p:cNvSpPr txBox="1"/>
          <p:nvPr/>
        </p:nvSpPr>
        <p:spPr>
          <a:xfrm>
            <a:off x="6273800" y="3619500"/>
            <a:ext cx="49911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Only admins could query these rows. We still loaded them every day.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ABE1149-69DF-4FDF-9484-8B4887511BB4}"/>
              </a:ext>
            </a:extLst>
          </p:cNvPr>
          <p:cNvSpPr txBox="1"/>
          <p:nvPr/>
        </p:nvSpPr>
        <p:spPr>
          <a:xfrm>
            <a:off x="927100" y="5041900"/>
            <a:ext cx="103378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r>
              <a:rPr lang="en-US" sz="2000" dirty="0">
                <a:solidFill>
                  <a:srgbClr val="1E2329"/>
                </a:solidFill>
              </a:rPr>
              <a:t>One question, “who actually needs </a:t>
            </a:r>
            <a:r>
              <a:rPr lang="en-US" sz="2000" dirty="0" err="1">
                <a:solidFill>
                  <a:srgbClr val="1E2329"/>
                </a:solidFill>
              </a:rPr>
              <a:t>IsCurrent</a:t>
            </a:r>
            <a:r>
              <a:rPr lang="en-US" sz="2000" dirty="0">
                <a:solidFill>
                  <a:srgbClr val="1E2329"/>
                </a:solidFill>
              </a:rPr>
              <a:t> = 0?”, and the data was </a:t>
            </a:r>
            <a:r>
              <a:rPr lang="en-US" sz="2000" b="1" dirty="0">
                <a:solidFill>
                  <a:srgbClr val="1E2329"/>
                </a:solidFill>
              </a:rPr>
              <a:t>cu</a:t>
            </a:r>
            <a:r>
              <a:rPr lang="pl-PL" sz="2000" b="1" dirty="0">
                <a:solidFill>
                  <a:srgbClr val="1E2329"/>
                </a:solidFill>
              </a:rPr>
              <a:t>t</a:t>
            </a:r>
            <a:r>
              <a:rPr lang="en-US" sz="2000" dirty="0">
                <a:solidFill>
                  <a:srgbClr val="1E2329"/>
                </a:solidFill>
              </a:rPr>
              <a:t>.</a:t>
            </a:r>
            <a:endParaRPr lang="pl-PL" sz="2000" dirty="0">
              <a:solidFill>
                <a:srgbClr val="1E23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551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D1509A-58E1-C006-EEE7-81CA5221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Legacy hash keys: one distinct value per row,</a:t>
            </a:r>
            <a:br>
              <a:rPr lang="en-US"/>
            </a:br>
            <a:r>
              <a:rPr lang="en-US"/>
              <a:t>and a huge dictionary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3F0DC6A-A912-4C83-8BB3-08EB4956D08A}"/>
              </a:ext>
            </a:extLst>
          </p:cNvPr>
          <p:cNvSpPr txBox="1"/>
          <p:nvPr/>
        </p:nvSpPr>
        <p:spPr>
          <a:xfrm>
            <a:off x="927100" y="1714500"/>
            <a:ext cx="50419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 b="1">
                <a:solidFill>
                  <a:srgbClr val="5B6B7A"/>
                </a:solidFill>
              </a:rPr>
              <a:t>Before: string hash keys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068D503-021A-4962-96DD-880A13E2BC04}"/>
              </a:ext>
            </a:extLst>
          </p:cNvPr>
          <p:cNvSpPr txBox="1"/>
          <p:nvPr/>
        </p:nvSpPr>
        <p:spPr>
          <a:xfrm>
            <a:off x="927100" y="2235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9f2c4e1a7d0b3c55e8a1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FA17DC2-C23D-4E51-A4B7-560B37CABD65}"/>
              </a:ext>
            </a:extLst>
          </p:cNvPr>
          <p:cNvSpPr txBox="1"/>
          <p:nvPr/>
        </p:nvSpPr>
        <p:spPr>
          <a:xfrm>
            <a:off x="927100" y="2616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04be77d1c9a2f6e0b3d4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0689684-A63D-47FE-819C-2E09C29C89D2}"/>
              </a:ext>
            </a:extLst>
          </p:cNvPr>
          <p:cNvSpPr txBox="1"/>
          <p:nvPr/>
        </p:nvSpPr>
        <p:spPr>
          <a:xfrm>
            <a:off x="927100" y="2997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c3a8e5f1027bd94e6a11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2F6A992-6196-448A-A9D5-B9237646DC81}"/>
              </a:ext>
            </a:extLst>
          </p:cNvPr>
          <p:cNvSpPr txBox="1"/>
          <p:nvPr/>
        </p:nvSpPr>
        <p:spPr>
          <a:xfrm>
            <a:off x="927100" y="3378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  <a:latin typeface="Consolas"/>
              </a:rPr>
              <a:t>…one distinct value per row</a:t>
            </a:r>
            <a:endParaRPr lang="pl-PL" sz="1600">
              <a:solidFill>
                <a:srgbClr val="1E2329"/>
              </a:solidFill>
              <a:latin typeface="Consolas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A36FA36-F540-4001-85B3-9D409FD4B542}"/>
              </a:ext>
            </a:extLst>
          </p:cNvPr>
          <p:cNvSpPr txBox="1"/>
          <p:nvPr/>
        </p:nvSpPr>
        <p:spPr>
          <a:xfrm>
            <a:off x="927100" y="4191000"/>
            <a:ext cx="50419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Nearly one distinct value per row, so the dictionary is as big as the data.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99DB744-F5C9-46B5-8F75-55EFBD8FCA40}"/>
              </a:ext>
            </a:extLst>
          </p:cNvPr>
          <p:cNvSpPr txBox="1"/>
          <p:nvPr/>
        </p:nvSpPr>
        <p:spPr>
          <a:xfrm>
            <a:off x="6223000" y="1714500"/>
            <a:ext cx="50419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 b="1">
                <a:solidFill>
                  <a:srgbClr val="0B7A6B"/>
                </a:solidFill>
              </a:rPr>
              <a:t>After: integer surrogate keys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9CAE3F5-7CF6-4116-811D-10BD992DE6BF}"/>
              </a:ext>
            </a:extLst>
          </p:cNvPr>
          <p:cNvSpPr txBox="1"/>
          <p:nvPr/>
        </p:nvSpPr>
        <p:spPr>
          <a:xfrm>
            <a:off x="6223000" y="2235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1048571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2963D7F-8167-43B6-B38D-44D9252898C8}"/>
              </a:ext>
            </a:extLst>
          </p:cNvPr>
          <p:cNvSpPr txBox="1"/>
          <p:nvPr/>
        </p:nvSpPr>
        <p:spPr>
          <a:xfrm>
            <a:off x="6223000" y="2616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1048572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94E4F7E-0B06-4906-9771-6D9E9E2E990B}"/>
              </a:ext>
            </a:extLst>
          </p:cNvPr>
          <p:cNvSpPr txBox="1"/>
          <p:nvPr/>
        </p:nvSpPr>
        <p:spPr>
          <a:xfrm>
            <a:off x="6223000" y="2997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1048573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4CCF689-43F4-488A-8064-8BC3BB69B827}"/>
              </a:ext>
            </a:extLst>
          </p:cNvPr>
          <p:cNvSpPr txBox="1"/>
          <p:nvPr/>
        </p:nvSpPr>
        <p:spPr>
          <a:xfrm>
            <a:off x="6223000" y="3378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1E2329"/>
                </a:solidFill>
                <a:latin typeface="Consolas"/>
              </a:rPr>
              <a:t>…compact integers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C0B05C9-74DA-4583-8318-39B1679FDFB2}"/>
              </a:ext>
            </a:extLst>
          </p:cNvPr>
          <p:cNvSpPr txBox="1"/>
          <p:nvPr/>
        </p:nvSpPr>
        <p:spPr>
          <a:xfrm>
            <a:off x="6223000" y="4191000"/>
            <a:ext cx="50419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rgbClr val="3A4450"/>
                </a:solidFill>
              </a:rPr>
              <a:t>Integers compress well. We generate them once, during the load in Databricks.</a:t>
            </a:r>
            <a:endParaRPr lang="pl-PL" sz="1600" dirty="0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61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8FF034-44EE-EF45-4F6A-85C13847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The same value, stored twice:</a:t>
            </a:r>
            <a:br>
              <a:rPr lang="en-US"/>
            </a:br>
            <a:r>
              <a:rPr lang="en-US"/>
              <a:t>once as a decimal, once as text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A10A592-28A2-478F-B429-D7BE6DEB52D9}"/>
              </a:ext>
            </a:extLst>
          </p:cNvPr>
          <p:cNvSpPr txBox="1"/>
          <p:nvPr/>
        </p:nvSpPr>
        <p:spPr>
          <a:xfrm>
            <a:off x="927100" y="17145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300" b="1">
                <a:solidFill>
                  <a:srgbClr val="5B6B7A"/>
                </a:solidFill>
              </a:rPr>
              <a:t>Answers fact table (example rows)</a:t>
            </a:r>
            <a:endParaRPr lang="pl-PL" sz="1300" b="1">
              <a:solidFill>
                <a:srgbClr val="5B6B7A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06490C4-F98D-40D4-AC7C-57FEAB5C3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57198"/>
              </p:ext>
            </p:extLst>
          </p:nvPr>
        </p:nvGraphicFramePr>
        <p:xfrm>
          <a:off x="927100" y="2057400"/>
          <a:ext cx="6096000" cy="27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54376912"/>
                    </a:ext>
                  </a:extLst>
                </a:gridCol>
                <a:gridCol w="1930141">
                  <a:extLst>
                    <a:ext uri="{9D8B030D-6E8A-4147-A177-3AD203B41FA5}">
                      <a16:colId xmlns:a16="http://schemas.microsoft.com/office/drawing/2014/main" val="1403560337"/>
                    </a:ext>
                  </a:extLst>
                </a:gridCol>
                <a:gridCol w="2133859">
                  <a:extLst>
                    <a:ext uri="{9D8B030D-6E8A-4147-A177-3AD203B41FA5}">
                      <a16:colId xmlns:a16="http://schemas.microsoft.com/office/drawing/2014/main" val="298415618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l-PL" sz="1600" b="1" dirty="0" err="1">
                          <a:solidFill>
                            <a:srgbClr val="1E2329"/>
                          </a:solidFill>
                          <a:latin typeface="Segoe UI"/>
                          <a:cs typeface="Segoe UI"/>
                        </a:rPr>
                        <a:t>Key</a:t>
                      </a:r>
                      <a:endParaRPr lang="pl-PL" sz="1600" b="1" dirty="0">
                        <a:solidFill>
                          <a:srgbClr val="1E2329"/>
                        </a:solidFill>
                        <a:latin typeface="Segoe UI"/>
                        <a:cs typeface="Segoe UI"/>
                      </a:endParaRPr>
                    </a:p>
                  </a:txBody>
                  <a:tcPr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1" dirty="0">
                          <a:solidFill>
                            <a:srgbClr val="1E2329"/>
                          </a:solidFill>
                          <a:latin typeface="Segoe UI"/>
                          <a:cs typeface="Segoe UI"/>
                        </a:rPr>
                        <a:t>Value</a:t>
                      </a:r>
                    </a:p>
                  </a:txBody>
                  <a:tcPr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1" dirty="0" err="1">
                          <a:solidFill>
                            <a:srgbClr val="1E2329"/>
                          </a:solidFill>
                          <a:latin typeface="Segoe UI"/>
                          <a:cs typeface="Segoe UI"/>
                        </a:rPr>
                        <a:t>ValueText</a:t>
                      </a:r>
                      <a:endParaRPr lang="pl-PL" sz="1600" b="1" dirty="0">
                        <a:solidFill>
                          <a:srgbClr val="1E2329"/>
                        </a:solidFill>
                        <a:latin typeface="Segoe UI"/>
                        <a:cs typeface="Segoe UI"/>
                      </a:endParaRPr>
                    </a:p>
                  </a:txBody>
                  <a:tcPr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69084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l-PL" sz="1600" b="0">
                          <a:solidFill>
                            <a:srgbClr val="1E2329"/>
                          </a:solidFill>
                          <a:latin typeface="Consolas"/>
                        </a:rPr>
                        <a:t>1048571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 dirty="0">
                          <a:solidFill>
                            <a:srgbClr val="1E2329"/>
                          </a:solidFill>
                          <a:latin typeface="Consolas"/>
                        </a:rPr>
                        <a:t>0.12355434364564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 dirty="0">
                          <a:solidFill>
                            <a:srgbClr val="C75B39"/>
                          </a:solidFill>
                          <a:latin typeface="Consolas"/>
                        </a:rPr>
                        <a:t>"0.12"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22566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l-PL" sz="1600" b="0">
                          <a:solidFill>
                            <a:srgbClr val="1E2329"/>
                          </a:solidFill>
                          <a:latin typeface="Consolas"/>
                        </a:rPr>
                        <a:t>1048572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 dirty="0">
                          <a:solidFill>
                            <a:srgbClr val="1E2329"/>
                          </a:solidFill>
                          <a:latin typeface="Consolas"/>
                        </a:rPr>
                        <a:t>2.50032545446780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>
                          <a:solidFill>
                            <a:srgbClr val="C75B39"/>
                          </a:solidFill>
                          <a:latin typeface="Consolas"/>
                        </a:rPr>
                        <a:t>"2.50"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3662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l-PL" sz="1600" b="0" dirty="0">
                          <a:solidFill>
                            <a:srgbClr val="1E2329"/>
                          </a:solidFill>
                          <a:latin typeface="Consolas"/>
                        </a:rPr>
                        <a:t>1048573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 dirty="0">
                          <a:solidFill>
                            <a:srgbClr val="1E2329"/>
                          </a:solidFill>
                          <a:latin typeface="Consolas"/>
                        </a:rPr>
                        <a:t>17.8342454465671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 dirty="0">
                          <a:solidFill>
                            <a:srgbClr val="C75B39"/>
                          </a:solidFill>
                          <a:latin typeface="Consolas"/>
                        </a:rPr>
                        <a:t>"17.83"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8214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l-PL" sz="1600" b="0" dirty="0">
                          <a:solidFill>
                            <a:srgbClr val="1E2329"/>
                          </a:solidFill>
                          <a:latin typeface="Consolas"/>
                        </a:rPr>
                        <a:t>1051235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l-PL" sz="1600" b="0" dirty="0">
                        <a:solidFill>
                          <a:srgbClr val="1E2329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l-PL" sz="1600" b="0" dirty="0" err="1">
                          <a:solidFill>
                            <a:srgbClr val="C75B39"/>
                          </a:solidFill>
                          <a:latin typeface="Consolas"/>
                        </a:rPr>
                        <a:t>Institution</a:t>
                      </a:r>
                      <a:r>
                        <a:rPr lang="pl-PL" sz="1600" b="0" dirty="0">
                          <a:solidFill>
                            <a:srgbClr val="C75B39"/>
                          </a:solidFill>
                          <a:latin typeface="Consolas"/>
                        </a:rPr>
                        <a:t>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74757"/>
                  </a:ext>
                </a:extLst>
              </a:tr>
            </a:tbl>
          </a:graphicData>
        </a:graphic>
      </p:graphicFrame>
      <p:sp>
        <p:nvSpPr>
          <p:cNvPr id="9" name="pole tekstowe 8">
            <a:extLst>
              <a:ext uri="{FF2B5EF4-FFF2-40B4-BE49-F238E27FC236}">
                <a16:creationId xmlns:a16="http://schemas.microsoft.com/office/drawing/2014/main" id="{F1A2EFE5-BB6B-4BE2-AE04-42F20407C044}"/>
              </a:ext>
            </a:extLst>
          </p:cNvPr>
          <p:cNvSpPr txBox="1"/>
          <p:nvPr/>
        </p:nvSpPr>
        <p:spPr>
          <a:xfrm>
            <a:off x="7620000" y="20066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0B7A6B"/>
                </a:solidFill>
              </a:rPr>
              <a:t>What we agreed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7D83037-BFE8-4D89-A00A-48C9B3735183}"/>
              </a:ext>
            </a:extLst>
          </p:cNvPr>
          <p:cNvSpPr txBox="1"/>
          <p:nvPr/>
        </p:nvSpPr>
        <p:spPr>
          <a:xfrm>
            <a:off x="7620000" y="2362200"/>
            <a:ext cx="3644900" cy="292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rgbClr val="1E2329"/>
                </a:solidFill>
              </a:rPr>
              <a:t>Keep Value (4 decimals), </a:t>
            </a:r>
            <a:r>
              <a:rPr lang="pl-PL" dirty="0" err="1">
                <a:solidFill>
                  <a:srgbClr val="1E2329"/>
                </a:solidFill>
              </a:rPr>
              <a:t>remove</a:t>
            </a:r>
            <a:r>
              <a:rPr lang="pl-PL" dirty="0">
                <a:solidFill>
                  <a:srgbClr val="1E2329"/>
                </a:solidFill>
              </a:rPr>
              <a:t> „</a:t>
            </a:r>
            <a:r>
              <a:rPr lang="pl-PL" dirty="0" err="1">
                <a:solidFill>
                  <a:srgbClr val="1E2329"/>
                </a:solidFill>
              </a:rPr>
              <a:t>numbers</a:t>
            </a:r>
            <a:r>
              <a:rPr lang="pl-PL" dirty="0">
                <a:solidFill>
                  <a:srgbClr val="1E2329"/>
                </a:solidFill>
              </a:rPr>
              <a:t>” from Value </a:t>
            </a:r>
            <a:r>
              <a:rPr lang="pl-PL" dirty="0" err="1">
                <a:solidFill>
                  <a:srgbClr val="1E2329"/>
                </a:solidFill>
              </a:rPr>
              <a:t>Text</a:t>
            </a:r>
            <a:r>
              <a:rPr lang="en-US" dirty="0">
                <a:solidFill>
                  <a:srgbClr val="1E2329"/>
                </a:solidFill>
              </a:rPr>
              <a:t>. </a:t>
            </a:r>
            <a:endParaRPr lang="pl-PL" dirty="0">
              <a:solidFill>
                <a:srgbClr val="1E2329"/>
              </a:solidFill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72973B39-4E44-411E-8FAE-E6B30A19FA54}"/>
              </a:ext>
            </a:extLst>
          </p:cNvPr>
          <p:cNvSpPr/>
          <p:nvPr/>
        </p:nvSpPr>
        <p:spPr>
          <a:xfrm>
            <a:off x="7366000" y="1714500"/>
            <a:ext cx="12700" cy="34290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497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667B83-AC53-615F-B74D-EFCDB13E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Why the standard incremental refresh</a:t>
            </a:r>
            <a:br>
              <a:rPr lang="en-US"/>
            </a:br>
            <a:r>
              <a:rPr lang="en-US"/>
              <a:t>didn’t work for us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1B05252-612A-4E39-9D69-43B1EF1F8183}"/>
              </a:ext>
            </a:extLst>
          </p:cNvPr>
          <p:cNvSpPr txBox="1"/>
          <p:nvPr/>
        </p:nvSpPr>
        <p:spPr>
          <a:xfrm>
            <a:off x="927100" y="1714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300" b="1">
                <a:solidFill>
                  <a:srgbClr val="5B6B7A"/>
                </a:solidFill>
              </a:rPr>
              <a:t>Incremental refresh policy from Power BI Desktop</a:t>
            </a:r>
            <a:endParaRPr lang="pl-PL" sz="1300" b="1">
              <a:solidFill>
                <a:srgbClr val="5B6B7A"/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F7B302D-022C-47C1-8732-BA09AFBE23A4}"/>
              </a:ext>
            </a:extLst>
          </p:cNvPr>
          <p:cNvSpPr/>
          <p:nvPr/>
        </p:nvSpPr>
        <p:spPr>
          <a:xfrm>
            <a:off x="939800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4DEC8229-98C1-4B70-BB7A-527B54832C18}"/>
              </a:ext>
            </a:extLst>
          </p:cNvPr>
          <p:cNvSpPr/>
          <p:nvPr/>
        </p:nvSpPr>
        <p:spPr>
          <a:xfrm>
            <a:off x="1678214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2D27F68D-783B-4E27-9F3D-EA941B4491CD}"/>
              </a:ext>
            </a:extLst>
          </p:cNvPr>
          <p:cNvSpPr/>
          <p:nvPr/>
        </p:nvSpPr>
        <p:spPr>
          <a:xfrm>
            <a:off x="2416628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E9DA2E2F-9D9F-401D-8613-AB0430A549F0}"/>
              </a:ext>
            </a:extLst>
          </p:cNvPr>
          <p:cNvSpPr/>
          <p:nvPr/>
        </p:nvSpPr>
        <p:spPr>
          <a:xfrm>
            <a:off x="2684235" y="2908300"/>
            <a:ext cx="177800" cy="177800"/>
          </a:xfrm>
          <a:prstGeom prst="ellipse">
            <a:avLst/>
          </a:prstGeom>
          <a:solidFill>
            <a:srgbClr val="E3A2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A9B5208-A79B-4702-AF68-6B5C7F6E8DDE}"/>
              </a:ext>
            </a:extLst>
          </p:cNvPr>
          <p:cNvSpPr/>
          <p:nvPr/>
        </p:nvSpPr>
        <p:spPr>
          <a:xfrm>
            <a:off x="3155042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AC02FF78-352D-47D3-BB40-2A09C4A812CA}"/>
              </a:ext>
            </a:extLst>
          </p:cNvPr>
          <p:cNvSpPr/>
          <p:nvPr/>
        </p:nvSpPr>
        <p:spPr>
          <a:xfrm>
            <a:off x="3893457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29AF4DF-B3EB-4940-A1F6-A2AB0687714B}"/>
              </a:ext>
            </a:extLst>
          </p:cNvPr>
          <p:cNvSpPr/>
          <p:nvPr/>
        </p:nvSpPr>
        <p:spPr>
          <a:xfrm>
            <a:off x="4631871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2919A7C2-1B28-4941-9674-0F534BC93460}"/>
              </a:ext>
            </a:extLst>
          </p:cNvPr>
          <p:cNvSpPr/>
          <p:nvPr/>
        </p:nvSpPr>
        <p:spPr>
          <a:xfrm>
            <a:off x="4899478" y="2908300"/>
            <a:ext cx="177800" cy="177800"/>
          </a:xfrm>
          <a:prstGeom prst="ellipse">
            <a:avLst/>
          </a:prstGeom>
          <a:solidFill>
            <a:srgbClr val="E3A2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B5A1FAFA-827A-42FE-A903-47C1950DD0A0}"/>
              </a:ext>
            </a:extLst>
          </p:cNvPr>
          <p:cNvSpPr/>
          <p:nvPr/>
        </p:nvSpPr>
        <p:spPr>
          <a:xfrm>
            <a:off x="5370285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06F39EB1-CA26-4212-AEF4-E0C8B3274360}"/>
              </a:ext>
            </a:extLst>
          </p:cNvPr>
          <p:cNvSpPr/>
          <p:nvPr/>
        </p:nvSpPr>
        <p:spPr>
          <a:xfrm>
            <a:off x="5637892" y="2908300"/>
            <a:ext cx="177800" cy="177800"/>
          </a:xfrm>
          <a:prstGeom prst="ellipse">
            <a:avLst/>
          </a:prstGeom>
          <a:solidFill>
            <a:srgbClr val="E3A2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A6B4F7B4-EC10-448B-A9F3-96C41CA4A1A7}"/>
              </a:ext>
            </a:extLst>
          </p:cNvPr>
          <p:cNvSpPr/>
          <p:nvPr/>
        </p:nvSpPr>
        <p:spPr>
          <a:xfrm>
            <a:off x="6108700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DA0052FC-B433-4B83-94DB-5B30F5824B31}"/>
              </a:ext>
            </a:extLst>
          </p:cNvPr>
          <p:cNvSpPr/>
          <p:nvPr/>
        </p:nvSpPr>
        <p:spPr>
          <a:xfrm>
            <a:off x="6847114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5A8052A9-4576-4A44-9FF5-ADE838620909}"/>
              </a:ext>
            </a:extLst>
          </p:cNvPr>
          <p:cNvSpPr/>
          <p:nvPr/>
        </p:nvSpPr>
        <p:spPr>
          <a:xfrm>
            <a:off x="7585528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9E38A63B-7D45-4922-886D-5C07B2C895E7}"/>
              </a:ext>
            </a:extLst>
          </p:cNvPr>
          <p:cNvSpPr/>
          <p:nvPr/>
        </p:nvSpPr>
        <p:spPr>
          <a:xfrm>
            <a:off x="7853135" y="2908300"/>
            <a:ext cx="177800" cy="177800"/>
          </a:xfrm>
          <a:prstGeom prst="ellipse">
            <a:avLst/>
          </a:prstGeom>
          <a:solidFill>
            <a:srgbClr val="E3A2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215A58EB-4923-4378-A97E-A2729CFB8666}"/>
              </a:ext>
            </a:extLst>
          </p:cNvPr>
          <p:cNvSpPr/>
          <p:nvPr/>
        </p:nvSpPr>
        <p:spPr>
          <a:xfrm>
            <a:off x="8323942" y="2095500"/>
            <a:ext cx="713014" cy="7112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7A5B494D-6D48-4120-9E63-B18925446391}"/>
              </a:ext>
            </a:extLst>
          </p:cNvPr>
          <p:cNvSpPr/>
          <p:nvPr/>
        </p:nvSpPr>
        <p:spPr>
          <a:xfrm>
            <a:off x="9062357" y="2095500"/>
            <a:ext cx="713014" cy="7112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5FED3E62-6171-4698-BC86-E0586E980AF3}"/>
              </a:ext>
            </a:extLst>
          </p:cNvPr>
          <p:cNvSpPr/>
          <p:nvPr/>
        </p:nvSpPr>
        <p:spPr>
          <a:xfrm>
            <a:off x="9800771" y="2095500"/>
            <a:ext cx="713014" cy="7112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08D882FA-6803-4CD6-8A4F-1646EDF0873D}"/>
              </a:ext>
            </a:extLst>
          </p:cNvPr>
          <p:cNvSpPr/>
          <p:nvPr/>
        </p:nvSpPr>
        <p:spPr>
          <a:xfrm>
            <a:off x="10539185" y="2095500"/>
            <a:ext cx="713014" cy="7112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89B24A7C-8BDC-4DEF-A3CA-A9DF4A97F154}"/>
              </a:ext>
            </a:extLst>
          </p:cNvPr>
          <p:cNvSpPr txBox="1"/>
          <p:nvPr/>
        </p:nvSpPr>
        <p:spPr>
          <a:xfrm>
            <a:off x="927100" y="32004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Archive: loaded once, never refreshed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018DDF94-F17D-4D13-8F0A-2EE771E4714A}"/>
              </a:ext>
            </a:extLst>
          </p:cNvPr>
          <p:cNvSpPr txBox="1"/>
          <p:nvPr/>
        </p:nvSpPr>
        <p:spPr>
          <a:xfrm>
            <a:off x="9049657" y="3200400"/>
            <a:ext cx="2215242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pl-PL" sz="1600" b="1">
                <a:solidFill>
                  <a:srgbClr val="0B7A6B"/>
                </a:solidFill>
              </a:rPr>
              <a:t>Rolling refresh window</a:t>
            </a:r>
          </a:p>
        </p:txBody>
      </p:sp>
      <p:sp>
        <p:nvSpPr>
          <p:cNvPr id="24" name="Owal 23">
            <a:extLst>
              <a:ext uri="{FF2B5EF4-FFF2-40B4-BE49-F238E27FC236}">
                <a16:creationId xmlns:a16="http://schemas.microsoft.com/office/drawing/2014/main" id="{95AD89F9-F604-45E1-9F2D-8BCAC0AE9067}"/>
              </a:ext>
            </a:extLst>
          </p:cNvPr>
          <p:cNvSpPr/>
          <p:nvPr/>
        </p:nvSpPr>
        <p:spPr>
          <a:xfrm>
            <a:off x="927100" y="3619500"/>
            <a:ext cx="152400" cy="152400"/>
          </a:xfrm>
          <a:prstGeom prst="ellipse">
            <a:avLst/>
          </a:prstGeom>
          <a:solidFill>
            <a:srgbClr val="E3A2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4A688266-E756-4E83-A82E-92D31D5DE9D5}"/>
              </a:ext>
            </a:extLst>
          </p:cNvPr>
          <p:cNvSpPr txBox="1"/>
          <p:nvPr/>
        </p:nvSpPr>
        <p:spPr>
          <a:xfrm>
            <a:off x="1168400" y="35687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Historical periods that changed in the source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3D8A5778-C977-4283-9CC4-C4E2CA01F79B}"/>
              </a:ext>
            </a:extLst>
          </p:cNvPr>
          <p:cNvSpPr txBox="1"/>
          <p:nvPr/>
        </p:nvSpPr>
        <p:spPr>
          <a:xfrm>
            <a:off x="927100" y="45085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>
                <a:solidFill>
                  <a:srgbClr val="1E2329"/>
                </a:solidFill>
              </a:rPr>
              <a:t>The window rolls by date, not by change</a:t>
            </a:r>
            <a:endParaRPr lang="pl-PL" sz="1700" b="1">
              <a:solidFill>
                <a:srgbClr val="1E2329"/>
              </a:solidFill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D5B4C534-34C0-469F-8D67-A653894CC97F}"/>
              </a:ext>
            </a:extLst>
          </p:cNvPr>
          <p:cNvSpPr txBox="1"/>
          <p:nvPr/>
        </p:nvSpPr>
        <p:spPr>
          <a:xfrm>
            <a:off x="4445000" y="45085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>
                <a:solidFill>
                  <a:srgbClr val="1E2329"/>
                </a:solidFill>
              </a:rPr>
              <a:t>The only safe option was a full reload</a:t>
            </a:r>
            <a:endParaRPr lang="pl-PL" sz="1700" b="1">
              <a:solidFill>
                <a:srgbClr val="1E2329"/>
              </a:solidFill>
            </a:endParaRP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A70B8EFF-128B-4C97-9274-69E2535E134D}"/>
              </a:ext>
            </a:extLst>
          </p:cNvPr>
          <p:cNvSpPr txBox="1"/>
          <p:nvPr/>
        </p:nvSpPr>
        <p:spPr>
          <a:xfrm>
            <a:off x="7962900" y="45085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 dirty="0">
                <a:solidFill>
                  <a:srgbClr val="1E2329"/>
                </a:solidFill>
              </a:rPr>
              <a:t>Full reloads stressed the capacity</a:t>
            </a:r>
            <a:r>
              <a:rPr lang="pl-PL" sz="1700" b="1" dirty="0">
                <a:solidFill>
                  <a:srgbClr val="1E2329"/>
                </a:solidFill>
              </a:rPr>
              <a:t> and the model </a:t>
            </a:r>
            <a:r>
              <a:rPr lang="pl-PL" sz="1700" b="1" dirty="0" err="1">
                <a:solidFill>
                  <a:srgbClr val="1E2329"/>
                </a:solidFill>
              </a:rPr>
              <a:t>often</a:t>
            </a:r>
            <a:r>
              <a:rPr lang="pl-PL" sz="1700" b="1" dirty="0">
                <a:solidFill>
                  <a:srgbClr val="1E2329"/>
                </a:solidFill>
              </a:rPr>
              <a:t> hit the </a:t>
            </a:r>
            <a:r>
              <a:rPr lang="pl-PL" sz="1700" b="1" dirty="0" err="1">
                <a:solidFill>
                  <a:srgbClr val="1E2329"/>
                </a:solidFill>
              </a:rPr>
              <a:t>timeouts</a:t>
            </a:r>
            <a:endParaRPr lang="pl-PL" sz="1700" b="1" dirty="0">
              <a:solidFill>
                <a:srgbClr val="1E23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285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2EE1F8-DE8E-2982-A029-FA6F569E2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So we built our own: year-month buckets,</a:t>
            </a:r>
            <a:br>
              <a:rPr lang="en-US"/>
            </a:br>
            <a:r>
              <a:rPr lang="en-US"/>
              <a:t>refreshed only when they change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D2DC768-FA15-4D94-B96F-42F50926E36D}"/>
              </a:ext>
            </a:extLst>
          </p:cNvPr>
          <p:cNvSpPr txBox="1"/>
          <p:nvPr/>
        </p:nvSpPr>
        <p:spPr>
          <a:xfrm>
            <a:off x="1079500" y="18161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1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7FF34CE-6882-45CF-A43D-DAD61556519C}"/>
              </a:ext>
            </a:extLst>
          </p:cNvPr>
          <p:cNvSpPr txBox="1"/>
          <p:nvPr/>
        </p:nvSpPr>
        <p:spPr>
          <a:xfrm>
            <a:off x="1079500" y="2108200"/>
            <a:ext cx="16002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GitLab pipeline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75BBCF6-DD2F-4D16-A5C8-7BABABCC39FC}"/>
              </a:ext>
            </a:extLst>
          </p:cNvPr>
          <p:cNvSpPr txBox="1"/>
          <p:nvPr/>
        </p:nvSpPr>
        <p:spPr>
          <a:xfrm>
            <a:off x="1079500" y="2438400"/>
            <a:ext cx="16002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>
                <a:solidFill>
                  <a:srgbClr val="3A4450"/>
                </a:solidFill>
              </a:rPr>
              <a:t>triggers the batch reload</a:t>
            </a:r>
            <a:endParaRPr lang="pl-PL" sz="1400">
              <a:solidFill>
                <a:srgbClr val="3A4450"/>
              </a:solidFill>
            </a:endParaRPr>
          </a:p>
        </p:txBody>
      </p:sp>
      <p:sp>
        <p:nvSpPr>
          <p:cNvPr id="7" name="Strzałka: w prawo 6">
            <a:extLst>
              <a:ext uri="{FF2B5EF4-FFF2-40B4-BE49-F238E27FC236}">
                <a16:creationId xmlns:a16="http://schemas.microsoft.com/office/drawing/2014/main" id="{16628D6C-7EFF-427B-87B8-452457916FAD}"/>
              </a:ext>
            </a:extLst>
          </p:cNvPr>
          <p:cNvSpPr/>
          <p:nvPr/>
        </p:nvSpPr>
        <p:spPr>
          <a:xfrm>
            <a:off x="2857500" y="2286000"/>
            <a:ext cx="152400" cy="1778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0EBD69D-8F5D-4DA6-A11D-305319B139D0}"/>
              </a:ext>
            </a:extLst>
          </p:cNvPr>
          <p:cNvSpPr txBox="1"/>
          <p:nvPr/>
        </p:nvSpPr>
        <p:spPr>
          <a:xfrm>
            <a:off x="3187700" y="18161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2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56BCB9B-3046-4306-973C-78690BE57638}"/>
              </a:ext>
            </a:extLst>
          </p:cNvPr>
          <p:cNvSpPr txBox="1"/>
          <p:nvPr/>
        </p:nvSpPr>
        <p:spPr>
          <a:xfrm>
            <a:off x="3187700" y="2108200"/>
            <a:ext cx="16002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Count rows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7059657-1F39-4EC0-9216-4BDCBEB16772}"/>
              </a:ext>
            </a:extLst>
          </p:cNvPr>
          <p:cNvSpPr txBox="1"/>
          <p:nvPr/>
        </p:nvSpPr>
        <p:spPr>
          <a:xfrm>
            <a:off x="3187700" y="2438400"/>
            <a:ext cx="16002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>
                <a:solidFill>
                  <a:srgbClr val="3A4450"/>
                </a:solidFill>
              </a:rPr>
              <a:t>per year-month bucket</a:t>
            </a:r>
          </a:p>
        </p:txBody>
      </p:sp>
      <p:sp>
        <p:nvSpPr>
          <p:cNvPr id="12" name="Strzałka: w prawo 11">
            <a:extLst>
              <a:ext uri="{FF2B5EF4-FFF2-40B4-BE49-F238E27FC236}">
                <a16:creationId xmlns:a16="http://schemas.microsoft.com/office/drawing/2014/main" id="{C7E23A2F-54D8-439F-B4D0-CCFF05F59436}"/>
              </a:ext>
            </a:extLst>
          </p:cNvPr>
          <p:cNvSpPr/>
          <p:nvPr/>
        </p:nvSpPr>
        <p:spPr>
          <a:xfrm>
            <a:off x="4965700" y="2286000"/>
            <a:ext cx="152400" cy="1778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2448B14-C441-4F4F-B747-CC8EC6D07242}"/>
              </a:ext>
            </a:extLst>
          </p:cNvPr>
          <p:cNvSpPr txBox="1"/>
          <p:nvPr/>
        </p:nvSpPr>
        <p:spPr>
          <a:xfrm>
            <a:off x="5295900" y="18161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3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410435E-D8B9-41AE-B1E6-80A47415ED65}"/>
              </a:ext>
            </a:extLst>
          </p:cNvPr>
          <p:cNvSpPr txBox="1"/>
          <p:nvPr/>
        </p:nvSpPr>
        <p:spPr>
          <a:xfrm>
            <a:off x="5295900" y="2108200"/>
            <a:ext cx="16002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Materialize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8E9F502-D771-4B22-AF9E-7F21CF627E5E}"/>
              </a:ext>
            </a:extLst>
          </p:cNvPr>
          <p:cNvSpPr txBox="1"/>
          <p:nvPr/>
        </p:nvSpPr>
        <p:spPr>
          <a:xfrm>
            <a:off x="5295900" y="2438400"/>
            <a:ext cx="16002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>
                <a:solidFill>
                  <a:srgbClr val="3A4450"/>
                </a:solidFill>
              </a:rPr>
              <a:t>the counts as a snapshot</a:t>
            </a:r>
            <a:endParaRPr lang="pl-PL" sz="1400">
              <a:solidFill>
                <a:srgbClr val="3A4450"/>
              </a:solidFill>
            </a:endParaRPr>
          </a:p>
        </p:txBody>
      </p:sp>
      <p:sp>
        <p:nvSpPr>
          <p:cNvPr id="17" name="Strzałka: w prawo 16">
            <a:extLst>
              <a:ext uri="{FF2B5EF4-FFF2-40B4-BE49-F238E27FC236}">
                <a16:creationId xmlns:a16="http://schemas.microsoft.com/office/drawing/2014/main" id="{C4A65359-D646-4972-8841-2578070A10B9}"/>
              </a:ext>
            </a:extLst>
          </p:cNvPr>
          <p:cNvSpPr/>
          <p:nvPr/>
        </p:nvSpPr>
        <p:spPr>
          <a:xfrm>
            <a:off x="7073900" y="2286000"/>
            <a:ext cx="152400" cy="1778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7EC343B5-E528-45A0-A27A-96268A85F528}"/>
              </a:ext>
            </a:extLst>
          </p:cNvPr>
          <p:cNvSpPr txBox="1"/>
          <p:nvPr/>
        </p:nvSpPr>
        <p:spPr>
          <a:xfrm>
            <a:off x="7404100" y="18161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4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EE1EFB9-26F7-41C4-8FB7-95E7833E38DD}"/>
              </a:ext>
            </a:extLst>
          </p:cNvPr>
          <p:cNvSpPr txBox="1"/>
          <p:nvPr/>
        </p:nvSpPr>
        <p:spPr>
          <a:xfrm>
            <a:off x="7404100" y="2108200"/>
            <a:ext cx="16002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Compare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DA3740BA-325D-433B-BFDF-803533A1BB4C}"/>
              </a:ext>
            </a:extLst>
          </p:cNvPr>
          <p:cNvSpPr txBox="1"/>
          <p:nvPr/>
        </p:nvSpPr>
        <p:spPr>
          <a:xfrm>
            <a:off x="7404100" y="2438400"/>
            <a:ext cx="16002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400">
                <a:solidFill>
                  <a:srgbClr val="3A4450"/>
                </a:solidFill>
              </a:rPr>
              <a:t>with the last snapshot</a:t>
            </a:r>
          </a:p>
        </p:txBody>
      </p:sp>
      <p:sp>
        <p:nvSpPr>
          <p:cNvPr id="22" name="Strzałka: w prawo 21">
            <a:extLst>
              <a:ext uri="{FF2B5EF4-FFF2-40B4-BE49-F238E27FC236}">
                <a16:creationId xmlns:a16="http://schemas.microsoft.com/office/drawing/2014/main" id="{2F9655F9-C21E-4C90-9DB8-38A304F5A19F}"/>
              </a:ext>
            </a:extLst>
          </p:cNvPr>
          <p:cNvSpPr/>
          <p:nvPr/>
        </p:nvSpPr>
        <p:spPr>
          <a:xfrm>
            <a:off x="9182100" y="2286000"/>
            <a:ext cx="152400" cy="1778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19179B47-F9D3-48B3-8176-EFB2409F2E06}"/>
              </a:ext>
            </a:extLst>
          </p:cNvPr>
          <p:cNvSpPr txBox="1"/>
          <p:nvPr/>
        </p:nvSpPr>
        <p:spPr>
          <a:xfrm>
            <a:off x="9512300" y="18161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5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4B63F28E-8DDD-4124-B336-29E55DB8909F}"/>
              </a:ext>
            </a:extLst>
          </p:cNvPr>
          <p:cNvSpPr txBox="1"/>
          <p:nvPr/>
        </p:nvSpPr>
        <p:spPr>
          <a:xfrm>
            <a:off x="9512300" y="2108200"/>
            <a:ext cx="16002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0B7A6B"/>
                </a:solidFill>
              </a:rPr>
              <a:t>Refresh API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84EFE9FC-C7F5-4C2B-8830-B37F403AEEB2}"/>
              </a:ext>
            </a:extLst>
          </p:cNvPr>
          <p:cNvSpPr txBox="1"/>
          <p:nvPr/>
        </p:nvSpPr>
        <p:spPr>
          <a:xfrm>
            <a:off x="9512300" y="2438400"/>
            <a:ext cx="16002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>
                <a:solidFill>
                  <a:srgbClr val="3A4450"/>
                </a:solidFill>
              </a:rPr>
              <a:t>only for the changed partitions</a:t>
            </a:r>
            <a:endParaRPr lang="pl-PL" sz="1400">
              <a:solidFill>
                <a:srgbClr val="3A4450"/>
              </a:solidFill>
            </a:endParaRPr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C049F2FE-2DB5-4E2F-88FB-F12C177D48F3}"/>
              </a:ext>
            </a:extLst>
          </p:cNvPr>
          <p:cNvSpPr/>
          <p:nvPr/>
        </p:nvSpPr>
        <p:spPr>
          <a:xfrm>
            <a:off x="927100" y="3810000"/>
            <a:ext cx="6096000" cy="1778000"/>
          </a:xfrm>
          <a:prstGeom prst="rect">
            <a:avLst/>
          </a:prstGeom>
          <a:solidFill>
            <a:srgbClr val="EEF0EC"/>
          </a:solidFill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3E30B6CC-C4BE-45AD-ACAE-2D16F233CFC7}"/>
              </a:ext>
            </a:extLst>
          </p:cNvPr>
          <p:cNvSpPr txBox="1"/>
          <p:nvPr/>
        </p:nvSpPr>
        <p:spPr>
          <a:xfrm>
            <a:off x="1181100" y="4064000"/>
            <a:ext cx="5651500" cy="177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rgbClr val="1E2329"/>
                </a:solidFill>
                <a:latin typeface="Consolas"/>
              </a:rPr>
              <a:t>SELECT   </a:t>
            </a:r>
            <a:r>
              <a:rPr lang="en-US" sz="1600" dirty="0" err="1">
                <a:solidFill>
                  <a:srgbClr val="1E2329"/>
                </a:solidFill>
                <a:latin typeface="Consolas"/>
              </a:rPr>
              <a:t>bucket_partition</a:t>
            </a:r>
            <a:r>
              <a:rPr lang="en-US" sz="1600" dirty="0">
                <a:solidFill>
                  <a:srgbClr val="1E2329"/>
                </a:solidFill>
                <a:latin typeface="Consolas"/>
              </a:rPr>
              <a:t>,     -- e.g. 202503
         COUNT(*) AS </a:t>
            </a:r>
            <a:r>
              <a:rPr lang="en-US" sz="1600" dirty="0" err="1">
                <a:solidFill>
                  <a:srgbClr val="1E2329"/>
                </a:solidFill>
                <a:latin typeface="Consolas"/>
              </a:rPr>
              <a:t>row_count</a:t>
            </a:r>
            <a:r>
              <a:rPr lang="en-US" sz="1600" dirty="0">
                <a:solidFill>
                  <a:srgbClr val="1E2329"/>
                </a:solidFill>
                <a:latin typeface="Consolas"/>
              </a:rPr>
              <a:t>
FROM     </a:t>
            </a:r>
            <a:r>
              <a:rPr lang="en-US" sz="1600" dirty="0" err="1">
                <a:solidFill>
                  <a:srgbClr val="1E2329"/>
                </a:solidFill>
                <a:latin typeface="Consolas"/>
              </a:rPr>
              <a:t>gold.fact</a:t>
            </a:r>
            <a:r>
              <a:rPr lang="en-US" sz="1600" dirty="0">
                <a:solidFill>
                  <a:srgbClr val="1E2329"/>
                </a:solidFill>
                <a:latin typeface="Consolas"/>
              </a:rPr>
              <a:t>
GROUP BY </a:t>
            </a:r>
            <a:r>
              <a:rPr lang="en-US" sz="1600" dirty="0" err="1">
                <a:solidFill>
                  <a:srgbClr val="1E2329"/>
                </a:solidFill>
                <a:latin typeface="Consolas"/>
              </a:rPr>
              <a:t>bucket_partition</a:t>
            </a:r>
            <a:r>
              <a:rPr lang="en-US" sz="1600" dirty="0">
                <a:solidFill>
                  <a:srgbClr val="1E2329"/>
                </a:solidFill>
                <a:latin typeface="Consolas"/>
              </a:rPr>
              <a:t>;</a:t>
            </a:r>
            <a:endParaRPr lang="pl-PL" sz="1600" dirty="0">
              <a:solidFill>
                <a:srgbClr val="1E2329"/>
              </a:solidFill>
              <a:latin typeface="Consolas"/>
            </a:endParaRPr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DFF81225-53D7-4B7C-9CCC-7B630233E5E7}"/>
              </a:ext>
            </a:extLst>
          </p:cNvPr>
          <p:cNvSpPr txBox="1"/>
          <p:nvPr/>
        </p:nvSpPr>
        <p:spPr>
          <a:xfrm>
            <a:off x="7404100" y="3937000"/>
            <a:ext cx="3860800" cy="1841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000">
                <a:solidFill>
                  <a:srgbClr val="1E2329"/>
                </a:solidFill>
              </a:rPr>
              <a:t>Some days only two partitions changed. We refreshed those two, not 15 years.</a:t>
            </a:r>
            <a:endParaRPr lang="pl-PL" sz="2000">
              <a:solidFill>
                <a:srgbClr val="1E23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7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29CE4C-CABB-8F74-E091-E3920A24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 dirty="0"/>
              <a:t>Refresh through the REST API,</a:t>
            </a:r>
            <a:br>
              <a:rPr lang="en-US" dirty="0"/>
            </a:br>
            <a:r>
              <a:rPr lang="en-US" dirty="0"/>
              <a:t>with parallelism Databricks can handle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A79670E-FDA4-43BC-A8EB-A64E3D88D6BA}"/>
              </a:ext>
            </a:extLst>
          </p:cNvPr>
          <p:cNvSpPr txBox="1"/>
          <p:nvPr/>
        </p:nvSpPr>
        <p:spPr>
          <a:xfrm>
            <a:off x="927100" y="17145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300" b="1">
                <a:solidFill>
                  <a:srgbClr val="5B6B7A"/>
                </a:solidFill>
              </a:rPr>
              <a:t>Enhanced refresh API, request body</a:t>
            </a:r>
            <a:endParaRPr lang="pl-PL" sz="1300" b="1">
              <a:solidFill>
                <a:srgbClr val="5B6B7A"/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5BB9183C-10B4-4E09-80B2-9F3116262C5C}"/>
              </a:ext>
            </a:extLst>
          </p:cNvPr>
          <p:cNvSpPr/>
          <p:nvPr/>
        </p:nvSpPr>
        <p:spPr>
          <a:xfrm>
            <a:off x="927100" y="2057400"/>
            <a:ext cx="6096000" cy="3683000"/>
          </a:xfrm>
          <a:prstGeom prst="rect">
            <a:avLst/>
          </a:prstGeom>
          <a:solidFill>
            <a:srgbClr val="EEF0EC"/>
          </a:solidFill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A7D5046-FDE6-43FA-9DFA-2156597CDB31}"/>
              </a:ext>
            </a:extLst>
          </p:cNvPr>
          <p:cNvSpPr txBox="1"/>
          <p:nvPr/>
        </p:nvSpPr>
        <p:spPr>
          <a:xfrm>
            <a:off x="1155700" y="2413000"/>
            <a:ext cx="5715000" cy="330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dirty="0">
                <a:solidFill>
                  <a:srgbClr val="1E2329"/>
                </a:solidFill>
                <a:latin typeface="Consolas"/>
              </a:rPr>
              <a:t>POST …/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datasets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/{id}/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refreshes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
{
  "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type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": "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full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",
  "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commitMode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": "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transactional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",
  "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maxParallelism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": 8,
  "</a:t>
            </a:r>
            <a:r>
              <a:rPr lang="pl-PL" sz="1600" dirty="0" err="1">
                <a:solidFill>
                  <a:srgbClr val="1E2329"/>
                </a:solidFill>
                <a:latin typeface="Consolas"/>
              </a:rPr>
              <a:t>objects</a:t>
            </a:r>
            <a:r>
              <a:rPr lang="pl-PL" sz="1600" dirty="0">
                <a:solidFill>
                  <a:srgbClr val="1E2329"/>
                </a:solidFill>
                <a:latin typeface="Consolas"/>
              </a:rPr>
              <a:t>": [
    {"table":"Fact","partition":"202503"},
    {"table":"Fact","partition":"202411"}
  ]
}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B462F93-FBC0-4EAB-9CC0-A1E114D86ED4}"/>
              </a:ext>
            </a:extLst>
          </p:cNvPr>
          <p:cNvSpPr txBox="1"/>
          <p:nvPr/>
        </p:nvSpPr>
        <p:spPr>
          <a:xfrm>
            <a:off x="7404100" y="17780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>
                <a:solidFill>
                  <a:srgbClr val="1E2329"/>
                </a:solidFill>
              </a:rPr>
              <a:t>List only the changed partitions</a:t>
            </a:r>
            <a:endParaRPr lang="pl-PL" sz="1700" b="1">
              <a:solidFill>
                <a:srgbClr val="1E2329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7AF1F4D-F5CF-4C55-BA5E-35E9ABC1E9D8}"/>
              </a:ext>
            </a:extLst>
          </p:cNvPr>
          <p:cNvSpPr txBox="1"/>
          <p:nvPr/>
        </p:nvSpPr>
        <p:spPr>
          <a:xfrm>
            <a:off x="7404100" y="21336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 dirty="0">
                <a:solidFill>
                  <a:srgbClr val="3A4450"/>
                </a:solidFill>
              </a:rPr>
              <a:t>The body carries the output of the snapshot comparison</a:t>
            </a:r>
            <a:endParaRPr lang="pl-PL" sz="1500" dirty="0">
              <a:solidFill>
                <a:srgbClr val="3A4450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1E53A20-0B57-4EC2-9741-799BCFA52061}"/>
              </a:ext>
            </a:extLst>
          </p:cNvPr>
          <p:cNvSpPr txBox="1"/>
          <p:nvPr/>
        </p:nvSpPr>
        <p:spPr>
          <a:xfrm>
            <a:off x="7404100" y="28575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Cap it with maxParallelism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8E5CF39-2EF0-4868-8F47-8C493CD2F773}"/>
              </a:ext>
            </a:extLst>
          </p:cNvPr>
          <p:cNvSpPr txBox="1"/>
          <p:nvPr/>
        </p:nvSpPr>
        <p:spPr>
          <a:xfrm>
            <a:off x="7404100" y="32131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 dirty="0">
                <a:solidFill>
                  <a:srgbClr val="3A4450"/>
                </a:solidFill>
              </a:rPr>
              <a:t>For example </a:t>
            </a:r>
            <a:r>
              <a:rPr lang="pl-PL" sz="1500" dirty="0">
                <a:solidFill>
                  <a:srgbClr val="3A4450"/>
                </a:solidFill>
              </a:rPr>
              <a:t>16</a:t>
            </a:r>
            <a:r>
              <a:rPr lang="en-US" sz="1500" dirty="0">
                <a:solidFill>
                  <a:srgbClr val="3A4450"/>
                </a:solidFill>
              </a:rPr>
              <a:t> queries in flight across 8 partitions</a:t>
            </a:r>
            <a:endParaRPr lang="pl-PL" sz="1500" dirty="0">
              <a:solidFill>
                <a:srgbClr val="3A4450"/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12E53B0-3718-4B3E-8470-EBB7550F20BD}"/>
              </a:ext>
            </a:extLst>
          </p:cNvPr>
          <p:cNvSpPr txBox="1"/>
          <p:nvPr/>
        </p:nvSpPr>
        <p:spPr>
          <a:xfrm>
            <a:off x="7404100" y="39370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Load-test the source first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156ABA2-949E-4F3E-9604-239FC96FBBAC}"/>
              </a:ext>
            </a:extLst>
          </p:cNvPr>
          <p:cNvSpPr txBox="1"/>
          <p:nvPr/>
        </p:nvSpPr>
        <p:spPr>
          <a:xfrm>
            <a:off x="7404100" y="4292600"/>
            <a:ext cx="36576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 dirty="0">
                <a:solidFill>
                  <a:srgbClr val="3A4450"/>
                </a:solidFill>
              </a:rPr>
              <a:t>The Databricks SQL warehouse has to take the load</a:t>
            </a:r>
            <a:endParaRPr lang="pl-PL" sz="1500" dirty="0">
              <a:solidFill>
                <a:srgbClr val="3A4450"/>
              </a:solidFill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E54B1C22-3E74-4484-8D51-05FB8CC2B233}"/>
              </a:ext>
            </a:extLst>
          </p:cNvPr>
          <p:cNvSpPr/>
          <p:nvPr/>
        </p:nvSpPr>
        <p:spPr>
          <a:xfrm>
            <a:off x="7404100" y="5054600"/>
            <a:ext cx="3860800" cy="685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76200" rIns="152400" bIns="76200" rtlCol="0" anchor="ctr" anchorCtr="0">
            <a:noAutofit/>
          </a:bodyPr>
          <a:lstStyle/>
          <a:p>
            <a:r>
              <a:rPr lang="en-US" sz="1500" b="1" dirty="0">
                <a:solidFill>
                  <a:srgbClr val="0B7A6B"/>
                </a:solidFill>
              </a:rPr>
              <a:t>Together with</a:t>
            </a:r>
            <a:r>
              <a:rPr lang="pl-PL" sz="1500" b="1" dirty="0">
                <a:solidFill>
                  <a:srgbClr val="0B7A6B"/>
                </a:solidFill>
              </a:rPr>
              <a:t> delta </a:t>
            </a:r>
            <a:r>
              <a:rPr lang="pl-PL" sz="1500" b="1" dirty="0" err="1">
                <a:solidFill>
                  <a:srgbClr val="0B7A6B"/>
                </a:solidFill>
              </a:rPr>
              <a:t>table</a:t>
            </a:r>
            <a:r>
              <a:rPr lang="en-US" sz="1500" b="1" dirty="0">
                <a:solidFill>
                  <a:srgbClr val="0B7A6B"/>
                </a:solidFill>
              </a:rPr>
              <a:t> partitioning on the Databricks side: refresh time cut in half</a:t>
            </a:r>
            <a:endParaRPr lang="pl-PL" sz="1500" b="1" dirty="0">
              <a:solidFill>
                <a:srgbClr val="0B7A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08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8F2CF9-17BD-99C7-31D8-2B5D1B51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IsAvailableInMDX: free memory,</a:t>
            </a:r>
            <a:br>
              <a:rPr lang="en-US"/>
            </a:br>
            <a:r>
              <a:rPr lang="en-US"/>
              <a:t>as long as Excel doesn’t need the column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9B0C73D-9F67-4840-AD4D-B7779670CA50}"/>
              </a:ext>
            </a:extLst>
          </p:cNvPr>
          <p:cNvSpPr txBox="1"/>
          <p:nvPr/>
        </p:nvSpPr>
        <p:spPr>
          <a:xfrm>
            <a:off x="927100" y="1587500"/>
            <a:ext cx="10337800" cy="711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VertiPaq builds a hierarchy for every column so Excel can query it with MDX. Hidden technical columns don't need one.</a:t>
            </a:r>
            <a:endParaRPr lang="pl-PL">
              <a:solidFill>
                <a:srgbClr val="3A4450"/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77884C6-013E-4629-9108-955ED636A125}"/>
              </a:ext>
            </a:extLst>
          </p:cNvPr>
          <p:cNvSpPr txBox="1"/>
          <p:nvPr/>
        </p:nvSpPr>
        <p:spPr>
          <a:xfrm>
            <a:off x="927100" y="4597400"/>
            <a:ext cx="50419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5B6B7A"/>
                </a:solidFill>
              </a:rPr>
              <a:t>In TMDL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A8BE6318-6578-4EB8-A3EF-9277974168C4}"/>
              </a:ext>
            </a:extLst>
          </p:cNvPr>
          <p:cNvSpPr/>
          <p:nvPr/>
        </p:nvSpPr>
        <p:spPr>
          <a:xfrm>
            <a:off x="927100" y="4902200"/>
            <a:ext cx="5041900" cy="1219200"/>
          </a:xfrm>
          <a:prstGeom prst="rect">
            <a:avLst/>
          </a:prstGeom>
          <a:solidFill>
            <a:srgbClr val="EEF0EC"/>
          </a:solidFill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BCECE19-7EC2-47BF-849B-5FBC7EE62A4F}"/>
              </a:ext>
            </a:extLst>
          </p:cNvPr>
          <p:cNvSpPr txBox="1"/>
          <p:nvPr/>
        </p:nvSpPr>
        <p:spPr>
          <a:xfrm>
            <a:off x="1155700" y="5003800"/>
            <a:ext cx="4699000" cy="1219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500" dirty="0" err="1">
                <a:solidFill>
                  <a:srgbClr val="1E2329"/>
                </a:solidFill>
                <a:latin typeface="Consolas"/>
              </a:rPr>
              <a:t>column</a:t>
            </a:r>
            <a:r>
              <a:rPr lang="pl-PL" sz="1500" dirty="0">
                <a:solidFill>
                  <a:srgbClr val="1E2329"/>
                </a:solidFill>
                <a:latin typeface="Consolas"/>
              </a:rPr>
              <a:t> </a:t>
            </a:r>
            <a:r>
              <a:rPr lang="pl-PL" sz="1500" dirty="0" err="1">
                <a:solidFill>
                  <a:srgbClr val="1E2329"/>
                </a:solidFill>
                <a:latin typeface="Consolas"/>
              </a:rPr>
              <a:t>AnswerKey</a:t>
            </a:r>
            <a:r>
              <a:rPr lang="pl-PL" sz="1500" dirty="0">
                <a:solidFill>
                  <a:srgbClr val="1E2329"/>
                </a:solidFill>
                <a:latin typeface="Consolas"/>
              </a:rPr>
              <a:t>
  </a:t>
            </a:r>
            <a:r>
              <a:rPr lang="pl-PL" sz="1500" dirty="0" err="1">
                <a:solidFill>
                  <a:srgbClr val="1E2329"/>
                </a:solidFill>
                <a:latin typeface="Consolas"/>
              </a:rPr>
              <a:t>dataType</a:t>
            </a:r>
            <a:r>
              <a:rPr lang="pl-PL" sz="1500" dirty="0">
                <a:solidFill>
                  <a:srgbClr val="1E2329"/>
                </a:solidFill>
                <a:latin typeface="Consolas"/>
              </a:rPr>
              <a:t>: int64
  </a:t>
            </a:r>
            <a:r>
              <a:rPr lang="pl-PL" sz="1500" dirty="0" err="1">
                <a:solidFill>
                  <a:srgbClr val="1E2329"/>
                </a:solidFill>
                <a:latin typeface="Consolas"/>
              </a:rPr>
              <a:t>isHidden</a:t>
            </a:r>
            <a:r>
              <a:rPr lang="pl-PL" sz="1500" dirty="0">
                <a:solidFill>
                  <a:srgbClr val="1E2329"/>
                </a:solidFill>
                <a:latin typeface="Consolas"/>
              </a:rPr>
              <a:t>
  </a:t>
            </a:r>
            <a:r>
              <a:rPr lang="pl-PL" sz="1500" dirty="0" err="1">
                <a:solidFill>
                  <a:srgbClr val="1E2329"/>
                </a:solidFill>
                <a:latin typeface="Consolas"/>
              </a:rPr>
              <a:t>isAvailableInMdx</a:t>
            </a:r>
            <a:r>
              <a:rPr lang="pl-PL" sz="1500" dirty="0">
                <a:solidFill>
                  <a:srgbClr val="1E2329"/>
                </a:solidFill>
                <a:latin typeface="Consolas"/>
              </a:rPr>
              <a:t>: </a:t>
            </a:r>
            <a:r>
              <a:rPr lang="pl-PL" sz="1500" dirty="0" err="1">
                <a:solidFill>
                  <a:srgbClr val="1E2329"/>
                </a:solidFill>
                <a:latin typeface="Consolas"/>
              </a:rPr>
              <a:t>false</a:t>
            </a:r>
            <a:endParaRPr lang="pl-PL" sz="1500" dirty="0">
              <a:solidFill>
                <a:srgbClr val="1E2329"/>
              </a:solidFill>
              <a:latin typeface="Consolas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7734AB63-DD5B-4876-B0AA-465A5191EF21}"/>
              </a:ext>
            </a:extLst>
          </p:cNvPr>
          <p:cNvSpPr txBox="1"/>
          <p:nvPr/>
        </p:nvSpPr>
        <p:spPr>
          <a:xfrm>
            <a:off x="6223000" y="4902200"/>
            <a:ext cx="50419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Or in Tabular Editor: select the columns, set Available In MDX to False.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84838DD-A3E5-49F7-BAD9-B14F45C8FC38}"/>
              </a:ext>
            </a:extLst>
          </p:cNvPr>
          <p:cNvSpPr txBox="1"/>
          <p:nvPr/>
        </p:nvSpPr>
        <p:spPr>
          <a:xfrm>
            <a:off x="6223000" y="5613400"/>
            <a:ext cx="50419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>
                <a:solidFill>
                  <a:srgbClr val="A4452A"/>
                </a:solidFill>
              </a:rPr>
              <a:t>Get it wrong and Excel hierarchies break.</a:t>
            </a:r>
            <a:endParaRPr lang="pl-PL" sz="1700" b="1">
              <a:solidFill>
                <a:srgbClr val="A4452A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47ACA609-00CC-4829-8708-3BE69CA2E6F0}"/>
              </a:ext>
            </a:extLst>
          </p:cNvPr>
          <p:cNvSpPr txBox="1"/>
          <p:nvPr/>
        </p:nvSpPr>
        <p:spPr>
          <a:xfrm>
            <a:off x="927100" y="26924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>
                <a:solidFill>
                  <a:srgbClr val="0B7A6B"/>
                </a:solidFill>
              </a:rPr>
              <a:t>Set to false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E22F4960-86E2-4B88-B907-EDA5D5D00C00}"/>
              </a:ext>
            </a:extLst>
          </p:cNvPr>
          <p:cNvSpPr txBox="1"/>
          <p:nvPr/>
        </p:nvSpPr>
        <p:spPr>
          <a:xfrm>
            <a:off x="927100" y="3098800"/>
            <a:ext cx="46990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marL="285750" indent="-285750">
              <a:buFontTx/>
              <a:buChar char="•"/>
            </a:pPr>
            <a:r>
              <a:rPr lang="en-US" sz="1600">
                <a:solidFill>
                  <a:srgbClr val="1E2329"/>
                </a:solidFill>
              </a:rPr>
              <a:t>Hidden surrogate and hash keys
Columns used only in relationships
Technical flags not exposed to users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BB9AF108-753A-4620-B3BD-BF7CF4856608}"/>
              </a:ext>
            </a:extLst>
          </p:cNvPr>
          <p:cNvSpPr txBox="1"/>
          <p:nvPr/>
        </p:nvSpPr>
        <p:spPr>
          <a:xfrm>
            <a:off x="6223000" y="26924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b="1">
                <a:solidFill>
                  <a:srgbClr val="3A4450"/>
                </a:solidFill>
              </a:rPr>
              <a:t>Keep true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6B7C637E-D604-496A-8729-3B01292C8DDF}"/>
              </a:ext>
            </a:extLst>
          </p:cNvPr>
          <p:cNvSpPr txBox="1"/>
          <p:nvPr/>
        </p:nvSpPr>
        <p:spPr>
          <a:xfrm>
            <a:off x="6223000" y="3098800"/>
            <a:ext cx="46990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marL="285750" indent="-285750">
              <a:buFontTx/>
              <a:buChar char="•"/>
            </a:pPr>
            <a:r>
              <a:rPr lang="en-US" sz="1600">
                <a:solidFill>
                  <a:srgbClr val="1E2329"/>
                </a:solidFill>
              </a:rPr>
              <a:t>Visible columns Excel users pivot on
Columns used in user hierarchies</a:t>
            </a:r>
            <a:endParaRPr lang="pl-PL" sz="1600">
              <a:solidFill>
                <a:srgbClr val="1E23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554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AA2605-F8A3-46DA-13BC-41302E04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pl-PL" dirty="0"/>
              <a:t>2</a:t>
            </a:r>
            <a:r>
              <a:rPr lang="en-US" dirty="0"/>
              <a:t>0 GB down to ~6</a:t>
            </a:r>
            <a:r>
              <a:rPr lang="pl-PL" dirty="0"/>
              <a:t>4</a:t>
            </a:r>
            <a:r>
              <a:rPr lang="en-US" dirty="0"/>
              <a:t> GB,</a:t>
            </a:r>
            <a:br>
              <a:rPr lang="en-US" dirty="0"/>
            </a:br>
            <a:r>
              <a:rPr lang="en-US" dirty="0"/>
              <a:t>and next year’s reserved capacity cost half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D96BF57-C42A-46CC-AC29-E08670F3443B}"/>
              </a:ext>
            </a:extLst>
          </p:cNvPr>
          <p:cNvSpPr txBox="1"/>
          <p:nvPr/>
        </p:nvSpPr>
        <p:spPr>
          <a:xfrm>
            <a:off x="927100" y="15875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400">
                <a:solidFill>
                  <a:srgbClr val="5B6B7A"/>
                </a:solidFill>
              </a:rPr>
              <a:t>Semantic model size in memory</a:t>
            </a:r>
            <a:endParaRPr lang="pl-PL" sz="1400">
              <a:solidFill>
                <a:srgbClr val="5B6B7A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21FAC78-3A07-4835-844D-8143C346BEA2}"/>
              </a:ext>
            </a:extLst>
          </p:cNvPr>
          <p:cNvSpPr txBox="1"/>
          <p:nvPr/>
        </p:nvSpPr>
        <p:spPr>
          <a:xfrm>
            <a:off x="6731000" y="1651000"/>
            <a:ext cx="45339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0B7A6B"/>
                </a:solidFill>
              </a:rPr>
              <a:t>What did it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589892C-0C19-4E7B-9C89-1D378794C949}"/>
              </a:ext>
            </a:extLst>
          </p:cNvPr>
          <p:cNvSpPr txBox="1"/>
          <p:nvPr/>
        </p:nvSpPr>
        <p:spPr>
          <a:xfrm>
            <a:off x="6731000" y="2032000"/>
            <a:ext cx="43307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Business challenge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553AC92-B2A3-4FC4-8F00-DFF0BB3B6E2F}"/>
              </a:ext>
            </a:extLst>
          </p:cNvPr>
          <p:cNvSpPr txBox="1"/>
          <p:nvPr/>
        </p:nvSpPr>
        <p:spPr>
          <a:xfrm>
            <a:off x="6731000" y="2362200"/>
            <a:ext cx="43307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Dropped IsCurrent = 0 rows nobody could see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3D1601E-E1BC-4D09-AA65-1FC88CC3A3E2}"/>
              </a:ext>
            </a:extLst>
          </p:cNvPr>
          <p:cNvSpPr txBox="1"/>
          <p:nvPr/>
        </p:nvSpPr>
        <p:spPr>
          <a:xfrm>
            <a:off x="6731000" y="2946400"/>
            <a:ext cx="43307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Model hygiene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182FE8E-CD50-49B8-8B15-8C1C44A9D9BD}"/>
              </a:ext>
            </a:extLst>
          </p:cNvPr>
          <p:cNvSpPr txBox="1"/>
          <p:nvPr/>
        </p:nvSpPr>
        <p:spPr>
          <a:xfrm>
            <a:off x="6731000" y="3276600"/>
            <a:ext cx="43307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Integer keys instead of hashes, one value column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8BF8E66-DC47-4D7C-B982-CA62E978665C}"/>
              </a:ext>
            </a:extLst>
          </p:cNvPr>
          <p:cNvSpPr txBox="1"/>
          <p:nvPr/>
        </p:nvSpPr>
        <p:spPr>
          <a:xfrm>
            <a:off x="6731000" y="3860800"/>
            <a:ext cx="43307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Engine settings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95DAFEA-1530-4D3C-8660-52FE16E3E6E6}"/>
              </a:ext>
            </a:extLst>
          </p:cNvPr>
          <p:cNvSpPr txBox="1"/>
          <p:nvPr/>
        </p:nvSpPr>
        <p:spPr>
          <a:xfrm>
            <a:off x="6731000" y="4191000"/>
            <a:ext cx="43307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IsAvailableInMDX off on hidden columns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B656CBC-AAFB-483F-B0D5-582414069D78}"/>
              </a:ext>
            </a:extLst>
          </p:cNvPr>
          <p:cNvSpPr txBox="1"/>
          <p:nvPr/>
        </p:nvSpPr>
        <p:spPr>
          <a:xfrm>
            <a:off x="6731000" y="4775200"/>
            <a:ext cx="43307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Refresh design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DB29D33-F481-45B5-9BFD-62B0A336C9E6}"/>
              </a:ext>
            </a:extLst>
          </p:cNvPr>
          <p:cNvSpPr txBox="1"/>
          <p:nvPr/>
        </p:nvSpPr>
        <p:spPr>
          <a:xfrm>
            <a:off x="6731000" y="5105400"/>
            <a:ext cx="43307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Custom partitions refreshed only on change</a:t>
            </a:r>
            <a:endParaRPr lang="pl-PL" sz="1500">
              <a:solidFill>
                <a:srgbClr val="3A4450"/>
              </a:solidFill>
            </a:endParaRP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2164473009"/>
              </p:ext>
            </p:extLst>
          </p:nvPr>
        </p:nvGraphicFramePr>
        <p:xfrm>
          <a:off x="927100" y="1968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8" name="GrowthArrow f17 0"/>
          <p:cNvGrpSpPr/>
          <p:nvPr/>
        </p:nvGrpSpPr>
        <p:grpSpPr>
          <a:xfrm>
            <a:off x="2393940" y="2638340"/>
            <a:ext cx="2400320" cy="1589840"/>
            <a:chOff x="2393940" y="2638340"/>
            <a:chExt cx="2400320" cy="1589840"/>
          </a:xfrm>
        </p:grpSpPr>
        <p:cxnSp>
          <p:nvCxnSpPr>
            <p:cNvPr id="19" name="GrowthArrow f17 0 rise"/>
            <p:cNvCxnSpPr/>
            <p:nvPr/>
          </p:nvCxnSpPr>
          <p:spPr>
            <a:xfrm flipV="1">
              <a:off x="2393940" y="2763340"/>
              <a:ext cx="1" cy="205000"/>
            </a:xfrm>
            <a:prstGeom prst="line">
              <a:avLst/>
            </a:prstGeom>
            <a:ln w="12700">
              <a:solidFill>
                <a:srgbClr val="5B6B7A"/>
              </a:solidFill>
            </a:ln>
          </p:spPr>
        </p:cxnSp>
        <p:cxnSp>
          <p:nvCxnSpPr>
            <p:cNvPr id="20" name="GrowthArrow f17 0 line"/>
            <p:cNvCxnSpPr/>
            <p:nvPr/>
          </p:nvCxnSpPr>
          <p:spPr>
            <a:xfrm>
              <a:off x="2393940" y="2763340"/>
              <a:ext cx="2400320" cy="1"/>
            </a:xfrm>
            <a:prstGeom prst="line">
              <a:avLst/>
            </a:prstGeom>
            <a:ln w="12700">
              <a:solidFill>
                <a:srgbClr val="5B6B7A"/>
              </a:solidFill>
            </a:ln>
          </p:spPr>
        </p:cxnSp>
        <p:cxnSp>
          <p:nvCxnSpPr>
            <p:cNvPr id="21" name="GrowthArrow f17 0 drop"/>
            <p:cNvCxnSpPr/>
            <p:nvPr/>
          </p:nvCxnSpPr>
          <p:spPr>
            <a:xfrm>
              <a:off x="4794260" y="2763340"/>
              <a:ext cx="1" cy="1464840"/>
            </a:xfrm>
            <a:prstGeom prst="line">
              <a:avLst/>
            </a:prstGeom>
            <a:ln w="12700">
              <a:solidFill>
                <a:srgbClr val="5B6B7A"/>
              </a:solidFill>
              <a:tailEnd type="triangle" w="med" len="med"/>
            </a:ln>
          </p:spPr>
        </p:cxnSp>
        <p:sp>
          <p:nvSpPr>
            <p:cNvPr id="22" name="GrowthArrow f17 0 label"/>
            <p:cNvSpPr txBox="1"/>
            <p:nvPr/>
          </p:nvSpPr>
          <p:spPr>
            <a:xfrm>
              <a:off x="3300900" y="2638340"/>
              <a:ext cx="586400" cy="250000"/>
            </a:xfrm>
            <a:prstGeom prst="rect">
              <a:avLst/>
            </a:prstGeom>
            <a:solidFill>
              <a:srgbClr val="FAF9F6"/>
            </a:solidFill>
          </p:spPr>
          <p:txBody>
            <a:bodyPr wrap="square" anchor="ctr">
              <a:normAutofit fontScale="700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1E2329"/>
                  </a:solidFill>
                  <a:latin typeface="Segoe UI"/>
                </a:rPr>
                <a:t>−</a:t>
              </a:r>
              <a:r>
                <a:rPr lang="pl-PL" sz="1600" b="1" dirty="0">
                  <a:solidFill>
                    <a:srgbClr val="1E2329"/>
                  </a:solidFill>
                  <a:latin typeface="Segoe UI"/>
                </a:rPr>
                <a:t>47</a:t>
              </a:r>
              <a:r>
                <a:rPr lang="en-US" sz="1600" b="1" dirty="0">
                  <a:solidFill>
                    <a:srgbClr val="1E2329"/>
                  </a:solidFill>
                  <a:latin typeface="Segoe UI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744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D7A202-DB49-88CB-60BD-EF56FA79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1600"/>
            <a:ext cx="10515600" cy="889000"/>
          </a:xfrm>
        </p:spPr>
        <p:txBody>
          <a:bodyPr anchor="t" anchorCtr="0">
            <a:normAutofit/>
          </a:bodyPr>
          <a:lstStyle/>
          <a:p>
            <a:r>
              <a:rPr lang="en-US" sz="4400"/>
              <a:t>A mandated cost cut</a:t>
            </a:r>
            <a:endParaRPr lang="pl-PL" sz="440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621C029-1441-B9E7-163D-3C248C6CD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19500"/>
            <a:ext cx="10515600" cy="635000"/>
          </a:xfrm>
        </p:spPr>
        <p:txBody>
          <a:bodyPr>
            <a:normAutofit lnSpcReduction="10000"/>
          </a:bodyPr>
          <a:lstStyle/>
          <a:p>
            <a:r>
              <a:rPr lang="en-US" sz="2200">
                <a:solidFill>
                  <a:srgbClr val="5B6B7A"/>
                </a:solidFill>
              </a:rPr>
              <a:t>Dozens of models, one deadline: measure size and usage, retire what nobody queries</a:t>
            </a:r>
            <a:endParaRPr lang="pl-PL" sz="2200">
              <a:solidFill>
                <a:srgbClr val="5B6B7A"/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7BB6BD3B-6EEF-4467-938C-B8FFDDDE53F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83017DE-69F7-41A6-AC3C-D50E13F0C60F}"/>
              </a:ext>
            </a:extLst>
          </p:cNvPr>
          <p:cNvSpPr txBox="1"/>
          <p:nvPr/>
        </p:nvSpPr>
        <p:spPr>
          <a:xfrm>
            <a:off x="927100" y="22606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0B7A6B"/>
                </a:solidFill>
              </a:rPr>
              <a:t>Case study 2</a:t>
            </a:r>
          </a:p>
        </p:txBody>
      </p:sp>
    </p:spTree>
    <p:extLst>
      <p:ext uri="{BB962C8B-B14F-4D97-AF65-F5344CB8AC3E}">
        <p14:creationId xmlns:p14="http://schemas.microsoft.com/office/powerpoint/2010/main" val="4066875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2DCE16-29ED-B928-4218-F4CB3B59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New director, new rule:</a:t>
            </a:r>
            <a:br>
              <a:rPr lang="en-US"/>
            </a:br>
            <a:r>
              <a:rPr lang="en-US"/>
              <a:t>cut the costs by a fixed date</a:t>
            </a:r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2591809F-58F2-4E95-92E4-4C9264B64A45}"/>
              </a:ext>
            </a:extLst>
          </p:cNvPr>
          <p:cNvSpPr txBox="1"/>
          <p:nvPr/>
        </p:nvSpPr>
        <p:spPr>
          <a:xfrm>
            <a:off x="927100" y="18415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FMCG enterprise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60202B6-6DEA-4566-AB69-D718B0EE6BC5}"/>
              </a:ext>
            </a:extLst>
          </p:cNvPr>
          <p:cNvSpPr txBox="1"/>
          <p:nvPr/>
        </p:nvSpPr>
        <p:spPr>
          <a:xfrm>
            <a:off x="4445000" y="1866900"/>
            <a:ext cx="68199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Many teams, many environments, many models on each</a:t>
            </a:r>
            <a:endParaRPr lang="pl-PL">
              <a:solidFill>
                <a:srgbClr val="3A4450"/>
              </a:solidFill>
            </a:endParaRP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DC5F21B4-5E70-4981-BA41-A5E51D747527}"/>
              </a:ext>
            </a:extLst>
          </p:cNvPr>
          <p:cNvSpPr txBox="1"/>
          <p:nvPr/>
        </p:nvSpPr>
        <p:spPr>
          <a:xfrm>
            <a:off x="927100" y="28321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Mixed estate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45A96CD1-4C6E-4A57-9B19-04784EB23B87}"/>
              </a:ext>
            </a:extLst>
          </p:cNvPr>
          <p:cNvSpPr txBox="1"/>
          <p:nvPr/>
        </p:nvSpPr>
        <p:spPr>
          <a:xfrm>
            <a:off x="4445000" y="2857500"/>
            <a:ext cx="68199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Power BI models on Fabric capacities, AAS models on their own servers</a:t>
            </a:r>
            <a:endParaRPr lang="pl-PL">
              <a:solidFill>
                <a:srgbClr val="3A4450"/>
              </a:solidFill>
            </a:endParaRP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03FC1D3E-D2B4-4BB0-82A6-FD04C1E7C745}"/>
              </a:ext>
            </a:extLst>
          </p:cNvPr>
          <p:cNvSpPr txBox="1"/>
          <p:nvPr/>
        </p:nvSpPr>
        <p:spPr>
          <a:xfrm>
            <a:off x="927100" y="38227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Post-migration bills</a:t>
            </a: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6092480C-9CD8-4617-87DE-CC6F5D2EDD53}"/>
              </a:ext>
            </a:extLst>
          </p:cNvPr>
          <p:cNvSpPr txBox="1"/>
          <p:nvPr/>
        </p:nvSpPr>
        <p:spPr>
          <a:xfrm>
            <a:off x="4445000" y="3848100"/>
            <a:ext cx="68199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The first cloud invoices came in above what was planned</a:t>
            </a:r>
            <a:endParaRPr lang="pl-PL">
              <a:solidFill>
                <a:srgbClr val="3A4450"/>
              </a:solidFill>
            </a:endParaRP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2D58229A-9CC1-4E18-BDEB-9DDCFF536B31}"/>
              </a:ext>
            </a:extLst>
          </p:cNvPr>
          <p:cNvSpPr txBox="1"/>
          <p:nvPr/>
        </p:nvSpPr>
        <p:spPr>
          <a:xfrm>
            <a:off x="927100" y="48133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200" b="1">
                <a:solidFill>
                  <a:srgbClr val="1E2329"/>
                </a:solidFill>
              </a:rPr>
              <a:t>“We use all of it”</a:t>
            </a:r>
            <a:endParaRPr lang="pl-PL" sz="2200" b="1">
              <a:solidFill>
                <a:srgbClr val="1E2329"/>
              </a:solidFill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B70191E4-26F8-47B3-B709-96DCEFEDF2F3}"/>
              </a:ext>
            </a:extLst>
          </p:cNvPr>
          <p:cNvSpPr txBox="1"/>
          <p:nvPr/>
        </p:nvSpPr>
        <p:spPr>
          <a:xfrm>
            <a:off x="4445000" y="4838700"/>
            <a:ext cx="68199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>
                <a:solidFill>
                  <a:srgbClr val="3A4450"/>
                </a:solidFill>
              </a:rPr>
              <a:t>Every owner said their model was needed</a:t>
            </a:r>
            <a:endParaRPr lang="pl-PL">
              <a:solidFill>
                <a:srgbClr val="3A4450"/>
              </a:solidFill>
            </a:endParaRPr>
          </a:p>
        </p:txBody>
      </p:sp>
      <p:sp>
        <p:nvSpPr>
          <p:cNvPr id="35" name="Prostokąt 34">
            <a:extLst>
              <a:ext uri="{FF2B5EF4-FFF2-40B4-BE49-F238E27FC236}">
                <a16:creationId xmlns:a16="http://schemas.microsoft.com/office/drawing/2014/main" id="{330DEFE3-1133-41D8-8634-220E30291A98}"/>
              </a:ext>
            </a:extLst>
          </p:cNvPr>
          <p:cNvSpPr/>
          <p:nvPr/>
        </p:nvSpPr>
        <p:spPr>
          <a:xfrm>
            <a:off x="927100" y="2628900"/>
            <a:ext cx="103378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6" name="Prostokąt 35">
            <a:extLst>
              <a:ext uri="{FF2B5EF4-FFF2-40B4-BE49-F238E27FC236}">
                <a16:creationId xmlns:a16="http://schemas.microsoft.com/office/drawing/2014/main" id="{803A60F4-2187-45EF-9495-CD44E2909192}"/>
              </a:ext>
            </a:extLst>
          </p:cNvPr>
          <p:cNvSpPr/>
          <p:nvPr/>
        </p:nvSpPr>
        <p:spPr>
          <a:xfrm>
            <a:off x="927100" y="3619500"/>
            <a:ext cx="103378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7" name="Prostokąt 36">
            <a:extLst>
              <a:ext uri="{FF2B5EF4-FFF2-40B4-BE49-F238E27FC236}">
                <a16:creationId xmlns:a16="http://schemas.microsoft.com/office/drawing/2014/main" id="{CF7EE508-B1AD-4C98-8B4F-8D093C9077C7}"/>
              </a:ext>
            </a:extLst>
          </p:cNvPr>
          <p:cNvSpPr/>
          <p:nvPr/>
        </p:nvSpPr>
        <p:spPr>
          <a:xfrm>
            <a:off x="927100" y="4610100"/>
            <a:ext cx="103378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579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01151F-6F6B-39A6-D4B5-629CFCCB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Two questions for every model:</a:t>
            </a:r>
            <a:br>
              <a:rPr lang="en-US"/>
            </a:br>
            <a:r>
              <a:rPr lang="en-US"/>
              <a:t>what’s in it, and who uses it?</a:t>
            </a:r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62BB231-CA4B-4938-8657-E290886C509A}"/>
              </a:ext>
            </a:extLst>
          </p:cNvPr>
          <p:cNvSpPr txBox="1"/>
          <p:nvPr/>
        </p:nvSpPr>
        <p:spPr>
          <a:xfrm>
            <a:off x="927100" y="18923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0B7A6B"/>
                </a:solidFill>
              </a:rPr>
              <a:t>Size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7F326650-D9CA-4499-B847-91A146DF29B9}"/>
              </a:ext>
            </a:extLst>
          </p:cNvPr>
          <p:cNvSpPr txBox="1"/>
          <p:nvPr/>
        </p:nvSpPr>
        <p:spPr>
          <a:xfrm>
            <a:off x="927100" y="21463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What is inside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76E9A1F3-13A0-4BF1-8F50-17E8CC7AD9EA}"/>
              </a:ext>
            </a:extLst>
          </p:cNvPr>
          <p:cNvSpPr txBox="1"/>
          <p:nvPr/>
        </p:nvSpPr>
        <p:spPr>
          <a:xfrm>
            <a:off x="927100" y="2578100"/>
            <a:ext cx="5842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DAX Studio and VertiPaq Analyzer metadata: size per model, table and partition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246DD359-3F2C-4F11-B856-A26B730A9134}"/>
              </a:ext>
            </a:extLst>
          </p:cNvPr>
          <p:cNvSpPr txBox="1"/>
          <p:nvPr/>
        </p:nvSpPr>
        <p:spPr>
          <a:xfrm>
            <a:off x="927100" y="40767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0B7A6B"/>
                </a:solidFill>
              </a:rPr>
              <a:t>Usage</a:t>
            </a: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744463D2-AF0D-4980-8D70-D96C541889F4}"/>
              </a:ext>
            </a:extLst>
          </p:cNvPr>
          <p:cNvSpPr txBox="1"/>
          <p:nvPr/>
        </p:nvSpPr>
        <p:spPr>
          <a:xfrm>
            <a:off x="927100" y="43307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1E2329"/>
                </a:solidFill>
              </a:rPr>
              <a:t>Who queries it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564BDD29-B8F7-467E-B42C-C3F612505F87}"/>
              </a:ext>
            </a:extLst>
          </p:cNvPr>
          <p:cNvSpPr txBox="1"/>
          <p:nvPr/>
        </p:nvSpPr>
        <p:spPr>
          <a:xfrm>
            <a:off x="927100" y="4762500"/>
            <a:ext cx="5842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Azure Log Analytics: every query, by model, user and time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31" name="Strzałka: w prawo 30">
            <a:extLst>
              <a:ext uri="{FF2B5EF4-FFF2-40B4-BE49-F238E27FC236}">
                <a16:creationId xmlns:a16="http://schemas.microsoft.com/office/drawing/2014/main" id="{7DD5AF93-DBCF-475C-9767-2C067A1ACBBA}"/>
              </a:ext>
            </a:extLst>
          </p:cNvPr>
          <p:cNvSpPr/>
          <p:nvPr/>
        </p:nvSpPr>
        <p:spPr>
          <a:xfrm>
            <a:off x="7505700" y="3619500"/>
            <a:ext cx="431800" cy="279400"/>
          </a:xfrm>
          <a:prstGeom prst="rightArrow">
            <a:avLst/>
          </a:prstGeom>
          <a:solidFill>
            <a:srgbClr val="A7B0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182EE96A-92F7-4F8F-A3A5-C99725B6EA2A}"/>
              </a:ext>
            </a:extLst>
          </p:cNvPr>
          <p:cNvSpPr/>
          <p:nvPr/>
        </p:nvSpPr>
        <p:spPr>
          <a:xfrm>
            <a:off x="8128000" y="1714500"/>
            <a:ext cx="3136900" cy="40894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4F8BE8AD-D43F-4235-9E4B-A1F8905E6D03}"/>
              </a:ext>
            </a:extLst>
          </p:cNvPr>
          <p:cNvSpPr txBox="1"/>
          <p:nvPr/>
        </p:nvSpPr>
        <p:spPr>
          <a:xfrm>
            <a:off x="8407400" y="20320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>
                <a:solidFill>
                  <a:srgbClr val="FFFFFF"/>
                </a:solidFill>
              </a:rPr>
              <a:t>Combined</a:t>
            </a: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A2F22854-8B8F-48A2-B238-8D0EFD3DCA49}"/>
              </a:ext>
            </a:extLst>
          </p:cNvPr>
          <p:cNvSpPr txBox="1"/>
          <p:nvPr/>
        </p:nvSpPr>
        <p:spPr>
          <a:xfrm>
            <a:off x="8407400" y="2540000"/>
            <a:ext cx="2603500" cy="165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One dataset: every model and partition with its size, its capacity or server, and its query history.</a:t>
            </a:r>
            <a:endParaRPr lang="pl-PL" sz="1700">
              <a:solidFill>
                <a:srgbClr val="FFFFFF"/>
              </a:solidFill>
            </a:endParaRPr>
          </a:p>
        </p:txBody>
      </p:sp>
      <p:sp>
        <p:nvSpPr>
          <p:cNvPr id="35" name="Prostokąt 34">
            <a:extLst>
              <a:ext uri="{FF2B5EF4-FFF2-40B4-BE49-F238E27FC236}">
                <a16:creationId xmlns:a16="http://schemas.microsoft.com/office/drawing/2014/main" id="{4BB8BA3E-F777-4363-8469-B067AEF5F042}"/>
              </a:ext>
            </a:extLst>
          </p:cNvPr>
          <p:cNvSpPr/>
          <p:nvPr/>
        </p:nvSpPr>
        <p:spPr>
          <a:xfrm>
            <a:off x="8407400" y="4381500"/>
            <a:ext cx="2578100" cy="127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DD55AB43-F983-4B01-8295-B2F30607CFBA}"/>
              </a:ext>
            </a:extLst>
          </p:cNvPr>
          <p:cNvSpPr txBox="1"/>
          <p:nvPr/>
        </p:nvSpPr>
        <p:spPr>
          <a:xfrm>
            <a:off x="8407400" y="4572000"/>
            <a:ext cx="26035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b="1">
                <a:solidFill>
                  <a:srgbClr val="FFFFFF"/>
                </a:solidFill>
              </a:rPr>
              <a:t>Decision per model:
keep, trim or retire</a:t>
            </a:r>
            <a:endParaRPr lang="pl-PL" b="1">
              <a:solidFill>
                <a:srgbClr val="FFFFFF"/>
              </a:solidFill>
            </a:endParaRPr>
          </a:p>
        </p:txBody>
      </p:sp>
      <p:sp>
        <p:nvSpPr>
          <p:cNvPr id="37" name="Prostokąt 36">
            <a:extLst>
              <a:ext uri="{FF2B5EF4-FFF2-40B4-BE49-F238E27FC236}">
                <a16:creationId xmlns:a16="http://schemas.microsoft.com/office/drawing/2014/main" id="{128A9F54-B5CE-4661-ABA9-3D11EDB06D9A}"/>
              </a:ext>
            </a:extLst>
          </p:cNvPr>
          <p:cNvSpPr/>
          <p:nvPr/>
        </p:nvSpPr>
        <p:spPr>
          <a:xfrm>
            <a:off x="927100" y="3683000"/>
            <a:ext cx="63500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5515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110E-056F-9CCC-A917-0C22E4502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E89D61-94D2-51DC-B9C6-4327798E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pl-PL" dirty="0" err="1"/>
              <a:t>Leverage</a:t>
            </a:r>
            <a:r>
              <a:rPr lang="pl-PL" dirty="0"/>
              <a:t> </a:t>
            </a:r>
            <a:r>
              <a:rPr lang="pl-PL" dirty="0" err="1"/>
              <a:t>metadata</a:t>
            </a:r>
            <a:r>
              <a:rPr lang="pl-PL" dirty="0"/>
              <a:t> to </a:t>
            </a:r>
            <a:r>
              <a:rPr lang="pl-PL" dirty="0" err="1"/>
              <a:t>get</a:t>
            </a:r>
            <a:r>
              <a:rPr lang="pl-PL" dirty="0"/>
              <a:t> the model </a:t>
            </a:r>
            <a:r>
              <a:rPr lang="pl-PL" dirty="0" err="1"/>
              <a:t>size</a:t>
            </a:r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700D41CC-C054-B931-1F6A-EB2488F4AB95}"/>
              </a:ext>
            </a:extLst>
          </p:cNvPr>
          <p:cNvSpPr txBox="1"/>
          <p:nvPr/>
        </p:nvSpPr>
        <p:spPr>
          <a:xfrm>
            <a:off x="927100" y="132739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 dirty="0">
                <a:solidFill>
                  <a:srgbClr val="1E2329"/>
                </a:solidFill>
              </a:rPr>
              <a:t>DMV </a:t>
            </a:r>
            <a:r>
              <a:rPr lang="pl-PL" sz="2200" b="1" dirty="0" err="1">
                <a:solidFill>
                  <a:srgbClr val="1E2329"/>
                </a:solidFill>
              </a:rPr>
              <a:t>Approach</a:t>
            </a:r>
            <a:r>
              <a:rPr lang="pl-PL" sz="2200" b="1" dirty="0">
                <a:solidFill>
                  <a:srgbClr val="1E2329"/>
                </a:solidFill>
              </a:rPr>
              <a:t> 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12C2A617-B98E-28A2-A537-1680C0D3D47E}"/>
              </a:ext>
            </a:extLst>
          </p:cNvPr>
          <p:cNvSpPr txBox="1"/>
          <p:nvPr/>
        </p:nvSpPr>
        <p:spPr>
          <a:xfrm>
            <a:off x="927100" y="4316443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 dirty="0">
                <a:solidFill>
                  <a:srgbClr val="1E2329"/>
                </a:solidFill>
              </a:rPr>
              <a:t>DAX Info() </a:t>
            </a:r>
            <a:r>
              <a:rPr lang="pl-PL" sz="2200" b="1" dirty="0" err="1">
                <a:solidFill>
                  <a:srgbClr val="1E2329"/>
                </a:solidFill>
              </a:rPr>
              <a:t>Functions</a:t>
            </a:r>
            <a:endParaRPr lang="pl-PL" sz="2200" b="1" dirty="0">
              <a:solidFill>
                <a:srgbClr val="1E2329"/>
              </a:solidFill>
            </a:endParaRPr>
          </a:p>
        </p:txBody>
      </p:sp>
      <p:sp>
        <p:nvSpPr>
          <p:cNvPr id="36" name="Prostokąt 35">
            <a:extLst>
              <a:ext uri="{FF2B5EF4-FFF2-40B4-BE49-F238E27FC236}">
                <a16:creationId xmlns:a16="http://schemas.microsoft.com/office/drawing/2014/main" id="{3435F6D9-97C3-B576-F048-D34E45957813}"/>
              </a:ext>
            </a:extLst>
          </p:cNvPr>
          <p:cNvSpPr/>
          <p:nvPr/>
        </p:nvSpPr>
        <p:spPr>
          <a:xfrm>
            <a:off x="927100" y="3928853"/>
            <a:ext cx="103378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7" name="Prostokąt 36">
            <a:extLst>
              <a:ext uri="{FF2B5EF4-FFF2-40B4-BE49-F238E27FC236}">
                <a16:creationId xmlns:a16="http://schemas.microsoft.com/office/drawing/2014/main" id="{FE239A4B-6B13-0AD5-8B5C-3A96730FAA54}"/>
              </a:ext>
            </a:extLst>
          </p:cNvPr>
          <p:cNvSpPr/>
          <p:nvPr/>
        </p:nvSpPr>
        <p:spPr>
          <a:xfrm>
            <a:off x="927100" y="5041421"/>
            <a:ext cx="10337800" cy="127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3B6D4DA-9612-5FC5-8E7F-DB1A3594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420" y="1294741"/>
            <a:ext cx="2045359" cy="204535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88CA4C19-0D72-F4D0-F1BB-6545F73B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081" y="3824987"/>
            <a:ext cx="7640116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6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D879-6916-3B4A-D5AF-D7DDEFDB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7C682A-5488-8D8C-88CC-6C994105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pl-PL" dirty="0" err="1"/>
              <a:t>Leverage</a:t>
            </a:r>
            <a:r>
              <a:rPr lang="pl-PL" dirty="0"/>
              <a:t> </a:t>
            </a:r>
            <a:r>
              <a:rPr lang="pl-PL" dirty="0" err="1"/>
              <a:t>metadata</a:t>
            </a:r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10431FA-C057-2710-B064-64F754A9C0F5}"/>
              </a:ext>
            </a:extLst>
          </p:cNvPr>
          <p:cNvSpPr txBox="1"/>
          <p:nvPr/>
        </p:nvSpPr>
        <p:spPr>
          <a:xfrm>
            <a:off x="927100" y="132739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200" b="1" dirty="0">
                <a:solidFill>
                  <a:srgbClr val="1E2329"/>
                </a:solidFill>
              </a:rPr>
              <a:t>DAX Studio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D23BCDF-9B41-6A8D-F52B-39496DA78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949970"/>
            <a:ext cx="2724530" cy="142894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72BC172-78AB-0D12-B3D2-4C4BCBCE6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79" y="3620499"/>
            <a:ext cx="10768641" cy="249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15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AC5E6F-54F5-ECBF-1E39-41BB3EC9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Before deleting anything,</a:t>
            </a:r>
            <a:br>
              <a:rPr lang="en-US"/>
            </a:br>
            <a:r>
              <a:rPr lang="en-US"/>
              <a:t>we priced each cut from partition sizes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9B9040E-257E-4CD2-AC7C-C0121C510DBE}"/>
              </a:ext>
            </a:extLst>
          </p:cNvPr>
          <p:cNvSpPr txBox="1"/>
          <p:nvPr/>
        </p:nvSpPr>
        <p:spPr>
          <a:xfrm>
            <a:off x="927100" y="162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300" b="1">
                <a:solidFill>
                  <a:srgbClr val="5B6B7A"/>
                </a:solidFill>
              </a:rPr>
              <a:t>Fact table partitions by region and year (example)</a:t>
            </a:r>
            <a:endParaRPr lang="pl-PL" sz="1300" b="1">
              <a:solidFill>
                <a:srgbClr val="5B6B7A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4E098E1-BC7D-41B3-A2D8-3D0994ADC1CE}"/>
              </a:ext>
            </a:extLst>
          </p:cNvPr>
          <p:cNvSpPr txBox="1"/>
          <p:nvPr/>
        </p:nvSpPr>
        <p:spPr>
          <a:xfrm>
            <a:off x="2197100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2019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1111B17-79ED-4B65-82B4-3E6EBEBABA98}"/>
              </a:ext>
            </a:extLst>
          </p:cNvPr>
          <p:cNvSpPr txBox="1"/>
          <p:nvPr/>
        </p:nvSpPr>
        <p:spPr>
          <a:xfrm>
            <a:off x="3330575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2020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1565F64-B963-483A-95DE-E4D0BF38AEFC}"/>
              </a:ext>
            </a:extLst>
          </p:cNvPr>
          <p:cNvSpPr txBox="1"/>
          <p:nvPr/>
        </p:nvSpPr>
        <p:spPr>
          <a:xfrm>
            <a:off x="4464050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2021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100BDE1-CF44-4ED5-9232-0EE272FD956D}"/>
              </a:ext>
            </a:extLst>
          </p:cNvPr>
          <p:cNvSpPr txBox="1"/>
          <p:nvPr/>
        </p:nvSpPr>
        <p:spPr>
          <a:xfrm>
            <a:off x="5597525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2022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9EBB13D-1FA4-4B75-B08E-508630008E1D}"/>
              </a:ext>
            </a:extLst>
          </p:cNvPr>
          <p:cNvSpPr txBox="1"/>
          <p:nvPr/>
        </p:nvSpPr>
        <p:spPr>
          <a:xfrm>
            <a:off x="6731000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2023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2C9F43E-5926-4D48-8FE2-FAF4E98C8A08}"/>
              </a:ext>
            </a:extLst>
          </p:cNvPr>
          <p:cNvSpPr txBox="1"/>
          <p:nvPr/>
        </p:nvSpPr>
        <p:spPr>
          <a:xfrm>
            <a:off x="7864475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2024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06D3CD1-00C0-4E54-9587-BC8422EE5B29}"/>
              </a:ext>
            </a:extLst>
          </p:cNvPr>
          <p:cNvSpPr txBox="1"/>
          <p:nvPr/>
        </p:nvSpPr>
        <p:spPr>
          <a:xfrm>
            <a:off x="8997950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2025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D7A30B0-C379-4F8B-B695-0ED34CA2F91E}"/>
              </a:ext>
            </a:extLst>
          </p:cNvPr>
          <p:cNvSpPr txBox="1"/>
          <p:nvPr/>
        </p:nvSpPr>
        <p:spPr>
          <a:xfrm>
            <a:off x="10131425" y="1930400"/>
            <a:ext cx="1133475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400">
                <a:solidFill>
                  <a:srgbClr val="5B6B7A"/>
                </a:solidFill>
              </a:rPr>
              <a:t>2026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984F206-8A63-4D61-9191-421583C25292}"/>
              </a:ext>
            </a:extLst>
          </p:cNvPr>
          <p:cNvSpPr txBox="1"/>
          <p:nvPr/>
        </p:nvSpPr>
        <p:spPr>
          <a:xfrm>
            <a:off x="927100" y="2311400"/>
            <a:ext cx="12065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1E2329"/>
                </a:solidFill>
              </a:rPr>
              <a:t>Africa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DA656CB8-4754-40D9-A647-9B3ED9A2428C}"/>
              </a:ext>
            </a:extLst>
          </p:cNvPr>
          <p:cNvSpPr/>
          <p:nvPr/>
        </p:nvSpPr>
        <p:spPr>
          <a:xfrm>
            <a:off x="2222500" y="2235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9BFF20E3-75D6-4CA4-AA31-46018BF8C70F}"/>
              </a:ext>
            </a:extLst>
          </p:cNvPr>
          <p:cNvSpPr/>
          <p:nvPr/>
        </p:nvSpPr>
        <p:spPr>
          <a:xfrm>
            <a:off x="3355975" y="2235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7CF0EA79-4E90-4FCD-9E21-956D317BDBB7}"/>
              </a:ext>
            </a:extLst>
          </p:cNvPr>
          <p:cNvSpPr/>
          <p:nvPr/>
        </p:nvSpPr>
        <p:spPr>
          <a:xfrm>
            <a:off x="4489450" y="2235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F21613D5-4C81-426F-B926-E04FDEE539B3}"/>
              </a:ext>
            </a:extLst>
          </p:cNvPr>
          <p:cNvSpPr/>
          <p:nvPr/>
        </p:nvSpPr>
        <p:spPr>
          <a:xfrm>
            <a:off x="5622925" y="2235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71AD1234-E6C5-48D3-AF9C-84776187D497}"/>
              </a:ext>
            </a:extLst>
          </p:cNvPr>
          <p:cNvSpPr/>
          <p:nvPr/>
        </p:nvSpPr>
        <p:spPr>
          <a:xfrm>
            <a:off x="6756400" y="2235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72F4A765-1C54-4705-8AA5-3A75790358BA}"/>
              </a:ext>
            </a:extLst>
          </p:cNvPr>
          <p:cNvSpPr/>
          <p:nvPr/>
        </p:nvSpPr>
        <p:spPr>
          <a:xfrm>
            <a:off x="7889875" y="2235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BFCD544A-82E6-43FC-B942-27C81CBE88CF}"/>
              </a:ext>
            </a:extLst>
          </p:cNvPr>
          <p:cNvSpPr/>
          <p:nvPr/>
        </p:nvSpPr>
        <p:spPr>
          <a:xfrm>
            <a:off x="9023350" y="2235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6A627124-680A-494A-8D1D-C8E71B1338BD}"/>
              </a:ext>
            </a:extLst>
          </p:cNvPr>
          <p:cNvSpPr/>
          <p:nvPr/>
        </p:nvSpPr>
        <p:spPr>
          <a:xfrm>
            <a:off x="10156825" y="2235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43E5F74C-54AA-4931-9FF8-BCEB6208B3CF}"/>
              </a:ext>
            </a:extLst>
          </p:cNvPr>
          <p:cNvSpPr txBox="1"/>
          <p:nvPr/>
        </p:nvSpPr>
        <p:spPr>
          <a:xfrm>
            <a:off x="927100" y="2819400"/>
            <a:ext cx="12065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1E2329"/>
                </a:solidFill>
              </a:rPr>
              <a:t>Europe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AFE5542B-F987-4DDE-874C-F8E1929FFD1C}"/>
              </a:ext>
            </a:extLst>
          </p:cNvPr>
          <p:cNvSpPr/>
          <p:nvPr/>
        </p:nvSpPr>
        <p:spPr>
          <a:xfrm>
            <a:off x="2222500" y="2743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10B60FA1-F609-47ED-99F6-D19CC97784D9}"/>
              </a:ext>
            </a:extLst>
          </p:cNvPr>
          <p:cNvSpPr/>
          <p:nvPr/>
        </p:nvSpPr>
        <p:spPr>
          <a:xfrm>
            <a:off x="3355975" y="2743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B057D80B-825C-4214-B77A-64387882C8BD}"/>
              </a:ext>
            </a:extLst>
          </p:cNvPr>
          <p:cNvSpPr/>
          <p:nvPr/>
        </p:nvSpPr>
        <p:spPr>
          <a:xfrm>
            <a:off x="4489450" y="2743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F2D1770A-8A76-46CD-A8A3-7743672A392F}"/>
              </a:ext>
            </a:extLst>
          </p:cNvPr>
          <p:cNvSpPr/>
          <p:nvPr/>
        </p:nvSpPr>
        <p:spPr>
          <a:xfrm>
            <a:off x="5622925" y="2743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C0050E17-2CB7-46B8-A5B3-5B5A27C68FED}"/>
              </a:ext>
            </a:extLst>
          </p:cNvPr>
          <p:cNvSpPr/>
          <p:nvPr/>
        </p:nvSpPr>
        <p:spPr>
          <a:xfrm>
            <a:off x="6756400" y="2743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82C22EF0-BED7-4490-84AF-D32D87239D74}"/>
              </a:ext>
            </a:extLst>
          </p:cNvPr>
          <p:cNvSpPr/>
          <p:nvPr/>
        </p:nvSpPr>
        <p:spPr>
          <a:xfrm>
            <a:off x="7889875" y="2743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B2F1E105-45CD-43F8-A3A9-53CD8A031EA6}"/>
              </a:ext>
            </a:extLst>
          </p:cNvPr>
          <p:cNvSpPr/>
          <p:nvPr/>
        </p:nvSpPr>
        <p:spPr>
          <a:xfrm>
            <a:off x="9023350" y="2743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E14F32FF-CCE3-45D4-8BF3-83C5E671511F}"/>
              </a:ext>
            </a:extLst>
          </p:cNvPr>
          <p:cNvSpPr/>
          <p:nvPr/>
        </p:nvSpPr>
        <p:spPr>
          <a:xfrm>
            <a:off x="10156825" y="2743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540DC396-6495-4751-84CD-5F4B45DC8AFE}"/>
              </a:ext>
            </a:extLst>
          </p:cNvPr>
          <p:cNvSpPr txBox="1"/>
          <p:nvPr/>
        </p:nvSpPr>
        <p:spPr>
          <a:xfrm>
            <a:off x="927100" y="3327400"/>
            <a:ext cx="12065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b="1">
                <a:solidFill>
                  <a:srgbClr val="1E2329"/>
                </a:solidFill>
              </a:rPr>
              <a:t>Asia</a:t>
            </a:r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53AC94AC-7117-447E-8801-6FA36BA32B00}"/>
              </a:ext>
            </a:extLst>
          </p:cNvPr>
          <p:cNvSpPr/>
          <p:nvPr/>
        </p:nvSpPr>
        <p:spPr>
          <a:xfrm>
            <a:off x="2222500" y="3251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E722D513-B33C-4955-836F-6AB4CDEBC103}"/>
              </a:ext>
            </a:extLst>
          </p:cNvPr>
          <p:cNvSpPr/>
          <p:nvPr/>
        </p:nvSpPr>
        <p:spPr>
          <a:xfrm>
            <a:off x="3355975" y="3251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98D0D4E9-F466-4BF1-B81D-B3DFB1697499}"/>
              </a:ext>
            </a:extLst>
          </p:cNvPr>
          <p:cNvSpPr/>
          <p:nvPr/>
        </p:nvSpPr>
        <p:spPr>
          <a:xfrm>
            <a:off x="4489450" y="3251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4" name="Prostokąt 33">
            <a:extLst>
              <a:ext uri="{FF2B5EF4-FFF2-40B4-BE49-F238E27FC236}">
                <a16:creationId xmlns:a16="http://schemas.microsoft.com/office/drawing/2014/main" id="{CC1DE96A-5C7B-4E4D-B7BF-EC1BD4FE1FF2}"/>
              </a:ext>
            </a:extLst>
          </p:cNvPr>
          <p:cNvSpPr/>
          <p:nvPr/>
        </p:nvSpPr>
        <p:spPr>
          <a:xfrm>
            <a:off x="5622925" y="3251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5" name="Prostokąt 34">
            <a:extLst>
              <a:ext uri="{FF2B5EF4-FFF2-40B4-BE49-F238E27FC236}">
                <a16:creationId xmlns:a16="http://schemas.microsoft.com/office/drawing/2014/main" id="{B3751D5B-2F34-4212-92B6-7E4B5820C211}"/>
              </a:ext>
            </a:extLst>
          </p:cNvPr>
          <p:cNvSpPr/>
          <p:nvPr/>
        </p:nvSpPr>
        <p:spPr>
          <a:xfrm>
            <a:off x="6756400" y="3251200"/>
            <a:ext cx="1082675" cy="431800"/>
          </a:xfrm>
          <a:prstGeom prst="rect">
            <a:avLst/>
          </a:prstGeom>
          <a:solidFill>
            <a:srgbClr val="DAD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6" name="Prostokąt 35">
            <a:extLst>
              <a:ext uri="{FF2B5EF4-FFF2-40B4-BE49-F238E27FC236}">
                <a16:creationId xmlns:a16="http://schemas.microsoft.com/office/drawing/2014/main" id="{551DFBCE-A9A0-4228-9811-B69526FDBD50}"/>
              </a:ext>
            </a:extLst>
          </p:cNvPr>
          <p:cNvSpPr/>
          <p:nvPr/>
        </p:nvSpPr>
        <p:spPr>
          <a:xfrm>
            <a:off x="7889875" y="3251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7" name="Prostokąt 36">
            <a:extLst>
              <a:ext uri="{FF2B5EF4-FFF2-40B4-BE49-F238E27FC236}">
                <a16:creationId xmlns:a16="http://schemas.microsoft.com/office/drawing/2014/main" id="{0B8D1EE0-4E3B-45D9-B125-FD7F3CF16388}"/>
              </a:ext>
            </a:extLst>
          </p:cNvPr>
          <p:cNvSpPr/>
          <p:nvPr/>
        </p:nvSpPr>
        <p:spPr>
          <a:xfrm>
            <a:off x="9023350" y="3251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8" name="Prostokąt 37">
            <a:extLst>
              <a:ext uri="{FF2B5EF4-FFF2-40B4-BE49-F238E27FC236}">
                <a16:creationId xmlns:a16="http://schemas.microsoft.com/office/drawing/2014/main" id="{7A6773E9-AC20-4C48-9F5A-9F01B0DAB0BC}"/>
              </a:ext>
            </a:extLst>
          </p:cNvPr>
          <p:cNvSpPr/>
          <p:nvPr/>
        </p:nvSpPr>
        <p:spPr>
          <a:xfrm>
            <a:off x="10156825" y="3251200"/>
            <a:ext cx="1082675" cy="43180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6B57A633-A34B-4ACC-8CC5-470C4832C3E5}"/>
              </a:ext>
            </a:extLst>
          </p:cNvPr>
          <p:cNvSpPr txBox="1"/>
          <p:nvPr/>
        </p:nvSpPr>
        <p:spPr>
          <a:xfrm>
            <a:off x="2197100" y="381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Dropped: older than two years back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40" name="pole tekstowe 39">
            <a:extLst>
              <a:ext uri="{FF2B5EF4-FFF2-40B4-BE49-F238E27FC236}">
                <a16:creationId xmlns:a16="http://schemas.microsoft.com/office/drawing/2014/main" id="{C7DD3741-75AA-47E0-9480-6FC5BC38D959}"/>
              </a:ext>
            </a:extLst>
          </p:cNvPr>
          <p:cNvSpPr txBox="1"/>
          <p:nvPr/>
        </p:nvSpPr>
        <p:spPr>
          <a:xfrm>
            <a:off x="7454900" y="3810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pl-PL" sz="1500" b="1">
                <a:solidFill>
                  <a:srgbClr val="0B7A6B"/>
                </a:solidFill>
              </a:rPr>
              <a:t>Kept: 2024–2026</a:t>
            </a:r>
          </a:p>
        </p:txBody>
      </p: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6A9FA9D6-9067-47B6-8A8C-C131697CFD3E}"/>
              </a:ext>
            </a:extLst>
          </p:cNvPr>
          <p:cNvSpPr txBox="1"/>
          <p:nvPr/>
        </p:nvSpPr>
        <p:spPr>
          <a:xfrm>
            <a:off x="927100" y="4495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7A5600"/>
                </a:solidFill>
              </a:rPr>
              <a:t>The maths</a:t>
            </a:r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D0121A25-C621-449A-AC96-99FFB7BCB176}"/>
              </a:ext>
            </a:extLst>
          </p:cNvPr>
          <p:cNvSpPr txBox="1"/>
          <p:nvPr/>
        </p:nvSpPr>
        <p:spPr>
          <a:xfrm>
            <a:off x="927100" y="4800600"/>
            <a:ext cx="103378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2000" b="1">
                <a:solidFill>
                  <a:srgbClr val="1E2329"/>
                </a:solidFill>
                <a:latin typeface="Segoe UI Semibold"/>
                <a:cs typeface="Segoe UI Semibold"/>
              </a:rPr>
              <a:t>Saving ≈ table size × (rows in dropped partitions ÷ total rows)</a:t>
            </a:r>
            <a:endParaRPr lang="pl-PL" sz="2000" b="1">
              <a:solidFill>
                <a:srgbClr val="1E2329"/>
              </a:solidFill>
              <a:latin typeface="Segoe UI Semibold"/>
              <a:cs typeface="Segoe UI Semibold"/>
            </a:endParaRPr>
          </a:p>
        </p:txBody>
      </p:sp>
      <p:sp>
        <p:nvSpPr>
          <p:cNvPr id="45" name="pole tekstowe 44">
            <a:extLst>
              <a:ext uri="{FF2B5EF4-FFF2-40B4-BE49-F238E27FC236}">
                <a16:creationId xmlns:a16="http://schemas.microsoft.com/office/drawing/2014/main" id="{827D7E85-ACCB-493C-98AD-19B72BAD53D0}"/>
              </a:ext>
            </a:extLst>
          </p:cNvPr>
          <p:cNvSpPr txBox="1"/>
          <p:nvPr/>
        </p:nvSpPr>
        <p:spPr>
          <a:xfrm>
            <a:off x="927100" y="5181600"/>
            <a:ext cx="103378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 dirty="0">
                <a:solidFill>
                  <a:srgbClr val="3A4450"/>
                </a:solidFill>
              </a:rPr>
              <a:t>A 10 GB table with half its rows in old partitions frees about 5 GB. </a:t>
            </a:r>
            <a:endParaRPr lang="pl-PL" sz="1500" dirty="0">
              <a:solidFill>
                <a:srgbClr val="3A4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908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DB2B71-4FA4-7B0B-B808-EFA7D468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Log Analytics: the answer to</a:t>
            </a:r>
            <a:br>
              <a:rPr lang="en-US"/>
            </a:br>
            <a:r>
              <a:rPr lang="en-US"/>
              <a:t>“but we use it every day”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B23D21C-E952-4059-89B3-DC861CFC08FD}"/>
              </a:ext>
            </a:extLst>
          </p:cNvPr>
          <p:cNvSpPr txBox="1"/>
          <p:nvPr/>
        </p:nvSpPr>
        <p:spPr>
          <a:xfrm>
            <a:off x="927100" y="17145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>
                <a:solidFill>
                  <a:srgbClr val="1E2329"/>
                </a:solidFill>
              </a:rPr>
              <a:t>Turn it on per workspace or server</a:t>
            </a:r>
            <a:endParaRPr lang="pl-PL" sz="1700" b="1">
              <a:solidFill>
                <a:srgbClr val="1E2329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346A22D-589C-4935-890E-D6DF9D2932FC}"/>
              </a:ext>
            </a:extLst>
          </p:cNvPr>
          <p:cNvSpPr txBox="1"/>
          <p:nvPr/>
        </p:nvSpPr>
        <p:spPr>
          <a:xfrm>
            <a:off x="927100" y="2057400"/>
            <a:ext cx="4699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Power BI workspace setting; diagnostic settings for AAS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3181DBC-C9B4-4EEB-A5E7-1E0101742EB6}"/>
              </a:ext>
            </a:extLst>
          </p:cNvPr>
          <p:cNvSpPr txBox="1"/>
          <p:nvPr/>
        </p:nvSpPr>
        <p:spPr>
          <a:xfrm>
            <a:off x="927100" y="27559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 b="1" dirty="0">
                <a:solidFill>
                  <a:srgbClr val="1E2329"/>
                </a:solidFill>
              </a:rPr>
              <a:t>Basically </a:t>
            </a:r>
            <a:r>
              <a:rPr lang="pl-PL" sz="1700" b="1" dirty="0">
                <a:solidFill>
                  <a:srgbClr val="1E2329"/>
                </a:solidFill>
              </a:rPr>
              <a:t>„</a:t>
            </a:r>
            <a:r>
              <a:rPr lang="en-US" sz="1700" b="1" dirty="0">
                <a:solidFill>
                  <a:srgbClr val="1E2329"/>
                </a:solidFill>
              </a:rPr>
              <a:t>SQL Profiler, in the cloud</a:t>
            </a:r>
            <a:r>
              <a:rPr lang="pl-PL" sz="1700" b="1" dirty="0">
                <a:solidFill>
                  <a:srgbClr val="1E2329"/>
                </a:solidFill>
              </a:rPr>
              <a:t>”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8E634C9-467E-4192-A4BB-E42C65015654}"/>
              </a:ext>
            </a:extLst>
          </p:cNvPr>
          <p:cNvSpPr txBox="1"/>
          <p:nvPr/>
        </p:nvSpPr>
        <p:spPr>
          <a:xfrm>
            <a:off x="927100" y="3098800"/>
            <a:ext cx="4699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Query and refresh events, kept for the retention you set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DC2A08D-E0CA-4E84-B805-A008AA6E9820}"/>
              </a:ext>
            </a:extLst>
          </p:cNvPr>
          <p:cNvSpPr txBox="1"/>
          <p:nvPr/>
        </p:nvSpPr>
        <p:spPr>
          <a:xfrm>
            <a:off x="927100" y="37973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Query it with KQL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295C74A-FDEA-4B9A-9340-19B36ACBF40A}"/>
              </a:ext>
            </a:extLst>
          </p:cNvPr>
          <p:cNvSpPr txBox="1"/>
          <p:nvPr/>
        </p:nvSpPr>
        <p:spPr>
          <a:xfrm>
            <a:off x="927100" y="4140200"/>
            <a:ext cx="4699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Import into Power BI or land it in a storage account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3EB2B90-188E-41AC-9A09-A806C33530FD}"/>
              </a:ext>
            </a:extLst>
          </p:cNvPr>
          <p:cNvSpPr txBox="1"/>
          <p:nvPr/>
        </p:nvSpPr>
        <p:spPr>
          <a:xfrm>
            <a:off x="927100" y="48387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700" b="1">
                <a:solidFill>
                  <a:srgbClr val="1E2329"/>
                </a:solidFill>
              </a:rPr>
              <a:t>Budget for it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ADDD458-5691-44EF-885A-79DEF57278B7}"/>
              </a:ext>
            </a:extLst>
          </p:cNvPr>
          <p:cNvSpPr txBox="1"/>
          <p:nvPr/>
        </p:nvSpPr>
        <p:spPr>
          <a:xfrm>
            <a:off x="927100" y="5181600"/>
            <a:ext cx="46990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500">
                <a:solidFill>
                  <a:srgbClr val="3A4450"/>
                </a:solidFill>
              </a:rPr>
              <a:t>Ingestion and retention cost money. Bonus: chargeback by team.</a:t>
            </a:r>
            <a:endParaRPr lang="pl-PL" sz="1500">
              <a:solidFill>
                <a:srgbClr val="3A4450"/>
              </a:solidFill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0E2622F-F1B9-4C84-B61C-E0DA9368484A}"/>
              </a:ext>
            </a:extLst>
          </p:cNvPr>
          <p:cNvSpPr txBox="1"/>
          <p:nvPr/>
        </p:nvSpPr>
        <p:spPr>
          <a:xfrm>
            <a:off x="6223000" y="1714500"/>
            <a:ext cx="50419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300" b="1">
                <a:solidFill>
                  <a:srgbClr val="5B6B7A"/>
                </a:solidFill>
              </a:rPr>
              <a:t>Usage per model, last 90 days (KQL)</a:t>
            </a:r>
            <a:endParaRPr lang="pl-PL" sz="1300" b="1">
              <a:solidFill>
                <a:srgbClr val="5B6B7A"/>
              </a:solidFill>
            </a:endParaRP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D4D8DEF1-3502-4004-963A-E96640F1A9C9}"/>
              </a:ext>
            </a:extLst>
          </p:cNvPr>
          <p:cNvSpPr/>
          <p:nvPr/>
        </p:nvSpPr>
        <p:spPr>
          <a:xfrm>
            <a:off x="6223000" y="2032000"/>
            <a:ext cx="5041900" cy="3810000"/>
          </a:xfrm>
          <a:prstGeom prst="rect">
            <a:avLst/>
          </a:prstGeom>
          <a:solidFill>
            <a:srgbClr val="EEF0EC"/>
          </a:solidFill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765CF2D-A8F9-4FA6-99EF-29C760205C0A}"/>
              </a:ext>
            </a:extLst>
          </p:cNvPr>
          <p:cNvSpPr txBox="1"/>
          <p:nvPr/>
        </p:nvSpPr>
        <p:spPr>
          <a:xfrm>
            <a:off x="6426200" y="2349500"/>
            <a:ext cx="4699000" cy="342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50" dirty="0" err="1">
                <a:solidFill>
                  <a:srgbClr val="1E2329"/>
                </a:solidFill>
                <a:latin typeface="Consolas"/>
              </a:rPr>
              <a:t>PowerBIDatasetsWorkspace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
|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where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TimeGenerated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&gt; ago(90d)
|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where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OperationName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== "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QueryEnd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"
|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summarize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
   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Queries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  =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count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(),
   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Users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    =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dcount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(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ExecutingUser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),
   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LastQuery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= max(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TimeGenerated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)
  by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PowerBIWorkspaceName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,
    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ArtifactName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
| order by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Queries</a:t>
            </a:r>
            <a:r>
              <a:rPr lang="pl-PL" sz="1650" dirty="0">
                <a:solidFill>
                  <a:srgbClr val="1E2329"/>
                </a:solidFill>
                <a:latin typeface="Consolas"/>
              </a:rPr>
              <a:t> </a:t>
            </a:r>
            <a:r>
              <a:rPr lang="pl-PL" sz="1650" dirty="0" err="1">
                <a:solidFill>
                  <a:srgbClr val="1E2329"/>
                </a:solidFill>
                <a:latin typeface="Consolas"/>
              </a:rPr>
              <a:t>asc</a:t>
            </a:r>
            <a:endParaRPr lang="pl-PL" sz="1650" dirty="0">
              <a:solidFill>
                <a:srgbClr val="1E2329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02183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D9BC80-DCE0-3EFC-4696-736AE72A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DEMO</a:t>
            </a:r>
          </a:p>
        </p:txBody>
      </p:sp>
      <p:pic>
        <p:nvPicPr>
          <p:cNvPr id="3" name="Obraz 2" descr="Azure Log Analytics Workspaces Icon - SVG &amp; PNG Download | AZ-Icons">
            <a:extLst>
              <a:ext uri="{FF2B5EF4-FFF2-40B4-BE49-F238E27FC236}">
                <a16:creationId xmlns:a16="http://schemas.microsoft.com/office/drawing/2014/main" id="{B9D4B7E8-B9EF-7364-0BED-04329001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29" y="1374807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83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8D0A71-7630-863E-DE9F-30C117B3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Big models nobody used went first</a:t>
            </a:r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0FF6CC68-9EF7-421C-BFDA-D8FC13056BB0}"/>
              </a:ext>
            </a:extLst>
          </p:cNvPr>
          <p:cNvSpPr/>
          <p:nvPr/>
        </p:nvSpPr>
        <p:spPr>
          <a:xfrm>
            <a:off x="1689100" y="1625600"/>
            <a:ext cx="4711700" cy="2000250"/>
          </a:xfrm>
          <a:prstGeom prst="rect">
            <a:avLst/>
          </a:prstGeom>
          <a:solidFill>
            <a:srgbClr val="0B7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05BA5D2-5F02-473C-913E-3DEBAFFCFDE8}"/>
              </a:ext>
            </a:extLst>
          </p:cNvPr>
          <p:cNvSpPr txBox="1"/>
          <p:nvPr/>
        </p:nvSpPr>
        <p:spPr>
          <a:xfrm>
            <a:off x="1943100" y="1854200"/>
            <a:ext cx="42037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FFFFFF"/>
                </a:solidFill>
              </a:rPr>
              <a:t>Big, barely used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E875559-DAE5-4B0D-8709-020DB1255A19}"/>
              </a:ext>
            </a:extLst>
          </p:cNvPr>
          <p:cNvSpPr txBox="1"/>
          <p:nvPr/>
        </p:nvSpPr>
        <p:spPr>
          <a:xfrm>
            <a:off x="1943100" y="2311400"/>
            <a:ext cx="42037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Retire first. Example: a large AAS model on test, queried by one person.</a:t>
            </a:r>
            <a:endParaRPr lang="pl-PL" sz="1600">
              <a:solidFill>
                <a:srgbClr val="FFFFFF"/>
              </a:solidFill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F010CB1D-5C92-4753-A42C-7E8EB1DED264}"/>
              </a:ext>
            </a:extLst>
          </p:cNvPr>
          <p:cNvSpPr/>
          <p:nvPr/>
        </p:nvSpPr>
        <p:spPr>
          <a:xfrm>
            <a:off x="6553200" y="1625600"/>
            <a:ext cx="4711700" cy="2000250"/>
          </a:xfrm>
          <a:prstGeom prst="rect">
            <a:avLst/>
          </a:prstGeom>
          <a:noFill/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308BA70-A6B9-4AC0-9194-06B947A785FB}"/>
              </a:ext>
            </a:extLst>
          </p:cNvPr>
          <p:cNvSpPr txBox="1"/>
          <p:nvPr/>
        </p:nvSpPr>
        <p:spPr>
          <a:xfrm>
            <a:off x="6807200" y="1854200"/>
            <a:ext cx="42037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Big, heavily used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337D5A1-D7D6-45DC-AE60-A63DD490E124}"/>
              </a:ext>
            </a:extLst>
          </p:cNvPr>
          <p:cNvSpPr txBox="1"/>
          <p:nvPr/>
        </p:nvSpPr>
        <p:spPr>
          <a:xfrm>
            <a:off x="6807200" y="2311400"/>
            <a:ext cx="42037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Optimize: shorter history, leaner columns, right-sized capacity.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E069FB79-C615-452D-B1CC-3605BF65F0E3}"/>
              </a:ext>
            </a:extLst>
          </p:cNvPr>
          <p:cNvSpPr/>
          <p:nvPr/>
        </p:nvSpPr>
        <p:spPr>
          <a:xfrm>
            <a:off x="1689100" y="3778250"/>
            <a:ext cx="4711700" cy="2000250"/>
          </a:xfrm>
          <a:prstGeom prst="rect">
            <a:avLst/>
          </a:prstGeom>
          <a:noFill/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1233600-C3D4-484B-BEF5-CA284671E26F}"/>
              </a:ext>
            </a:extLst>
          </p:cNvPr>
          <p:cNvSpPr txBox="1"/>
          <p:nvPr/>
        </p:nvSpPr>
        <p:spPr>
          <a:xfrm>
            <a:off x="1943100" y="4006850"/>
            <a:ext cx="42037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Small, barely used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54908DA-FF90-4994-8AF4-471B8D26932F}"/>
              </a:ext>
            </a:extLst>
          </p:cNvPr>
          <p:cNvSpPr txBox="1"/>
          <p:nvPr/>
        </p:nvSpPr>
        <p:spPr>
          <a:xfrm>
            <a:off x="1943100" y="4464050"/>
            <a:ext cx="42037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3A4450"/>
                </a:solidFill>
              </a:rPr>
              <a:t>Retire or merge when convenient.</a:t>
            </a:r>
            <a:endParaRPr lang="pl-PL" sz="1600">
              <a:solidFill>
                <a:srgbClr val="3A4450"/>
              </a:solidFill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2684AD0B-36C0-4CE5-8D91-73A439075007}"/>
              </a:ext>
            </a:extLst>
          </p:cNvPr>
          <p:cNvSpPr/>
          <p:nvPr/>
        </p:nvSpPr>
        <p:spPr>
          <a:xfrm>
            <a:off x="6553200" y="3778250"/>
            <a:ext cx="4711700" cy="2000250"/>
          </a:xfrm>
          <a:prstGeom prst="rect">
            <a:avLst/>
          </a:prstGeom>
          <a:noFill/>
          <a:ln w="12700" cap="flat" cmpd="sng" algn="ctr">
            <a:solidFill>
              <a:srgbClr val="D9DC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0FA0BDA-DC43-4F81-BA6C-8FA68FCF2155}"/>
              </a:ext>
            </a:extLst>
          </p:cNvPr>
          <p:cNvSpPr txBox="1"/>
          <p:nvPr/>
        </p:nvSpPr>
        <p:spPr>
          <a:xfrm>
            <a:off x="6807200" y="4006850"/>
            <a:ext cx="42037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1E2329"/>
                </a:solidFill>
              </a:rPr>
              <a:t>Small, heavily used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1766BDA-050E-4C06-A560-D495EF29A857}"/>
              </a:ext>
            </a:extLst>
          </p:cNvPr>
          <p:cNvSpPr txBox="1"/>
          <p:nvPr/>
        </p:nvSpPr>
        <p:spPr>
          <a:xfrm>
            <a:off x="6807200" y="4464050"/>
            <a:ext cx="4203700" cy="1016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>
                <a:solidFill>
                  <a:srgbClr val="3A4450"/>
                </a:solidFill>
              </a:rPr>
              <a:t>Leave alone.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0C376544-46CA-489F-8E53-A991417B691A}"/>
              </a:ext>
            </a:extLst>
          </p:cNvPr>
          <p:cNvSpPr txBox="1"/>
          <p:nvPr/>
        </p:nvSpPr>
        <p:spPr>
          <a:xfrm rot="16200000">
            <a:off x="-165100" y="362585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300" b="1">
                <a:solidFill>
                  <a:srgbClr val="5B6B7A"/>
                </a:solidFill>
              </a:rPr>
              <a:t>Model size →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B8DA3DD-478B-4EED-81CA-80D31F359807}"/>
              </a:ext>
            </a:extLst>
          </p:cNvPr>
          <p:cNvSpPr txBox="1"/>
          <p:nvPr/>
        </p:nvSpPr>
        <p:spPr>
          <a:xfrm>
            <a:off x="1689100" y="5867400"/>
            <a:ext cx="9575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pl-PL" sz="1300" b="1">
                <a:solidFill>
                  <a:srgbClr val="5B6B7A"/>
                </a:solidFill>
              </a:rPr>
              <a:t>Usage (Log Analytics) →</a:t>
            </a:r>
          </a:p>
        </p:txBody>
      </p:sp>
    </p:spTree>
    <p:extLst>
      <p:ext uri="{BB962C8B-B14F-4D97-AF65-F5344CB8AC3E}">
        <p14:creationId xmlns:p14="http://schemas.microsoft.com/office/powerpoint/2010/main" val="2178853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6C28C-2968-06EE-51EF-456AE8EA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Then the brutal part: partitions nobody</a:t>
            </a:r>
            <a:br>
              <a:rPr lang="en-US"/>
            </a:br>
            <a:r>
              <a:rPr lang="en-US"/>
              <a:t>touched in 3–6 months were dropped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0B5E9EF-88CE-41F4-BBB0-D5FE6B6FBCC9}"/>
              </a:ext>
            </a:extLst>
          </p:cNvPr>
          <p:cNvSpPr txBox="1"/>
          <p:nvPr/>
        </p:nvSpPr>
        <p:spPr>
          <a:xfrm>
            <a:off x="927100" y="19685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5B6B7A"/>
                </a:solidFill>
              </a:rPr>
              <a:t>What the business said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10299C8-45CE-411F-BF3E-A06D9ED57737}"/>
              </a:ext>
            </a:extLst>
          </p:cNvPr>
          <p:cNvSpPr txBox="1"/>
          <p:nvPr/>
        </p:nvSpPr>
        <p:spPr>
          <a:xfrm>
            <a:off x="927100" y="23495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3000" b="1">
                <a:solidFill>
                  <a:srgbClr val="3A4450"/>
                </a:solidFill>
              </a:rPr>
              <a:t>“We use this data a lot.”</a:t>
            </a:r>
            <a:endParaRPr lang="pl-PL" sz="3000" b="1">
              <a:solidFill>
                <a:srgbClr val="3A4450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AD0D8B0-1879-4822-A884-68B86E932A7A}"/>
              </a:ext>
            </a:extLst>
          </p:cNvPr>
          <p:cNvSpPr txBox="1"/>
          <p:nvPr/>
        </p:nvSpPr>
        <p:spPr>
          <a:xfrm>
            <a:off x="927100" y="31115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>
                <a:solidFill>
                  <a:srgbClr val="3A4450"/>
                </a:solidFill>
              </a:rPr>
              <a:t>Every model owner, for every partition</a:t>
            </a:r>
            <a:endParaRPr lang="pl-PL" sz="1700">
              <a:solidFill>
                <a:srgbClr val="3A4450"/>
              </a:solidFill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712EFC3-B31B-42F2-A097-D9A420A07DFD}"/>
              </a:ext>
            </a:extLst>
          </p:cNvPr>
          <p:cNvSpPr txBox="1"/>
          <p:nvPr/>
        </p:nvSpPr>
        <p:spPr>
          <a:xfrm>
            <a:off x="6350000" y="19685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300" b="1">
                <a:solidFill>
                  <a:srgbClr val="0B7A6B"/>
                </a:solidFill>
              </a:rPr>
              <a:t>What the logs said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50AB634-11C9-4FE3-AA74-8199BA7AE630}"/>
              </a:ext>
            </a:extLst>
          </p:cNvPr>
          <p:cNvSpPr txBox="1"/>
          <p:nvPr/>
        </p:nvSpPr>
        <p:spPr>
          <a:xfrm>
            <a:off x="6350000" y="23495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3000" b="1">
                <a:solidFill>
                  <a:srgbClr val="0B7A6B"/>
                </a:solidFill>
              </a:rPr>
              <a:t>Zero queries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3050D58-94F1-4381-9C4D-B7A9E73AE78D}"/>
              </a:ext>
            </a:extLst>
          </p:cNvPr>
          <p:cNvSpPr txBox="1"/>
          <p:nvPr/>
        </p:nvSpPr>
        <p:spPr>
          <a:xfrm>
            <a:off x="6350000" y="3111500"/>
            <a:ext cx="4508500" cy="1143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700">
                <a:solidFill>
                  <a:srgbClr val="3A4450"/>
                </a:solidFill>
              </a:rPr>
              <a:t>on older partitions over the last three to six months</a:t>
            </a:r>
            <a:endParaRPr lang="pl-PL" sz="1700">
              <a:solidFill>
                <a:srgbClr val="3A4450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B616B10-6677-4990-B143-8D6F880655FB}"/>
              </a:ext>
            </a:extLst>
          </p:cNvPr>
          <p:cNvSpPr txBox="1"/>
          <p:nvPr/>
        </p:nvSpPr>
        <p:spPr>
          <a:xfrm>
            <a:off x="927100" y="4699000"/>
            <a:ext cx="9779000" cy="812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r>
              <a:rPr lang="en-US" sz="2200">
                <a:solidFill>
                  <a:srgbClr val="1E2329"/>
                </a:solidFill>
              </a:rPr>
              <a:t>The director’s call: </a:t>
            </a:r>
            <a:r>
              <a:rPr lang="en-US" sz="2200" b="1">
                <a:solidFill>
                  <a:srgbClr val="1E2329"/>
                </a:solidFill>
              </a:rPr>
              <a:t>drop them</a:t>
            </a:r>
            <a:r>
              <a:rPr lang="en-US" sz="2200">
                <a:solidFill>
                  <a:srgbClr val="1E2329"/>
                </a:solidFill>
              </a:rPr>
              <a:t>. Harsh, but hard to argue with the logs.</a:t>
            </a:r>
            <a:endParaRPr lang="pl-PL" sz="2200">
              <a:solidFill>
                <a:srgbClr val="1E2329"/>
              </a:solidFill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42B4363-DE82-4E54-B4C5-7905FA22D705}"/>
              </a:ext>
            </a:extLst>
          </p:cNvPr>
          <p:cNvSpPr/>
          <p:nvPr/>
        </p:nvSpPr>
        <p:spPr>
          <a:xfrm>
            <a:off x="5969000" y="1841500"/>
            <a:ext cx="12700" cy="2413000"/>
          </a:xfrm>
          <a:prstGeom prst="rect">
            <a:avLst/>
          </a:prstGeom>
          <a:solidFill>
            <a:srgbClr val="D9DC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6016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051B-6F44-1D26-3D80-A8517717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076A0D-9400-B753-5596-01650CA9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529087"/>
            <a:ext cx="10515600" cy="1016000"/>
          </a:xfrm>
        </p:spPr>
        <p:txBody>
          <a:bodyPr>
            <a:normAutofit fontScale="90000"/>
          </a:bodyPr>
          <a:lstStyle/>
          <a:p>
            <a:r>
              <a:rPr lang="pl-PL" dirty="0"/>
              <a:t>How much </a:t>
            </a:r>
            <a:r>
              <a:rPr lang="pl-PL" dirty="0" err="1"/>
              <a:t>did</a:t>
            </a:r>
            <a:r>
              <a:rPr lang="pl-PL" dirty="0"/>
              <a:t> we </a:t>
            </a:r>
            <a:r>
              <a:rPr lang="pl-PL" dirty="0" err="1"/>
              <a:t>save</a:t>
            </a:r>
            <a:r>
              <a:rPr lang="pl-PL" dirty="0"/>
              <a:t>? </a:t>
            </a:r>
            <a:br>
              <a:rPr lang="pl-PL" dirty="0"/>
            </a:br>
            <a:br>
              <a:rPr lang="pl-PL" dirty="0"/>
            </a:br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BC6E785-8CC6-69A6-08BA-ECD860B01B1A}"/>
              </a:ext>
            </a:extLst>
          </p:cNvPr>
          <p:cNvSpPr txBox="1"/>
          <p:nvPr/>
        </p:nvSpPr>
        <p:spPr>
          <a:xfrm>
            <a:off x="875342" y="5909574"/>
            <a:ext cx="6112054" cy="542985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rgbClr val="1E2329"/>
                </a:solidFill>
              </a:rPr>
              <a:t>https://azure.microsoft.com/en-us/pricing/details/analysis-services/</a:t>
            </a:r>
            <a:endParaRPr lang="pl-PL" sz="1600" dirty="0">
              <a:solidFill>
                <a:srgbClr val="1E2329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0608BF6-88E3-B626-6908-EB89F5D34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240144"/>
            <a:ext cx="8335992" cy="397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52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FB90-A9EC-3E01-5138-10D633DF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ADDB50-73A5-FD6C-49C9-F85D74F6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529087"/>
            <a:ext cx="10515600" cy="1016000"/>
          </a:xfrm>
        </p:spPr>
        <p:txBody>
          <a:bodyPr>
            <a:normAutofit fontScale="90000"/>
          </a:bodyPr>
          <a:lstStyle/>
          <a:p>
            <a:r>
              <a:rPr lang="pl-PL" dirty="0"/>
              <a:t>How much </a:t>
            </a:r>
            <a:r>
              <a:rPr lang="pl-PL" dirty="0" err="1"/>
              <a:t>did</a:t>
            </a:r>
            <a:r>
              <a:rPr lang="pl-PL" dirty="0"/>
              <a:t> we </a:t>
            </a:r>
            <a:r>
              <a:rPr lang="pl-PL" dirty="0" err="1"/>
              <a:t>save</a:t>
            </a:r>
            <a:r>
              <a:rPr lang="pl-PL" dirty="0"/>
              <a:t>? </a:t>
            </a:r>
            <a:br>
              <a:rPr lang="pl-PL" dirty="0"/>
            </a:br>
            <a:br>
              <a:rPr lang="pl-PL" dirty="0"/>
            </a:br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334F058-FB35-3996-2B02-99467A46DAC2}"/>
              </a:ext>
            </a:extLst>
          </p:cNvPr>
          <p:cNvSpPr txBox="1"/>
          <p:nvPr/>
        </p:nvSpPr>
        <p:spPr>
          <a:xfrm>
            <a:off x="875342" y="5909574"/>
            <a:ext cx="6112054" cy="542985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1600" dirty="0">
                <a:solidFill>
                  <a:srgbClr val="1E2329"/>
                </a:solidFill>
              </a:rPr>
              <a:t>https://azure.microsoft.com/en-us/pricing/details/microsoft-fabric/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693CEB2-CAB5-35B4-4EC6-24EC4AC4D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053" y="1205020"/>
            <a:ext cx="8741434" cy="429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55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D5CE04-6D28-08FA-2374-11779D26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en-US"/>
              <a:t>What to try on Monday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87A4C5A-A65C-4A32-A1CD-0E060F3731AB}"/>
              </a:ext>
            </a:extLst>
          </p:cNvPr>
          <p:cNvSpPr txBox="1"/>
          <p:nvPr/>
        </p:nvSpPr>
        <p:spPr>
          <a:xfrm>
            <a:off x="927100" y="18415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0B7A6B"/>
                </a:solidFill>
              </a:rPr>
              <a:t>Challenge the business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ECC7A0F-A087-4B32-8256-F84450DD0501}"/>
              </a:ext>
            </a:extLst>
          </p:cNvPr>
          <p:cNvSpPr txBox="1"/>
          <p:nvPr/>
        </p:nvSpPr>
        <p:spPr>
          <a:xfrm>
            <a:off x="927100" y="2413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Ask about grain, history and audience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03B7521-A522-4113-948E-4AFBB3AB7CE2}"/>
              </a:ext>
            </a:extLst>
          </p:cNvPr>
          <p:cNvSpPr txBox="1"/>
          <p:nvPr/>
        </p:nvSpPr>
        <p:spPr>
          <a:xfrm>
            <a:off x="927100" y="32512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Check RLS filters for rows no business role can see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6A927B8-7958-4F1F-9B95-712F19B51CFA}"/>
              </a:ext>
            </a:extLst>
          </p:cNvPr>
          <p:cNvSpPr txBox="1"/>
          <p:nvPr/>
        </p:nvSpPr>
        <p:spPr>
          <a:xfrm>
            <a:off x="927100" y="40894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Keep row-level detail to the current year and two back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3B6C7AD-D4B2-47C4-B4BD-49535A4BADDC}"/>
              </a:ext>
            </a:extLst>
          </p:cNvPr>
          <p:cNvSpPr txBox="1"/>
          <p:nvPr/>
        </p:nvSpPr>
        <p:spPr>
          <a:xfrm>
            <a:off x="4445000" y="18415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0B7A6B"/>
                </a:solidFill>
              </a:rPr>
              <a:t>Tune the model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3816D19-AEC4-4B47-A51B-725EB8275324}"/>
              </a:ext>
            </a:extLst>
          </p:cNvPr>
          <p:cNvSpPr txBox="1"/>
          <p:nvPr/>
        </p:nvSpPr>
        <p:spPr>
          <a:xfrm>
            <a:off x="4445000" y="2413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Replace hash keys with integer surrogate keys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ED51E1B5-38B7-4B76-98BA-7136EFB385A7}"/>
              </a:ext>
            </a:extLst>
          </p:cNvPr>
          <p:cNvSpPr txBox="1"/>
          <p:nvPr/>
        </p:nvSpPr>
        <p:spPr>
          <a:xfrm>
            <a:off x="4445000" y="32512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Drop columns that duplicate each other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917A0C5-D1D4-4C21-B725-81F1FFAFA400}"/>
              </a:ext>
            </a:extLst>
          </p:cNvPr>
          <p:cNvSpPr txBox="1"/>
          <p:nvPr/>
        </p:nvSpPr>
        <p:spPr>
          <a:xfrm>
            <a:off x="4445000" y="40894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Set IsAvailableInMDX = false on hidden technical columns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C9595E7C-63FD-4E98-9551-2C920734FB2F}"/>
              </a:ext>
            </a:extLst>
          </p:cNvPr>
          <p:cNvSpPr txBox="1"/>
          <p:nvPr/>
        </p:nvSpPr>
        <p:spPr>
          <a:xfrm>
            <a:off x="4445000" y="49276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Use custom partitions when history changes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342C9942-B8A0-412D-A95A-742B3C9A60DB}"/>
              </a:ext>
            </a:extLst>
          </p:cNvPr>
          <p:cNvSpPr txBox="1"/>
          <p:nvPr/>
        </p:nvSpPr>
        <p:spPr>
          <a:xfrm>
            <a:off x="7962900" y="18415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>
                <a:solidFill>
                  <a:srgbClr val="0B7A6B"/>
                </a:solidFill>
              </a:rPr>
              <a:t>Measure, then cut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967CC5C-E630-4A42-85CA-FE335B476286}"/>
              </a:ext>
            </a:extLst>
          </p:cNvPr>
          <p:cNvSpPr txBox="1"/>
          <p:nvPr/>
        </p:nvSpPr>
        <p:spPr>
          <a:xfrm>
            <a:off x="7962900" y="2413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Price every cut with VertiPaq Analyzer first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F5587190-7B73-4236-8FB8-4A5EBFDB59B1}"/>
              </a:ext>
            </a:extLst>
          </p:cNvPr>
          <p:cNvSpPr txBox="1"/>
          <p:nvPr/>
        </p:nvSpPr>
        <p:spPr>
          <a:xfrm>
            <a:off x="7962900" y="32512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Log every query with Log Analytics</a:t>
            </a:r>
            <a:endParaRPr lang="pl-PL" sz="1600">
              <a:solidFill>
                <a:srgbClr val="1E2329"/>
              </a:solidFill>
            </a:endParaRP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2EA76CC8-5210-405D-A120-E1F0FBC3B2E8}"/>
              </a:ext>
            </a:extLst>
          </p:cNvPr>
          <p:cNvSpPr txBox="1"/>
          <p:nvPr/>
        </p:nvSpPr>
        <p:spPr>
          <a:xfrm>
            <a:off x="7962900" y="40894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sz="1600">
                <a:solidFill>
                  <a:srgbClr val="1E2329"/>
                </a:solidFill>
              </a:rPr>
              <a:t>Retire big models and partitions nobody queries</a:t>
            </a:r>
            <a:endParaRPr lang="pl-PL" sz="1600">
              <a:solidFill>
                <a:srgbClr val="1E23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493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C84C-7985-C8FD-31DE-9738EE9E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A1E52B-77DB-7375-A953-C3A19DCB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1016000"/>
          </a:xfrm>
        </p:spPr>
        <p:txBody>
          <a:bodyPr/>
          <a:lstStyle/>
          <a:p>
            <a:r>
              <a:rPr lang="pl-PL" dirty="0" err="1"/>
              <a:t>Inspirations</a:t>
            </a:r>
            <a:r>
              <a:rPr lang="pl-PL" dirty="0"/>
              <a:t>: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21D4E04-77C9-809D-4278-629CE13CC3B8}"/>
              </a:ext>
            </a:extLst>
          </p:cNvPr>
          <p:cNvSpPr txBox="1"/>
          <p:nvPr/>
        </p:nvSpPr>
        <p:spPr>
          <a:xfrm>
            <a:off x="927100" y="1841500"/>
            <a:ext cx="6336342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 dirty="0" err="1">
                <a:solidFill>
                  <a:srgbClr val="0B7A6B"/>
                </a:solidFill>
              </a:rPr>
              <a:t>Treat</a:t>
            </a:r>
            <a:r>
              <a:rPr lang="pl-PL" sz="2000" b="1" dirty="0">
                <a:solidFill>
                  <a:srgbClr val="0B7A6B"/>
                </a:solidFill>
              </a:rPr>
              <a:t> </a:t>
            </a:r>
            <a:r>
              <a:rPr lang="pl-PL" sz="2000" b="1" dirty="0" err="1">
                <a:solidFill>
                  <a:srgbClr val="0B7A6B"/>
                </a:solidFill>
              </a:rPr>
              <a:t>what</a:t>
            </a:r>
            <a:r>
              <a:rPr lang="pl-PL" sz="2000" b="1" dirty="0">
                <a:solidFill>
                  <a:srgbClr val="0B7A6B"/>
                </a:solidFill>
              </a:rPr>
              <a:t> </a:t>
            </a:r>
            <a:r>
              <a:rPr lang="pl-PL" sz="2000" b="1" dirty="0" err="1">
                <a:solidFill>
                  <a:srgbClr val="0B7A6B"/>
                </a:solidFill>
              </a:rPr>
              <a:t>you</a:t>
            </a:r>
            <a:r>
              <a:rPr lang="pl-PL" sz="2000" b="1" dirty="0">
                <a:solidFill>
                  <a:srgbClr val="0B7A6B"/>
                </a:solidFill>
              </a:rPr>
              <a:t> </a:t>
            </a:r>
            <a:r>
              <a:rPr lang="pl-PL" sz="2000" b="1" dirty="0" err="1">
                <a:solidFill>
                  <a:srgbClr val="0B7A6B"/>
                </a:solidFill>
              </a:rPr>
              <a:t>learnt</a:t>
            </a:r>
            <a:r>
              <a:rPr lang="pl-PL" sz="2000" b="1" dirty="0">
                <a:solidFill>
                  <a:srgbClr val="0B7A6B"/>
                </a:solidFill>
              </a:rPr>
              <a:t> as </a:t>
            </a:r>
            <a:r>
              <a:rPr lang="pl-PL" sz="2000" b="1" dirty="0" err="1">
                <a:solidFill>
                  <a:srgbClr val="0B7A6B"/>
                </a:solidFill>
              </a:rPr>
              <a:t>framework</a:t>
            </a:r>
            <a:endParaRPr lang="pl-PL" sz="2000" b="1" dirty="0">
              <a:solidFill>
                <a:srgbClr val="0B7A6B"/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F67A700-13AF-EC15-B921-314219531D0D}"/>
              </a:ext>
            </a:extLst>
          </p:cNvPr>
          <p:cNvSpPr txBox="1"/>
          <p:nvPr/>
        </p:nvSpPr>
        <p:spPr>
          <a:xfrm>
            <a:off x="927100" y="2743200"/>
            <a:ext cx="6793542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pl-PL" sz="2000" b="1" dirty="0" err="1">
                <a:solidFill>
                  <a:srgbClr val="0B7A6B"/>
                </a:solidFill>
              </a:rPr>
              <a:t>Wrap</a:t>
            </a:r>
            <a:r>
              <a:rPr lang="pl-PL" sz="2000" b="1" dirty="0">
                <a:solidFill>
                  <a:srgbClr val="0B7A6B"/>
                </a:solidFill>
              </a:rPr>
              <a:t> </a:t>
            </a:r>
            <a:r>
              <a:rPr lang="pl-PL" sz="2000" b="1" dirty="0" err="1">
                <a:solidFill>
                  <a:srgbClr val="0B7A6B"/>
                </a:solidFill>
              </a:rPr>
              <a:t>up</a:t>
            </a:r>
            <a:r>
              <a:rPr lang="pl-PL" sz="2000" b="1" dirty="0">
                <a:solidFill>
                  <a:srgbClr val="0B7A6B"/>
                </a:solidFill>
              </a:rPr>
              <a:t> the </a:t>
            </a:r>
            <a:r>
              <a:rPr lang="pl-PL" sz="2000" b="1" dirty="0" err="1">
                <a:solidFill>
                  <a:srgbClr val="0B7A6B"/>
                </a:solidFill>
              </a:rPr>
              <a:t>things</a:t>
            </a:r>
            <a:r>
              <a:rPr lang="pl-PL" sz="2000" b="1" dirty="0">
                <a:solidFill>
                  <a:srgbClr val="0B7A6B"/>
                </a:solidFill>
              </a:rPr>
              <a:t> and </a:t>
            </a:r>
            <a:r>
              <a:rPr lang="pl-PL" sz="2000" b="1" dirty="0" err="1">
                <a:solidFill>
                  <a:srgbClr val="0B7A6B"/>
                </a:solidFill>
              </a:rPr>
              <a:t>leverage</a:t>
            </a:r>
            <a:r>
              <a:rPr lang="pl-PL" sz="2000" b="1" dirty="0">
                <a:solidFill>
                  <a:srgbClr val="0B7A6B"/>
                </a:solidFill>
              </a:rPr>
              <a:t> AI</a:t>
            </a:r>
          </a:p>
          <a:p>
            <a:endParaRPr lang="pl-PL" sz="2000" b="1" dirty="0">
              <a:solidFill>
                <a:srgbClr val="0B7A6B"/>
              </a:solidFill>
            </a:endParaRPr>
          </a:p>
          <a:p>
            <a:endParaRPr lang="pl-PL" sz="2000" b="1" dirty="0">
              <a:solidFill>
                <a:srgbClr val="0B7A6B"/>
              </a:solidFill>
            </a:endParaRPr>
          </a:p>
          <a:p>
            <a:r>
              <a:rPr lang="pl-PL" sz="2000" b="1" dirty="0" err="1">
                <a:solidFill>
                  <a:srgbClr val="0B7A6B"/>
                </a:solidFill>
              </a:rPr>
              <a:t>Fabric</a:t>
            </a:r>
            <a:r>
              <a:rPr lang="pl-PL" sz="2000" b="1" dirty="0">
                <a:solidFill>
                  <a:srgbClr val="0B7A6B"/>
                </a:solidFill>
              </a:rPr>
              <a:t> – </a:t>
            </a:r>
            <a:r>
              <a:rPr lang="pl-PL" sz="2000" b="1" dirty="0" err="1">
                <a:solidFill>
                  <a:srgbClr val="0B7A6B"/>
                </a:solidFill>
              </a:rPr>
              <a:t>try</a:t>
            </a:r>
            <a:r>
              <a:rPr lang="pl-PL" sz="2000" b="1" dirty="0">
                <a:solidFill>
                  <a:srgbClr val="0B7A6B"/>
                </a:solidFill>
              </a:rPr>
              <a:t> out </a:t>
            </a:r>
            <a:r>
              <a:rPr lang="pl-PL" sz="2000" b="1" dirty="0" err="1">
                <a:solidFill>
                  <a:srgbClr val="0B7A6B"/>
                </a:solidFill>
              </a:rPr>
              <a:t>SemPy</a:t>
            </a:r>
            <a:r>
              <a:rPr lang="pl-PL" sz="2000" b="1" dirty="0">
                <a:solidFill>
                  <a:srgbClr val="0B7A6B"/>
                </a:solidFill>
              </a:rPr>
              <a:t> and </a:t>
            </a:r>
            <a:r>
              <a:rPr lang="pl-PL" sz="2000" b="1" dirty="0" err="1">
                <a:solidFill>
                  <a:srgbClr val="0B7A6B"/>
                </a:solidFill>
              </a:rPr>
              <a:t>create</a:t>
            </a:r>
            <a:r>
              <a:rPr lang="pl-PL" sz="2000" b="1" dirty="0">
                <a:solidFill>
                  <a:srgbClr val="0B7A6B"/>
                </a:solidFill>
              </a:rPr>
              <a:t> a notebook </a:t>
            </a:r>
          </a:p>
        </p:txBody>
      </p:sp>
    </p:spTree>
    <p:extLst>
      <p:ext uri="{BB962C8B-B14F-4D97-AF65-F5344CB8AC3E}">
        <p14:creationId xmlns:p14="http://schemas.microsoft.com/office/powerpoint/2010/main" val="2826451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C4ED62F4-FF02-8033-B81D-87560AD48DB2}"/>
              </a:ext>
            </a:extLst>
          </p:cNvPr>
          <p:cNvSpPr txBox="1"/>
          <p:nvPr/>
        </p:nvSpPr>
        <p:spPr>
          <a:xfrm>
            <a:off x="1400783" y="15466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l-PL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AB527FB-1B6F-3C01-DAD6-8334BBD67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A08D8756-732F-0910-3F6E-F6A640AF71FD}"/>
              </a:ext>
            </a:extLst>
          </p:cNvPr>
          <p:cNvSpPr txBox="1"/>
          <p:nvPr/>
        </p:nvSpPr>
        <p:spPr>
          <a:xfrm>
            <a:off x="7112517" y="3403122"/>
            <a:ext cx="37009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Dominik Szcześniak</a:t>
            </a:r>
          </a:p>
          <a:p>
            <a:endParaRPr lang="pl-PL" dirty="0"/>
          </a:p>
          <a:p>
            <a:r>
              <a:rPr lang="pl-PL" dirty="0" err="1"/>
              <a:t>Let’s</a:t>
            </a:r>
            <a:r>
              <a:rPr lang="pl-PL" dirty="0"/>
              <a:t> </a:t>
            </a:r>
            <a:r>
              <a:rPr lang="pl-PL" dirty="0" err="1"/>
              <a:t>stay</a:t>
            </a:r>
            <a:r>
              <a:rPr lang="pl-PL" dirty="0"/>
              <a:t> in </a:t>
            </a:r>
            <a:r>
              <a:rPr lang="pl-PL" dirty="0" err="1"/>
              <a:t>touch</a:t>
            </a:r>
            <a:r>
              <a:rPr lang="pl-PL" dirty="0"/>
              <a:t>! 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Podcast: Dane Są Wszędzie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738A961-CAF7-4190-C21B-11191F3F1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517" y="402896"/>
            <a:ext cx="2166065" cy="2656936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6A4781F-AC4C-CA7C-0256-8BB52C751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506" y="3725173"/>
            <a:ext cx="2086334" cy="2086334"/>
          </a:xfrm>
          <a:prstGeom prst="rect">
            <a:avLst/>
          </a:prstGeom>
        </p:spPr>
      </p:pic>
      <p:pic>
        <p:nvPicPr>
          <p:cNvPr id="8" name="Obraz 7" descr="LinkedIn – aplikacje na Androida w Google Play">
            <a:extLst>
              <a:ext uri="{FF2B5EF4-FFF2-40B4-BE49-F238E27FC236}">
                <a16:creationId xmlns:a16="http://schemas.microsoft.com/office/drawing/2014/main" id="{9A320F22-FF42-6E65-215F-0F3299779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492" y="2624587"/>
            <a:ext cx="1016479" cy="101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4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0162305412]">
  <a:themeElements>
    <a:clrScheme name="SlimModels">
      <a:dk1>
        <a:srgbClr val="1E2329"/>
      </a:dk1>
      <a:lt1>
        <a:srgbClr val="FAF9F6"/>
      </a:lt1>
      <a:dk2>
        <a:srgbClr val="3A4450"/>
      </a:dk2>
      <a:lt2>
        <a:srgbClr val="EEF0EC"/>
      </a:lt2>
      <a:accent1>
        <a:srgbClr val="0B7A6B"/>
      </a:accent1>
      <a:accent2>
        <a:srgbClr val="E3A21A"/>
      </a:accent2>
      <a:accent3>
        <a:srgbClr val="5B6B7A"/>
      </a:accent3>
      <a:accent4>
        <a:srgbClr val="A7B0B8"/>
      </a:accent4>
      <a:accent5>
        <a:srgbClr val="C75B39"/>
      </a:accent5>
      <a:accent6>
        <a:srgbClr val="7A8F3C"/>
      </a:accent6>
      <a:hlink>
        <a:srgbClr val="0B7A6B"/>
      </a:hlink>
      <a:folHlink>
        <a:srgbClr val="5B6B7A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Dane Są Wszędzie">
      <a:dk1>
        <a:srgbClr val="262626"/>
      </a:dk1>
      <a:lt1>
        <a:sysClr val="window" lastClr="FFFFFF"/>
      </a:lt1>
      <a:dk2>
        <a:srgbClr val="0C0C0C"/>
      </a:dk2>
      <a:lt2>
        <a:srgbClr val="E8E8E8"/>
      </a:lt2>
      <a:accent1>
        <a:srgbClr val="E08326"/>
      </a:accent1>
      <a:accent2>
        <a:srgbClr val="EF9F20"/>
      </a:accent2>
      <a:accent3>
        <a:srgbClr val="F5AF1A"/>
      </a:accent3>
      <a:accent4>
        <a:srgbClr val="FDD036"/>
      </a:accent4>
      <a:accent5>
        <a:srgbClr val="FBC317"/>
      </a:accent5>
      <a:accent6>
        <a:srgbClr val="FFE275"/>
      </a:accent6>
      <a:hlink>
        <a:srgbClr val="595959"/>
      </a:hlink>
      <a:folHlink>
        <a:srgbClr val="E08326"/>
      </a:folHlink>
    </a:clrScheme>
    <a:fontScheme name="Barlow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2db130-266e-42ca-8e98-f0387d6e018a}">
  <we:reference id="WA200010725" version="1.0.0.1" store="en-US" storeType="OMEX"/>
  <we:alternateReferences/>
  <we:properties>
    <we:property name="Microsoft.Office.CampaignId" value="&quot;none&quot;"/>
    <we:property name="claude.fileId" value="&quot;ed8e8291-a37a-4911-9136-01661e1d8ea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2103</Words>
  <Application>Microsoft Office PowerPoint</Application>
  <PresentationFormat>Panoramiczny</PresentationFormat>
  <Paragraphs>332</Paragraphs>
  <Slides>36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9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36</vt:i4>
      </vt:variant>
    </vt:vector>
  </HeadingPairs>
  <TitlesOfParts>
    <vt:vector size="48" baseType="lpstr">
      <vt:lpstr>Aptos</vt:lpstr>
      <vt:lpstr>Aptos Display</vt:lpstr>
      <vt:lpstr>Arial</vt:lpstr>
      <vt:lpstr>barlow</vt:lpstr>
      <vt:lpstr>barlow</vt:lpstr>
      <vt:lpstr>Consolas</vt:lpstr>
      <vt:lpstr>Oswald</vt:lpstr>
      <vt:lpstr>Segoe UI</vt:lpstr>
      <vt:lpstr>Segoe UI Semibold</vt:lpstr>
      <vt:lpstr>Office Theme [1790162305412]</vt:lpstr>
      <vt:lpstr>Office Theme</vt:lpstr>
      <vt:lpstr>Office Theme</vt:lpstr>
      <vt:lpstr>Prezentacja programu PowerPoint</vt:lpstr>
      <vt:lpstr>Prezentacja programu PowerPoint</vt:lpstr>
      <vt:lpstr>Intro</vt:lpstr>
      <vt:lpstr>Agenda</vt:lpstr>
      <vt:lpstr>Big Picture</vt:lpstr>
      <vt:lpstr>One model per domain. Please don’t build one model for everything.</vt:lpstr>
      <vt:lpstr>SSAS, AAS or Power BI: same VertiPaq engine, same tricks</vt:lpstr>
      <vt:lpstr>Nobody optimizes models for fun. It’s either a migration or a cost cut.</vt:lpstr>
      <vt:lpstr>The bill came down to one thing: model size</vt:lpstr>
      <vt:lpstr>Demo: where does the memory actually go?</vt:lpstr>
      <vt:lpstr>A 120 GB model</vt:lpstr>
      <vt:lpstr>Where we started: 120 GB, billions of rows, 15 years of history</vt:lpstr>
      <vt:lpstr>First question: do you really need all the data?</vt:lpstr>
      <vt:lpstr>The funny one: business roles only saw IsCurrent = 1</vt:lpstr>
      <vt:lpstr>Legacy hash keys: one distinct value per row, and a huge dictionary</vt:lpstr>
      <vt:lpstr>The same value, stored twice: once as a decimal, once as text</vt:lpstr>
      <vt:lpstr>Why the standard incremental refresh didn’t work for us</vt:lpstr>
      <vt:lpstr>So we built our own: year-month buckets, refreshed only when they change</vt:lpstr>
      <vt:lpstr>Refresh through the REST API, with parallelism Databricks can handle</vt:lpstr>
      <vt:lpstr>IsAvailableInMDX: free memory, as long as Excel doesn’t need the column</vt:lpstr>
      <vt:lpstr>120 GB down to ~64 GB, and next year’s reserved capacity cost half</vt:lpstr>
      <vt:lpstr>A mandated cost cut</vt:lpstr>
      <vt:lpstr>New director, new rule: cut the costs by a fixed date</vt:lpstr>
      <vt:lpstr>Two questions for every model: what’s in it, and who uses it?</vt:lpstr>
      <vt:lpstr>Leverage metadata to get the model size</vt:lpstr>
      <vt:lpstr>Leverage metadata</vt:lpstr>
      <vt:lpstr>Before deleting anything, we priced each cut from partition sizes</vt:lpstr>
      <vt:lpstr>Log Analytics: the answer to “but we use it every day”</vt:lpstr>
      <vt:lpstr>DEMO</vt:lpstr>
      <vt:lpstr>Big models nobody used went first</vt:lpstr>
      <vt:lpstr>Then the brutal part: partitions nobody touched in 3–6 months were dropped</vt:lpstr>
      <vt:lpstr>How much did we save?   </vt:lpstr>
      <vt:lpstr>How much did we save?   </vt:lpstr>
      <vt:lpstr>What to try on Monday</vt:lpstr>
      <vt:lpstr>Inspirations: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Dominik Szcześniak</cp:lastModifiedBy>
  <cp:revision>5</cp:revision>
  <dcterms:created xsi:type="dcterms:W3CDTF">2018-06-07T21:39:02Z</dcterms:created>
  <dcterms:modified xsi:type="dcterms:W3CDTF">2026-10-02T09:17:38Z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