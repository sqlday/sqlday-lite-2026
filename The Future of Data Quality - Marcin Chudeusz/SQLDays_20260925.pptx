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3" r:id="rId4"/>
    <p:sldMasterId id="2147483810" r:id="rId5"/>
  </p:sldMasterIdLst>
  <p:notesMasterIdLst>
    <p:notesMasterId r:id="rId44"/>
  </p:notesMasterIdLst>
  <p:handoutMasterIdLst>
    <p:handoutMasterId r:id="rId45"/>
  </p:handoutMasterIdLst>
  <p:sldIdLst>
    <p:sldId id="400" r:id="rId6"/>
    <p:sldId id="401" r:id="rId7"/>
    <p:sldId id="405" r:id="rId8"/>
    <p:sldId id="402" r:id="rId9"/>
    <p:sldId id="403" r:id="rId10"/>
    <p:sldId id="404" r:id="rId11"/>
    <p:sldId id="406" r:id="rId12"/>
    <p:sldId id="407" r:id="rId13"/>
    <p:sldId id="408" r:id="rId14"/>
    <p:sldId id="409" r:id="rId15"/>
    <p:sldId id="410" r:id="rId16"/>
    <p:sldId id="411" r:id="rId17"/>
    <p:sldId id="412" r:id="rId18"/>
    <p:sldId id="414" r:id="rId19"/>
    <p:sldId id="415" r:id="rId20"/>
    <p:sldId id="416" r:id="rId21"/>
    <p:sldId id="417" r:id="rId22"/>
    <p:sldId id="418" r:id="rId23"/>
    <p:sldId id="419" r:id="rId24"/>
    <p:sldId id="420" r:id="rId25"/>
    <p:sldId id="422" r:id="rId26"/>
    <p:sldId id="423" r:id="rId27"/>
    <p:sldId id="424" r:id="rId28"/>
    <p:sldId id="425" r:id="rId29"/>
    <p:sldId id="426" r:id="rId30"/>
    <p:sldId id="428" r:id="rId31"/>
    <p:sldId id="430" r:id="rId32"/>
    <p:sldId id="432" r:id="rId33"/>
    <p:sldId id="434" r:id="rId34"/>
    <p:sldId id="436" r:id="rId35"/>
    <p:sldId id="437" r:id="rId36"/>
    <p:sldId id="438" r:id="rId37"/>
    <p:sldId id="442" r:id="rId38"/>
    <p:sldId id="443" r:id="rId39"/>
    <p:sldId id="445" r:id="rId40"/>
    <p:sldId id="446" r:id="rId41"/>
    <p:sldId id="447" r:id="rId42"/>
    <p:sldId id="448" r:id="rId43"/>
  </p:sldIdLst>
  <p:sldSz cx="12192000" cy="6858000"/>
  <p:notesSz cx="6858000" cy="9945688"/>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BC2714-B746-1FD4-A4EA-F644171057F1}" name="Marcin Chudeusz" initials="MC" userId="S::marcin.chudeusz@digna.ai::a4ce1de9-b40f-4a78-ba84-986a24ecce3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575757"/>
    <a:srgbClr val="FFFFFF"/>
    <a:srgbClr val="F2F2F2"/>
    <a:srgbClr val="679515"/>
    <a:srgbClr val="333333"/>
    <a:srgbClr val="000000"/>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669"/>
  </p:normalViewPr>
  <p:slideViewPr>
    <p:cSldViewPr snapToGrid="0">
      <p:cViewPr varScale="1">
        <p:scale>
          <a:sx n="114" d="100"/>
          <a:sy n="114" d="100"/>
        </p:scale>
        <p:origin x="400" y="168"/>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in Chudeusz" userId="a4ce1de9-b40f-4a78-ba84-986a24ecce39" providerId="ADAL" clId="{859676AA-6870-485A-9CA6-6847025D8917}"/>
    <pc:docChg chg="custSel modSld sldOrd">
      <pc:chgData name="Marcin Chudeusz" userId="a4ce1de9-b40f-4a78-ba84-986a24ecce39" providerId="ADAL" clId="{859676AA-6870-485A-9CA6-6847025D8917}" dt="2025-10-16T09:31:26.516" v="5"/>
      <pc:docMkLst>
        <pc:docMk/>
      </pc:docMkLst>
      <pc:sldChg chg="delSp mod">
        <pc:chgData name="Marcin Chudeusz" userId="a4ce1de9-b40f-4a78-ba84-986a24ecce39" providerId="ADAL" clId="{859676AA-6870-485A-9CA6-6847025D8917}" dt="2025-10-16T06:36:36.845" v="1" actId="478"/>
        <pc:sldMkLst>
          <pc:docMk/>
          <pc:sldMk cId="2817468368" sldId="1442"/>
        </pc:sldMkLst>
        <pc:spChg chg="del">
          <ac:chgData name="Marcin Chudeusz" userId="a4ce1de9-b40f-4a78-ba84-986a24ecce39" providerId="ADAL" clId="{859676AA-6870-485A-9CA6-6847025D8917}" dt="2025-10-16T06:36:35.648" v="0" actId="478"/>
          <ac:spMkLst>
            <pc:docMk/>
            <pc:sldMk cId="2817468368" sldId="1442"/>
            <ac:spMk id="12" creationId="{E416EF7A-2EEC-E104-7F1A-E7F7AA9C0D7B}"/>
          </ac:spMkLst>
        </pc:spChg>
        <pc:picChg chg="del">
          <ac:chgData name="Marcin Chudeusz" userId="a4ce1de9-b40f-4a78-ba84-986a24ecce39" providerId="ADAL" clId="{859676AA-6870-485A-9CA6-6847025D8917}" dt="2025-10-16T06:36:36.845" v="1" actId="478"/>
          <ac:picMkLst>
            <pc:docMk/>
            <pc:sldMk cId="2817468368" sldId="1442"/>
            <ac:picMk id="15" creationId="{0FFDB303-03D3-3972-2DBA-A0C83EE93D66}"/>
          </ac:picMkLst>
        </pc:picChg>
      </pc:sldChg>
      <pc:sldChg chg="ord">
        <pc:chgData name="Marcin Chudeusz" userId="a4ce1de9-b40f-4a78-ba84-986a24ecce39" providerId="ADAL" clId="{859676AA-6870-485A-9CA6-6847025D8917}" dt="2025-10-16T09:31:21.008" v="3"/>
        <pc:sldMkLst>
          <pc:docMk/>
          <pc:sldMk cId="2759513987" sldId="1507"/>
        </pc:sldMkLst>
      </pc:sldChg>
      <pc:sldChg chg="ord">
        <pc:chgData name="Marcin Chudeusz" userId="a4ce1de9-b40f-4a78-ba84-986a24ecce39" providerId="ADAL" clId="{859676AA-6870-485A-9CA6-6847025D8917}" dt="2025-10-16T09:31:26.516" v="5"/>
        <pc:sldMkLst>
          <pc:docMk/>
          <pc:sldMk cId="1578607941" sldId="150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2"/>
            <a:ext cx="2972004" cy="498288"/>
          </a:xfrm>
          <a:prstGeom prst="rect">
            <a:avLst/>
          </a:prstGeom>
        </p:spPr>
        <p:txBody>
          <a:bodyPr vert="horz" lIns="88258" tIns="44129" rIns="88258" bIns="44129" rtlCol="0"/>
          <a:lstStyle>
            <a:lvl1pPr algn="l">
              <a:defRPr sz="1200"/>
            </a:lvl1pPr>
          </a:lstStyle>
          <a:p>
            <a:endParaRPr lang="de-DE"/>
          </a:p>
        </p:txBody>
      </p:sp>
      <p:sp>
        <p:nvSpPr>
          <p:cNvPr id="3" name="Datumsplatzhalter 2"/>
          <p:cNvSpPr>
            <a:spLocks noGrp="1"/>
          </p:cNvSpPr>
          <p:nvPr>
            <p:ph type="dt" sz="quarter" idx="1"/>
          </p:nvPr>
        </p:nvSpPr>
        <p:spPr>
          <a:xfrm>
            <a:off x="3884464" y="2"/>
            <a:ext cx="2972004" cy="498288"/>
          </a:xfrm>
          <a:prstGeom prst="rect">
            <a:avLst/>
          </a:prstGeom>
        </p:spPr>
        <p:txBody>
          <a:bodyPr vert="horz" lIns="88258" tIns="44129" rIns="88258" bIns="44129" rtlCol="0"/>
          <a:lstStyle>
            <a:lvl1pPr algn="r">
              <a:defRPr sz="1200"/>
            </a:lvl1pPr>
          </a:lstStyle>
          <a:p>
            <a:fld id="{E3348F02-40BB-3442-A488-E23A5810D0E2}" type="datetimeFigureOut">
              <a:rPr lang="de-DE" smtClean="0"/>
              <a:t>26.09.26</a:t>
            </a:fld>
            <a:endParaRPr lang="de-DE"/>
          </a:p>
        </p:txBody>
      </p:sp>
      <p:sp>
        <p:nvSpPr>
          <p:cNvPr id="4" name="Fußzeilenplatzhalter 3"/>
          <p:cNvSpPr>
            <a:spLocks noGrp="1"/>
          </p:cNvSpPr>
          <p:nvPr>
            <p:ph type="ftr" sz="quarter" idx="2"/>
          </p:nvPr>
        </p:nvSpPr>
        <p:spPr>
          <a:xfrm>
            <a:off x="2" y="9447402"/>
            <a:ext cx="2972004" cy="498288"/>
          </a:xfrm>
          <a:prstGeom prst="rect">
            <a:avLst/>
          </a:prstGeom>
        </p:spPr>
        <p:txBody>
          <a:bodyPr vert="horz" lIns="88258" tIns="44129" rIns="88258" bIns="44129" rtlCol="0" anchor="b"/>
          <a:lstStyle>
            <a:lvl1pPr algn="l">
              <a:defRPr sz="1200"/>
            </a:lvl1pPr>
          </a:lstStyle>
          <a:p>
            <a:endParaRPr lang="de-DE"/>
          </a:p>
        </p:txBody>
      </p:sp>
      <p:sp>
        <p:nvSpPr>
          <p:cNvPr id="5" name="Foliennummernplatzhalter 4"/>
          <p:cNvSpPr>
            <a:spLocks noGrp="1"/>
          </p:cNvSpPr>
          <p:nvPr>
            <p:ph type="sldNum" sz="quarter" idx="3"/>
          </p:nvPr>
        </p:nvSpPr>
        <p:spPr>
          <a:xfrm>
            <a:off x="3884464" y="9447402"/>
            <a:ext cx="2972004" cy="498288"/>
          </a:xfrm>
          <a:prstGeom prst="rect">
            <a:avLst/>
          </a:prstGeom>
        </p:spPr>
        <p:txBody>
          <a:bodyPr vert="horz" lIns="88258" tIns="44129" rIns="88258" bIns="44129" rtlCol="0" anchor="b"/>
          <a:lstStyle>
            <a:lvl1pPr algn="r">
              <a:defRPr sz="1200"/>
            </a:lvl1pPr>
          </a:lstStyle>
          <a:p>
            <a:fld id="{8632DC93-ABFC-E447-BE5F-5C51BCDF828D}" type="slidenum">
              <a:rPr lang="de-DE" smtClean="0"/>
              <a:t>‹#›</a:t>
            </a:fld>
            <a:endParaRPr lang="de-DE"/>
          </a:p>
        </p:txBody>
      </p:sp>
    </p:spTree>
    <p:extLst>
      <p:ext uri="{BB962C8B-B14F-4D97-AF65-F5344CB8AC3E}">
        <p14:creationId xmlns:p14="http://schemas.microsoft.com/office/powerpoint/2010/main" val="578893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2"/>
            <a:ext cx="2972004" cy="498288"/>
          </a:xfrm>
          <a:prstGeom prst="rect">
            <a:avLst/>
          </a:prstGeom>
        </p:spPr>
        <p:txBody>
          <a:bodyPr vert="horz" lIns="88258" tIns="44129" rIns="88258" bIns="44129" rtlCol="0"/>
          <a:lstStyle>
            <a:lvl1pPr algn="l">
              <a:defRPr sz="1200"/>
            </a:lvl1pPr>
          </a:lstStyle>
          <a:p>
            <a:endParaRPr lang="de-DE"/>
          </a:p>
        </p:txBody>
      </p:sp>
      <p:sp>
        <p:nvSpPr>
          <p:cNvPr id="3" name="Datumsplatzhalter 2"/>
          <p:cNvSpPr>
            <a:spLocks noGrp="1"/>
          </p:cNvSpPr>
          <p:nvPr>
            <p:ph type="dt" idx="1"/>
          </p:nvPr>
        </p:nvSpPr>
        <p:spPr>
          <a:xfrm>
            <a:off x="3884464" y="2"/>
            <a:ext cx="2972004" cy="498288"/>
          </a:xfrm>
          <a:prstGeom prst="rect">
            <a:avLst/>
          </a:prstGeom>
        </p:spPr>
        <p:txBody>
          <a:bodyPr vert="horz" lIns="88258" tIns="44129" rIns="88258" bIns="44129" rtlCol="0"/>
          <a:lstStyle>
            <a:lvl1pPr algn="r">
              <a:defRPr sz="1200"/>
            </a:lvl1pPr>
          </a:lstStyle>
          <a:p>
            <a:fld id="{A2F0ECD4-3C93-BD49-838D-208369A915F2}" type="datetimeFigureOut">
              <a:rPr lang="de-DE" smtClean="0"/>
              <a:t>26.09.26</a:t>
            </a:fld>
            <a:endParaRPr lang="de-DE"/>
          </a:p>
        </p:txBody>
      </p:sp>
      <p:sp>
        <p:nvSpPr>
          <p:cNvPr id="4" name="Folienbildplatzhalter 3"/>
          <p:cNvSpPr>
            <a:spLocks noGrp="1" noRot="1" noChangeAspect="1"/>
          </p:cNvSpPr>
          <p:nvPr>
            <p:ph type="sldImg" idx="2"/>
          </p:nvPr>
        </p:nvSpPr>
        <p:spPr>
          <a:xfrm>
            <a:off x="447675" y="1244600"/>
            <a:ext cx="5962650" cy="3354388"/>
          </a:xfrm>
          <a:prstGeom prst="rect">
            <a:avLst/>
          </a:prstGeom>
          <a:noFill/>
          <a:ln w="12700">
            <a:solidFill>
              <a:prstClr val="black"/>
            </a:solidFill>
          </a:ln>
        </p:spPr>
        <p:txBody>
          <a:bodyPr vert="horz" lIns="88258" tIns="44129" rIns="88258" bIns="44129" rtlCol="0" anchor="ctr"/>
          <a:lstStyle/>
          <a:p>
            <a:endParaRPr lang="de-DE"/>
          </a:p>
        </p:txBody>
      </p:sp>
      <p:sp>
        <p:nvSpPr>
          <p:cNvPr id="5" name="Notizenplatzhalter 4"/>
          <p:cNvSpPr>
            <a:spLocks noGrp="1"/>
          </p:cNvSpPr>
          <p:nvPr>
            <p:ph type="body" sz="quarter" idx="3"/>
          </p:nvPr>
        </p:nvSpPr>
        <p:spPr>
          <a:xfrm>
            <a:off x="685496" y="4786952"/>
            <a:ext cx="5487013" cy="3915333"/>
          </a:xfrm>
          <a:prstGeom prst="rect">
            <a:avLst/>
          </a:prstGeom>
        </p:spPr>
        <p:txBody>
          <a:bodyPr vert="horz" lIns="88258" tIns="44129" rIns="88258" bIns="44129"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2" y="9447402"/>
            <a:ext cx="2972004" cy="498288"/>
          </a:xfrm>
          <a:prstGeom prst="rect">
            <a:avLst/>
          </a:prstGeom>
        </p:spPr>
        <p:txBody>
          <a:bodyPr vert="horz" lIns="88258" tIns="44129" rIns="88258" bIns="44129" rtlCol="0" anchor="b"/>
          <a:lstStyle>
            <a:lvl1pPr algn="l">
              <a:defRPr sz="1200"/>
            </a:lvl1pPr>
          </a:lstStyle>
          <a:p>
            <a:endParaRPr lang="de-DE"/>
          </a:p>
        </p:txBody>
      </p:sp>
      <p:sp>
        <p:nvSpPr>
          <p:cNvPr id="7" name="Foliennummernplatzhalter 6"/>
          <p:cNvSpPr>
            <a:spLocks noGrp="1"/>
          </p:cNvSpPr>
          <p:nvPr>
            <p:ph type="sldNum" sz="quarter" idx="5"/>
          </p:nvPr>
        </p:nvSpPr>
        <p:spPr>
          <a:xfrm>
            <a:off x="3884464" y="9447402"/>
            <a:ext cx="2972004" cy="498288"/>
          </a:xfrm>
          <a:prstGeom prst="rect">
            <a:avLst/>
          </a:prstGeom>
        </p:spPr>
        <p:txBody>
          <a:bodyPr vert="horz" lIns="88258" tIns="44129" rIns="88258" bIns="44129" rtlCol="0" anchor="b"/>
          <a:lstStyle>
            <a:lvl1pPr algn="r">
              <a:defRPr sz="1200"/>
            </a:lvl1pPr>
          </a:lstStyle>
          <a:p>
            <a:fld id="{9CE0123A-EFA7-1647-88EC-88C3160AF134}" type="slidenum">
              <a:rPr lang="de-DE" smtClean="0"/>
              <a:t>‹#›</a:t>
            </a:fld>
            <a:endParaRPr lang="de-DE"/>
          </a:p>
        </p:txBody>
      </p:sp>
    </p:spTree>
    <p:extLst>
      <p:ext uri="{BB962C8B-B14F-4D97-AF65-F5344CB8AC3E}">
        <p14:creationId xmlns:p14="http://schemas.microsoft.com/office/powerpoint/2010/main" val="2074735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TITLE — 0:00-0:30</a:t>
            </a:r>
          </a:p>
          <a:p>
            <a:endParaRPr dirty="0"/>
          </a:p>
          <a:p>
            <a:r>
              <a:rPr dirty="0"/>
              <a:t>Open with the question in the title rather than with yourself: 'Everyone here has been called because a number in a report was wrong. What I want to answer today is how much of that job a machine can now do without us.'</a:t>
            </a:r>
          </a:p>
          <a:p>
            <a:endParaRPr dirty="0"/>
          </a:p>
          <a:p>
            <a:r>
              <a:rPr dirty="0"/>
              <a:t>45 minutes: 5 introduction, 5 terminology, 5 for the DAMA Wheel, 25 for the nine dimensions, 5 to close.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SPONSOR SLIDE — mandatory</a:t>
            </a:r>
          </a:p>
          <a:p>
            <a:endParaRPr dirty="0"/>
          </a:p>
          <a:p>
            <a:r>
              <a:rPr dirty="0"/>
              <a:t>Data Community Poland require the sponsorship slide; their template itself is optional. This is their artwork as supplied.</a:t>
            </a:r>
          </a:p>
          <a:p>
            <a:endParaRPr dirty="0"/>
          </a:p>
          <a:p>
            <a:r>
              <a:rPr dirty="0"/>
              <a:t>Fifteen seconds: thank the sponsors and move on. Not part of the 45-minute budget.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AGENDA — 4:00-5:00</a:t>
            </a:r>
          </a:p>
          <a:p>
            <a:endParaRPr dirty="0"/>
          </a:p>
          <a:p>
            <a:r>
              <a:rPr dirty="0"/>
              <a:t>Say the timings out loud. Flag that the whole dimension block runs on one worked example — an airline — so nobody has to re-orient nine times.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ME — 0:30-1:45</a:t>
            </a:r>
          </a:p>
          <a:p>
            <a:endParaRPr dirty="0"/>
          </a:p>
          <a:p>
            <a:r>
              <a:rPr dirty="0"/>
              <a:t>Short and plain. Twenty years in Austria, degree from Warsaw, warehouses the whole way through.</a:t>
            </a:r>
          </a:p>
          <a:p>
            <a:endParaRPr dirty="0"/>
          </a:p>
          <a:p>
            <a:r>
              <a:rPr dirty="0"/>
              <a:t>The box at the bottom is the bridge into the talk.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DIGNA — 1:45-3:00</a:t>
            </a:r>
          </a:p>
          <a:p>
            <a:endParaRPr dirty="0"/>
          </a:p>
          <a:p>
            <a:r>
              <a:rPr dirty="0"/>
              <a:t>Three sentences, not a sales pitch. For a technical room the two things that matter are in-database execution and the absence of manual thresholds.</a:t>
            </a:r>
          </a:p>
          <a:p>
            <a:endParaRPr dirty="0"/>
          </a:p>
          <a:p>
            <a:r>
              <a:rPr dirty="0"/>
              <a:t>The bar at the bottom is the only sales sentence in the deck.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MODULES — 3:00-4:00</a:t>
            </a:r>
          </a:p>
          <a:p>
            <a:endParaRPr dirty="0"/>
          </a:p>
          <a:p>
            <a:r>
              <a:rPr dirty="0"/>
              <a:t>One idea, one module, the platform grew around it. 'Modular' is the word to stress.</a:t>
            </a:r>
          </a:p>
          <a:p>
            <a:endParaRPr dirty="0"/>
          </a:p>
          <a:p>
            <a:r>
              <a:rPr dirty="0"/>
              <a:t>This is the last slide where </a:t>
            </a:r>
            <a:r>
              <a:rPr dirty="0" err="1"/>
              <a:t>digna</a:t>
            </a:r>
            <a:r>
              <a:rPr dirty="0"/>
              <a:t> is the subject. From here it is the airline.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DATA QUALITY — 5:00-6:15</a:t>
            </a:r>
          </a:p>
          <a:p>
            <a:endParaRPr dirty="0"/>
          </a:p>
          <a:p>
            <a:r>
              <a:rPr dirty="0"/>
              <a:t>The sentence to make stick is in the blue box.</a:t>
            </a:r>
          </a:p>
          <a:p>
            <a:endParaRPr dirty="0"/>
          </a:p>
          <a:p>
            <a:r>
              <a:rPr dirty="0"/>
              <a:t>The third column is the thesis of the whole talk. Rules have a hard ceiling — they find only what was anticipated.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DATA OBSERVABILITY — 6:15-7:30</a:t>
            </a:r>
          </a:p>
          <a:p>
            <a:endParaRPr dirty="0"/>
          </a:p>
          <a:p>
            <a:r>
              <a:rPr dirty="0"/>
              <a:t>The five pillars are the standard framing.</a:t>
            </a:r>
          </a:p>
          <a:p>
            <a:endParaRPr dirty="0"/>
          </a:p>
          <a:p>
            <a:r>
              <a:rPr dirty="0"/>
              <a:t>The key property: metadata-driven, no business input, therefore it scales to every table. Strength and limit at once — it says something changed, never that something is wrong.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COMPARISON — 7:30-8:45</a:t>
            </a:r>
          </a:p>
          <a:p>
            <a:endParaRPr dirty="0"/>
          </a:p>
          <a:p>
            <a:r>
              <a:rPr dirty="0"/>
              <a:t>The slide people photograph. Pause on it.</a:t>
            </a:r>
          </a:p>
          <a:p>
            <a:endParaRPr dirty="0"/>
          </a:p>
          <a:p>
            <a:r>
              <a:rPr dirty="0"/>
              <a:t>Walk the last two rows slowly. The example that defeats both, and we will meet it again: a block time of 92 minutes on a route that takes 148. Row counts normal, freshness normal, schema normal, value inside any global range — and wrong.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AUTONOMOUS DATA QUALITY — 8:45-10:00</a:t>
            </a:r>
          </a:p>
          <a:p>
            <a:endParaRPr dirty="0"/>
          </a:p>
          <a:p>
            <a:r>
              <a:rPr dirty="0"/>
              <a:t>Read the blue sentence word for word.</a:t>
            </a:r>
          </a:p>
          <a:p>
            <a:endParaRPr dirty="0"/>
          </a:p>
          <a:p>
            <a:r>
              <a:rPr dirty="0"/>
              <a:t>The four verbs separate this from tooling people already have. Almost every product stops after Detect.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CASE — 11:30-13:00</a:t>
            </a:r>
          </a:p>
          <a:p>
            <a:endParaRPr dirty="0"/>
          </a:p>
          <a:p>
            <a:r>
              <a:rPr dirty="0"/>
              <a:t>Introduce the airline properly, because the whole dimension block runs on it. </a:t>
            </a:r>
            <a:r>
              <a:rPr dirty="0" err="1"/>
              <a:t>Alpenwing</a:t>
            </a:r>
            <a:r>
              <a:rPr dirty="0"/>
              <a:t> is fictional but the shape is real: a mid-size European carrier with a mainframe-era policy system, an acquisition or two, and eleven partners who each have their own conventions.</a:t>
            </a:r>
          </a:p>
          <a:p>
            <a:endParaRPr dirty="0"/>
          </a:p>
          <a:p>
            <a:r>
              <a:rPr dirty="0"/>
              <a:t>The point of the seven boxes: no single system is wrong. They disagree because they were built for different jobs at different times, and the warehouse is where that disagreement becomes visible.</a:t>
            </a:r>
          </a:p>
          <a:p>
            <a:endParaRPr dirty="0"/>
          </a:p>
          <a:p>
            <a:r>
              <a:rPr dirty="0"/>
              <a:t>Say explicitly that we will follow one flight leg through all nine dimensions, and come back to it at the end.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section_bg.png</a:t>
            </a:r>
            <a:endParaRPr dirty="0"/>
          </a:p>
          <a:p>
            <a:r>
              <a:rPr dirty="0" err="1"/>
              <a:t>logo_white.png</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Start here, not with agents.</a:t>
            </a:r>
          </a:p>
          <a:p>
            <a:r>
              <a:rPr dirty="0"/>
              <a:t>The warehouse as single source of truth is giving way to data products with their own owners and release cycles. That is already happening in most rooms like this one.</a:t>
            </a:r>
          </a:p>
          <a:p>
            <a:r>
              <a:rPr dirty="0"/>
              <a:t>The consequence is the point: nobody owns the whole chain any more.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Say the big line slowly. It is the hinge of the whole talk.</a:t>
            </a:r>
          </a:p>
          <a:p>
            <a:r>
              <a:rPr dirty="0"/>
              <a:t>Everything we have built until now was an instruction for how. An agent takes what, and a boundary.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slide engineers in the room will argue with, so be concrete.</a:t>
            </a:r>
          </a:p>
          <a:p>
            <a:r>
              <a:rPr dirty="0"/>
              <a:t>The left column is a fortnight of work and a maintenance burden forever. The right column is a sentence and a permission boundary.</a:t>
            </a:r>
          </a:p>
          <a:p>
            <a:r>
              <a:rPr dirty="0"/>
              <a:t>Do not oversell it: the agent still needs the catalog to find the procedure.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section_bg.png</a:t>
            </a:r>
            <a:endParaRPr dirty="0"/>
          </a:p>
          <a:p>
            <a:r>
              <a:rPr dirty="0" err="1"/>
              <a:t>logo_white.png</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shift is from queue to trigger.</a:t>
            </a:r>
          </a:p>
          <a:p>
            <a:r>
              <a:rPr dirty="0"/>
              <a:t>Today an alert waits for a person. Tomorrow it arrives at something that can already do the first four steps of the investigation.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it left to right, once, slowly.</a:t>
            </a:r>
          </a:p>
          <a:p>
            <a:r>
              <a:rPr dirty="0"/>
              <a:t>A violation or an alert becomes a trigger carrying its evidence. Then: has this happened before?</a:t>
            </a:r>
          </a:p>
          <a:p>
            <a:r>
              <a:rPr dirty="0"/>
              <a:t>Both answers go to the same place. With precedent the gate is cheap to clear. Without it, the evidence has to carry the case on its own — an authoritative dated source, a reversible action, a small blast radius.</a:t>
            </a:r>
          </a:p>
          <a:p>
            <a:r>
              <a:rPr dirty="0"/>
              <a:t>And precedent does not guarantee anything. A pattern approved for one mart does not clear the gate for a regulatory report.</a:t>
            </a:r>
          </a:p>
          <a:p>
            <a:r>
              <a:rPr dirty="0"/>
              <a:t>The dashed line is what compounds: approved once, and next time precedent carries it.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risk-assessment slide. Two things to land.</a:t>
            </a:r>
          </a:p>
          <a:p>
            <a:r>
              <a:rPr dirty="0"/>
              <a:t>First the order: the agent asks your own knowledge base before it asks the outside world. The catalog knows what the column is meant to hold and the pattern library knows what was already decided — going outside first is how you get a confident answer to the wrong question.</a:t>
            </a:r>
          </a:p>
          <a:p>
            <a:r>
              <a:rPr dirty="0"/>
              <a:t>Then the fourth tier, which is the one to dwell on. The open internet is orientation only.</a:t>
            </a:r>
          </a:p>
          <a:p>
            <a:r>
              <a:rPr dirty="0"/>
              <a:t>The model's own memory is the weakest source and the one nobody lists, because an uncited answer looks exactly like a researched one.</a:t>
            </a:r>
          </a:p>
          <a:p>
            <a:r>
              <a:rPr dirty="0"/>
              <a:t>Land it: an agent that cannot name its source does not get to act.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Expect pushback here, and welcome it.</a:t>
            </a:r>
          </a:p>
          <a:p>
            <a:r>
              <a:rPr dirty="0"/>
              <a:t>Model confidence is not calibrated and this room knows it. That is why none of the four gates is confidence.</a:t>
            </a:r>
          </a:p>
          <a:p>
            <a:r>
              <a:rPr dirty="0"/>
              <a:t>Precedent is the strongest: a pattern a Steward already approved.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Freedom is configurable, per domain and per data product.</a:t>
            </a:r>
          </a:p>
          <a:p>
            <a:r>
              <a:rPr dirty="0"/>
              <a:t>A regulated bank and a marketing mart do not get the same dial, and neither does safety data inside the same airline.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agent will be wrong sometimes. Say that out loud before anyone asks.</a:t>
            </a:r>
          </a:p>
          <a:p>
            <a:r>
              <a:rPr dirty="0"/>
              <a:t>Evidence, undo, and monitoring of the patterns themselves.</a:t>
            </a:r>
          </a:p>
          <a:p>
            <a:r>
              <a:rPr dirty="0"/>
              <a:t>The third card is the subtle one: an approved pattern can start misfiring because the world moved, not because the pattern changed.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a:t>
            </a:r>
            <a:r>
              <a:rPr dirty="0" err="1"/>
              <a:t>digna</a:t>
            </a:r>
            <a:r>
              <a:rPr dirty="0"/>
              <a:t> argument, and it is an honest one.</a:t>
            </a:r>
          </a:p>
          <a:p>
            <a:r>
              <a:rPr dirty="0"/>
              <a:t>A general-purpose agent with database credentials has no catalog, no lineage and no pattern library. It guesses, it cannot scope a re-run, and nothing it does compounds.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section_bg.png</a:t>
            </a:r>
            <a:endParaRPr dirty="0"/>
          </a:p>
          <a:p>
            <a:r>
              <a:rPr dirty="0" err="1"/>
              <a:t>logo_white.png</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SCENARIO 01 — THE TRIGGER</a:t>
            </a:r>
          </a:p>
          <a:p>
            <a:endParaRPr dirty="0"/>
          </a:p>
          <a:p>
            <a:r>
              <a:rPr dirty="0"/>
              <a:t>A partner feed switches from IATA to ICAO codes overnight</a:t>
            </a:r>
          </a:p>
          <a:p>
            <a:endParaRPr dirty="0"/>
          </a:p>
          <a:p>
            <a:r>
              <a:rPr dirty="0"/>
              <a:t>Left: what fired. Right: what the agent may read, and how far each source is trusted.</a:t>
            </a:r>
          </a:p>
          <a:p>
            <a:endParaRPr dirty="0"/>
          </a:p>
          <a:p>
            <a:r>
              <a:rPr dirty="0"/>
              <a:t>Maturity: Close to today. Register lookup plus an approved pattern is the easiest case there is.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SCENARIO 02 — THE TRIGGER</a:t>
            </a:r>
          </a:p>
          <a:p>
            <a:endParaRPr dirty="0"/>
          </a:p>
          <a:p>
            <a:r>
              <a:rPr dirty="0"/>
              <a:t>WG 402 boards 36 passengers onto a 180-seat aircraft</a:t>
            </a:r>
          </a:p>
          <a:p>
            <a:endParaRPr dirty="0"/>
          </a:p>
          <a:p>
            <a:r>
              <a:rPr dirty="0"/>
              <a:t>Left: what fired. Right: what the agent may read, and how far each source is trusted.</a:t>
            </a:r>
          </a:p>
          <a:p>
            <a:endParaRPr dirty="0"/>
          </a:p>
          <a:p>
            <a:r>
              <a:rPr dirty="0"/>
              <a:t>Maturity: Close to today. The reload is a known procedure; the agent chooses when to call it.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SCENARIO 03 — THE TRIGGER</a:t>
            </a:r>
          </a:p>
          <a:p>
            <a:endParaRPr dirty="0"/>
          </a:p>
          <a:p>
            <a:r>
              <a:rPr dirty="0"/>
              <a:t>Departure Control counts 168 passengers on WG 402, the Airport Operational Database counts 171</a:t>
            </a:r>
          </a:p>
          <a:p>
            <a:endParaRPr dirty="0"/>
          </a:p>
          <a:p>
            <a:r>
              <a:rPr dirty="0"/>
              <a:t>Left: what fired. Right: what the agent may read, and how far each source is trusted.</a:t>
            </a:r>
          </a:p>
          <a:p>
            <a:endParaRPr dirty="0"/>
          </a:p>
          <a:p>
            <a:r>
              <a:rPr dirty="0"/>
              <a:t>Maturity: Where this goes. The agent does the analysis; the definition stays a human decision.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SCENARIO 04 — THE TRIGGER</a:t>
            </a:r>
          </a:p>
          <a:p>
            <a:endParaRPr dirty="0"/>
          </a:p>
          <a:p>
            <a:r>
              <a:rPr dirty="0"/>
              <a:t>The Airport Operational Database feed lands at 05:40 and the operations report runs at 06:00</a:t>
            </a:r>
          </a:p>
          <a:p>
            <a:endParaRPr dirty="0"/>
          </a:p>
          <a:p>
            <a:r>
              <a:rPr dirty="0"/>
              <a:t>Left: what fired. Right: what the agent may read, and how far each source is trusted.</a:t>
            </a:r>
          </a:p>
          <a:p>
            <a:endParaRPr dirty="0"/>
          </a:p>
          <a:p>
            <a:r>
              <a:rPr dirty="0"/>
              <a:t>Maturity: Close to today for the deferral; the lineage-scoped re-run is where it is heading.</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SCENARIO 05 — THE TRIGGER</a:t>
            </a:r>
          </a:p>
          <a:p>
            <a:endParaRPr dirty="0"/>
          </a:p>
          <a:p>
            <a:r>
              <a:rPr dirty="0" err="1"/>
              <a:t>dest_city</a:t>
            </a:r>
            <a:r>
              <a:rPr dirty="0"/>
              <a:t> arrives as free text — </a:t>
            </a:r>
            <a:r>
              <a:rPr dirty="0" err="1"/>
              <a:t>Wiedeń</a:t>
            </a:r>
            <a:r>
              <a:rPr dirty="0"/>
              <a:t>, Viena and Wien, all meaning Vienna</a:t>
            </a:r>
          </a:p>
          <a:p>
            <a:endParaRPr dirty="0"/>
          </a:p>
          <a:p>
            <a:r>
              <a:rPr dirty="0"/>
              <a:t>Left: what fired. Right: what the agent may read, and how far each source is trusted.</a:t>
            </a:r>
          </a:p>
          <a:p>
            <a:endParaRPr dirty="0"/>
          </a:p>
          <a:p>
            <a:r>
              <a:rPr dirty="0"/>
              <a:t>Maturity: Where this goes. Both-directions resolution against a declared domain is the ambition.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section_bg.png</a:t>
            </a:r>
            <a:endParaRPr dirty="0"/>
          </a:p>
          <a:p>
            <a:r>
              <a:rPr dirty="0" err="1"/>
              <a:t>logo_white.png</a:t>
            </a: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 this one land before you say anything. The room </a:t>
            </a:r>
            <a:r>
              <a:rPr dirty="0" err="1"/>
              <a:t>recognises</a:t>
            </a:r>
            <a:r>
              <a:rPr dirty="0"/>
              <a:t> the left side.</a:t>
            </a:r>
          </a:p>
          <a:p>
            <a:r>
              <a:rPr dirty="0"/>
              <a:t>Then the point: the volume falls by an order of magnitude, and what is left is the part that actually needed a person.</a:t>
            </a:r>
          </a:p>
          <a:p>
            <a:r>
              <a:rPr dirty="0"/>
              <a:t>Forty-one alerts, three real problems. Everybody in this room has had that Monday.</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 careful with tone here. There are Data Stewards in the room.</a:t>
            </a:r>
          </a:p>
          <a:p>
            <a:r>
              <a:rPr dirty="0"/>
              <a:t>This is a promotion, not a replacement: the repeatable work goes, the judgement stays and grows.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Close the section here, and say it looking at the room.</a:t>
            </a:r>
          </a:p>
          <a:p>
            <a:r>
              <a:rPr dirty="0"/>
              <a:t>There are Data Stewards in the audience. This is a promotion, and it is the senior version of the job they already do.</a:t>
            </a:r>
          </a:p>
          <a:p>
            <a:r>
              <a:rPr dirty="0"/>
              <a:t>‘Nobody is removed. The work that scaled badly is.’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honesty slide. Do not rush it — it is what stops this sounding like a pitch.</a:t>
            </a:r>
          </a:p>
          <a:p>
            <a:r>
              <a:rPr dirty="0"/>
              <a:t>The third card is the one most decks omit: a feed silently repaired forever is a supplier problem you have paid to conceal.</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one commitment in the talk. Say the date clearly and let it sit.</a:t>
            </a:r>
          </a:p>
          <a:p>
            <a:r>
              <a:rPr dirty="0"/>
              <a:t>Everything before this slide was the argument; this is what </a:t>
            </a:r>
            <a:r>
              <a:rPr dirty="0" err="1"/>
              <a:t>digna</a:t>
            </a:r>
            <a:r>
              <a:rPr dirty="0"/>
              <a:t> is doing about it.</a:t>
            </a:r>
          </a:p>
          <a:p>
            <a:r>
              <a:rPr dirty="0"/>
              <a:t>If anyone asks what ships first, point back to the 'Arriving next' column on the previous slide.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 sentences, then stop talking.</a:t>
            </a:r>
          </a:p>
          <a:p>
            <a:r>
              <a:rPr dirty="0"/>
              <a:t>Leave the last one on screen while you take questions.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Q&amp;A — after the 45 minutes\n\</a:t>
            </a:r>
            <a:r>
              <a:rPr dirty="0" err="1"/>
              <a:t>nLikely</a:t>
            </a:r>
            <a:r>
              <a:rPr dirty="0"/>
              <a:t> questions:\n\n• 'Is </a:t>
            </a:r>
            <a:r>
              <a:rPr dirty="0" err="1"/>
              <a:t>Alpenwing</a:t>
            </a:r>
            <a:r>
              <a:rPr dirty="0"/>
              <a:t> real?' — no, but every failure mode in it is. Say that early if anyone asks.\n\n• 'Isn't this just </a:t>
            </a:r>
            <a:r>
              <a:rPr dirty="0" err="1"/>
              <a:t>dbt</a:t>
            </a:r>
            <a:r>
              <a:rPr dirty="0"/>
              <a:t> tests?' — excellent, versioned, and still written by hand per table. The difference is who decides what to check.\n\n• 'How many false positives?' — depends on grouping and triage far more than on detection.\n\n• 'Does our data leave the environment?' — no. In-database, cloud or on-premise.\n\n• 'Which dimension should we start with?' — Completeness and Timeliness. Cheapest to turn on, fastest to show value.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Ref idx="1001">
        <a:schemeClr val="bg1"/>
      </p:bgRef>
    </p:bg>
    <p:spTree>
      <p:nvGrpSpPr>
        <p:cNvPr id="1" name=""/>
        <p:cNvGrpSpPr/>
        <p:nvPr/>
      </p:nvGrpSpPr>
      <p:grpSpPr>
        <a:xfrm>
          <a:off x="0" y="0"/>
          <a:ext cx="0" cy="0"/>
          <a:chOff x="0" y="0"/>
          <a:chExt cx="0" cy="0"/>
        </a:xfrm>
      </p:grpSpPr>
      <p:pic>
        <p:nvPicPr>
          <p:cNvPr id="7" name="Foto">
            <a:extLst>
              <a:ext uri="{FF2B5EF4-FFF2-40B4-BE49-F238E27FC236}">
                <a16:creationId xmlns:a16="http://schemas.microsoft.com/office/drawing/2014/main" id="{7B542718-79B8-75FA-7BD9-2543D31D78DF}"/>
              </a:ext>
            </a:extLst>
          </p:cNvPr>
          <p:cNvPicPr>
            <a:picLocks noChangeAspect="1"/>
          </p:cNvPicPr>
          <p:nvPr userDrawn="1"/>
        </p:nvPicPr>
        <p:blipFill rotWithShape="1">
          <a:blip r:embed="rId2" cstate="hqprint">
            <a:extLst>
              <a:ext uri="{28A0092B-C50C-407E-A947-70E740481C1C}">
                <a14:useLocalDpi xmlns:a14="http://schemas.microsoft.com/office/drawing/2010/main" val="0"/>
              </a:ext>
            </a:extLst>
          </a:blip>
          <a:srcRect b="11217"/>
          <a:stretch/>
        </p:blipFill>
        <p:spPr>
          <a:xfrm>
            <a:off x="0" y="2142"/>
            <a:ext cx="12175343" cy="7206375"/>
          </a:xfrm>
          <a:prstGeom prst="rect">
            <a:avLst/>
          </a:prstGeom>
        </p:spPr>
      </p:pic>
      <p:sp>
        <p:nvSpPr>
          <p:cNvPr id="10" name="Datumsplatzhalter">
            <a:extLst>
              <a:ext uri="{FF2B5EF4-FFF2-40B4-BE49-F238E27FC236}">
                <a16:creationId xmlns:a16="http://schemas.microsoft.com/office/drawing/2014/main" id="{340DA842-DF2E-C6D1-AAA1-937967FB5A80}"/>
              </a:ext>
            </a:extLst>
          </p:cNvPr>
          <p:cNvSpPr>
            <a:spLocks noGrp="1"/>
          </p:cNvSpPr>
          <p:nvPr>
            <p:ph type="dt" sz="half" idx="10"/>
          </p:nvPr>
        </p:nvSpPr>
        <p:spPr>
          <a:xfrm>
            <a:off x="1200151" y="5331279"/>
            <a:ext cx="2520000" cy="244800"/>
          </a:xfrm>
        </p:spPr>
        <p:txBody>
          <a:bodyPr lIns="0" tIns="0" rIns="0" bIns="0" anchor="t" anchorCtr="0"/>
          <a:lstStyle>
            <a:lvl1pPr>
              <a:defRPr sz="1600" b="1">
                <a:solidFill>
                  <a:schemeClr val="bg2"/>
                </a:solidFill>
              </a:defRPr>
            </a:lvl1pPr>
          </a:lstStyle>
          <a:p>
            <a:fld id="{236E055D-9884-4099-97B2-A63A980734F0}" type="datetime6">
              <a:rPr lang="de-AT" smtClean="0"/>
              <a:t>September 26</a:t>
            </a:fld>
            <a:endParaRPr lang="de-AT"/>
          </a:p>
        </p:txBody>
      </p:sp>
      <p:sp>
        <p:nvSpPr>
          <p:cNvPr id="3" name="Untertitel"/>
          <p:cNvSpPr>
            <a:spLocks noGrp="1"/>
          </p:cNvSpPr>
          <p:nvPr>
            <p:ph type="subTitle" idx="1" hasCustomPrompt="1"/>
          </p:nvPr>
        </p:nvSpPr>
        <p:spPr>
          <a:xfrm>
            <a:off x="1200151" y="5042279"/>
            <a:ext cx="9791700" cy="246221"/>
          </a:xfrm>
          <a:prstGeom prst="rect">
            <a:avLst/>
          </a:prstGeom>
        </p:spPr>
        <p:txBody>
          <a:bodyPr wrap="square" lIns="0" tIns="0" rIns="0" bIns="0">
            <a:noAutofit/>
          </a:bodyPr>
          <a:lstStyle>
            <a:lvl1pPr marL="0" indent="0" algn="l">
              <a:spcBef>
                <a:spcPts val="0"/>
              </a:spcBef>
              <a:buNone/>
              <a:defRPr sz="1600" b="1" i="0" baseline="0">
                <a:solidFill>
                  <a:schemeClr val="bg2"/>
                </a:solidFill>
                <a:latin typeface="Arial"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Untertitel eingeben</a:t>
            </a:r>
          </a:p>
        </p:txBody>
      </p:sp>
      <p:pic>
        <p:nvPicPr>
          <p:cNvPr id="14" name="ITSV Logo weiss">
            <a:extLst>
              <a:ext uri="{FF2B5EF4-FFF2-40B4-BE49-F238E27FC236}">
                <a16:creationId xmlns:a16="http://schemas.microsoft.com/office/drawing/2014/main" id="{9C34B25A-6562-D516-C399-194FE6538B6E}"/>
              </a:ext>
            </a:extLst>
          </p:cNvPr>
          <p:cNvPicPr>
            <a:picLocks noChangeAspect="1"/>
          </p:cNvPicPr>
          <p:nvPr userDrawn="1"/>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744076" y="446400"/>
            <a:ext cx="1737771" cy="558000"/>
          </a:xfrm>
          <a:prstGeom prst="rect">
            <a:avLst/>
          </a:prstGeom>
        </p:spPr>
      </p:pic>
      <p:sp>
        <p:nvSpPr>
          <p:cNvPr id="11" name="Balken">
            <a:extLst>
              <a:ext uri="{FF2B5EF4-FFF2-40B4-BE49-F238E27FC236}">
                <a16:creationId xmlns:a16="http://schemas.microsoft.com/office/drawing/2014/main" id="{F2C09FEE-476D-FF95-75F9-E7F665CF9416}"/>
              </a:ext>
            </a:extLst>
          </p:cNvPr>
          <p:cNvSpPr/>
          <p:nvPr userDrawn="1"/>
        </p:nvSpPr>
        <p:spPr>
          <a:xfrm>
            <a:off x="0" y="2092209"/>
            <a:ext cx="12192000" cy="2627453"/>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de-AT" sz="4000" b="1">
                <a:solidFill>
                  <a:schemeClr val="bg1"/>
                </a:solidFill>
                <a:latin typeface="Arial" panose="020B0604020202020204" pitchFamily="34" charset="0"/>
                <a:cs typeface="Arial" panose="020B0604020202020204" pitchFamily="34" charset="0"/>
              </a:rPr>
              <a:t> </a:t>
            </a:r>
          </a:p>
          <a:p>
            <a:pPr algn="ctr"/>
            <a:endParaRPr lang="de-AT" sz="4000" b="1">
              <a:solidFill>
                <a:schemeClr val="bg1"/>
              </a:solidFill>
              <a:latin typeface="Arial" panose="020B0604020202020204" pitchFamily="34" charset="0"/>
              <a:cs typeface="Arial" panose="020B0604020202020204" pitchFamily="34" charset="0"/>
            </a:endParaRPr>
          </a:p>
          <a:p>
            <a:pPr algn="r"/>
            <a:r>
              <a:rPr lang="de-AT" sz="4000" b="1">
                <a:solidFill>
                  <a:schemeClr val="bg1"/>
                </a:solidFill>
                <a:latin typeface="Arial" panose="020B0604020202020204" pitchFamily="34" charset="0"/>
                <a:cs typeface="Arial" panose="020B0604020202020204" pitchFamily="34" charset="0"/>
              </a:rPr>
              <a:t>									</a:t>
            </a:r>
          </a:p>
        </p:txBody>
      </p:sp>
      <p:sp>
        <p:nvSpPr>
          <p:cNvPr id="12" name="Hashtag">
            <a:extLst>
              <a:ext uri="{FF2B5EF4-FFF2-40B4-BE49-F238E27FC236}">
                <a16:creationId xmlns:a16="http://schemas.microsoft.com/office/drawing/2014/main" id="{B9DF26B4-AC26-505A-F70A-712BD227A7EF}"/>
              </a:ext>
            </a:extLst>
          </p:cNvPr>
          <p:cNvSpPr txBox="1"/>
          <p:nvPr userDrawn="1"/>
        </p:nvSpPr>
        <p:spPr>
          <a:xfrm>
            <a:off x="848513" y="2756618"/>
            <a:ext cx="313531" cy="615553"/>
          </a:xfrm>
          <a:prstGeom prst="rect">
            <a:avLst/>
          </a:prstGeom>
          <a:noFill/>
        </p:spPr>
        <p:txBody>
          <a:bodyPr wrap="square" lIns="0" tIns="0" rIns="0" bIns="0" rtlCol="0">
            <a:spAutoFit/>
          </a:bodyPr>
          <a:lstStyle/>
          <a:p>
            <a:r>
              <a:rPr lang="de-DE" sz="4000" b="1">
                <a:solidFill>
                  <a:schemeClr val="accent1"/>
                </a:solidFill>
              </a:rPr>
              <a:t>#</a:t>
            </a:r>
            <a:endParaRPr lang="de-AT" sz="4000" b="1">
              <a:solidFill>
                <a:schemeClr val="accent1"/>
              </a:solidFill>
            </a:endParaRPr>
          </a:p>
        </p:txBody>
      </p:sp>
      <p:sp>
        <p:nvSpPr>
          <p:cNvPr id="13" name="Titel">
            <a:extLst>
              <a:ext uri="{FF2B5EF4-FFF2-40B4-BE49-F238E27FC236}">
                <a16:creationId xmlns:a16="http://schemas.microsoft.com/office/drawing/2014/main" id="{C8C79382-5CB7-C796-DD39-60AB57D8345A}"/>
              </a:ext>
            </a:extLst>
          </p:cNvPr>
          <p:cNvSpPr>
            <a:spLocks noGrp="1"/>
          </p:cNvSpPr>
          <p:nvPr>
            <p:ph type="ctrTitle" hasCustomPrompt="1"/>
          </p:nvPr>
        </p:nvSpPr>
        <p:spPr>
          <a:xfrm>
            <a:off x="1181297" y="2869368"/>
            <a:ext cx="9810554" cy="1008000"/>
          </a:xfrm>
        </p:spPr>
        <p:txBody>
          <a:bodyPr anchor="t" anchorCtr="0">
            <a:noAutofit/>
          </a:bodyPr>
          <a:lstStyle>
            <a:lvl1pPr>
              <a:lnSpc>
                <a:spcPct val="82000"/>
              </a:lnSpc>
              <a:defRPr sz="4000" cap="all" baseline="0">
                <a:solidFill>
                  <a:schemeClr val="bg2"/>
                </a:solidFill>
              </a:defRPr>
            </a:lvl1pPr>
          </a:lstStyle>
          <a:p>
            <a:r>
              <a:rPr lang="de-DE"/>
              <a:t>Titel</a:t>
            </a:r>
            <a:br>
              <a:rPr lang="de-DE"/>
            </a:br>
            <a:endParaRPr lang="de-DE"/>
          </a:p>
        </p:txBody>
      </p:sp>
      <p:sp>
        <p:nvSpPr>
          <p:cNvPr id="2" name="Fußzeilenplatzhalter 1">
            <a:extLst>
              <a:ext uri="{FF2B5EF4-FFF2-40B4-BE49-F238E27FC236}">
                <a16:creationId xmlns:a16="http://schemas.microsoft.com/office/drawing/2014/main" id="{19CDB5FC-5B59-1510-589E-247B619B017A}"/>
              </a:ext>
            </a:extLst>
          </p:cNvPr>
          <p:cNvSpPr>
            <a:spLocks noGrp="1"/>
          </p:cNvSpPr>
          <p:nvPr>
            <p:ph type="ftr" sz="quarter" idx="11"/>
          </p:nvPr>
        </p:nvSpPr>
        <p:spPr>
          <a:xfrm>
            <a:off x="1200151" y="6173787"/>
            <a:ext cx="4114800" cy="216000"/>
          </a:xfrm>
          <a:prstGeom prst="rect">
            <a:avLst/>
          </a:prstGeom>
        </p:spPr>
        <p:txBody>
          <a:bodyPr lIns="0" tIns="0" rIns="0" bIns="0"/>
          <a:lstStyle>
            <a:lvl1pPr>
              <a:defRPr sz="1200" cap="small" baseline="0">
                <a:solidFill>
                  <a:schemeClr val="bg1"/>
                </a:solidFill>
              </a:defRPr>
            </a:lvl1pPr>
          </a:lstStyle>
          <a:p>
            <a:r>
              <a:rPr lang="de-AT"/>
              <a:t>Intern</a:t>
            </a:r>
          </a:p>
        </p:txBody>
      </p:sp>
    </p:spTree>
    <p:extLst>
      <p:ext uri="{BB962C8B-B14F-4D97-AF65-F5344CB8AC3E}">
        <p14:creationId xmlns:p14="http://schemas.microsoft.com/office/powerpoint/2010/main" val="299494906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apitelfolie">
    <p:bg>
      <p:bgRef idx="1001">
        <a:schemeClr val="bg1"/>
      </p:bgRef>
    </p:bg>
    <p:spTree>
      <p:nvGrpSpPr>
        <p:cNvPr id="1" name=""/>
        <p:cNvGrpSpPr/>
        <p:nvPr/>
      </p:nvGrpSpPr>
      <p:grpSpPr>
        <a:xfrm>
          <a:off x="0" y="0"/>
          <a:ext cx="0" cy="0"/>
          <a:chOff x="0" y="0"/>
          <a:chExt cx="0" cy="0"/>
        </a:xfrm>
      </p:grpSpPr>
      <p:pic>
        <p:nvPicPr>
          <p:cNvPr id="14" name="Foto">
            <a:extLst>
              <a:ext uri="{FF2B5EF4-FFF2-40B4-BE49-F238E27FC236}">
                <a16:creationId xmlns:a16="http://schemas.microsoft.com/office/drawing/2014/main" id="{2698F16C-6DE2-E0F2-83FA-4CC5453463A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142"/>
            <a:ext cx="12191999" cy="6853715"/>
          </a:xfrm>
          <a:prstGeom prst="rect">
            <a:avLst/>
          </a:prstGeom>
        </p:spPr>
      </p:pic>
      <p:sp>
        <p:nvSpPr>
          <p:cNvPr id="8" name="Balken">
            <a:extLst>
              <a:ext uri="{FF2B5EF4-FFF2-40B4-BE49-F238E27FC236}">
                <a16:creationId xmlns:a16="http://schemas.microsoft.com/office/drawing/2014/main" id="{273BDFC5-AFA5-0EC2-654C-C8BF35437C07}"/>
              </a:ext>
            </a:extLst>
          </p:cNvPr>
          <p:cNvSpPr/>
          <p:nvPr userDrawn="1"/>
        </p:nvSpPr>
        <p:spPr>
          <a:xfrm>
            <a:off x="0" y="2092209"/>
            <a:ext cx="12192000" cy="2627453"/>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de-AT" sz="4000" b="1">
                <a:solidFill>
                  <a:schemeClr val="bg1"/>
                </a:solidFill>
                <a:latin typeface="Arial" panose="020B0604020202020204" pitchFamily="34" charset="0"/>
                <a:cs typeface="Arial" panose="020B0604020202020204" pitchFamily="34" charset="0"/>
              </a:rPr>
              <a:t> </a:t>
            </a:r>
          </a:p>
          <a:p>
            <a:pPr algn="ctr"/>
            <a:endParaRPr lang="de-AT" sz="4000" b="1">
              <a:solidFill>
                <a:schemeClr val="bg1"/>
              </a:solidFill>
              <a:latin typeface="Arial" panose="020B0604020202020204" pitchFamily="34" charset="0"/>
              <a:cs typeface="Arial" panose="020B0604020202020204" pitchFamily="34" charset="0"/>
            </a:endParaRPr>
          </a:p>
          <a:p>
            <a:pPr algn="r"/>
            <a:r>
              <a:rPr lang="de-AT" sz="4000" b="1">
                <a:solidFill>
                  <a:schemeClr val="bg1"/>
                </a:solidFill>
                <a:latin typeface="Arial" panose="020B0604020202020204" pitchFamily="34" charset="0"/>
                <a:cs typeface="Arial" panose="020B0604020202020204" pitchFamily="34" charset="0"/>
              </a:rPr>
              <a:t>									</a:t>
            </a:r>
          </a:p>
        </p:txBody>
      </p:sp>
      <p:sp>
        <p:nvSpPr>
          <p:cNvPr id="9" name="Hashtag">
            <a:extLst>
              <a:ext uri="{FF2B5EF4-FFF2-40B4-BE49-F238E27FC236}">
                <a16:creationId xmlns:a16="http://schemas.microsoft.com/office/drawing/2014/main" id="{CF158B12-7C97-783C-D833-B2D0D56D6AF0}"/>
              </a:ext>
            </a:extLst>
          </p:cNvPr>
          <p:cNvSpPr txBox="1"/>
          <p:nvPr userDrawn="1"/>
        </p:nvSpPr>
        <p:spPr>
          <a:xfrm>
            <a:off x="848513" y="2593332"/>
            <a:ext cx="313531" cy="615553"/>
          </a:xfrm>
          <a:prstGeom prst="rect">
            <a:avLst/>
          </a:prstGeom>
          <a:noFill/>
        </p:spPr>
        <p:txBody>
          <a:bodyPr wrap="square" lIns="0" tIns="0" rIns="0" bIns="0" rtlCol="0">
            <a:spAutoFit/>
          </a:bodyPr>
          <a:lstStyle/>
          <a:p>
            <a:r>
              <a:rPr lang="de-DE" sz="4000" b="1">
                <a:solidFill>
                  <a:schemeClr val="accent1"/>
                </a:solidFill>
              </a:rPr>
              <a:t>#</a:t>
            </a:r>
            <a:endParaRPr lang="de-AT" sz="4000" b="1">
              <a:solidFill>
                <a:schemeClr val="accent1"/>
              </a:solidFill>
            </a:endParaRPr>
          </a:p>
        </p:txBody>
      </p:sp>
      <p:sp>
        <p:nvSpPr>
          <p:cNvPr id="2" name="Titel"/>
          <p:cNvSpPr>
            <a:spLocks noGrp="1"/>
          </p:cNvSpPr>
          <p:nvPr>
            <p:ph type="ctrTitle" hasCustomPrompt="1"/>
          </p:nvPr>
        </p:nvSpPr>
        <p:spPr>
          <a:xfrm>
            <a:off x="1181297" y="2706082"/>
            <a:ext cx="9810554" cy="1008000"/>
          </a:xfrm>
        </p:spPr>
        <p:txBody>
          <a:bodyPr anchor="t" anchorCtr="0">
            <a:noAutofit/>
          </a:bodyPr>
          <a:lstStyle>
            <a:lvl1pPr>
              <a:lnSpc>
                <a:spcPct val="82000"/>
              </a:lnSpc>
              <a:defRPr sz="4000" cap="all" baseline="0">
                <a:solidFill>
                  <a:schemeClr val="bg2"/>
                </a:solidFill>
              </a:defRPr>
            </a:lvl1pPr>
          </a:lstStyle>
          <a:p>
            <a:r>
              <a:rPr lang="de-DE"/>
              <a:t>Titel</a:t>
            </a:r>
            <a:br>
              <a:rPr lang="de-DE"/>
            </a:br>
            <a:endParaRPr lang="de-DE"/>
          </a:p>
        </p:txBody>
      </p:sp>
      <p:sp>
        <p:nvSpPr>
          <p:cNvPr id="3" name="Untertitel"/>
          <p:cNvSpPr>
            <a:spLocks noGrp="1"/>
          </p:cNvSpPr>
          <p:nvPr>
            <p:ph type="subTitle" idx="1" hasCustomPrompt="1"/>
          </p:nvPr>
        </p:nvSpPr>
        <p:spPr>
          <a:xfrm>
            <a:off x="1200151" y="3888000"/>
            <a:ext cx="9791700" cy="246221"/>
          </a:xfrm>
          <a:prstGeom prst="rect">
            <a:avLst/>
          </a:prstGeom>
        </p:spPr>
        <p:txBody>
          <a:bodyPr wrap="square" lIns="0" tIns="0" rIns="0" bIns="0">
            <a:noAutofit/>
          </a:bodyPr>
          <a:lstStyle>
            <a:lvl1pPr marL="0" indent="0" algn="l">
              <a:spcBef>
                <a:spcPts val="0"/>
              </a:spcBef>
              <a:buNone/>
              <a:defRPr sz="1600" b="1" i="0" baseline="0">
                <a:solidFill>
                  <a:schemeClr val="bg2"/>
                </a:solidFill>
                <a:latin typeface="Arial"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Untertitel eingeben</a:t>
            </a:r>
          </a:p>
        </p:txBody>
      </p:sp>
      <p:pic>
        <p:nvPicPr>
          <p:cNvPr id="15" name="ITSV Logo weiss">
            <a:extLst>
              <a:ext uri="{FF2B5EF4-FFF2-40B4-BE49-F238E27FC236}">
                <a16:creationId xmlns:a16="http://schemas.microsoft.com/office/drawing/2014/main" id="{4CFBAACB-EF72-F7AF-4B2F-74DDFBE482CC}"/>
              </a:ext>
            </a:extLst>
          </p:cNvPr>
          <p:cNvPicPr>
            <a:picLocks noChangeAspect="1"/>
          </p:cNvPicPr>
          <p:nvPr userDrawn="1"/>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744076" y="446400"/>
            <a:ext cx="1737771" cy="558000"/>
          </a:xfrm>
          <a:prstGeom prst="rect">
            <a:avLst/>
          </a:prstGeom>
        </p:spPr>
      </p:pic>
      <p:sp>
        <p:nvSpPr>
          <p:cNvPr id="7" name="Fußzeilenplatzhalter 6">
            <a:extLst>
              <a:ext uri="{FF2B5EF4-FFF2-40B4-BE49-F238E27FC236}">
                <a16:creationId xmlns:a16="http://schemas.microsoft.com/office/drawing/2014/main" id="{673CDBB4-F76D-528F-A2C4-893EA82A6E2D}"/>
              </a:ext>
            </a:extLst>
          </p:cNvPr>
          <p:cNvSpPr>
            <a:spLocks noGrp="1"/>
          </p:cNvSpPr>
          <p:nvPr>
            <p:ph type="ftr" sz="quarter" idx="11"/>
          </p:nvPr>
        </p:nvSpPr>
        <p:spPr>
          <a:xfrm>
            <a:off x="1200151" y="6580800"/>
            <a:ext cx="1800000" cy="212400"/>
          </a:xfrm>
        </p:spPr>
        <p:txBody>
          <a:bodyPr lIns="0" tIns="0" rIns="0" bIns="0" anchor="t" anchorCtr="0"/>
          <a:lstStyle>
            <a:lvl1pPr algn="l">
              <a:defRPr sz="800" cap="small" spc="20" baseline="0">
                <a:solidFill>
                  <a:schemeClr val="bg1"/>
                </a:solidFill>
              </a:defRPr>
            </a:lvl1pPr>
          </a:lstStyle>
          <a:p>
            <a:r>
              <a:rPr lang="de-AT"/>
              <a:t>Intern</a:t>
            </a:r>
          </a:p>
        </p:txBody>
      </p:sp>
    </p:spTree>
    <p:extLst>
      <p:ext uri="{BB962C8B-B14F-4D97-AF65-F5344CB8AC3E}">
        <p14:creationId xmlns:p14="http://schemas.microsoft.com/office/powerpoint/2010/main" val="22835360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ischenfolie ">
    <p:bg>
      <p:bgRef idx="1001">
        <a:schemeClr val="bg1"/>
      </p:bgRef>
    </p:bg>
    <p:spTree>
      <p:nvGrpSpPr>
        <p:cNvPr id="1" name=""/>
        <p:cNvGrpSpPr/>
        <p:nvPr/>
      </p:nvGrpSpPr>
      <p:grpSpPr>
        <a:xfrm>
          <a:off x="0" y="0"/>
          <a:ext cx="0" cy="0"/>
          <a:chOff x="0" y="0"/>
          <a:chExt cx="0" cy="0"/>
        </a:xfrm>
      </p:grpSpPr>
      <p:sp>
        <p:nvSpPr>
          <p:cNvPr id="6" name="Hintergrund Verlauf">
            <a:extLst>
              <a:ext uri="{FF2B5EF4-FFF2-40B4-BE49-F238E27FC236}">
                <a16:creationId xmlns:a16="http://schemas.microsoft.com/office/drawing/2014/main" id="{969B9E77-E3F9-FD97-F7B8-F001929F184D}"/>
              </a:ext>
            </a:extLst>
          </p:cNvPr>
          <p:cNvSpPr/>
          <p:nvPr userDrawn="1"/>
        </p:nvSpPr>
        <p:spPr bwMode="auto">
          <a:xfrm>
            <a:off x="0" y="1404000"/>
            <a:ext cx="12202610" cy="5454000"/>
          </a:xfrm>
          <a:prstGeom prst="rect">
            <a:avLst/>
          </a:prstGeom>
          <a:gradFill flip="none" rotWithShape="1">
            <a:gsLst>
              <a:gs pos="0">
                <a:schemeClr val="accent1">
                  <a:lumMod val="50000"/>
                </a:schemeClr>
              </a:gs>
              <a:gs pos="50000">
                <a:schemeClr val="accent1">
                  <a:lumMod val="75000"/>
                </a:schemeClr>
              </a:gs>
              <a:gs pos="100000">
                <a:schemeClr val="accent1">
                  <a:lumMod val="100000"/>
                </a:schemeClr>
              </a:gs>
            </a:gsLst>
            <a:lin ang="13500000" scaled="1"/>
            <a:tileRect/>
          </a:gradFill>
          <a:ln w="12700" cmpd="sng">
            <a:noFill/>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AT" sz="1400" b="0" i="0" strike="noStrike" cap="none" normalizeH="0" baseline="0">
              <a:ln>
                <a:noFill/>
              </a:ln>
              <a:solidFill>
                <a:schemeClr val="bg1"/>
              </a:solidFill>
              <a:effectLst/>
              <a:latin typeface="Arial" panose="020B0604020202020204" pitchFamily="34" charset="0"/>
              <a:cs typeface="Arial" panose="020B0604020202020204" pitchFamily="34" charset="0"/>
            </a:endParaRPr>
          </a:p>
        </p:txBody>
      </p:sp>
      <p:sp>
        <p:nvSpPr>
          <p:cNvPr id="12" name="Hintergrund Schatten">
            <a:extLst>
              <a:ext uri="{FF2B5EF4-FFF2-40B4-BE49-F238E27FC236}">
                <a16:creationId xmlns:a16="http://schemas.microsoft.com/office/drawing/2014/main" id="{981D9827-53E9-A1CC-BD17-A42F06055CDF}"/>
              </a:ext>
            </a:extLst>
          </p:cNvPr>
          <p:cNvSpPr/>
          <p:nvPr userDrawn="1"/>
        </p:nvSpPr>
        <p:spPr>
          <a:xfrm>
            <a:off x="0" y="1"/>
            <a:ext cx="12192000" cy="1411514"/>
          </a:xfrm>
          <a:prstGeom prst="rect">
            <a:avLst/>
          </a:prstGeom>
          <a:solidFill>
            <a:schemeClr val="bg1"/>
          </a:solidFill>
          <a:ln>
            <a:noFill/>
          </a:ln>
          <a:effectLst>
            <a:outerShdw blurRad="101600" dist="381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3" name="Untertitel 2"/>
          <p:cNvSpPr>
            <a:spLocks noGrp="1"/>
          </p:cNvSpPr>
          <p:nvPr>
            <p:ph type="subTitle" idx="1" hasCustomPrompt="1"/>
          </p:nvPr>
        </p:nvSpPr>
        <p:spPr>
          <a:xfrm>
            <a:off x="1198800" y="4273842"/>
            <a:ext cx="9791700" cy="246221"/>
          </a:xfrm>
          <a:prstGeom prst="rect">
            <a:avLst/>
          </a:prstGeom>
        </p:spPr>
        <p:txBody>
          <a:bodyPr wrap="square" lIns="0" tIns="0" rIns="0" bIns="0">
            <a:spAutoFit/>
          </a:bodyPr>
          <a:lstStyle>
            <a:lvl1pPr marL="0" indent="0" algn="l">
              <a:lnSpc>
                <a:spcPct val="100000"/>
              </a:lnSpc>
              <a:spcBef>
                <a:spcPts val="0"/>
              </a:spcBef>
              <a:buNone/>
              <a:defRPr sz="1600" b="1" i="0" baseline="0">
                <a:solidFill>
                  <a:schemeClr val="bg1"/>
                </a:solidFill>
                <a:latin typeface="Arial"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Untertitel eingeben</a:t>
            </a:r>
          </a:p>
        </p:txBody>
      </p:sp>
      <p:pic>
        <p:nvPicPr>
          <p:cNvPr id="7" name="ITSV Logo">
            <a:extLst>
              <a:ext uri="{FF2B5EF4-FFF2-40B4-BE49-F238E27FC236}">
                <a16:creationId xmlns:a16="http://schemas.microsoft.com/office/drawing/2014/main" id="{83CC6566-10A5-3272-27DF-4CCC2AA766C8}"/>
              </a:ext>
            </a:extLst>
          </p:cNvPr>
          <p:cNvPicPr>
            <a:picLocks noChangeAspect="1"/>
          </p:cNvPicPr>
          <p:nvPr userDrawn="1"/>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9745200" y="447787"/>
            <a:ext cx="1737771" cy="558000"/>
          </a:xfrm>
          <a:prstGeom prst="rect">
            <a:avLst/>
          </a:prstGeom>
        </p:spPr>
      </p:pic>
      <p:sp>
        <p:nvSpPr>
          <p:cNvPr id="8" name="Hashtag">
            <a:extLst>
              <a:ext uri="{FF2B5EF4-FFF2-40B4-BE49-F238E27FC236}">
                <a16:creationId xmlns:a16="http://schemas.microsoft.com/office/drawing/2014/main" id="{AF8AB465-3DAA-D8C6-3D1B-B3DCDEB0E96A}"/>
              </a:ext>
            </a:extLst>
          </p:cNvPr>
          <p:cNvSpPr txBox="1"/>
          <p:nvPr userDrawn="1"/>
        </p:nvSpPr>
        <p:spPr>
          <a:xfrm>
            <a:off x="511949" y="387198"/>
            <a:ext cx="216000" cy="430887"/>
          </a:xfrm>
          <a:prstGeom prst="rect">
            <a:avLst/>
          </a:prstGeom>
          <a:noFill/>
        </p:spPr>
        <p:txBody>
          <a:bodyPr wrap="square" lIns="0" tIns="0" rIns="0" bIns="0" rtlCol="0">
            <a:noAutofit/>
          </a:bodyPr>
          <a:lstStyle/>
          <a:p>
            <a:r>
              <a:rPr lang="de-DE" sz="2800" b="1">
                <a:solidFill>
                  <a:schemeClr val="accent1"/>
                </a:solidFill>
              </a:rPr>
              <a:t>#</a:t>
            </a:r>
            <a:endParaRPr lang="de-AT" sz="2800" b="1">
              <a:solidFill>
                <a:schemeClr val="accent1"/>
              </a:solidFill>
            </a:endParaRPr>
          </a:p>
        </p:txBody>
      </p:sp>
      <p:sp>
        <p:nvSpPr>
          <p:cNvPr id="9" name="Titelplatzhalter">
            <a:extLst>
              <a:ext uri="{FF2B5EF4-FFF2-40B4-BE49-F238E27FC236}">
                <a16:creationId xmlns:a16="http://schemas.microsoft.com/office/drawing/2014/main" id="{F511212B-AE3F-C90C-5E64-D351018AAD09}"/>
              </a:ext>
            </a:extLst>
          </p:cNvPr>
          <p:cNvSpPr txBox="1">
            <a:spLocks/>
          </p:cNvSpPr>
          <p:nvPr userDrawn="1"/>
        </p:nvSpPr>
        <p:spPr>
          <a:xfrm>
            <a:off x="719665" y="388800"/>
            <a:ext cx="8280000" cy="828000"/>
          </a:xfrm>
          <a:prstGeom prst="rect">
            <a:avLst/>
          </a:prstGeom>
        </p:spPr>
        <p:txBody>
          <a:bodyPr vert="horz" wrap="square" lIns="0" tIns="0" rIns="0" bIns="0" rtlCol="0" anchor="t" anchorCtr="0">
            <a:noAutofit/>
          </a:bodyPr>
          <a:lstStyle>
            <a:lvl1pPr algn="l" defTabSz="609585" rtl="0" eaLnBrk="1" latinLnBrk="0" hangingPunct="1">
              <a:lnSpc>
                <a:spcPts val="5000"/>
              </a:lnSpc>
              <a:spcBef>
                <a:spcPct val="0"/>
              </a:spcBef>
              <a:buNone/>
              <a:defRPr sz="4000" b="1" i="0" kern="1200" baseline="0">
                <a:solidFill>
                  <a:schemeClr val="bg1"/>
                </a:solidFill>
                <a:latin typeface="Arial" charset="0"/>
                <a:ea typeface="+mj-ea"/>
                <a:cs typeface="+mj-cs"/>
              </a:defRPr>
            </a:lvl1pPr>
          </a:lstStyle>
          <a:p>
            <a:r>
              <a:rPr lang="de-DE"/>
              <a:t>Titel bearbeiten</a:t>
            </a:r>
            <a:endParaRPr lang="de-AT"/>
          </a:p>
        </p:txBody>
      </p:sp>
      <p:sp>
        <p:nvSpPr>
          <p:cNvPr id="4" name="Titel">
            <a:extLst>
              <a:ext uri="{FF2B5EF4-FFF2-40B4-BE49-F238E27FC236}">
                <a16:creationId xmlns:a16="http://schemas.microsoft.com/office/drawing/2014/main" id="{E551C90C-28EE-7A94-1119-B0BCD4AD3028}"/>
              </a:ext>
            </a:extLst>
          </p:cNvPr>
          <p:cNvSpPr>
            <a:spLocks noGrp="1"/>
          </p:cNvSpPr>
          <p:nvPr>
            <p:ph type="title" hasCustomPrompt="1"/>
          </p:nvPr>
        </p:nvSpPr>
        <p:spPr>
          <a:xfrm>
            <a:off x="1166400" y="3133075"/>
            <a:ext cx="9842400" cy="615553"/>
          </a:xfrm>
        </p:spPr>
        <p:txBody>
          <a:bodyPr/>
          <a:lstStyle>
            <a:lvl1pPr>
              <a:lnSpc>
                <a:spcPct val="100000"/>
              </a:lnSpc>
              <a:defRPr/>
            </a:lvl1pPr>
          </a:lstStyle>
          <a:p>
            <a:r>
              <a:rPr lang="de-DE"/>
              <a:t>Titel eingeben</a:t>
            </a:r>
            <a:endParaRPr lang="de-AT"/>
          </a:p>
        </p:txBody>
      </p:sp>
      <p:sp>
        <p:nvSpPr>
          <p:cNvPr id="11" name="Textplatzhalter">
            <a:extLst>
              <a:ext uri="{FF2B5EF4-FFF2-40B4-BE49-F238E27FC236}">
                <a16:creationId xmlns:a16="http://schemas.microsoft.com/office/drawing/2014/main" id="{5AC3F2C9-D740-3C17-4BD9-1E09194458D0}"/>
              </a:ext>
            </a:extLst>
          </p:cNvPr>
          <p:cNvSpPr>
            <a:spLocks noGrp="1"/>
          </p:cNvSpPr>
          <p:nvPr>
            <p:ph type="body" sz="quarter" idx="13" hasCustomPrompt="1"/>
          </p:nvPr>
        </p:nvSpPr>
        <p:spPr>
          <a:xfrm>
            <a:off x="720000" y="388800"/>
            <a:ext cx="8280000" cy="828000"/>
          </a:xfrm>
          <a:prstGeom prst="rect">
            <a:avLst/>
          </a:prstGeom>
        </p:spPr>
        <p:txBody>
          <a:bodyPr lIns="0" tIns="0" rIns="0" bIns="0">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Ebene0</a:t>
            </a:r>
          </a:p>
        </p:txBody>
      </p:sp>
      <p:sp>
        <p:nvSpPr>
          <p:cNvPr id="5" name="Fußzeilenplatzhalter 4">
            <a:extLst>
              <a:ext uri="{FF2B5EF4-FFF2-40B4-BE49-F238E27FC236}">
                <a16:creationId xmlns:a16="http://schemas.microsoft.com/office/drawing/2014/main" id="{D959F5F8-52D0-1BCE-D9FF-19D59B5931AB}"/>
              </a:ext>
            </a:extLst>
          </p:cNvPr>
          <p:cNvSpPr>
            <a:spLocks noGrp="1"/>
          </p:cNvSpPr>
          <p:nvPr>
            <p:ph type="ftr" sz="quarter" idx="15"/>
          </p:nvPr>
        </p:nvSpPr>
        <p:spPr>
          <a:xfrm>
            <a:off x="1198800" y="6580800"/>
            <a:ext cx="1800000" cy="212400"/>
          </a:xfrm>
        </p:spPr>
        <p:txBody>
          <a:bodyPr lIns="0" tIns="0" rIns="0" bIns="0" anchor="t" anchorCtr="0"/>
          <a:lstStyle>
            <a:lvl1pPr>
              <a:defRPr sz="800" cap="small" spc="20" baseline="0">
                <a:solidFill>
                  <a:schemeClr val="bg1"/>
                </a:solidFill>
              </a:defRPr>
            </a:lvl1pPr>
          </a:lstStyle>
          <a:p>
            <a:r>
              <a:rPr lang="de-AT"/>
              <a:t>Intern</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folie">
    <p:bg>
      <p:bgRef idx="1001">
        <a:schemeClr val="bg1"/>
      </p:bgRef>
    </p:bg>
    <p:spTree>
      <p:nvGrpSpPr>
        <p:cNvPr id="1" name=""/>
        <p:cNvGrpSpPr/>
        <p:nvPr/>
      </p:nvGrpSpPr>
      <p:grpSpPr>
        <a:xfrm>
          <a:off x="0" y="0"/>
          <a:ext cx="0" cy="0"/>
          <a:chOff x="0" y="0"/>
          <a:chExt cx="0" cy="0"/>
        </a:xfrm>
      </p:grpSpPr>
      <p:sp>
        <p:nvSpPr>
          <p:cNvPr id="7" name="Zeit zu starten. Los.">
            <a:extLst>
              <a:ext uri="{FF2B5EF4-FFF2-40B4-BE49-F238E27FC236}">
                <a16:creationId xmlns:a16="http://schemas.microsoft.com/office/drawing/2014/main" id="{FB2DC8B0-28A7-F799-ACA8-E0E03C24EE85}"/>
              </a:ext>
            </a:extLst>
          </p:cNvPr>
          <p:cNvSpPr txBox="1"/>
          <p:nvPr userDrawn="1"/>
        </p:nvSpPr>
        <p:spPr>
          <a:xfrm>
            <a:off x="152105" y="5860695"/>
            <a:ext cx="2569618" cy="400110"/>
          </a:xfrm>
          <a:prstGeom prst="rect">
            <a:avLst/>
          </a:prstGeom>
          <a:noFill/>
          <a:effectLst>
            <a:outerShdw blurRad="63500" sx="102000" sy="102000" algn="ctr" rotWithShape="0">
              <a:prstClr val="black">
                <a:alpha val="40000"/>
              </a:prstClr>
            </a:outerShdw>
          </a:effectLst>
        </p:spPr>
        <p:txBody>
          <a:bodyPr wrap="square" rtlCol="0">
            <a:spAutoFit/>
          </a:bodyPr>
          <a:lstStyle/>
          <a:p>
            <a:r>
              <a:rPr lang="de-AT" sz="2000" b="1">
                <a:solidFill>
                  <a:schemeClr val="bg1"/>
                </a:solidFill>
                <a:latin typeface="Arial" panose="020B0604020202020204" pitchFamily="34" charset="0"/>
                <a:cs typeface="Arial" panose="020B0604020202020204" pitchFamily="34" charset="0"/>
              </a:rPr>
              <a:t>Zeit zu starte. Los.</a:t>
            </a:r>
          </a:p>
        </p:txBody>
      </p:sp>
      <p:sp>
        <p:nvSpPr>
          <p:cNvPr id="2" name="Titel"/>
          <p:cNvSpPr>
            <a:spLocks noGrp="1"/>
          </p:cNvSpPr>
          <p:nvPr>
            <p:ph type="ctrTitle" hasCustomPrompt="1"/>
          </p:nvPr>
        </p:nvSpPr>
        <p:spPr>
          <a:xfrm>
            <a:off x="1166315" y="2826000"/>
            <a:ext cx="10316656" cy="900000"/>
          </a:xfrm>
        </p:spPr>
        <p:txBody>
          <a:bodyPr anchor="t" anchorCtr="0">
            <a:noAutofit/>
          </a:bodyPr>
          <a:lstStyle>
            <a:lvl1pPr>
              <a:lnSpc>
                <a:spcPct val="100000"/>
              </a:lnSpc>
              <a:defRPr sz="2800" baseline="0">
                <a:solidFill>
                  <a:schemeClr val="bg1"/>
                </a:solidFill>
              </a:defRPr>
            </a:lvl1pPr>
          </a:lstStyle>
          <a:p>
            <a:r>
              <a:rPr lang="de-DE"/>
              <a:t>Titel eingeben</a:t>
            </a:r>
          </a:p>
        </p:txBody>
      </p:sp>
      <p:pic>
        <p:nvPicPr>
          <p:cNvPr id="12" name="ITSV Logo transparent" hidden="1">
            <a:extLst>
              <a:ext uri="{FF2B5EF4-FFF2-40B4-BE49-F238E27FC236}">
                <a16:creationId xmlns:a16="http://schemas.microsoft.com/office/drawing/2014/main" id="{9EA01033-7C33-31E3-167A-C4C1F8D5CA4E}"/>
              </a:ext>
            </a:extLst>
          </p:cNvPr>
          <p:cNvPicPr>
            <a:picLocks noChangeAspect="1"/>
          </p:cNvPicPr>
          <p:nvPr userDrawn="1"/>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9745200" y="446400"/>
            <a:ext cx="1737771" cy="557999"/>
          </a:xfrm>
          <a:prstGeom prst="rect">
            <a:avLst/>
          </a:prstGeom>
        </p:spPr>
      </p:pic>
      <p:pic>
        <p:nvPicPr>
          <p:cNvPr id="3" name="Grafik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3543"/>
            <a:ext cx="12290914" cy="6913639"/>
          </a:xfrm>
          <a:prstGeom prst="rect">
            <a:avLst/>
          </a:prstGeom>
        </p:spPr>
      </p:pic>
      <p:pic>
        <p:nvPicPr>
          <p:cNvPr id="10" name="ITSV Logo">
            <a:extLst>
              <a:ext uri="{FF2B5EF4-FFF2-40B4-BE49-F238E27FC236}">
                <a16:creationId xmlns:a16="http://schemas.microsoft.com/office/drawing/2014/main" id="{83CC6566-10A5-3272-27DF-4CCC2AA766C8}"/>
              </a:ext>
            </a:extLst>
          </p:cNvPr>
          <p:cNvPicPr>
            <a:picLocks noChangeAspect="1"/>
          </p:cNvPicPr>
          <p:nvPr userDrawn="1"/>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745200" y="447787"/>
            <a:ext cx="1737771" cy="558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B27959-1F43-0FCA-2F64-8BB75F231D87}"/>
              </a:ext>
            </a:extLst>
          </p:cNvPr>
          <p:cNvSpPr>
            <a:spLocks noGrp="1"/>
          </p:cNvSpPr>
          <p:nvPr>
            <p:ph type="title"/>
          </p:nvPr>
        </p:nvSpPr>
        <p:spPr/>
        <p:txBody>
          <a:bodyPr/>
          <a:lstStyle/>
          <a:p>
            <a:r>
              <a:rPr lang="de-DE"/>
              <a:t>Mastertitelformat bearbeiten</a:t>
            </a:r>
            <a:endParaRPr lang="de-AT"/>
          </a:p>
        </p:txBody>
      </p:sp>
      <p:sp>
        <p:nvSpPr>
          <p:cNvPr id="3" name="Inhaltsplatzhalter 2">
            <a:extLst>
              <a:ext uri="{FF2B5EF4-FFF2-40B4-BE49-F238E27FC236}">
                <a16:creationId xmlns:a16="http://schemas.microsoft.com/office/drawing/2014/main" id="{4AEBCE8C-D4AC-4914-A6EE-C190965191D4}"/>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a16="http://schemas.microsoft.com/office/drawing/2014/main" id="{BD7C8F5A-D57C-7F01-2623-4DB3886A249E}"/>
              </a:ext>
            </a:extLst>
          </p:cNvPr>
          <p:cNvSpPr>
            <a:spLocks noGrp="1"/>
          </p:cNvSpPr>
          <p:nvPr>
            <p:ph type="dt" sz="half" idx="10"/>
          </p:nvPr>
        </p:nvSpPr>
        <p:spPr/>
        <p:txBody>
          <a:bodyPr/>
          <a:lstStyle/>
          <a:p>
            <a:fld id="{A0784FA1-FEAC-4AB4-9731-39832619FE25}" type="datetimeFigureOut">
              <a:rPr lang="de-AT" smtClean="0"/>
              <a:t>26.09.26</a:t>
            </a:fld>
            <a:endParaRPr lang="de-AT"/>
          </a:p>
        </p:txBody>
      </p:sp>
      <p:sp>
        <p:nvSpPr>
          <p:cNvPr id="5" name="Fußzeilenplatzhalter 4">
            <a:extLst>
              <a:ext uri="{FF2B5EF4-FFF2-40B4-BE49-F238E27FC236}">
                <a16:creationId xmlns:a16="http://schemas.microsoft.com/office/drawing/2014/main" id="{310DE8AC-3457-5DD2-8AD6-ECF995B6B3CD}"/>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8EA2DF47-8CAB-9B80-E98A-302C46AD3E1E}"/>
              </a:ext>
            </a:extLst>
          </p:cNvPr>
          <p:cNvSpPr>
            <a:spLocks noGrp="1"/>
          </p:cNvSpPr>
          <p:nvPr>
            <p:ph type="sldNum" sz="quarter" idx="12"/>
          </p:nvPr>
        </p:nvSpPr>
        <p:spPr/>
        <p:txBody>
          <a:bodyPr/>
          <a:lstStyle/>
          <a:p>
            <a:fld id="{CE5A51DF-738F-42B9-9FC8-971355883990}" type="slidenum">
              <a:rPr lang="de-AT" smtClean="0"/>
              <a:t>‹#›</a:t>
            </a:fld>
            <a:endParaRPr lang="de-AT"/>
          </a:p>
        </p:txBody>
      </p:sp>
    </p:spTree>
    <p:extLst>
      <p:ext uri="{BB962C8B-B14F-4D97-AF65-F5344CB8AC3E}">
        <p14:creationId xmlns:p14="http://schemas.microsoft.com/office/powerpoint/2010/main" val="2386850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ufzählung grün">
    <p:spTree>
      <p:nvGrpSpPr>
        <p:cNvPr id="1" name=""/>
        <p:cNvGrpSpPr/>
        <p:nvPr/>
      </p:nvGrpSpPr>
      <p:grpSpPr>
        <a:xfrm>
          <a:off x="0" y="0"/>
          <a:ext cx="0" cy="0"/>
          <a:chOff x="0" y="0"/>
          <a:chExt cx="0" cy="0"/>
        </a:xfrm>
      </p:grpSpPr>
      <p:sp>
        <p:nvSpPr>
          <p:cNvPr id="11"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9"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3853A249-34E7-4C9A-B595-14110479458C}" type="datetime6">
              <a:rPr lang="de-AT" smtClean="0"/>
              <a:t>September 26</a:t>
            </a:fld>
            <a:endParaRPr lang="de-DE"/>
          </a:p>
        </p:txBody>
      </p:sp>
      <p:sp>
        <p:nvSpPr>
          <p:cNvPr id="6" name="Textplatzhalter"/>
          <p:cNvSpPr>
            <a:spLocks noGrp="1"/>
          </p:cNvSpPr>
          <p:nvPr>
            <p:ph type="body" sz="quarter" idx="12"/>
          </p:nvPr>
        </p:nvSpPr>
        <p:spPr>
          <a:xfrm>
            <a:off x="1200151" y="2332800"/>
            <a:ext cx="9791700" cy="3796538"/>
          </a:xfrm>
        </p:spPr>
        <p:txBody>
          <a:bodyPr>
            <a:noAutofit/>
          </a:bodyPr>
          <a:lstStyle>
            <a:lvl1pPr marL="180000" indent="-180000">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Textplatzhalter">
            <a:extLst>
              <a:ext uri="{FF2B5EF4-FFF2-40B4-BE49-F238E27FC236}">
                <a16:creationId xmlns:a16="http://schemas.microsoft.com/office/drawing/2014/main" id="{EB5F40C0-2859-CEE3-3BEF-542E12A88BC9}"/>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8" name="Untertitel">
            <a:extLst>
              <a:ext uri="{FF2B5EF4-FFF2-40B4-BE49-F238E27FC236}">
                <a16:creationId xmlns:a16="http://schemas.microsoft.com/office/drawing/2014/main" id="{F78E007F-83AD-8C43-DE81-17BD36318DD5}"/>
              </a:ext>
            </a:extLst>
          </p:cNvPr>
          <p:cNvSpPr>
            <a:spLocks noGrp="1"/>
          </p:cNvSpPr>
          <p:nvPr>
            <p:ph type="subTitle" idx="1" hasCustomPrompt="1"/>
          </p:nvPr>
        </p:nvSpPr>
        <p:spPr>
          <a:xfrm>
            <a:off x="1200150" y="1854000"/>
            <a:ext cx="9791700" cy="261610"/>
          </a:xfrm>
        </p:spPr>
        <p:txBody>
          <a:bodyPr/>
          <a:lstStyle>
            <a:lvl1pPr marL="0" indent="0" algn="l">
              <a:buNone/>
              <a:defRPr sz="16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eingeben</a:t>
            </a:r>
          </a:p>
        </p:txBody>
      </p:sp>
      <p:sp>
        <p:nvSpPr>
          <p:cNvPr id="2" name="Fußzeilenplatzhalter 1">
            <a:extLst>
              <a:ext uri="{FF2B5EF4-FFF2-40B4-BE49-F238E27FC236}">
                <a16:creationId xmlns:a16="http://schemas.microsoft.com/office/drawing/2014/main" id="{59843FF2-062B-FA55-A9C5-E4B5D570A497}"/>
              </a:ext>
            </a:extLst>
          </p:cNvPr>
          <p:cNvSpPr>
            <a:spLocks noGrp="1"/>
          </p:cNvSpPr>
          <p:nvPr>
            <p:ph type="ftr" sz="quarter" idx="14"/>
          </p:nvPr>
        </p:nvSpPr>
        <p:spPr>
          <a:xfrm>
            <a:off x="1810029" y="6580800"/>
            <a:ext cx="1800000" cy="212400"/>
          </a:xfrm>
        </p:spPr>
        <p:txBody>
          <a:bodyPr/>
          <a:lstStyle/>
          <a:p>
            <a:r>
              <a:rPr lang="de-AT"/>
              <a:t>Intern</a:t>
            </a:r>
          </a:p>
        </p:txBody>
      </p:sp>
    </p:spTree>
    <p:extLst>
      <p:ext uri="{BB962C8B-B14F-4D97-AF65-F5344CB8AC3E}">
        <p14:creationId xmlns:p14="http://schemas.microsoft.com/office/powerpoint/2010/main" val="221014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ufzählung schwarz">
    <p:spTree>
      <p:nvGrpSpPr>
        <p:cNvPr id="1" name=""/>
        <p:cNvGrpSpPr/>
        <p:nvPr/>
      </p:nvGrpSpPr>
      <p:grpSpPr>
        <a:xfrm>
          <a:off x="0" y="0"/>
          <a:ext cx="0" cy="0"/>
          <a:chOff x="0" y="0"/>
          <a:chExt cx="0" cy="0"/>
        </a:xfrm>
      </p:grpSpPr>
      <p:sp>
        <p:nvSpPr>
          <p:cNvPr id="15"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5E0ADA31-13B1-4A22-9D85-C000610BA47D}" type="datetime6">
              <a:rPr lang="de-AT" smtClean="0"/>
              <a:t>September 26</a:t>
            </a:fld>
            <a:endParaRPr lang="de-DE"/>
          </a:p>
        </p:txBody>
      </p:sp>
      <p:sp>
        <p:nvSpPr>
          <p:cNvPr id="17"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9" name="Textplatzhalter"/>
          <p:cNvSpPr>
            <a:spLocks noGrp="1"/>
          </p:cNvSpPr>
          <p:nvPr>
            <p:ph type="body" sz="quarter" idx="12"/>
          </p:nvPr>
        </p:nvSpPr>
        <p:spPr>
          <a:xfrm>
            <a:off x="1200150" y="2332800"/>
            <a:ext cx="9791700" cy="3796538"/>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de-AT" noProof="0"/>
              <a:t>Mastertextformat bearbeiten</a:t>
            </a:r>
          </a:p>
          <a:p>
            <a:pPr lvl="1"/>
            <a:r>
              <a:rPr lang="de-AT" noProof="0"/>
              <a:t>Zweite Ebene</a:t>
            </a:r>
          </a:p>
          <a:p>
            <a:pPr lvl="2"/>
            <a:r>
              <a:rPr lang="de-AT" noProof="0"/>
              <a:t>Dritte Ebene</a:t>
            </a:r>
          </a:p>
          <a:p>
            <a:pPr lvl="3"/>
            <a:r>
              <a:rPr lang="de-AT" noProof="0"/>
              <a:t>Vierte Ebene</a:t>
            </a:r>
          </a:p>
          <a:p>
            <a:pPr lvl="4"/>
            <a:r>
              <a:rPr lang="de-AT" noProof="0"/>
              <a:t>Fünfte Ebene</a:t>
            </a:r>
          </a:p>
        </p:txBody>
      </p:sp>
      <p:sp>
        <p:nvSpPr>
          <p:cNvPr id="8" name="Untertitel 2"/>
          <p:cNvSpPr>
            <a:spLocks noGrp="1"/>
          </p:cNvSpPr>
          <p:nvPr>
            <p:ph type="subTitle" idx="1" hasCustomPrompt="1"/>
          </p:nvPr>
        </p:nvSpPr>
        <p:spPr>
          <a:xfrm>
            <a:off x="1200150" y="1854000"/>
            <a:ext cx="9791700" cy="261610"/>
          </a:xfrm>
        </p:spPr>
        <p:txBody>
          <a:bodyPr/>
          <a:lstStyle>
            <a:lvl1pPr marL="0" indent="0" algn="l">
              <a:buNone/>
              <a:defRPr sz="16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eingeben</a:t>
            </a:r>
          </a:p>
        </p:txBody>
      </p:sp>
      <p:sp>
        <p:nvSpPr>
          <p:cNvPr id="10" name="Textplatzhalter">
            <a:extLst>
              <a:ext uri="{FF2B5EF4-FFF2-40B4-BE49-F238E27FC236}">
                <a16:creationId xmlns:a16="http://schemas.microsoft.com/office/drawing/2014/main" id="{F6C2A28C-DEEB-6D4B-A39D-0799A7E54AD3}"/>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A811957E-76BB-8EFE-12EF-27B6E15A2318}"/>
              </a:ext>
            </a:extLst>
          </p:cNvPr>
          <p:cNvSpPr>
            <a:spLocks noGrp="1"/>
          </p:cNvSpPr>
          <p:nvPr>
            <p:ph type="ftr" sz="quarter" idx="14"/>
          </p:nvPr>
        </p:nvSpPr>
        <p:spPr/>
        <p:txBody>
          <a:bodyPr/>
          <a:lstStyle/>
          <a:p>
            <a:r>
              <a:rPr lang="de-AT"/>
              <a:t>Intern</a:t>
            </a:r>
          </a:p>
        </p:txBody>
      </p:sp>
    </p:spTree>
    <p:extLst>
      <p:ext uri="{BB962C8B-B14F-4D97-AF65-F5344CB8AC3E}">
        <p14:creationId xmlns:p14="http://schemas.microsoft.com/office/powerpoint/2010/main" val="3336391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1 Spalte">
    <p:spTree>
      <p:nvGrpSpPr>
        <p:cNvPr id="1" name=""/>
        <p:cNvGrpSpPr/>
        <p:nvPr/>
      </p:nvGrpSpPr>
      <p:grpSpPr>
        <a:xfrm>
          <a:off x="0" y="0"/>
          <a:ext cx="0" cy="0"/>
          <a:chOff x="0" y="0"/>
          <a:chExt cx="0" cy="0"/>
        </a:xfrm>
      </p:grpSpPr>
      <p:sp>
        <p:nvSpPr>
          <p:cNvPr id="7" name="Datumsplatzhalter"/>
          <p:cNvSpPr>
            <a:spLocks noGrp="1"/>
          </p:cNvSpPr>
          <p:nvPr>
            <p:ph type="dt" sz="half" idx="11"/>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73166F01-5A45-4936-8A38-1C4395D2CCC0}" type="datetime6">
              <a:rPr lang="de-AT" smtClean="0"/>
              <a:t>September 26</a:t>
            </a:fld>
            <a:endParaRPr lang="de-DE"/>
          </a:p>
        </p:txBody>
      </p:sp>
      <p:sp>
        <p:nvSpPr>
          <p:cNvPr id="8" name="Foliennummernplatzhalter"/>
          <p:cNvSpPr>
            <a:spLocks noGrp="1"/>
          </p:cNvSpPr>
          <p:nvPr>
            <p:ph type="sldNum" sz="quarter" idx="12"/>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6" name="Textplatzhalter"/>
          <p:cNvSpPr>
            <a:spLocks noGrp="1"/>
          </p:cNvSpPr>
          <p:nvPr>
            <p:ph type="body" sz="quarter" idx="10" hasCustomPrompt="1"/>
          </p:nvPr>
        </p:nvSpPr>
        <p:spPr>
          <a:xfrm>
            <a:off x="1200151" y="2332800"/>
            <a:ext cx="9791700" cy="3796538"/>
          </a:xfrm>
        </p:spPr>
        <p:txBody>
          <a:bodyPr/>
          <a:lstStyle>
            <a:lvl1pPr marL="0" indent="0">
              <a:spcBef>
                <a:spcPts val="0"/>
              </a:spcBef>
              <a:buFontTx/>
              <a:buNone/>
              <a:defRPr/>
            </a:lvl1pPr>
            <a:lvl2pPr marL="360000" indent="0">
              <a:buFontTx/>
              <a:buNone/>
              <a:defRPr/>
            </a:lvl2pPr>
            <a:lvl3pPr marL="540000" indent="0">
              <a:buFontTx/>
              <a:buNone/>
              <a:defRPr/>
            </a:lvl3pPr>
            <a:lvl4pPr marL="720000" indent="0">
              <a:buFontTx/>
              <a:buNone/>
              <a:defRPr/>
            </a:lvl4pPr>
            <a:lvl5pPr marL="900000" indent="0">
              <a:buFontTx/>
              <a:buNone/>
              <a:defRPr/>
            </a:lvl5pPr>
          </a:lstStyle>
          <a:p>
            <a:pPr lvl="0"/>
            <a:r>
              <a:rPr lang="de-DE"/>
              <a:t>Text eingeben</a:t>
            </a:r>
          </a:p>
        </p:txBody>
      </p:sp>
      <p:sp>
        <p:nvSpPr>
          <p:cNvPr id="4" name="Untertitel"/>
          <p:cNvSpPr>
            <a:spLocks noGrp="1"/>
          </p:cNvSpPr>
          <p:nvPr>
            <p:ph type="subTitle" idx="1" hasCustomPrompt="1"/>
          </p:nvPr>
        </p:nvSpPr>
        <p:spPr>
          <a:xfrm>
            <a:off x="1200151" y="1854000"/>
            <a:ext cx="9791700" cy="261610"/>
          </a:xfrm>
        </p:spPr>
        <p:txBody>
          <a:bodyPr/>
          <a:lstStyle>
            <a:lvl1pPr marL="0" indent="0" algn="l">
              <a:buNone/>
              <a:defRPr sz="16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eingeben</a:t>
            </a:r>
          </a:p>
        </p:txBody>
      </p:sp>
      <p:sp>
        <p:nvSpPr>
          <p:cNvPr id="9" name="Textplatzhalter">
            <a:extLst>
              <a:ext uri="{FF2B5EF4-FFF2-40B4-BE49-F238E27FC236}">
                <a16:creationId xmlns:a16="http://schemas.microsoft.com/office/drawing/2014/main" id="{B00343CF-CD00-D945-E8B7-2777AE9C6FCB}"/>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A3FC5436-8336-E644-A588-2CDFE30240E8}"/>
              </a:ext>
            </a:extLst>
          </p:cNvPr>
          <p:cNvSpPr>
            <a:spLocks noGrp="1"/>
          </p:cNvSpPr>
          <p:nvPr>
            <p:ph type="ftr" sz="quarter" idx="14"/>
          </p:nvPr>
        </p:nvSpPr>
        <p:spPr/>
        <p:txBody>
          <a:bodyPr/>
          <a:lstStyle/>
          <a:p>
            <a:r>
              <a:rPr lang="de-AT"/>
              <a:t>Intern</a:t>
            </a:r>
          </a:p>
        </p:txBody>
      </p:sp>
    </p:spTree>
    <p:extLst>
      <p:ext uri="{BB962C8B-B14F-4D97-AF65-F5344CB8AC3E}">
        <p14:creationId xmlns:p14="http://schemas.microsoft.com/office/powerpoint/2010/main" val="69700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2 Spalten">
    <p:spTree>
      <p:nvGrpSpPr>
        <p:cNvPr id="1" name=""/>
        <p:cNvGrpSpPr/>
        <p:nvPr/>
      </p:nvGrpSpPr>
      <p:grpSpPr>
        <a:xfrm>
          <a:off x="0" y="0"/>
          <a:ext cx="0" cy="0"/>
          <a:chOff x="0" y="0"/>
          <a:chExt cx="0" cy="0"/>
        </a:xfrm>
      </p:grpSpPr>
      <p:sp>
        <p:nvSpPr>
          <p:cNvPr id="14"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6C8302DD-5FE7-4D09-A524-F383EA99AD35}" type="datetime6">
              <a:rPr lang="de-AT" smtClean="0"/>
              <a:t>September 26</a:t>
            </a:fld>
            <a:endParaRPr lang="de-DE"/>
          </a:p>
        </p:txBody>
      </p:sp>
      <p:sp>
        <p:nvSpPr>
          <p:cNvPr id="15"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3" name="Textplatzhalter 1"/>
          <p:cNvSpPr>
            <a:spLocks noGrp="1"/>
          </p:cNvSpPr>
          <p:nvPr>
            <p:ph type="body" sz="quarter" idx="17" hasCustomPrompt="1"/>
          </p:nvPr>
        </p:nvSpPr>
        <p:spPr>
          <a:xfrm>
            <a:off x="1200152" y="1854000"/>
            <a:ext cx="4500000" cy="261610"/>
          </a:xfrm>
        </p:spPr>
        <p:txBody>
          <a:bodyPr/>
          <a:lstStyle>
            <a:lvl1pPr marL="0" indent="0">
              <a:buFontTx/>
              <a:buNone/>
              <a:defRPr sz="1600" b="1" i="0" baseline="0"/>
            </a:lvl1pPr>
          </a:lstStyle>
          <a:p>
            <a:pPr lvl="0"/>
            <a:r>
              <a:rPr lang="de-DE"/>
              <a:t>Headline eingeben</a:t>
            </a:r>
          </a:p>
        </p:txBody>
      </p:sp>
      <p:sp>
        <p:nvSpPr>
          <p:cNvPr id="18" name="Textplatzhalter 2"/>
          <p:cNvSpPr>
            <a:spLocks noGrp="1"/>
          </p:cNvSpPr>
          <p:nvPr>
            <p:ph type="body" sz="quarter" idx="18" hasCustomPrompt="1"/>
          </p:nvPr>
        </p:nvSpPr>
        <p:spPr>
          <a:xfrm>
            <a:off x="6488643" y="1854000"/>
            <a:ext cx="4500000" cy="261610"/>
          </a:xfrm>
        </p:spPr>
        <p:txBody>
          <a:bodyPr/>
          <a:lstStyle>
            <a:lvl1pPr marL="0" indent="0">
              <a:buFontTx/>
              <a:buNone/>
              <a:defRPr sz="1600" b="1" i="0" baseline="0"/>
            </a:lvl1pPr>
          </a:lstStyle>
          <a:p>
            <a:pPr lvl="0"/>
            <a:r>
              <a:rPr lang="de-DE"/>
              <a:t>Headline eingeben</a:t>
            </a:r>
          </a:p>
        </p:txBody>
      </p:sp>
      <p:sp>
        <p:nvSpPr>
          <p:cNvPr id="10" name="Textplatzhalter 3"/>
          <p:cNvSpPr>
            <a:spLocks noGrp="1"/>
          </p:cNvSpPr>
          <p:nvPr>
            <p:ph type="body" sz="quarter" idx="14" hasCustomPrompt="1"/>
          </p:nvPr>
        </p:nvSpPr>
        <p:spPr>
          <a:xfrm>
            <a:off x="1200152" y="2332800"/>
            <a:ext cx="4500000" cy="3796538"/>
          </a:xfrm>
        </p:spPr>
        <p:txBody>
          <a:bodyPr/>
          <a:lstStyle>
            <a:lvl1pPr marL="0" indent="0">
              <a:spcBef>
                <a:spcPts val="0"/>
              </a:spcBef>
              <a:buFontTx/>
              <a:buNone/>
              <a:defRPr sz="140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8" name="Textplatzhalter 4"/>
          <p:cNvSpPr>
            <a:spLocks noGrp="1"/>
          </p:cNvSpPr>
          <p:nvPr>
            <p:ph type="body" sz="quarter" idx="16" hasCustomPrompt="1"/>
          </p:nvPr>
        </p:nvSpPr>
        <p:spPr>
          <a:xfrm>
            <a:off x="6488643" y="2332800"/>
            <a:ext cx="4500000" cy="3796538"/>
          </a:xfrm>
        </p:spPr>
        <p:txBody>
          <a:bodyPr/>
          <a:lstStyle>
            <a:lvl1pPr marL="0" indent="0">
              <a:spcBef>
                <a:spcPts val="0"/>
              </a:spcBef>
              <a:buFontTx/>
              <a:buNone/>
              <a:defRPr sz="140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9" name="Textplatzhalter">
            <a:extLst>
              <a:ext uri="{FF2B5EF4-FFF2-40B4-BE49-F238E27FC236}">
                <a16:creationId xmlns:a16="http://schemas.microsoft.com/office/drawing/2014/main" id="{122C3CC9-A004-D9AF-844F-F89DC90F8197}"/>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9C055F94-7F1A-A09A-0768-21860BD28839}"/>
              </a:ext>
            </a:extLst>
          </p:cNvPr>
          <p:cNvSpPr>
            <a:spLocks noGrp="1"/>
          </p:cNvSpPr>
          <p:nvPr>
            <p:ph type="ftr" sz="quarter" idx="19"/>
          </p:nvPr>
        </p:nvSpPr>
        <p:spPr/>
        <p:txBody>
          <a:bodyPr/>
          <a:lstStyle/>
          <a:p>
            <a:r>
              <a:rPr lang="de-AT"/>
              <a:t>Intern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3 Spalten">
    <p:spTree>
      <p:nvGrpSpPr>
        <p:cNvPr id="1" name=""/>
        <p:cNvGrpSpPr/>
        <p:nvPr/>
      </p:nvGrpSpPr>
      <p:grpSpPr>
        <a:xfrm>
          <a:off x="0" y="0"/>
          <a:ext cx="0" cy="0"/>
          <a:chOff x="0" y="0"/>
          <a:chExt cx="0" cy="0"/>
        </a:xfrm>
      </p:grpSpPr>
      <p:sp>
        <p:nvSpPr>
          <p:cNvPr id="14"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A01A196D-D71A-4888-9C16-386CBB55026A}" type="datetime6">
              <a:rPr lang="de-AT" smtClean="0"/>
              <a:t>September 26</a:t>
            </a:fld>
            <a:endParaRPr lang="de-DE"/>
          </a:p>
        </p:txBody>
      </p:sp>
      <p:sp>
        <p:nvSpPr>
          <p:cNvPr id="15"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27" name="Textplatzhalter 1"/>
          <p:cNvSpPr>
            <a:spLocks noGrp="1"/>
          </p:cNvSpPr>
          <p:nvPr>
            <p:ph type="body" sz="quarter" idx="17" hasCustomPrompt="1"/>
          </p:nvPr>
        </p:nvSpPr>
        <p:spPr>
          <a:xfrm>
            <a:off x="1200152" y="1854000"/>
            <a:ext cx="3106800" cy="261610"/>
          </a:xfrm>
        </p:spPr>
        <p:txBody>
          <a:bodyPr/>
          <a:lstStyle>
            <a:lvl1pPr marL="0" indent="0">
              <a:buFontTx/>
              <a:buNone/>
              <a:defRPr sz="1600" b="1" i="0" baseline="0"/>
            </a:lvl1pPr>
          </a:lstStyle>
          <a:p>
            <a:pPr lvl="0"/>
            <a:r>
              <a:rPr lang="de-DE"/>
              <a:t>Headline eingeben</a:t>
            </a:r>
          </a:p>
        </p:txBody>
      </p:sp>
      <p:sp>
        <p:nvSpPr>
          <p:cNvPr id="28" name="Textplatzhalter 2"/>
          <p:cNvSpPr>
            <a:spLocks noGrp="1"/>
          </p:cNvSpPr>
          <p:nvPr>
            <p:ph type="body" sz="quarter" idx="19" hasCustomPrompt="1"/>
          </p:nvPr>
        </p:nvSpPr>
        <p:spPr>
          <a:xfrm>
            <a:off x="4542600" y="1854000"/>
            <a:ext cx="3106800" cy="261610"/>
          </a:xfrm>
        </p:spPr>
        <p:txBody>
          <a:bodyPr/>
          <a:lstStyle>
            <a:lvl1pPr marL="0" indent="0">
              <a:buFontTx/>
              <a:buNone/>
              <a:defRPr sz="1600" b="1" i="0" baseline="0"/>
            </a:lvl1pPr>
          </a:lstStyle>
          <a:p>
            <a:pPr lvl="0"/>
            <a:r>
              <a:rPr lang="de-DE"/>
              <a:t>Headline eingeben</a:t>
            </a:r>
          </a:p>
        </p:txBody>
      </p:sp>
      <p:sp>
        <p:nvSpPr>
          <p:cNvPr id="29" name="Textplatzhalter 3"/>
          <p:cNvSpPr>
            <a:spLocks noGrp="1"/>
          </p:cNvSpPr>
          <p:nvPr>
            <p:ph type="body" sz="quarter" idx="20" hasCustomPrompt="1"/>
          </p:nvPr>
        </p:nvSpPr>
        <p:spPr>
          <a:xfrm>
            <a:off x="7889680" y="1854000"/>
            <a:ext cx="3106800" cy="261610"/>
          </a:xfrm>
        </p:spPr>
        <p:txBody>
          <a:bodyPr/>
          <a:lstStyle>
            <a:lvl1pPr marL="0" indent="0">
              <a:buFontTx/>
              <a:buNone/>
              <a:defRPr sz="1600" b="1" i="0" baseline="0"/>
            </a:lvl1pPr>
          </a:lstStyle>
          <a:p>
            <a:pPr lvl="0"/>
            <a:r>
              <a:rPr lang="de-DE"/>
              <a:t>Headline eingeben</a:t>
            </a:r>
          </a:p>
        </p:txBody>
      </p:sp>
      <p:sp>
        <p:nvSpPr>
          <p:cNvPr id="10" name="Textplatzhalter 4"/>
          <p:cNvSpPr>
            <a:spLocks noGrp="1"/>
          </p:cNvSpPr>
          <p:nvPr>
            <p:ph type="body" sz="quarter" idx="14" hasCustomPrompt="1"/>
          </p:nvPr>
        </p:nvSpPr>
        <p:spPr>
          <a:xfrm>
            <a:off x="1200152" y="2332800"/>
            <a:ext cx="3106800" cy="3796538"/>
          </a:xfrm>
        </p:spPr>
        <p:txBody>
          <a:bodyPr/>
          <a:lstStyle>
            <a:lvl1pPr marL="0" indent="0">
              <a:spcBef>
                <a:spcPts val="0"/>
              </a:spcBef>
              <a:buFontTx/>
              <a:buNone/>
              <a:defRPr sz="1400" baseline="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2" name="Textplatzhalter 5"/>
          <p:cNvSpPr>
            <a:spLocks noGrp="1"/>
          </p:cNvSpPr>
          <p:nvPr>
            <p:ph type="body" sz="quarter" idx="16" hasCustomPrompt="1"/>
          </p:nvPr>
        </p:nvSpPr>
        <p:spPr>
          <a:xfrm>
            <a:off x="4542600" y="2332800"/>
            <a:ext cx="3106800" cy="3796538"/>
          </a:xfrm>
        </p:spPr>
        <p:txBody>
          <a:bodyPr/>
          <a:lstStyle>
            <a:lvl1pPr marL="0" indent="0">
              <a:spcBef>
                <a:spcPts val="0"/>
              </a:spcBef>
              <a:buFontTx/>
              <a:buNone/>
              <a:defRPr sz="1400" baseline="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7" name="Textplatzhalter 6"/>
          <p:cNvSpPr>
            <a:spLocks noGrp="1"/>
          </p:cNvSpPr>
          <p:nvPr>
            <p:ph type="body" sz="quarter" idx="18" hasCustomPrompt="1"/>
          </p:nvPr>
        </p:nvSpPr>
        <p:spPr>
          <a:xfrm>
            <a:off x="7889680" y="2332800"/>
            <a:ext cx="3106800" cy="3796538"/>
          </a:xfrm>
        </p:spPr>
        <p:txBody>
          <a:bodyPr/>
          <a:lstStyle>
            <a:lvl1pPr marL="0" indent="0">
              <a:spcBef>
                <a:spcPts val="0"/>
              </a:spcBef>
              <a:buFontTx/>
              <a:buNone/>
              <a:defRPr sz="1400" baseline="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3" name="Textplatzhalter">
            <a:extLst>
              <a:ext uri="{FF2B5EF4-FFF2-40B4-BE49-F238E27FC236}">
                <a16:creationId xmlns:a16="http://schemas.microsoft.com/office/drawing/2014/main" id="{7CDBFA79-00CC-F629-F752-FCC46BA5CC7B}"/>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3C2E9832-ACA6-4EFF-2778-6111BE6CF0CC}"/>
              </a:ext>
            </a:extLst>
          </p:cNvPr>
          <p:cNvSpPr>
            <a:spLocks noGrp="1"/>
          </p:cNvSpPr>
          <p:nvPr>
            <p:ph type="ftr" sz="quarter" idx="21"/>
          </p:nvPr>
        </p:nvSpPr>
        <p:spPr/>
        <p:txBody>
          <a:bodyPr/>
          <a:lstStyle/>
          <a:p>
            <a:r>
              <a:rPr lang="de-AT"/>
              <a:t>Intern</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3 Spalten animiert">
    <p:spTree>
      <p:nvGrpSpPr>
        <p:cNvPr id="1" name=""/>
        <p:cNvGrpSpPr/>
        <p:nvPr/>
      </p:nvGrpSpPr>
      <p:grpSpPr>
        <a:xfrm>
          <a:off x="0" y="0"/>
          <a:ext cx="0" cy="0"/>
          <a:chOff x="0" y="0"/>
          <a:chExt cx="0" cy="0"/>
        </a:xfrm>
      </p:grpSpPr>
      <p:sp>
        <p:nvSpPr>
          <p:cNvPr id="14"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31154392-9709-4C11-8098-BA77F87D04F3}" type="datetime6">
              <a:rPr lang="de-AT" smtClean="0"/>
              <a:t>September 26</a:t>
            </a:fld>
            <a:endParaRPr lang="de-DE"/>
          </a:p>
        </p:txBody>
      </p:sp>
      <p:sp>
        <p:nvSpPr>
          <p:cNvPr id="15"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3" name="Rechteck 1"/>
          <p:cNvSpPr/>
          <p:nvPr userDrawn="1"/>
        </p:nvSpPr>
        <p:spPr>
          <a:xfrm>
            <a:off x="1209601" y="1961823"/>
            <a:ext cx="3120000" cy="4167516"/>
          </a:xfrm>
          <a:prstGeom prst="rect">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a:p>
        </p:txBody>
      </p:sp>
      <p:sp>
        <p:nvSpPr>
          <p:cNvPr id="18" name="Teardrop 1"/>
          <p:cNvSpPr>
            <a:spLocks noChangeAspect="1"/>
          </p:cNvSpPr>
          <p:nvPr userDrawn="1"/>
        </p:nvSpPr>
        <p:spPr>
          <a:xfrm>
            <a:off x="1048226" y="1700213"/>
            <a:ext cx="542450" cy="540000"/>
          </a:xfrm>
          <a:prstGeom prst="ellipse">
            <a:avLst/>
          </a:prstGeom>
          <a:solidFill>
            <a:schemeClr val="accent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uk-UA" sz="1600" baseline="0">
              <a:latin typeface="+mn-lt"/>
              <a:ea typeface="Times" charset="0"/>
              <a:cs typeface="Times" charset="0"/>
            </a:endParaRPr>
          </a:p>
        </p:txBody>
      </p:sp>
      <p:sp>
        <p:nvSpPr>
          <p:cNvPr id="10" name="Textplatzhalter 1"/>
          <p:cNvSpPr>
            <a:spLocks noGrp="1"/>
          </p:cNvSpPr>
          <p:nvPr>
            <p:ph type="body" sz="quarter" idx="14" hasCustomPrompt="1"/>
          </p:nvPr>
        </p:nvSpPr>
        <p:spPr>
          <a:xfrm>
            <a:off x="1408224" y="2353338"/>
            <a:ext cx="2703033" cy="3602963"/>
          </a:xfrm>
        </p:spPr>
        <p:txBody>
          <a:bodyPr/>
          <a:lstStyle>
            <a:lvl1pPr marL="180000" indent="-180000">
              <a:spcBef>
                <a:spcPts val="1200"/>
              </a:spcBef>
              <a:buFont typeface="Wingdings" panose="05000000000000000000" pitchFamily="2" charset="2"/>
              <a:buChar char="§"/>
              <a:defRPr sz="1400" baseline="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27" name="Rechteck 2"/>
          <p:cNvSpPr/>
          <p:nvPr userDrawn="1"/>
        </p:nvSpPr>
        <p:spPr>
          <a:xfrm>
            <a:off x="4567322" y="1961823"/>
            <a:ext cx="3120000" cy="4167516"/>
          </a:xfrm>
          <a:prstGeom prst="rect">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a:p>
        </p:txBody>
      </p:sp>
      <p:sp>
        <p:nvSpPr>
          <p:cNvPr id="28" name="Teardrop 2"/>
          <p:cNvSpPr>
            <a:spLocks noChangeAspect="1"/>
          </p:cNvSpPr>
          <p:nvPr userDrawn="1"/>
        </p:nvSpPr>
        <p:spPr>
          <a:xfrm>
            <a:off x="4405947" y="1700213"/>
            <a:ext cx="542450" cy="540000"/>
          </a:xfrm>
          <a:prstGeom prst="ellipse">
            <a:avLst/>
          </a:prstGeom>
          <a:solidFill>
            <a:schemeClr val="accent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uk-UA" sz="1600" baseline="0">
              <a:latin typeface="+mn-lt"/>
              <a:ea typeface="Times" charset="0"/>
              <a:cs typeface="Times" charset="0"/>
            </a:endParaRPr>
          </a:p>
        </p:txBody>
      </p:sp>
      <p:sp>
        <p:nvSpPr>
          <p:cNvPr id="20" name="Textplatzhalter 2"/>
          <p:cNvSpPr>
            <a:spLocks noGrp="1"/>
          </p:cNvSpPr>
          <p:nvPr>
            <p:ph type="body" sz="quarter" idx="16" hasCustomPrompt="1"/>
          </p:nvPr>
        </p:nvSpPr>
        <p:spPr>
          <a:xfrm>
            <a:off x="4736134" y="2353337"/>
            <a:ext cx="2712484" cy="3602963"/>
          </a:xfrm>
        </p:spPr>
        <p:txBody>
          <a:bodyPr/>
          <a:lstStyle>
            <a:lvl1pPr marL="180000" indent="-180000">
              <a:spcBef>
                <a:spcPts val="1200"/>
              </a:spcBef>
              <a:buFont typeface="Wingdings" panose="05000000000000000000" pitchFamily="2" charset="2"/>
              <a:buChar char="§"/>
              <a:defRPr lang="de-AT" sz="1400" kern="1200" baseline="0" dirty="0">
                <a:solidFill>
                  <a:schemeClr val="tx1"/>
                </a:solidFill>
                <a:latin typeface="Arial" charset="0"/>
                <a:ea typeface="+mn-ea"/>
                <a:cs typeface="Century Gothic"/>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29" name="Rechteck 3"/>
          <p:cNvSpPr/>
          <p:nvPr userDrawn="1"/>
        </p:nvSpPr>
        <p:spPr>
          <a:xfrm>
            <a:off x="7925043" y="1970213"/>
            <a:ext cx="3120000" cy="4167516"/>
          </a:xfrm>
          <a:prstGeom prst="rect">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a:p>
        </p:txBody>
      </p:sp>
      <p:sp>
        <p:nvSpPr>
          <p:cNvPr id="30" name="Teardrop 3"/>
          <p:cNvSpPr>
            <a:spLocks noChangeAspect="1"/>
          </p:cNvSpPr>
          <p:nvPr userDrawn="1"/>
        </p:nvSpPr>
        <p:spPr>
          <a:xfrm>
            <a:off x="7763668" y="1708603"/>
            <a:ext cx="542450" cy="540000"/>
          </a:xfrm>
          <a:prstGeom prst="ellipse">
            <a:avLst/>
          </a:prstGeom>
          <a:solidFill>
            <a:schemeClr val="accent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0"/>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uk-UA" sz="1600" baseline="0">
              <a:latin typeface="+mn-lt"/>
              <a:ea typeface="Times" charset="0"/>
              <a:cs typeface="Times" charset="0"/>
            </a:endParaRPr>
          </a:p>
        </p:txBody>
      </p:sp>
      <p:sp>
        <p:nvSpPr>
          <p:cNvPr id="17" name="Textplatzhalter 3"/>
          <p:cNvSpPr>
            <a:spLocks noGrp="1"/>
          </p:cNvSpPr>
          <p:nvPr>
            <p:ph type="body" sz="quarter" idx="15" hasCustomPrompt="1"/>
          </p:nvPr>
        </p:nvSpPr>
        <p:spPr>
          <a:xfrm>
            <a:off x="8087401" y="2353339"/>
            <a:ext cx="2711331" cy="3602963"/>
          </a:xfrm>
        </p:spPr>
        <p:txBody>
          <a:bodyPr/>
          <a:lstStyle>
            <a:lvl1pPr marL="180000" indent="-180000">
              <a:spcBef>
                <a:spcPts val="1200"/>
              </a:spcBef>
              <a:buFont typeface="Wingdings" panose="05000000000000000000" pitchFamily="2" charset="2"/>
              <a:buChar char="§"/>
              <a:defRPr lang="de-AT" sz="1400" kern="1200" baseline="0" dirty="0">
                <a:solidFill>
                  <a:schemeClr val="tx1"/>
                </a:solidFill>
                <a:latin typeface="Arial" charset="0"/>
                <a:ea typeface="+mn-ea"/>
                <a:cs typeface="Century Gothic"/>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6" name="Textplatzhalter">
            <a:extLst>
              <a:ext uri="{FF2B5EF4-FFF2-40B4-BE49-F238E27FC236}">
                <a16:creationId xmlns:a16="http://schemas.microsoft.com/office/drawing/2014/main" id="{9DC26DC9-72A3-9DDF-47D4-BB0225BD9297}"/>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0E0CE22A-46B1-7131-5A5D-47EFFD5BF499}"/>
              </a:ext>
            </a:extLst>
          </p:cNvPr>
          <p:cNvSpPr>
            <a:spLocks noGrp="1"/>
          </p:cNvSpPr>
          <p:nvPr>
            <p:ph type="ftr" sz="quarter" idx="17"/>
          </p:nvPr>
        </p:nvSpPr>
        <p:spPr/>
        <p:txBody>
          <a:bodyPr/>
          <a:lstStyle/>
          <a:p>
            <a:r>
              <a:rPr lang="de-AT"/>
              <a:t>Intern</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itat/Hervorhebung">
    <p:spTree>
      <p:nvGrpSpPr>
        <p:cNvPr id="1" name=""/>
        <p:cNvGrpSpPr/>
        <p:nvPr/>
      </p:nvGrpSpPr>
      <p:grpSpPr>
        <a:xfrm>
          <a:off x="0" y="0"/>
          <a:ext cx="0" cy="0"/>
          <a:chOff x="0" y="0"/>
          <a:chExt cx="0" cy="0"/>
        </a:xfrm>
      </p:grpSpPr>
      <p:sp>
        <p:nvSpPr>
          <p:cNvPr id="17" name="Hintergrund Verlauf">
            <a:extLst>
              <a:ext uri="{FF2B5EF4-FFF2-40B4-BE49-F238E27FC236}">
                <a16:creationId xmlns:a16="http://schemas.microsoft.com/office/drawing/2014/main" id="{4F8D80C3-1066-F533-BBA9-2EADB8F308CD}"/>
              </a:ext>
            </a:extLst>
          </p:cNvPr>
          <p:cNvSpPr/>
          <p:nvPr userDrawn="1"/>
        </p:nvSpPr>
        <p:spPr bwMode="auto">
          <a:xfrm>
            <a:off x="0" y="1404000"/>
            <a:ext cx="12202610" cy="5454000"/>
          </a:xfrm>
          <a:prstGeom prst="rect">
            <a:avLst/>
          </a:prstGeom>
          <a:gradFill flip="none" rotWithShape="1">
            <a:gsLst>
              <a:gs pos="0">
                <a:schemeClr val="accent1">
                  <a:lumMod val="50000"/>
                </a:schemeClr>
              </a:gs>
              <a:gs pos="50000">
                <a:schemeClr val="accent1">
                  <a:lumMod val="75000"/>
                </a:schemeClr>
              </a:gs>
              <a:gs pos="100000">
                <a:schemeClr val="accent1">
                  <a:lumMod val="100000"/>
                </a:schemeClr>
              </a:gs>
            </a:gsLst>
            <a:lin ang="13500000" scaled="1"/>
            <a:tileRect/>
          </a:gradFill>
          <a:ln w="12700" cmpd="sng">
            <a:noFill/>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AT" sz="1400" b="0" i="0" strike="noStrike" cap="none" normalizeH="0" baseline="0">
              <a:ln>
                <a:noFill/>
              </a:ln>
              <a:solidFill>
                <a:schemeClr val="bg1"/>
              </a:solidFill>
              <a:effectLst/>
              <a:latin typeface="Arial" panose="020B0604020202020204" pitchFamily="34" charset="0"/>
              <a:cs typeface="Arial" panose="020B0604020202020204" pitchFamily="34" charset="0"/>
            </a:endParaRPr>
          </a:p>
        </p:txBody>
      </p:sp>
      <p:sp>
        <p:nvSpPr>
          <p:cNvPr id="16" name="Hintergrund Schatten">
            <a:extLst>
              <a:ext uri="{FF2B5EF4-FFF2-40B4-BE49-F238E27FC236}">
                <a16:creationId xmlns:a16="http://schemas.microsoft.com/office/drawing/2014/main" id="{BB07975F-0C74-822D-B872-9E461FB6D779}"/>
              </a:ext>
            </a:extLst>
          </p:cNvPr>
          <p:cNvSpPr/>
          <p:nvPr userDrawn="1"/>
        </p:nvSpPr>
        <p:spPr>
          <a:xfrm>
            <a:off x="0" y="0"/>
            <a:ext cx="12192000" cy="1411514"/>
          </a:xfrm>
          <a:prstGeom prst="rect">
            <a:avLst/>
          </a:prstGeom>
          <a:solidFill>
            <a:schemeClr val="bg1"/>
          </a:solidFill>
          <a:ln>
            <a:noFill/>
          </a:ln>
          <a:effectLst>
            <a:outerShdw blurRad="101600" dist="381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3" name="Textplatzhalter">
            <a:extLst>
              <a:ext uri="{FF2B5EF4-FFF2-40B4-BE49-F238E27FC236}">
                <a16:creationId xmlns:a16="http://schemas.microsoft.com/office/drawing/2014/main" id="{79183CC0-11C2-4138-221A-75ADCEBA8C6E}"/>
              </a:ext>
            </a:extLst>
          </p:cNvPr>
          <p:cNvSpPr>
            <a:spLocks noGrp="1"/>
          </p:cNvSpPr>
          <p:nvPr>
            <p:ph type="body" sz="quarter" idx="14"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12" name="Bildplatzhalter"/>
          <p:cNvSpPr>
            <a:spLocks noGrp="1"/>
          </p:cNvSpPr>
          <p:nvPr>
            <p:ph type="pic" sz="quarter" idx="13"/>
          </p:nvPr>
        </p:nvSpPr>
        <p:spPr>
          <a:xfrm>
            <a:off x="1200150" y="2324099"/>
            <a:ext cx="4523317" cy="3805237"/>
          </a:xfrm>
        </p:spPr>
        <p:txBody>
          <a:bodyPr lIns="144000" tIns="144000"/>
          <a:lstStyle>
            <a:lvl1pPr marL="0" indent="0">
              <a:spcBef>
                <a:spcPts val="0"/>
              </a:spcBef>
              <a:buFontTx/>
              <a:buNone/>
              <a:defRPr sz="1600">
                <a:solidFill>
                  <a:schemeClr val="bg1"/>
                </a:solidFill>
              </a:defRPr>
            </a:lvl1pPr>
          </a:lstStyle>
          <a:p>
            <a:endParaRPr lang="de-DE"/>
          </a:p>
        </p:txBody>
      </p:sp>
      <p:sp>
        <p:nvSpPr>
          <p:cNvPr id="4" name="Textplatzhalter"/>
          <p:cNvSpPr>
            <a:spLocks noGrp="1"/>
          </p:cNvSpPr>
          <p:nvPr>
            <p:ph type="body" sz="quarter" idx="10" hasCustomPrompt="1"/>
          </p:nvPr>
        </p:nvSpPr>
        <p:spPr>
          <a:xfrm>
            <a:off x="6468534" y="2324100"/>
            <a:ext cx="4523317" cy="3805238"/>
          </a:xfrm>
        </p:spPr>
        <p:txBody>
          <a:bodyPr anchor="t" anchorCtr="0"/>
          <a:lstStyle>
            <a:lvl1pPr marL="0" indent="0">
              <a:spcBef>
                <a:spcPts val="0"/>
              </a:spcBef>
              <a:buFontTx/>
              <a:buNone/>
              <a:defRPr sz="2300" b="0" i="0" baseline="0">
                <a:solidFill>
                  <a:schemeClr val="bg1"/>
                </a:solidFill>
              </a:defRPr>
            </a:lvl1pPr>
            <a:lvl2pPr marL="0" indent="0">
              <a:buFontTx/>
              <a:buNone/>
              <a:defRPr sz="2100" b="1" i="0" baseline="0"/>
            </a:lvl2pPr>
            <a:lvl3pPr marL="0" indent="0">
              <a:buFontTx/>
              <a:buNone/>
              <a:defRPr sz="2100" b="1" i="0" baseline="0"/>
            </a:lvl3pPr>
            <a:lvl4pPr marL="0" indent="0">
              <a:buFontTx/>
              <a:buNone/>
              <a:defRPr sz="2100" b="1" i="0" baseline="0"/>
            </a:lvl4pPr>
            <a:lvl5pPr marL="0" indent="0">
              <a:buFontTx/>
              <a:buNone/>
              <a:defRPr sz="2100" b="1" i="0" baseline="0"/>
            </a:lvl5pPr>
          </a:lstStyle>
          <a:p>
            <a:pPr lvl="0"/>
            <a:r>
              <a:rPr lang="de-DE"/>
              <a:t>Zitattext eingeben</a:t>
            </a:r>
          </a:p>
        </p:txBody>
      </p:sp>
      <p:sp>
        <p:nvSpPr>
          <p:cNvPr id="5" name="Textfeld"/>
          <p:cNvSpPr txBox="1"/>
          <p:nvPr userDrawn="1"/>
        </p:nvSpPr>
        <p:spPr>
          <a:xfrm>
            <a:off x="5844417" y="723781"/>
            <a:ext cx="1411705" cy="2308324"/>
          </a:xfrm>
          <a:prstGeom prst="rect">
            <a:avLst/>
          </a:prstGeom>
          <a:noFill/>
        </p:spPr>
        <p:txBody>
          <a:bodyPr wrap="square" lIns="0" tIns="0" rIns="0" bIns="0" rtlCol="0">
            <a:spAutoFit/>
          </a:bodyPr>
          <a:lstStyle/>
          <a:p>
            <a:r>
              <a:rPr lang="de-DE" sz="15000" spc="100" baseline="0">
                <a:solidFill>
                  <a:schemeClr val="bg1"/>
                </a:solidFill>
                <a:latin typeface="Arial" charset="0"/>
              </a:rPr>
              <a:t>„</a:t>
            </a:r>
          </a:p>
        </p:txBody>
      </p:sp>
      <p:pic>
        <p:nvPicPr>
          <p:cNvPr id="18" name="ITSV Logo">
            <a:extLst>
              <a:ext uri="{FF2B5EF4-FFF2-40B4-BE49-F238E27FC236}">
                <a16:creationId xmlns:a16="http://schemas.microsoft.com/office/drawing/2014/main" id="{FC92DC10-F66C-6D0B-C60D-D1198B2495A2}"/>
              </a:ext>
            </a:extLst>
          </p:cNvPr>
          <p:cNvPicPr>
            <a:picLocks noChangeAspect="1"/>
          </p:cNvPicPr>
          <p:nvPr userDrawn="1"/>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9745200" y="447787"/>
            <a:ext cx="1737771" cy="558000"/>
          </a:xfrm>
          <a:prstGeom prst="rect">
            <a:avLst/>
          </a:prstGeom>
        </p:spPr>
      </p:pic>
      <p:sp>
        <p:nvSpPr>
          <p:cNvPr id="19" name="Hashtag">
            <a:extLst>
              <a:ext uri="{FF2B5EF4-FFF2-40B4-BE49-F238E27FC236}">
                <a16:creationId xmlns:a16="http://schemas.microsoft.com/office/drawing/2014/main" id="{3FC2C583-B0B4-4C2D-1EFB-5AB3153135A1}"/>
              </a:ext>
            </a:extLst>
          </p:cNvPr>
          <p:cNvSpPr txBox="1"/>
          <p:nvPr userDrawn="1"/>
        </p:nvSpPr>
        <p:spPr>
          <a:xfrm>
            <a:off x="511949" y="387198"/>
            <a:ext cx="216000" cy="430887"/>
          </a:xfrm>
          <a:prstGeom prst="rect">
            <a:avLst/>
          </a:prstGeom>
          <a:noFill/>
        </p:spPr>
        <p:txBody>
          <a:bodyPr wrap="square" lIns="0" tIns="0" rIns="0" bIns="0" rtlCol="0">
            <a:noAutofit/>
          </a:bodyPr>
          <a:lstStyle/>
          <a:p>
            <a:r>
              <a:rPr lang="de-DE" sz="2800" b="1">
                <a:solidFill>
                  <a:schemeClr val="accent1"/>
                </a:solidFill>
              </a:rPr>
              <a:t>#</a:t>
            </a:r>
            <a:endParaRPr lang="de-AT" sz="2800" b="1">
              <a:solidFill>
                <a:schemeClr val="accent1"/>
              </a:solidFill>
            </a:endParaRPr>
          </a:p>
        </p:txBody>
      </p:sp>
      <p:sp>
        <p:nvSpPr>
          <p:cNvPr id="3" name="Datumsplatzhalter 2">
            <a:extLst>
              <a:ext uri="{FF2B5EF4-FFF2-40B4-BE49-F238E27FC236}">
                <a16:creationId xmlns:a16="http://schemas.microsoft.com/office/drawing/2014/main" id="{9A1032E1-432C-41AD-1B69-4AE9A9CA212B}"/>
              </a:ext>
            </a:extLst>
          </p:cNvPr>
          <p:cNvSpPr>
            <a:spLocks noGrp="1"/>
          </p:cNvSpPr>
          <p:nvPr>
            <p:ph type="dt" sz="half" idx="15"/>
          </p:nvPr>
        </p:nvSpPr>
        <p:spPr/>
        <p:txBody>
          <a:bodyPr/>
          <a:lstStyle/>
          <a:p>
            <a:fld id="{7CF8F79B-F005-4C24-929A-1EAE03E4525F}" type="datetime6">
              <a:rPr lang="de-AT" smtClean="0"/>
              <a:t>September 26</a:t>
            </a:fld>
            <a:endParaRPr lang="de-DE"/>
          </a:p>
        </p:txBody>
      </p:sp>
      <p:sp>
        <p:nvSpPr>
          <p:cNvPr id="6" name="Fußzeilenplatzhalter 5">
            <a:extLst>
              <a:ext uri="{FF2B5EF4-FFF2-40B4-BE49-F238E27FC236}">
                <a16:creationId xmlns:a16="http://schemas.microsoft.com/office/drawing/2014/main" id="{76D71FD6-626F-C022-49B5-5598D6DFBC03}"/>
              </a:ext>
            </a:extLst>
          </p:cNvPr>
          <p:cNvSpPr>
            <a:spLocks noGrp="1"/>
          </p:cNvSpPr>
          <p:nvPr>
            <p:ph type="ftr" sz="quarter" idx="16"/>
          </p:nvPr>
        </p:nvSpPr>
        <p:spPr/>
        <p:txBody>
          <a:bodyPr/>
          <a:lstStyle>
            <a:lvl1pPr>
              <a:defRPr>
                <a:solidFill>
                  <a:schemeClr val="bg1"/>
                </a:solidFill>
              </a:defRPr>
            </a:lvl1pPr>
          </a:lstStyle>
          <a:p>
            <a:r>
              <a:rPr lang="de-AT"/>
              <a:t>Intern</a:t>
            </a:r>
          </a:p>
        </p:txBody>
      </p:sp>
      <p:sp>
        <p:nvSpPr>
          <p:cNvPr id="7" name="Foliennummernplatzhalter 6">
            <a:extLst>
              <a:ext uri="{FF2B5EF4-FFF2-40B4-BE49-F238E27FC236}">
                <a16:creationId xmlns:a16="http://schemas.microsoft.com/office/drawing/2014/main" id="{6E3F1C7F-0C4E-869C-FBBC-6344DD1F33B5}"/>
              </a:ext>
            </a:extLst>
          </p:cNvPr>
          <p:cNvSpPr>
            <a:spLocks noGrp="1"/>
          </p:cNvSpPr>
          <p:nvPr>
            <p:ph type="sldNum" sz="quarter" idx="17"/>
          </p:nvPr>
        </p:nvSpPr>
        <p:spPr/>
        <p:txBody>
          <a:bodyPr/>
          <a:lstStyle/>
          <a:p>
            <a:fld id="{B173078B-BB6E-1F46-9B1D-61986BEC2CA1}" type="slidenum">
              <a:rPr lang="de-DE" smtClean="0"/>
              <a:pPr/>
              <a:t>‹#›</a:t>
            </a:fld>
            <a:endParaRPr lang="de-DE"/>
          </a:p>
        </p:txBody>
      </p:sp>
    </p:spTree>
    <p:extLst>
      <p:ext uri="{BB962C8B-B14F-4D97-AF65-F5344CB8AC3E}">
        <p14:creationId xmlns:p14="http://schemas.microsoft.com/office/powerpoint/2010/main" val="11528623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Bild">
    <p:spTree>
      <p:nvGrpSpPr>
        <p:cNvPr id="1" name=""/>
        <p:cNvGrpSpPr/>
        <p:nvPr/>
      </p:nvGrpSpPr>
      <p:grpSpPr>
        <a:xfrm>
          <a:off x="0" y="0"/>
          <a:ext cx="0" cy="0"/>
          <a:chOff x="0" y="0"/>
          <a:chExt cx="0" cy="0"/>
        </a:xfrm>
      </p:grpSpPr>
      <p:sp>
        <p:nvSpPr>
          <p:cNvPr id="3" name="Bildplatzhalter"/>
          <p:cNvSpPr>
            <a:spLocks noGrp="1"/>
          </p:cNvSpPr>
          <p:nvPr>
            <p:ph type="pic" sz="quarter" idx="17"/>
          </p:nvPr>
        </p:nvSpPr>
        <p:spPr>
          <a:xfrm>
            <a:off x="0" y="1404000"/>
            <a:ext cx="12192000" cy="4449600"/>
          </a:xfrm>
        </p:spPr>
        <p:txBody>
          <a:bodyPr lIns="144000" tIns="144000"/>
          <a:lstStyle>
            <a:lvl1pPr marL="0" indent="0">
              <a:spcBef>
                <a:spcPts val="0"/>
              </a:spcBef>
              <a:buFontTx/>
              <a:buNone/>
              <a:defRPr/>
            </a:lvl1pPr>
          </a:lstStyle>
          <a:p>
            <a:endParaRPr lang="de-DE"/>
          </a:p>
        </p:txBody>
      </p:sp>
      <p:sp>
        <p:nvSpPr>
          <p:cNvPr id="12"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11"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285D3C4D-193D-46F3-906D-47491A785DAA}" type="datetime6">
              <a:rPr lang="de-AT" smtClean="0"/>
              <a:t>September 26</a:t>
            </a:fld>
            <a:endParaRPr lang="de-DE"/>
          </a:p>
        </p:txBody>
      </p:sp>
      <p:sp>
        <p:nvSpPr>
          <p:cNvPr id="8" name="Textplatzhalter"/>
          <p:cNvSpPr>
            <a:spLocks noGrp="1"/>
          </p:cNvSpPr>
          <p:nvPr>
            <p:ph type="body" sz="quarter" idx="16" hasCustomPrompt="1"/>
          </p:nvPr>
        </p:nvSpPr>
        <p:spPr>
          <a:xfrm>
            <a:off x="720000" y="5987693"/>
            <a:ext cx="10264309" cy="196075"/>
          </a:xfrm>
        </p:spPr>
        <p:txBody>
          <a:bodyPr wrap="square">
            <a:noAutofit/>
          </a:bodyPr>
          <a:lstStyle>
            <a:lvl1pPr marL="0" indent="0">
              <a:spcBef>
                <a:spcPts val="0"/>
              </a:spcBef>
              <a:buFontTx/>
              <a:buNone/>
              <a:defRPr sz="1100" baseline="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9" name="Textplatzhalter">
            <a:extLst>
              <a:ext uri="{FF2B5EF4-FFF2-40B4-BE49-F238E27FC236}">
                <a16:creationId xmlns:a16="http://schemas.microsoft.com/office/drawing/2014/main" id="{399ECD2A-C4C3-87F8-D263-AACA623B9DC9}"/>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CC7382CA-D9D3-E69D-8538-987D11978218}"/>
              </a:ext>
            </a:extLst>
          </p:cNvPr>
          <p:cNvSpPr>
            <a:spLocks noGrp="1"/>
          </p:cNvSpPr>
          <p:nvPr>
            <p:ph type="ftr" sz="quarter" idx="18"/>
          </p:nvPr>
        </p:nvSpPr>
        <p:spPr/>
        <p:txBody>
          <a:bodyPr/>
          <a:lstStyle/>
          <a:p>
            <a:r>
              <a:rPr lang="de-AT"/>
              <a:t>Intern</a:t>
            </a:r>
          </a:p>
        </p:txBody>
      </p:sp>
    </p:spTree>
    <p:extLst>
      <p:ext uri="{BB962C8B-B14F-4D97-AF65-F5344CB8AC3E}">
        <p14:creationId xmlns:p14="http://schemas.microsoft.com/office/powerpoint/2010/main" val="1805185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Bilder">
    <p:spTree>
      <p:nvGrpSpPr>
        <p:cNvPr id="1" name=""/>
        <p:cNvGrpSpPr/>
        <p:nvPr/>
      </p:nvGrpSpPr>
      <p:grpSpPr>
        <a:xfrm>
          <a:off x="0" y="0"/>
          <a:ext cx="0" cy="0"/>
          <a:chOff x="0" y="0"/>
          <a:chExt cx="0" cy="0"/>
        </a:xfrm>
      </p:grpSpPr>
      <p:sp>
        <p:nvSpPr>
          <p:cNvPr id="12"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2" name="Hintergrund Weiss">
            <a:extLst>
              <a:ext uri="{FF2B5EF4-FFF2-40B4-BE49-F238E27FC236}">
                <a16:creationId xmlns:a16="http://schemas.microsoft.com/office/drawing/2014/main" id="{E172B866-A96B-5EB6-5D53-3C1CF47013D7}"/>
              </a:ext>
            </a:extLst>
          </p:cNvPr>
          <p:cNvSpPr/>
          <p:nvPr userDrawn="1"/>
        </p:nvSpPr>
        <p:spPr>
          <a:xfrm>
            <a:off x="0" y="1349999"/>
            <a:ext cx="12192001" cy="159640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1"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E8159541-1A5E-4C7A-8953-F5AFD434E8E8}" type="datetime6">
              <a:rPr lang="de-AT" smtClean="0"/>
              <a:t>September 26</a:t>
            </a:fld>
            <a:endParaRPr lang="de-DE"/>
          </a:p>
        </p:txBody>
      </p:sp>
      <p:sp>
        <p:nvSpPr>
          <p:cNvPr id="3" name="Bildplatzhalter 1"/>
          <p:cNvSpPr>
            <a:spLocks noGrp="1"/>
          </p:cNvSpPr>
          <p:nvPr>
            <p:ph type="pic" sz="quarter" idx="17"/>
          </p:nvPr>
        </p:nvSpPr>
        <p:spPr>
          <a:xfrm>
            <a:off x="0" y="1404000"/>
            <a:ext cx="5976126" cy="4449600"/>
          </a:xfrm>
        </p:spPr>
        <p:txBody>
          <a:bodyPr lIns="144000" tIns="144000"/>
          <a:lstStyle>
            <a:lvl1pPr marL="0" indent="0">
              <a:spcBef>
                <a:spcPts val="0"/>
              </a:spcBef>
              <a:buFontTx/>
              <a:buNone/>
              <a:defRPr/>
            </a:lvl1pPr>
          </a:lstStyle>
          <a:p>
            <a:endParaRPr lang="de-DE"/>
          </a:p>
        </p:txBody>
      </p:sp>
      <p:sp>
        <p:nvSpPr>
          <p:cNvPr id="8" name="Textplatzhalter 1"/>
          <p:cNvSpPr>
            <a:spLocks noGrp="1"/>
          </p:cNvSpPr>
          <p:nvPr>
            <p:ph type="body" sz="quarter" idx="16" hasCustomPrompt="1"/>
          </p:nvPr>
        </p:nvSpPr>
        <p:spPr>
          <a:xfrm>
            <a:off x="719666" y="5986800"/>
            <a:ext cx="5256459" cy="198000"/>
          </a:xfrm>
        </p:spPr>
        <p:txBody>
          <a:bodyPr wrap="square">
            <a:noAutofit/>
          </a:bodyPr>
          <a:lstStyle>
            <a:lvl1pPr marL="0" indent="0">
              <a:spcBef>
                <a:spcPts val="0"/>
              </a:spcBef>
              <a:buFontTx/>
              <a:buNone/>
              <a:defRPr sz="1100" baseline="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0" name="Bildplatzhalter 2"/>
          <p:cNvSpPr>
            <a:spLocks noGrp="1"/>
          </p:cNvSpPr>
          <p:nvPr>
            <p:ph type="pic" sz="quarter" idx="19"/>
          </p:nvPr>
        </p:nvSpPr>
        <p:spPr>
          <a:xfrm>
            <a:off x="6275907" y="1404000"/>
            <a:ext cx="5916093" cy="4449600"/>
          </a:xfrm>
        </p:spPr>
        <p:txBody>
          <a:bodyPr lIns="144000" tIns="144000"/>
          <a:lstStyle>
            <a:lvl1pPr marL="0" indent="0">
              <a:spcBef>
                <a:spcPts val="0"/>
              </a:spcBef>
              <a:buFontTx/>
              <a:buNone/>
              <a:defRPr/>
            </a:lvl1pPr>
          </a:lstStyle>
          <a:p>
            <a:endParaRPr lang="de-DE"/>
          </a:p>
        </p:txBody>
      </p:sp>
      <p:sp>
        <p:nvSpPr>
          <p:cNvPr id="9" name="Textplatzhalter 2"/>
          <p:cNvSpPr>
            <a:spLocks noGrp="1"/>
          </p:cNvSpPr>
          <p:nvPr>
            <p:ph type="body" sz="quarter" idx="18" hasCustomPrompt="1"/>
          </p:nvPr>
        </p:nvSpPr>
        <p:spPr>
          <a:xfrm>
            <a:off x="6215874" y="5986799"/>
            <a:ext cx="5256989" cy="198000"/>
          </a:xfrm>
        </p:spPr>
        <p:txBody>
          <a:bodyPr wrap="square">
            <a:noAutofit/>
          </a:bodyPr>
          <a:lstStyle>
            <a:lvl1pPr marL="0" indent="0">
              <a:spcBef>
                <a:spcPts val="0"/>
              </a:spcBef>
              <a:buFontTx/>
              <a:buNone/>
              <a:defRPr sz="1100" baseline="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3" name="Textplatzhalter">
            <a:extLst>
              <a:ext uri="{FF2B5EF4-FFF2-40B4-BE49-F238E27FC236}">
                <a16:creationId xmlns:a16="http://schemas.microsoft.com/office/drawing/2014/main" id="{DF4A5B86-5089-BD48-06A4-8E907603C7F2}"/>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4" name="Fußzeilenplatzhalter 3">
            <a:extLst>
              <a:ext uri="{FF2B5EF4-FFF2-40B4-BE49-F238E27FC236}">
                <a16:creationId xmlns:a16="http://schemas.microsoft.com/office/drawing/2014/main" id="{71DBDE0E-469C-5E36-B50A-CB66549591CF}"/>
              </a:ext>
            </a:extLst>
          </p:cNvPr>
          <p:cNvSpPr>
            <a:spLocks noGrp="1"/>
          </p:cNvSpPr>
          <p:nvPr>
            <p:ph type="ftr" sz="quarter" idx="20"/>
          </p:nvPr>
        </p:nvSpPr>
        <p:spPr/>
        <p:txBody>
          <a:bodyPr/>
          <a:lstStyle/>
          <a:p>
            <a:r>
              <a:rPr lang="de-AT"/>
              <a:t>Intern</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Bilder und Text">
    <p:spTree>
      <p:nvGrpSpPr>
        <p:cNvPr id="1" name=""/>
        <p:cNvGrpSpPr/>
        <p:nvPr/>
      </p:nvGrpSpPr>
      <p:grpSpPr>
        <a:xfrm>
          <a:off x="0" y="0"/>
          <a:ext cx="0" cy="0"/>
          <a:chOff x="0" y="0"/>
          <a:chExt cx="0" cy="0"/>
        </a:xfrm>
      </p:grpSpPr>
      <p:sp>
        <p:nvSpPr>
          <p:cNvPr id="14"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588AC54D-6568-4DC3-B447-F70606A786A0}" type="datetime6">
              <a:rPr lang="de-AT" smtClean="0"/>
              <a:t>September 26</a:t>
            </a:fld>
            <a:endParaRPr lang="de-DE"/>
          </a:p>
        </p:txBody>
      </p:sp>
      <p:sp>
        <p:nvSpPr>
          <p:cNvPr id="15"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10" name="Textplatzhalter 1"/>
          <p:cNvSpPr>
            <a:spLocks noGrp="1"/>
          </p:cNvSpPr>
          <p:nvPr>
            <p:ph type="body" sz="quarter" idx="14" hasCustomPrompt="1"/>
          </p:nvPr>
        </p:nvSpPr>
        <p:spPr>
          <a:xfrm>
            <a:off x="1200151" y="4209507"/>
            <a:ext cx="3106800" cy="1919831"/>
          </a:xfrm>
        </p:spPr>
        <p:txBody>
          <a:bodyPr/>
          <a:lstStyle>
            <a:lvl1pPr marL="0" indent="0">
              <a:spcBef>
                <a:spcPts val="0"/>
              </a:spcBef>
              <a:buFontTx/>
              <a:buNone/>
              <a:defRPr sz="1400" baseline="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2" name="Textplatzhalter 2"/>
          <p:cNvSpPr>
            <a:spLocks noGrp="1"/>
          </p:cNvSpPr>
          <p:nvPr>
            <p:ph type="body" sz="quarter" idx="16" hasCustomPrompt="1"/>
          </p:nvPr>
        </p:nvSpPr>
        <p:spPr>
          <a:xfrm>
            <a:off x="4542600" y="4209507"/>
            <a:ext cx="3106800" cy="1919831"/>
          </a:xfrm>
        </p:spPr>
        <p:txBody>
          <a:bodyPr/>
          <a:lstStyle>
            <a:lvl1pPr marL="0" indent="0">
              <a:spcBef>
                <a:spcPts val="0"/>
              </a:spcBef>
              <a:buFontTx/>
              <a:buNone/>
              <a:defRPr sz="1400" baseline="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7" name="Textplatzhalter 3"/>
          <p:cNvSpPr>
            <a:spLocks noGrp="1"/>
          </p:cNvSpPr>
          <p:nvPr>
            <p:ph type="body" sz="quarter" idx="18" hasCustomPrompt="1"/>
          </p:nvPr>
        </p:nvSpPr>
        <p:spPr>
          <a:xfrm>
            <a:off x="7889479" y="4209507"/>
            <a:ext cx="3106800" cy="1919831"/>
          </a:xfrm>
        </p:spPr>
        <p:txBody>
          <a:bodyPr/>
          <a:lstStyle>
            <a:lvl1pPr marL="0" indent="0">
              <a:spcBef>
                <a:spcPts val="0"/>
              </a:spcBef>
              <a:buFontTx/>
              <a:buNone/>
              <a:defRPr sz="1400" baseline="0"/>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3" name="Textplatzhalter">
            <a:extLst>
              <a:ext uri="{FF2B5EF4-FFF2-40B4-BE49-F238E27FC236}">
                <a16:creationId xmlns:a16="http://schemas.microsoft.com/office/drawing/2014/main" id="{7CDBFA79-00CC-F629-F752-FCC46BA5CC7B}"/>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16" name="Bildplatzhalter 2">
            <a:extLst>
              <a:ext uri="{FF2B5EF4-FFF2-40B4-BE49-F238E27FC236}">
                <a16:creationId xmlns:a16="http://schemas.microsoft.com/office/drawing/2014/main" id="{673E13E5-7BDC-3627-80F6-5E8982D0EE64}"/>
              </a:ext>
            </a:extLst>
          </p:cNvPr>
          <p:cNvSpPr>
            <a:spLocks noGrp="1"/>
          </p:cNvSpPr>
          <p:nvPr>
            <p:ph type="pic" sz="quarter" idx="21"/>
          </p:nvPr>
        </p:nvSpPr>
        <p:spPr>
          <a:xfrm>
            <a:off x="1200151" y="1859843"/>
            <a:ext cx="3106800" cy="1710958"/>
          </a:xfrm>
        </p:spPr>
        <p:txBody>
          <a:bodyPr lIns="144000" tIns="144000"/>
          <a:lstStyle>
            <a:lvl1pPr marL="0" indent="0">
              <a:spcBef>
                <a:spcPts val="0"/>
              </a:spcBef>
              <a:buFontTx/>
              <a:buNone/>
              <a:defRPr/>
            </a:lvl1pPr>
          </a:lstStyle>
          <a:p>
            <a:endParaRPr lang="de-DE"/>
          </a:p>
        </p:txBody>
      </p:sp>
      <p:sp>
        <p:nvSpPr>
          <p:cNvPr id="18" name="Bildplatzhalter 2">
            <a:extLst>
              <a:ext uri="{FF2B5EF4-FFF2-40B4-BE49-F238E27FC236}">
                <a16:creationId xmlns:a16="http://schemas.microsoft.com/office/drawing/2014/main" id="{34C30CF4-614D-E8D0-8E0E-4647B5927E5D}"/>
              </a:ext>
            </a:extLst>
          </p:cNvPr>
          <p:cNvSpPr>
            <a:spLocks noGrp="1"/>
          </p:cNvSpPr>
          <p:nvPr>
            <p:ph type="pic" sz="quarter" idx="22"/>
          </p:nvPr>
        </p:nvSpPr>
        <p:spPr>
          <a:xfrm>
            <a:off x="7890899" y="1859844"/>
            <a:ext cx="3106800" cy="1710958"/>
          </a:xfrm>
        </p:spPr>
        <p:txBody>
          <a:bodyPr lIns="144000" tIns="144000"/>
          <a:lstStyle>
            <a:lvl1pPr marL="0" indent="0">
              <a:spcBef>
                <a:spcPts val="0"/>
              </a:spcBef>
              <a:buFontTx/>
              <a:buNone/>
              <a:defRPr/>
            </a:lvl1pPr>
          </a:lstStyle>
          <a:p>
            <a:endParaRPr lang="de-DE"/>
          </a:p>
        </p:txBody>
      </p:sp>
      <p:sp>
        <p:nvSpPr>
          <p:cNvPr id="19" name="Bildplatzhalter 2">
            <a:extLst>
              <a:ext uri="{FF2B5EF4-FFF2-40B4-BE49-F238E27FC236}">
                <a16:creationId xmlns:a16="http://schemas.microsoft.com/office/drawing/2014/main" id="{BD878561-F1C6-3453-5BCA-D24BE5584F79}"/>
              </a:ext>
            </a:extLst>
          </p:cNvPr>
          <p:cNvSpPr>
            <a:spLocks noGrp="1"/>
          </p:cNvSpPr>
          <p:nvPr>
            <p:ph type="pic" sz="quarter" idx="23"/>
          </p:nvPr>
        </p:nvSpPr>
        <p:spPr>
          <a:xfrm>
            <a:off x="4542600" y="1859843"/>
            <a:ext cx="3106800" cy="1710958"/>
          </a:xfrm>
        </p:spPr>
        <p:txBody>
          <a:bodyPr lIns="144000" tIns="144000"/>
          <a:lstStyle>
            <a:lvl1pPr marL="0" indent="0">
              <a:spcBef>
                <a:spcPts val="0"/>
              </a:spcBef>
              <a:buFontTx/>
              <a:buNone/>
              <a:defRPr/>
            </a:lvl1pPr>
          </a:lstStyle>
          <a:p>
            <a:endParaRPr lang="de-DE"/>
          </a:p>
        </p:txBody>
      </p:sp>
      <p:sp>
        <p:nvSpPr>
          <p:cNvPr id="20" name="Textplatzhalter 1">
            <a:extLst>
              <a:ext uri="{FF2B5EF4-FFF2-40B4-BE49-F238E27FC236}">
                <a16:creationId xmlns:a16="http://schemas.microsoft.com/office/drawing/2014/main" id="{EFACAB97-4A98-57FE-F53D-335943F68731}"/>
              </a:ext>
            </a:extLst>
          </p:cNvPr>
          <p:cNvSpPr>
            <a:spLocks noGrp="1"/>
          </p:cNvSpPr>
          <p:nvPr>
            <p:ph type="body" sz="quarter" idx="17" hasCustomPrompt="1"/>
          </p:nvPr>
        </p:nvSpPr>
        <p:spPr>
          <a:xfrm>
            <a:off x="1200151" y="3688166"/>
            <a:ext cx="3106800" cy="468000"/>
          </a:xfrm>
        </p:spPr>
        <p:txBody>
          <a:bodyPr/>
          <a:lstStyle>
            <a:lvl1pPr marL="0" indent="0">
              <a:spcBef>
                <a:spcPts val="0"/>
              </a:spcBef>
              <a:buFontTx/>
              <a:buNone/>
              <a:defRPr sz="1400" b="1" i="0" baseline="0"/>
            </a:lvl1pPr>
          </a:lstStyle>
          <a:p>
            <a:pPr lvl="0"/>
            <a:r>
              <a:rPr lang="de-DE"/>
              <a:t>Headline eingeben</a:t>
            </a:r>
          </a:p>
        </p:txBody>
      </p:sp>
      <p:sp>
        <p:nvSpPr>
          <p:cNvPr id="21" name="Textplatzhalter 2">
            <a:extLst>
              <a:ext uri="{FF2B5EF4-FFF2-40B4-BE49-F238E27FC236}">
                <a16:creationId xmlns:a16="http://schemas.microsoft.com/office/drawing/2014/main" id="{E57412DC-7A67-E6F2-637B-AC39A451E7AF}"/>
              </a:ext>
            </a:extLst>
          </p:cNvPr>
          <p:cNvSpPr>
            <a:spLocks noGrp="1"/>
          </p:cNvSpPr>
          <p:nvPr>
            <p:ph type="body" sz="quarter" idx="19" hasCustomPrompt="1"/>
          </p:nvPr>
        </p:nvSpPr>
        <p:spPr>
          <a:xfrm>
            <a:off x="4542600" y="3688166"/>
            <a:ext cx="3106800" cy="468000"/>
          </a:xfrm>
        </p:spPr>
        <p:txBody>
          <a:bodyPr/>
          <a:lstStyle>
            <a:lvl1pPr marL="0" indent="0">
              <a:spcBef>
                <a:spcPts val="0"/>
              </a:spcBef>
              <a:buFontTx/>
              <a:buNone/>
              <a:defRPr sz="1400" b="1" i="0" baseline="0"/>
            </a:lvl1pPr>
          </a:lstStyle>
          <a:p>
            <a:pPr lvl="0"/>
            <a:r>
              <a:rPr lang="de-DE"/>
              <a:t>Headline eingeben</a:t>
            </a:r>
          </a:p>
        </p:txBody>
      </p:sp>
      <p:sp>
        <p:nvSpPr>
          <p:cNvPr id="22" name="Textplatzhalter 3">
            <a:extLst>
              <a:ext uri="{FF2B5EF4-FFF2-40B4-BE49-F238E27FC236}">
                <a16:creationId xmlns:a16="http://schemas.microsoft.com/office/drawing/2014/main" id="{2619F462-4459-9F5F-EB00-1DB59B0F1412}"/>
              </a:ext>
            </a:extLst>
          </p:cNvPr>
          <p:cNvSpPr>
            <a:spLocks noGrp="1"/>
          </p:cNvSpPr>
          <p:nvPr>
            <p:ph type="body" sz="quarter" idx="20" hasCustomPrompt="1"/>
          </p:nvPr>
        </p:nvSpPr>
        <p:spPr>
          <a:xfrm>
            <a:off x="7889480" y="3688166"/>
            <a:ext cx="3106800" cy="468000"/>
          </a:xfrm>
        </p:spPr>
        <p:txBody>
          <a:bodyPr/>
          <a:lstStyle>
            <a:lvl1pPr marL="0" indent="0">
              <a:spcBef>
                <a:spcPts val="0"/>
              </a:spcBef>
              <a:buFontTx/>
              <a:buNone/>
              <a:defRPr sz="1400" b="1" i="0" baseline="0"/>
            </a:lvl1pPr>
          </a:lstStyle>
          <a:p>
            <a:pPr lvl="0"/>
            <a:r>
              <a:rPr lang="de-DE"/>
              <a:t>Headline eingeben</a:t>
            </a:r>
          </a:p>
        </p:txBody>
      </p:sp>
      <p:sp>
        <p:nvSpPr>
          <p:cNvPr id="2" name="Fußzeilenplatzhalter 1">
            <a:extLst>
              <a:ext uri="{FF2B5EF4-FFF2-40B4-BE49-F238E27FC236}">
                <a16:creationId xmlns:a16="http://schemas.microsoft.com/office/drawing/2014/main" id="{F5E0FF6B-1D19-63C4-1E77-50A132C13B65}"/>
              </a:ext>
            </a:extLst>
          </p:cNvPr>
          <p:cNvSpPr>
            <a:spLocks noGrp="1"/>
          </p:cNvSpPr>
          <p:nvPr>
            <p:ph type="ftr" sz="quarter" idx="24"/>
          </p:nvPr>
        </p:nvSpPr>
        <p:spPr/>
        <p:txBody>
          <a:bodyPr/>
          <a:lstStyle/>
          <a:p>
            <a:r>
              <a:rPr lang="de-AT"/>
              <a:t>Intern</a:t>
            </a:r>
          </a:p>
        </p:txBody>
      </p:sp>
    </p:spTree>
    <p:extLst>
      <p:ext uri="{BB962C8B-B14F-4D97-AF65-F5344CB8AC3E}">
        <p14:creationId xmlns:p14="http://schemas.microsoft.com/office/powerpoint/2010/main" val="35620921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ld und Text animiert">
    <p:spTree>
      <p:nvGrpSpPr>
        <p:cNvPr id="1" name=""/>
        <p:cNvGrpSpPr/>
        <p:nvPr/>
      </p:nvGrpSpPr>
      <p:grpSpPr>
        <a:xfrm>
          <a:off x="0" y="0"/>
          <a:ext cx="0" cy="0"/>
          <a:chOff x="0" y="0"/>
          <a:chExt cx="0" cy="0"/>
        </a:xfrm>
      </p:grpSpPr>
      <p:sp>
        <p:nvSpPr>
          <p:cNvPr id="14"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9"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889C85F9-6C2E-4C1A-B608-BCA81E7BB3A9}" type="datetime6">
              <a:rPr lang="de-AT" smtClean="0"/>
              <a:t>September 26</a:t>
            </a:fld>
            <a:endParaRPr lang="de-DE"/>
          </a:p>
        </p:txBody>
      </p:sp>
      <p:sp>
        <p:nvSpPr>
          <p:cNvPr id="3" name="Bildplatzhalter"/>
          <p:cNvSpPr>
            <a:spLocks noGrp="1"/>
          </p:cNvSpPr>
          <p:nvPr>
            <p:ph type="pic" sz="quarter" idx="17"/>
          </p:nvPr>
        </p:nvSpPr>
        <p:spPr>
          <a:xfrm>
            <a:off x="0" y="1404000"/>
            <a:ext cx="6096000" cy="4721738"/>
          </a:xfrm>
        </p:spPr>
        <p:txBody>
          <a:bodyPr lIns="144000" tIns="144000"/>
          <a:lstStyle>
            <a:lvl1pPr marL="0" indent="0">
              <a:spcBef>
                <a:spcPts val="0"/>
              </a:spcBef>
              <a:buFontTx/>
              <a:buNone/>
              <a:defRPr/>
            </a:lvl1pPr>
          </a:lstStyle>
          <a:p>
            <a:endParaRPr lang="de-DE"/>
          </a:p>
        </p:txBody>
      </p:sp>
      <p:sp>
        <p:nvSpPr>
          <p:cNvPr id="2" name="Hintergrund">
            <a:extLst>
              <a:ext uri="{FF2B5EF4-FFF2-40B4-BE49-F238E27FC236}">
                <a16:creationId xmlns:a16="http://schemas.microsoft.com/office/drawing/2014/main" id="{999DECDE-83BB-B86A-2E1B-70B0572B018F}"/>
              </a:ext>
            </a:extLst>
          </p:cNvPr>
          <p:cNvSpPr/>
          <p:nvPr userDrawn="1"/>
        </p:nvSpPr>
        <p:spPr>
          <a:xfrm>
            <a:off x="6096000" y="1407600"/>
            <a:ext cx="6096000" cy="4721738"/>
          </a:xfrm>
          <a:prstGeom prst="rect">
            <a:avLst/>
          </a:prstGeom>
          <a:gradFill>
            <a:gsLst>
              <a:gs pos="50000">
                <a:schemeClr val="accent1">
                  <a:lumMod val="75000"/>
                </a:schemeClr>
              </a:gs>
              <a:gs pos="0">
                <a:schemeClr val="accent1">
                  <a:lumMod val="50000"/>
                </a:schemeClr>
              </a:gs>
              <a:gs pos="100000">
                <a:schemeClr val="accent1"/>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7" name="Balken">
            <a:extLst>
              <a:ext uri="{FF2B5EF4-FFF2-40B4-BE49-F238E27FC236}">
                <a16:creationId xmlns:a16="http://schemas.microsoft.com/office/drawing/2014/main" id="{0469BAD0-F882-3CAE-F495-0DBEB87A1A14}"/>
              </a:ext>
            </a:extLst>
          </p:cNvPr>
          <p:cNvSpPr/>
          <p:nvPr userDrawn="1"/>
        </p:nvSpPr>
        <p:spPr>
          <a:xfrm>
            <a:off x="6095999" y="1404000"/>
            <a:ext cx="6096000" cy="536400"/>
          </a:xfrm>
          <a:prstGeom prst="rect">
            <a:avLst/>
          </a:prstGeom>
          <a:solidFill>
            <a:schemeClr val="tx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5" name="Textplatzhalter 2"/>
          <p:cNvSpPr>
            <a:spLocks noGrp="1"/>
          </p:cNvSpPr>
          <p:nvPr>
            <p:ph type="body" sz="quarter" idx="14" hasCustomPrompt="1"/>
          </p:nvPr>
        </p:nvSpPr>
        <p:spPr>
          <a:xfrm>
            <a:off x="6622787" y="2441574"/>
            <a:ext cx="4850076" cy="3151607"/>
          </a:xfrm>
        </p:spPr>
        <p:txBody>
          <a:bodyPr/>
          <a:lstStyle>
            <a:lvl1pPr marL="288000" indent="-288000">
              <a:spcBef>
                <a:spcPts val="1200"/>
              </a:spcBef>
              <a:buClr>
                <a:schemeClr val="bg1"/>
              </a:buClr>
              <a:buFont typeface="+mj-lt"/>
              <a:buAutoNum type="arabicPeriod"/>
              <a:defRPr sz="1400" baseline="0">
                <a:solidFill>
                  <a:schemeClr val="bg2"/>
                </a:solidFill>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6" name="Textplatzhalter 1"/>
          <p:cNvSpPr>
            <a:spLocks noGrp="1" noChangeAspect="1"/>
          </p:cNvSpPr>
          <p:nvPr>
            <p:ph type="body" sz="quarter" idx="18" hasCustomPrompt="1"/>
          </p:nvPr>
        </p:nvSpPr>
        <p:spPr>
          <a:xfrm>
            <a:off x="6622788" y="1407600"/>
            <a:ext cx="4850076" cy="535914"/>
          </a:xfrm>
          <a:noFill/>
          <a:ln>
            <a:noFill/>
          </a:ln>
        </p:spPr>
        <p:txBody>
          <a:bodyPr anchor="ctr" anchorCtr="0">
            <a:noAutofit/>
          </a:bodyPr>
          <a:lstStyle>
            <a:lvl1pPr marL="0" indent="0" algn="ctr">
              <a:spcBef>
                <a:spcPts val="0"/>
              </a:spcBef>
              <a:buFontTx/>
              <a:buNone/>
              <a:defRPr b="1" i="0" baseline="0">
                <a:solidFill>
                  <a:schemeClr val="bg2"/>
                </a:solidFill>
              </a:defRPr>
            </a:lvl1pPr>
            <a:lvl2pPr>
              <a:defRPr b="1" i="0" baseline="0">
                <a:solidFill>
                  <a:schemeClr val="bg1"/>
                </a:solidFill>
              </a:defRPr>
            </a:lvl2pPr>
            <a:lvl3pPr>
              <a:defRPr b="1" i="0" baseline="0">
                <a:solidFill>
                  <a:schemeClr val="bg1"/>
                </a:solidFill>
              </a:defRPr>
            </a:lvl3pPr>
            <a:lvl4pPr>
              <a:defRPr b="1" i="0" baseline="0">
                <a:solidFill>
                  <a:schemeClr val="bg1"/>
                </a:solidFill>
              </a:defRPr>
            </a:lvl4pPr>
            <a:lvl5pPr>
              <a:defRPr b="1" i="0" baseline="0">
                <a:solidFill>
                  <a:schemeClr val="bg1"/>
                </a:solidFill>
              </a:defRPr>
            </a:lvl5pPr>
          </a:lstStyle>
          <a:p>
            <a:pPr lvl="0"/>
            <a:r>
              <a:rPr lang="de-DE"/>
              <a:t>Überschrift eingeben</a:t>
            </a:r>
          </a:p>
        </p:txBody>
      </p:sp>
      <p:sp>
        <p:nvSpPr>
          <p:cNvPr id="17" name="Textplatzhalter">
            <a:extLst>
              <a:ext uri="{FF2B5EF4-FFF2-40B4-BE49-F238E27FC236}">
                <a16:creationId xmlns:a16="http://schemas.microsoft.com/office/drawing/2014/main" id="{BF5C08D7-072C-01E5-CBD7-9F089B0B566E}"/>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4" name="Fußzeilenplatzhalter 3">
            <a:extLst>
              <a:ext uri="{FF2B5EF4-FFF2-40B4-BE49-F238E27FC236}">
                <a16:creationId xmlns:a16="http://schemas.microsoft.com/office/drawing/2014/main" id="{D04C3703-1DCC-5D36-8866-88E9526CCD5C}"/>
              </a:ext>
            </a:extLst>
          </p:cNvPr>
          <p:cNvSpPr>
            <a:spLocks noGrp="1"/>
          </p:cNvSpPr>
          <p:nvPr>
            <p:ph type="ftr" sz="quarter" idx="19"/>
          </p:nvPr>
        </p:nvSpPr>
        <p:spPr/>
        <p:txBody>
          <a:bodyPr/>
          <a:lstStyle/>
          <a:p>
            <a:r>
              <a:rPr lang="de-AT"/>
              <a:t>Intern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seite">
    <p:spTree>
      <p:nvGrpSpPr>
        <p:cNvPr id="1" name=""/>
        <p:cNvGrpSpPr/>
        <p:nvPr/>
      </p:nvGrpSpPr>
      <p:grpSpPr>
        <a:xfrm>
          <a:off x="0" y="0"/>
          <a:ext cx="0" cy="0"/>
          <a:chOff x="0" y="0"/>
          <a:chExt cx="0" cy="0"/>
        </a:xfrm>
      </p:grpSpPr>
      <p:sp>
        <p:nvSpPr>
          <p:cNvPr id="16" name="Foliennummernplatzhalter"/>
          <p:cNvSpPr>
            <a:spLocks noGrp="1"/>
          </p:cNvSpPr>
          <p:nvPr>
            <p:ph type="sldNum" sz="quarter" idx="2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15" name="Datumsplatzhalter"/>
          <p:cNvSpPr>
            <a:spLocks noGrp="1"/>
          </p:cNvSpPr>
          <p:nvPr>
            <p:ph type="dt" sz="half" idx="2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B7F03687-1658-48F3-8F94-8AEC527A6A6F}" type="datetime6">
              <a:rPr lang="de-AT" smtClean="0"/>
              <a:t>September 26</a:t>
            </a:fld>
            <a:endParaRPr lang="de-DE"/>
          </a:p>
        </p:txBody>
      </p:sp>
      <p:sp>
        <p:nvSpPr>
          <p:cNvPr id="4" name="Bildplatzhalter 1"/>
          <p:cNvSpPr>
            <a:spLocks noGrp="1" noChangeAspect="1"/>
          </p:cNvSpPr>
          <p:nvPr>
            <p:ph type="pic" sz="quarter" idx="10"/>
          </p:nvPr>
        </p:nvSpPr>
        <p:spPr>
          <a:xfrm>
            <a:off x="1200151" y="2330743"/>
            <a:ext cx="1771200" cy="1659174"/>
          </a:xfrm>
          <a:prstGeom prst="rect">
            <a:avLst/>
          </a:prstGeom>
        </p:spPr>
        <p:txBody>
          <a:bodyPr lIns="72000" tIns="72000"/>
          <a:lstStyle>
            <a:lvl1pPr marL="0" indent="0">
              <a:spcBef>
                <a:spcPts val="0"/>
              </a:spcBef>
              <a:buFontTx/>
              <a:buNone/>
              <a:defRPr/>
            </a:lvl1pPr>
          </a:lstStyle>
          <a:p>
            <a:endParaRPr lang="de-DE"/>
          </a:p>
        </p:txBody>
      </p:sp>
      <p:sp>
        <p:nvSpPr>
          <p:cNvPr id="6" name="Textplatzhalter 1"/>
          <p:cNvSpPr>
            <a:spLocks noGrp="1"/>
          </p:cNvSpPr>
          <p:nvPr>
            <p:ph type="body" sz="quarter" idx="11" hasCustomPrompt="1"/>
          </p:nvPr>
        </p:nvSpPr>
        <p:spPr>
          <a:xfrm>
            <a:off x="1200151" y="4135391"/>
            <a:ext cx="1771200" cy="1993947"/>
          </a:xfrm>
        </p:spPr>
        <p:txBody>
          <a:bodyPr/>
          <a:lstStyle>
            <a:lvl1pPr marL="0" indent="0">
              <a:spcBef>
                <a:spcPts val="0"/>
              </a:spcBef>
              <a:buFontTx/>
              <a:buNone/>
              <a:defRPr sz="1100" baseline="0"/>
            </a:lvl1pPr>
            <a:lvl2pPr marL="0" indent="0">
              <a:buFontTx/>
              <a:buNone/>
              <a:defRPr sz="1000" baseline="0"/>
            </a:lvl2pPr>
            <a:lvl3pPr marL="0" indent="0">
              <a:buFontTx/>
              <a:buNone/>
              <a:defRPr sz="1000" baseline="0"/>
            </a:lvl3pPr>
            <a:lvl4pPr marL="0" indent="0">
              <a:buFontTx/>
              <a:buNone/>
              <a:defRPr sz="1000" baseline="0"/>
            </a:lvl4pPr>
            <a:lvl5pPr marL="0" indent="0">
              <a:buFontTx/>
              <a:buNone/>
              <a:defRPr sz="1000" baseline="0"/>
            </a:lvl5pPr>
          </a:lstStyle>
          <a:p>
            <a:pPr lvl="0"/>
            <a:r>
              <a:rPr lang="de-DE"/>
              <a:t>Text eingeben </a:t>
            </a:r>
          </a:p>
        </p:txBody>
      </p:sp>
      <p:sp>
        <p:nvSpPr>
          <p:cNvPr id="27" name="Bildplatzhalter 2"/>
          <p:cNvSpPr>
            <a:spLocks noGrp="1" noChangeAspect="1"/>
          </p:cNvSpPr>
          <p:nvPr>
            <p:ph type="pic" sz="quarter" idx="16"/>
          </p:nvPr>
        </p:nvSpPr>
        <p:spPr>
          <a:xfrm>
            <a:off x="3207251" y="2325394"/>
            <a:ext cx="1771200" cy="1659174"/>
          </a:xfrm>
          <a:prstGeom prst="rect">
            <a:avLst/>
          </a:prstGeom>
        </p:spPr>
        <p:txBody>
          <a:bodyPr lIns="72000" tIns="72000"/>
          <a:lstStyle>
            <a:lvl1pPr marL="0" indent="0">
              <a:spcBef>
                <a:spcPts val="0"/>
              </a:spcBef>
              <a:buFontTx/>
              <a:buNone/>
              <a:defRPr/>
            </a:lvl1pPr>
          </a:lstStyle>
          <a:p>
            <a:endParaRPr lang="de-DE"/>
          </a:p>
        </p:txBody>
      </p:sp>
      <p:sp>
        <p:nvSpPr>
          <p:cNvPr id="28" name="Textplatzhalter 2"/>
          <p:cNvSpPr>
            <a:spLocks noGrp="1"/>
          </p:cNvSpPr>
          <p:nvPr>
            <p:ph type="body" sz="quarter" idx="17" hasCustomPrompt="1"/>
          </p:nvPr>
        </p:nvSpPr>
        <p:spPr>
          <a:xfrm>
            <a:off x="3207251" y="4130042"/>
            <a:ext cx="1771200" cy="1993947"/>
          </a:xfrm>
        </p:spPr>
        <p:txBody>
          <a:bodyPr/>
          <a:lstStyle>
            <a:lvl1pPr marL="0" indent="0">
              <a:spcBef>
                <a:spcPts val="0"/>
              </a:spcBef>
              <a:buFontTx/>
              <a:buNone/>
              <a:defRPr sz="1100" baseline="0"/>
            </a:lvl1pPr>
            <a:lvl2pPr marL="0" indent="0">
              <a:buFontTx/>
              <a:buNone/>
              <a:defRPr sz="1000" baseline="0"/>
            </a:lvl2pPr>
            <a:lvl3pPr marL="0" indent="0">
              <a:buFontTx/>
              <a:buNone/>
              <a:defRPr sz="1000" baseline="0"/>
            </a:lvl3pPr>
            <a:lvl4pPr marL="0" indent="0">
              <a:buFontTx/>
              <a:buNone/>
              <a:defRPr sz="1000" baseline="0"/>
            </a:lvl4pPr>
            <a:lvl5pPr marL="0" indent="0">
              <a:buFontTx/>
              <a:buNone/>
              <a:defRPr sz="1000" baseline="0"/>
            </a:lvl5pPr>
          </a:lstStyle>
          <a:p>
            <a:pPr lvl="0"/>
            <a:r>
              <a:rPr lang="de-DE"/>
              <a:t>Text eingeben</a:t>
            </a:r>
          </a:p>
        </p:txBody>
      </p:sp>
      <p:sp>
        <p:nvSpPr>
          <p:cNvPr id="23" name="Bildplatzhalter 3"/>
          <p:cNvSpPr>
            <a:spLocks noGrp="1" noChangeAspect="1"/>
          </p:cNvSpPr>
          <p:nvPr>
            <p:ph type="pic" sz="quarter" idx="12"/>
          </p:nvPr>
        </p:nvSpPr>
        <p:spPr>
          <a:xfrm>
            <a:off x="5214351" y="2330743"/>
            <a:ext cx="1771200" cy="1659174"/>
          </a:xfrm>
          <a:prstGeom prst="rect">
            <a:avLst/>
          </a:prstGeom>
        </p:spPr>
        <p:txBody>
          <a:bodyPr lIns="72000" tIns="72000"/>
          <a:lstStyle>
            <a:lvl1pPr marL="0" indent="0">
              <a:spcBef>
                <a:spcPts val="0"/>
              </a:spcBef>
              <a:buFontTx/>
              <a:buNone/>
              <a:defRPr/>
            </a:lvl1pPr>
          </a:lstStyle>
          <a:p>
            <a:endParaRPr lang="de-DE"/>
          </a:p>
        </p:txBody>
      </p:sp>
      <p:sp>
        <p:nvSpPr>
          <p:cNvPr id="24" name="Textplatzhalter 3"/>
          <p:cNvSpPr>
            <a:spLocks noGrp="1"/>
          </p:cNvSpPr>
          <p:nvPr>
            <p:ph type="body" sz="quarter" idx="13" hasCustomPrompt="1"/>
          </p:nvPr>
        </p:nvSpPr>
        <p:spPr>
          <a:xfrm>
            <a:off x="5214351" y="4135391"/>
            <a:ext cx="1771200" cy="1993947"/>
          </a:xfrm>
        </p:spPr>
        <p:txBody>
          <a:bodyPr/>
          <a:lstStyle>
            <a:lvl1pPr marL="0" indent="0">
              <a:spcBef>
                <a:spcPts val="0"/>
              </a:spcBef>
              <a:buFontTx/>
              <a:buNone/>
              <a:defRPr sz="1100" baseline="0"/>
            </a:lvl1pPr>
            <a:lvl2pPr marL="0" indent="0">
              <a:buFontTx/>
              <a:buNone/>
              <a:defRPr sz="1000" baseline="0"/>
            </a:lvl2pPr>
            <a:lvl3pPr marL="0" indent="0">
              <a:buFontTx/>
              <a:buNone/>
              <a:defRPr sz="1000" baseline="0"/>
            </a:lvl3pPr>
            <a:lvl4pPr marL="0" indent="0">
              <a:buFontTx/>
              <a:buNone/>
              <a:defRPr sz="1000" baseline="0"/>
            </a:lvl4pPr>
            <a:lvl5pPr marL="0" indent="0">
              <a:buFontTx/>
              <a:buNone/>
              <a:defRPr sz="1000" baseline="0"/>
            </a:lvl5pPr>
          </a:lstStyle>
          <a:p>
            <a:pPr lvl="0"/>
            <a:r>
              <a:rPr lang="de-DE"/>
              <a:t>Text eingeben</a:t>
            </a:r>
          </a:p>
        </p:txBody>
      </p:sp>
      <p:sp>
        <p:nvSpPr>
          <p:cNvPr id="29" name="Bildplatzhalter 4"/>
          <p:cNvSpPr>
            <a:spLocks noGrp="1" noChangeAspect="1"/>
          </p:cNvSpPr>
          <p:nvPr>
            <p:ph type="pic" sz="quarter" idx="18"/>
          </p:nvPr>
        </p:nvSpPr>
        <p:spPr>
          <a:xfrm>
            <a:off x="7221450" y="2325394"/>
            <a:ext cx="1771200" cy="1659174"/>
          </a:xfrm>
          <a:prstGeom prst="rect">
            <a:avLst/>
          </a:prstGeom>
        </p:spPr>
        <p:txBody>
          <a:bodyPr lIns="72000" tIns="72000"/>
          <a:lstStyle>
            <a:lvl1pPr marL="0" indent="0">
              <a:spcBef>
                <a:spcPts val="0"/>
              </a:spcBef>
              <a:buFontTx/>
              <a:buNone/>
              <a:defRPr/>
            </a:lvl1pPr>
          </a:lstStyle>
          <a:p>
            <a:endParaRPr lang="de-DE"/>
          </a:p>
        </p:txBody>
      </p:sp>
      <p:sp>
        <p:nvSpPr>
          <p:cNvPr id="30" name="Textplatzhalter 4"/>
          <p:cNvSpPr>
            <a:spLocks noGrp="1"/>
          </p:cNvSpPr>
          <p:nvPr>
            <p:ph type="body" sz="quarter" idx="19" hasCustomPrompt="1"/>
          </p:nvPr>
        </p:nvSpPr>
        <p:spPr>
          <a:xfrm>
            <a:off x="7221451" y="4130042"/>
            <a:ext cx="1771200" cy="1993947"/>
          </a:xfrm>
        </p:spPr>
        <p:txBody>
          <a:bodyPr/>
          <a:lstStyle>
            <a:lvl1pPr marL="0" indent="0">
              <a:spcBef>
                <a:spcPts val="0"/>
              </a:spcBef>
              <a:buFontTx/>
              <a:buNone/>
              <a:defRPr sz="1100" baseline="0"/>
            </a:lvl1pPr>
            <a:lvl2pPr marL="0" indent="0">
              <a:buFontTx/>
              <a:buNone/>
              <a:defRPr sz="1000" baseline="0"/>
            </a:lvl2pPr>
            <a:lvl3pPr marL="0" indent="0">
              <a:buFontTx/>
              <a:buNone/>
              <a:defRPr sz="1000" baseline="0"/>
            </a:lvl3pPr>
            <a:lvl4pPr marL="0" indent="0">
              <a:buFontTx/>
              <a:buNone/>
              <a:defRPr sz="1000" baseline="0"/>
            </a:lvl4pPr>
            <a:lvl5pPr marL="0" indent="0">
              <a:buFontTx/>
              <a:buNone/>
              <a:defRPr sz="1000" baseline="0"/>
            </a:lvl5pPr>
          </a:lstStyle>
          <a:p>
            <a:pPr lvl="0"/>
            <a:r>
              <a:rPr lang="de-DE"/>
              <a:t>Text eingeben</a:t>
            </a:r>
          </a:p>
        </p:txBody>
      </p:sp>
      <p:sp>
        <p:nvSpPr>
          <p:cNvPr id="25" name="Bildplatzhalter 5"/>
          <p:cNvSpPr>
            <a:spLocks noGrp="1" noChangeAspect="1"/>
          </p:cNvSpPr>
          <p:nvPr>
            <p:ph type="pic" sz="quarter" idx="14"/>
          </p:nvPr>
        </p:nvSpPr>
        <p:spPr>
          <a:xfrm>
            <a:off x="9228549" y="2330743"/>
            <a:ext cx="1771200" cy="1659174"/>
          </a:xfrm>
          <a:prstGeom prst="rect">
            <a:avLst/>
          </a:prstGeom>
        </p:spPr>
        <p:txBody>
          <a:bodyPr lIns="72000" tIns="72000"/>
          <a:lstStyle>
            <a:lvl1pPr marL="0" indent="0">
              <a:spcBef>
                <a:spcPts val="0"/>
              </a:spcBef>
              <a:buFontTx/>
              <a:buNone/>
              <a:defRPr/>
            </a:lvl1pPr>
          </a:lstStyle>
          <a:p>
            <a:endParaRPr lang="de-DE"/>
          </a:p>
        </p:txBody>
      </p:sp>
      <p:sp>
        <p:nvSpPr>
          <p:cNvPr id="26" name="Textplatzhalter 5"/>
          <p:cNvSpPr>
            <a:spLocks noGrp="1"/>
          </p:cNvSpPr>
          <p:nvPr>
            <p:ph type="body" sz="quarter" idx="15" hasCustomPrompt="1"/>
          </p:nvPr>
        </p:nvSpPr>
        <p:spPr>
          <a:xfrm>
            <a:off x="9228551" y="4130042"/>
            <a:ext cx="1771200" cy="1993947"/>
          </a:xfrm>
        </p:spPr>
        <p:txBody>
          <a:bodyPr/>
          <a:lstStyle>
            <a:lvl1pPr marL="0" indent="0">
              <a:spcBef>
                <a:spcPts val="0"/>
              </a:spcBef>
              <a:buFontTx/>
              <a:buNone/>
              <a:defRPr sz="1100" baseline="0"/>
            </a:lvl1pPr>
            <a:lvl2pPr marL="0" indent="0">
              <a:buFontTx/>
              <a:buNone/>
              <a:defRPr sz="1000" baseline="0"/>
            </a:lvl2pPr>
            <a:lvl3pPr marL="0" indent="0">
              <a:buFontTx/>
              <a:buNone/>
              <a:defRPr sz="1000" baseline="0"/>
            </a:lvl3pPr>
            <a:lvl4pPr marL="0" indent="0">
              <a:buFontTx/>
              <a:buNone/>
              <a:defRPr sz="1000" baseline="0"/>
            </a:lvl4pPr>
            <a:lvl5pPr marL="0" indent="0">
              <a:buFontTx/>
              <a:buNone/>
              <a:defRPr sz="1000" baseline="0"/>
            </a:lvl5pPr>
          </a:lstStyle>
          <a:p>
            <a:pPr lvl="0"/>
            <a:r>
              <a:rPr lang="de-DE"/>
              <a:t>Text eingeben</a:t>
            </a:r>
          </a:p>
        </p:txBody>
      </p:sp>
      <p:sp>
        <p:nvSpPr>
          <p:cNvPr id="14" name="Untertitel"/>
          <p:cNvSpPr>
            <a:spLocks noGrp="1"/>
          </p:cNvSpPr>
          <p:nvPr>
            <p:ph type="subTitle" idx="1" hasCustomPrompt="1"/>
          </p:nvPr>
        </p:nvSpPr>
        <p:spPr>
          <a:xfrm>
            <a:off x="1200151" y="1854000"/>
            <a:ext cx="9791700" cy="261610"/>
          </a:xfrm>
        </p:spPr>
        <p:txBody>
          <a:bodyPr/>
          <a:lstStyle>
            <a:lvl1pPr marL="0" indent="0" algn="l">
              <a:spcBef>
                <a:spcPts val="0"/>
              </a:spcBef>
              <a:buNone/>
              <a:defRPr sz="16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eingeben</a:t>
            </a:r>
          </a:p>
        </p:txBody>
      </p:sp>
      <p:sp>
        <p:nvSpPr>
          <p:cNvPr id="17" name="Textplatzhalter">
            <a:extLst>
              <a:ext uri="{FF2B5EF4-FFF2-40B4-BE49-F238E27FC236}">
                <a16:creationId xmlns:a16="http://schemas.microsoft.com/office/drawing/2014/main" id="{4962274F-075D-FA06-0C35-A03F60DD68A7}"/>
              </a:ext>
            </a:extLst>
          </p:cNvPr>
          <p:cNvSpPr>
            <a:spLocks noGrp="1"/>
          </p:cNvSpPr>
          <p:nvPr>
            <p:ph type="body" sz="quarter" idx="22"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12B04063-6A84-5001-6C63-D1CD3E8ADDE8}"/>
              </a:ext>
            </a:extLst>
          </p:cNvPr>
          <p:cNvSpPr>
            <a:spLocks noGrp="1"/>
          </p:cNvSpPr>
          <p:nvPr>
            <p:ph type="ftr" sz="quarter" idx="23"/>
          </p:nvPr>
        </p:nvSpPr>
        <p:spPr/>
        <p:txBody>
          <a:bodyPr/>
          <a:lstStyle/>
          <a:p>
            <a:r>
              <a:rPr lang="de-AT"/>
              <a:t>Intern</a:t>
            </a:r>
          </a:p>
        </p:txBody>
      </p:sp>
    </p:spTree>
    <p:extLst>
      <p:ext uri="{BB962C8B-B14F-4D97-AF65-F5344CB8AC3E}">
        <p14:creationId xmlns:p14="http://schemas.microsoft.com/office/powerpoint/2010/main" val="808242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agramm gross">
    <p:spTree>
      <p:nvGrpSpPr>
        <p:cNvPr id="1" name=""/>
        <p:cNvGrpSpPr/>
        <p:nvPr/>
      </p:nvGrpSpPr>
      <p:grpSpPr>
        <a:xfrm>
          <a:off x="0" y="0"/>
          <a:ext cx="0" cy="0"/>
          <a:chOff x="0" y="0"/>
          <a:chExt cx="0" cy="0"/>
        </a:xfrm>
      </p:grpSpPr>
      <p:sp>
        <p:nvSpPr>
          <p:cNvPr id="9"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E385222C-62AE-4D29-917E-364A484F265C}" type="datetime6">
              <a:rPr lang="de-AT" smtClean="0"/>
              <a:t>September 26</a:t>
            </a:fld>
            <a:endParaRPr lang="de-DE"/>
          </a:p>
        </p:txBody>
      </p:sp>
      <p:sp>
        <p:nvSpPr>
          <p:cNvPr id="10"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8" name="Diagrammplatzhalter"/>
          <p:cNvSpPr>
            <a:spLocks noGrp="1"/>
          </p:cNvSpPr>
          <p:nvPr>
            <p:ph type="chart" sz="quarter" idx="14"/>
          </p:nvPr>
        </p:nvSpPr>
        <p:spPr>
          <a:xfrm>
            <a:off x="1200151" y="2324100"/>
            <a:ext cx="9791700" cy="3805238"/>
          </a:xfrm>
        </p:spPr>
        <p:txBody>
          <a:bodyPr/>
          <a:lstStyle>
            <a:lvl1pPr marL="0" indent="0">
              <a:spcBef>
                <a:spcPts val="0"/>
              </a:spcBef>
              <a:buFontTx/>
              <a:buNone/>
              <a:defRPr/>
            </a:lvl1pPr>
          </a:lstStyle>
          <a:p>
            <a:endParaRPr lang="de-DE"/>
          </a:p>
        </p:txBody>
      </p:sp>
      <p:sp>
        <p:nvSpPr>
          <p:cNvPr id="11" name="Untertitel"/>
          <p:cNvSpPr>
            <a:spLocks noGrp="1"/>
          </p:cNvSpPr>
          <p:nvPr>
            <p:ph type="subTitle" idx="1" hasCustomPrompt="1"/>
          </p:nvPr>
        </p:nvSpPr>
        <p:spPr>
          <a:xfrm>
            <a:off x="1200151" y="1854000"/>
            <a:ext cx="9792000" cy="261610"/>
          </a:xfrm>
        </p:spPr>
        <p:txBody>
          <a:bodyPr/>
          <a:lstStyle>
            <a:lvl1pPr marL="0" indent="0" algn="l">
              <a:spcBef>
                <a:spcPts val="0"/>
              </a:spcBef>
              <a:buNone/>
              <a:defRPr sz="16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eingeben</a:t>
            </a:r>
          </a:p>
        </p:txBody>
      </p:sp>
      <p:sp>
        <p:nvSpPr>
          <p:cNvPr id="7" name="Textplatzhalter">
            <a:extLst>
              <a:ext uri="{FF2B5EF4-FFF2-40B4-BE49-F238E27FC236}">
                <a16:creationId xmlns:a16="http://schemas.microsoft.com/office/drawing/2014/main" id="{71A36A0E-464E-F9F6-5072-528C68FD5407}"/>
              </a:ext>
            </a:extLst>
          </p:cNvPr>
          <p:cNvSpPr>
            <a:spLocks noGrp="1"/>
          </p:cNvSpPr>
          <p:nvPr>
            <p:ph type="body" sz="quarter" idx="22"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69D83D67-F344-4372-5887-285D6BAE161E}"/>
              </a:ext>
            </a:extLst>
          </p:cNvPr>
          <p:cNvSpPr>
            <a:spLocks noGrp="1"/>
          </p:cNvSpPr>
          <p:nvPr>
            <p:ph type="ftr" sz="quarter" idx="23"/>
          </p:nvPr>
        </p:nvSpPr>
        <p:spPr/>
        <p:txBody>
          <a:bodyPr/>
          <a:lstStyle/>
          <a:p>
            <a:r>
              <a:rPr lang="de-AT"/>
              <a:t>Intern</a:t>
            </a:r>
          </a:p>
        </p:txBody>
      </p:sp>
    </p:spTree>
    <p:extLst>
      <p:ext uri="{BB962C8B-B14F-4D97-AF65-F5344CB8AC3E}">
        <p14:creationId xmlns:p14="http://schemas.microsoft.com/office/powerpoint/2010/main" val="1812314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gramm klein und Text">
    <p:spTree>
      <p:nvGrpSpPr>
        <p:cNvPr id="1" name=""/>
        <p:cNvGrpSpPr/>
        <p:nvPr/>
      </p:nvGrpSpPr>
      <p:grpSpPr>
        <a:xfrm>
          <a:off x="0" y="0"/>
          <a:ext cx="0" cy="0"/>
          <a:chOff x="0" y="0"/>
          <a:chExt cx="0" cy="0"/>
        </a:xfrm>
      </p:grpSpPr>
      <p:sp>
        <p:nvSpPr>
          <p:cNvPr id="9"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A215AE12-F418-4245-9D6D-623F5369C7B6}" type="datetime6">
              <a:rPr lang="de-AT" smtClean="0"/>
              <a:t>September 26</a:t>
            </a:fld>
            <a:endParaRPr lang="de-DE"/>
          </a:p>
        </p:txBody>
      </p:sp>
      <p:sp>
        <p:nvSpPr>
          <p:cNvPr id="13"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4" name="Diagrammplatzhalter"/>
          <p:cNvSpPr>
            <a:spLocks noGrp="1"/>
          </p:cNvSpPr>
          <p:nvPr>
            <p:ph type="chart" sz="quarter" idx="17"/>
          </p:nvPr>
        </p:nvSpPr>
        <p:spPr>
          <a:xfrm>
            <a:off x="1200152" y="1854000"/>
            <a:ext cx="4703233" cy="4275338"/>
          </a:xfrm>
        </p:spPr>
        <p:txBody>
          <a:bodyPr/>
          <a:lstStyle>
            <a:lvl1pPr marL="0" indent="0">
              <a:spcBef>
                <a:spcPts val="0"/>
              </a:spcBef>
              <a:buFontTx/>
              <a:buNone/>
              <a:defRPr/>
            </a:lvl1pPr>
          </a:lstStyle>
          <a:p>
            <a:endParaRPr lang="de-DE"/>
          </a:p>
        </p:txBody>
      </p:sp>
      <p:sp>
        <p:nvSpPr>
          <p:cNvPr id="8" name="Textplatzhalter"/>
          <p:cNvSpPr>
            <a:spLocks noGrp="1"/>
          </p:cNvSpPr>
          <p:nvPr>
            <p:ph type="body" sz="quarter" idx="16" hasCustomPrompt="1"/>
          </p:nvPr>
        </p:nvSpPr>
        <p:spPr>
          <a:xfrm>
            <a:off x="6288618" y="2325600"/>
            <a:ext cx="4703233" cy="3803738"/>
          </a:xfrm>
        </p:spPr>
        <p:txBody>
          <a:bodyPr/>
          <a:lstStyle>
            <a:lvl1pPr marL="0" indent="0">
              <a:spcBef>
                <a:spcPts val="0"/>
              </a:spcBef>
              <a:buFontTx/>
              <a:buNone/>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de-AT"/>
              <a:t>Text eingeben</a:t>
            </a:r>
          </a:p>
        </p:txBody>
      </p:sp>
      <p:sp>
        <p:nvSpPr>
          <p:cNvPr id="11" name="Untertitel"/>
          <p:cNvSpPr>
            <a:spLocks noGrp="1"/>
          </p:cNvSpPr>
          <p:nvPr>
            <p:ph type="subTitle" idx="1" hasCustomPrompt="1"/>
          </p:nvPr>
        </p:nvSpPr>
        <p:spPr>
          <a:xfrm>
            <a:off x="6288618" y="1854000"/>
            <a:ext cx="4703233" cy="261610"/>
          </a:xfrm>
        </p:spPr>
        <p:txBody>
          <a:bodyPr/>
          <a:lstStyle>
            <a:lvl1pPr marL="0" indent="0" algn="l">
              <a:buNone/>
              <a:defRPr sz="16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eingeben</a:t>
            </a:r>
          </a:p>
        </p:txBody>
      </p:sp>
      <p:sp>
        <p:nvSpPr>
          <p:cNvPr id="12" name="Textplatzhalter">
            <a:extLst>
              <a:ext uri="{FF2B5EF4-FFF2-40B4-BE49-F238E27FC236}">
                <a16:creationId xmlns:a16="http://schemas.microsoft.com/office/drawing/2014/main" id="{DF4BBC35-8D24-E414-C3F7-BA5D0BB9DF8A}"/>
              </a:ext>
            </a:extLst>
          </p:cNvPr>
          <p:cNvSpPr>
            <a:spLocks noGrp="1"/>
          </p:cNvSpPr>
          <p:nvPr>
            <p:ph type="body" sz="quarter" idx="22"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C100EE51-8623-463B-C606-6AABE07510AC}"/>
              </a:ext>
            </a:extLst>
          </p:cNvPr>
          <p:cNvSpPr>
            <a:spLocks noGrp="1"/>
          </p:cNvSpPr>
          <p:nvPr>
            <p:ph type="ftr" sz="quarter" idx="23"/>
          </p:nvPr>
        </p:nvSpPr>
        <p:spPr/>
        <p:txBody>
          <a:bodyPr/>
          <a:lstStyle/>
          <a:p>
            <a:r>
              <a:rPr lang="de-AT"/>
              <a:t>Intern</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Tabelle">
    <p:spTree>
      <p:nvGrpSpPr>
        <p:cNvPr id="1" name=""/>
        <p:cNvGrpSpPr/>
        <p:nvPr/>
      </p:nvGrpSpPr>
      <p:grpSpPr>
        <a:xfrm>
          <a:off x="0" y="0"/>
          <a:ext cx="0" cy="0"/>
          <a:chOff x="0" y="0"/>
          <a:chExt cx="0" cy="0"/>
        </a:xfrm>
      </p:grpSpPr>
      <p:sp>
        <p:nvSpPr>
          <p:cNvPr id="11"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B365DE21-CDE1-465F-ABAC-433F1F72EACA}" type="datetime6">
              <a:rPr lang="de-AT" smtClean="0"/>
              <a:t>September 26</a:t>
            </a:fld>
            <a:endParaRPr lang="de-DE"/>
          </a:p>
        </p:txBody>
      </p:sp>
      <p:sp>
        <p:nvSpPr>
          <p:cNvPr id="12"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4" name="Tabellenplatzhalter"/>
          <p:cNvSpPr>
            <a:spLocks noGrp="1"/>
          </p:cNvSpPr>
          <p:nvPr>
            <p:ph type="tbl" sz="quarter" idx="17"/>
          </p:nvPr>
        </p:nvSpPr>
        <p:spPr>
          <a:xfrm>
            <a:off x="1200151" y="2336400"/>
            <a:ext cx="9791700" cy="3792938"/>
          </a:xfrm>
        </p:spPr>
        <p:txBody>
          <a:bodyPr lIns="144000" tIns="144000"/>
          <a:lstStyle>
            <a:lvl1pPr marL="0" indent="0">
              <a:spcBef>
                <a:spcPts val="0"/>
              </a:spcBef>
              <a:buFontTx/>
              <a:buNone/>
              <a:defRPr sz="1200"/>
            </a:lvl1pPr>
          </a:lstStyle>
          <a:p>
            <a:endParaRPr lang="de-DE"/>
          </a:p>
        </p:txBody>
      </p:sp>
      <p:sp>
        <p:nvSpPr>
          <p:cNvPr id="8" name="Untertitel"/>
          <p:cNvSpPr>
            <a:spLocks noGrp="1"/>
          </p:cNvSpPr>
          <p:nvPr>
            <p:ph type="subTitle" idx="1" hasCustomPrompt="1"/>
          </p:nvPr>
        </p:nvSpPr>
        <p:spPr>
          <a:xfrm>
            <a:off x="1200151" y="1854000"/>
            <a:ext cx="9791700" cy="261610"/>
          </a:xfrm>
        </p:spPr>
        <p:txBody>
          <a:bodyPr/>
          <a:lstStyle>
            <a:lvl1pPr marL="0" indent="0" algn="l">
              <a:buNone/>
              <a:defRPr sz="16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eingeben</a:t>
            </a:r>
          </a:p>
        </p:txBody>
      </p:sp>
      <p:sp>
        <p:nvSpPr>
          <p:cNvPr id="9" name="Textplatzhalter">
            <a:extLst>
              <a:ext uri="{FF2B5EF4-FFF2-40B4-BE49-F238E27FC236}">
                <a16:creationId xmlns:a16="http://schemas.microsoft.com/office/drawing/2014/main" id="{095B1B05-B1B2-47BE-2AA4-369CC99123A6}"/>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FA40FF9B-F512-1BDB-2B44-38FA7CB7DDCB}"/>
              </a:ext>
            </a:extLst>
          </p:cNvPr>
          <p:cNvSpPr>
            <a:spLocks noGrp="1"/>
          </p:cNvSpPr>
          <p:nvPr>
            <p:ph type="ftr" sz="quarter" idx="18"/>
          </p:nvPr>
        </p:nvSpPr>
        <p:spPr/>
        <p:txBody>
          <a:bodyPr/>
          <a:lstStyle/>
          <a:p>
            <a:r>
              <a:rPr lang="de-AT"/>
              <a:t>Intern</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Tabellen">
    <p:spTree>
      <p:nvGrpSpPr>
        <p:cNvPr id="1" name=""/>
        <p:cNvGrpSpPr/>
        <p:nvPr/>
      </p:nvGrpSpPr>
      <p:grpSpPr>
        <a:xfrm>
          <a:off x="0" y="0"/>
          <a:ext cx="0" cy="0"/>
          <a:chOff x="0" y="0"/>
          <a:chExt cx="0" cy="0"/>
        </a:xfrm>
      </p:grpSpPr>
      <p:sp>
        <p:nvSpPr>
          <p:cNvPr id="11"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C7FA0535-5402-4D64-AA1F-A657D38C0329}" type="datetime6">
              <a:rPr lang="de-AT" smtClean="0"/>
              <a:t>September 26</a:t>
            </a:fld>
            <a:endParaRPr lang="de-DE"/>
          </a:p>
        </p:txBody>
      </p:sp>
      <p:sp>
        <p:nvSpPr>
          <p:cNvPr id="12"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4" name="Tabellenplatzhalter 1"/>
          <p:cNvSpPr>
            <a:spLocks noGrp="1"/>
          </p:cNvSpPr>
          <p:nvPr>
            <p:ph type="tbl" sz="quarter" idx="17"/>
          </p:nvPr>
        </p:nvSpPr>
        <p:spPr>
          <a:xfrm>
            <a:off x="1200152" y="2335668"/>
            <a:ext cx="4775973" cy="3793670"/>
          </a:xfrm>
        </p:spPr>
        <p:txBody>
          <a:bodyPr lIns="144000" tIns="144000"/>
          <a:lstStyle>
            <a:lvl1pPr marL="0" indent="0">
              <a:spcBef>
                <a:spcPts val="0"/>
              </a:spcBef>
              <a:buFontTx/>
              <a:buNone/>
              <a:defRPr sz="1200"/>
            </a:lvl1pPr>
          </a:lstStyle>
          <a:p>
            <a:endParaRPr lang="de-DE"/>
          </a:p>
        </p:txBody>
      </p:sp>
      <p:sp>
        <p:nvSpPr>
          <p:cNvPr id="9" name="Tabellenplatzhalter 2"/>
          <p:cNvSpPr>
            <a:spLocks noGrp="1"/>
          </p:cNvSpPr>
          <p:nvPr>
            <p:ph type="tbl" sz="quarter" idx="18"/>
          </p:nvPr>
        </p:nvSpPr>
        <p:spPr>
          <a:xfrm>
            <a:off x="6215874" y="2335668"/>
            <a:ext cx="4775973" cy="3793670"/>
          </a:xfrm>
        </p:spPr>
        <p:txBody>
          <a:bodyPr lIns="144000" tIns="144000"/>
          <a:lstStyle>
            <a:lvl1pPr marL="0" indent="0">
              <a:spcBef>
                <a:spcPts val="0"/>
              </a:spcBef>
              <a:buFontTx/>
              <a:buNone/>
              <a:defRPr sz="1200"/>
            </a:lvl1pPr>
          </a:lstStyle>
          <a:p>
            <a:endParaRPr lang="de-DE"/>
          </a:p>
        </p:txBody>
      </p:sp>
      <p:sp>
        <p:nvSpPr>
          <p:cNvPr id="8" name="Untertitel"/>
          <p:cNvSpPr>
            <a:spLocks noGrp="1"/>
          </p:cNvSpPr>
          <p:nvPr>
            <p:ph type="subTitle" idx="1" hasCustomPrompt="1"/>
          </p:nvPr>
        </p:nvSpPr>
        <p:spPr>
          <a:xfrm>
            <a:off x="1200151" y="1854000"/>
            <a:ext cx="9791700" cy="261610"/>
          </a:xfrm>
        </p:spPr>
        <p:txBody>
          <a:bodyPr/>
          <a:lstStyle>
            <a:lvl1pPr marL="0" indent="0" algn="l">
              <a:buNone/>
              <a:defRPr sz="16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eingeben</a:t>
            </a:r>
          </a:p>
        </p:txBody>
      </p:sp>
      <p:sp>
        <p:nvSpPr>
          <p:cNvPr id="10" name="Textplatzhalter">
            <a:extLst>
              <a:ext uri="{FF2B5EF4-FFF2-40B4-BE49-F238E27FC236}">
                <a16:creationId xmlns:a16="http://schemas.microsoft.com/office/drawing/2014/main" id="{414A8EDC-9C91-8EDC-0107-A5F63FA32256}"/>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FCDF20AA-F7C5-C10D-1630-33391C79644F}"/>
              </a:ext>
            </a:extLst>
          </p:cNvPr>
          <p:cNvSpPr>
            <a:spLocks noGrp="1"/>
          </p:cNvSpPr>
          <p:nvPr>
            <p:ph type="ftr" sz="quarter" idx="19"/>
          </p:nvPr>
        </p:nvSpPr>
        <p:spPr/>
        <p:txBody>
          <a:bodyPr/>
          <a:lstStyle/>
          <a:p>
            <a:r>
              <a:rPr lang="de-AT"/>
              <a:t>Intern</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onderfolien leer">
    <p:spTree>
      <p:nvGrpSpPr>
        <p:cNvPr id="1" name=""/>
        <p:cNvGrpSpPr/>
        <p:nvPr/>
      </p:nvGrpSpPr>
      <p:grpSpPr>
        <a:xfrm>
          <a:off x="0" y="0"/>
          <a:ext cx="0" cy="0"/>
          <a:chOff x="0" y="0"/>
          <a:chExt cx="0" cy="0"/>
        </a:xfrm>
      </p:grpSpPr>
      <p:sp>
        <p:nvSpPr>
          <p:cNvPr id="10" name="Datumsplatzhalter"/>
          <p:cNvSpPr>
            <a:spLocks noGrp="1"/>
          </p:cNvSpPr>
          <p:nvPr>
            <p:ph type="dt" sz="half" idx="10"/>
          </p:nvPr>
        </p:nvSpPr>
        <p:spPr>
          <a:xfrm>
            <a:off x="719667"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722239ED-A7DC-44F5-89B1-2877B61E1704}" type="datetime6">
              <a:rPr lang="de-AT" smtClean="0"/>
              <a:t>September 26</a:t>
            </a:fld>
            <a:endParaRPr lang="de-DE"/>
          </a:p>
        </p:txBody>
      </p:sp>
      <p:sp>
        <p:nvSpPr>
          <p:cNvPr id="11" name="Foliennummernplatzhalter"/>
          <p:cNvSpPr>
            <a:spLocks noGrp="1"/>
          </p:cNvSpPr>
          <p:nvPr>
            <p:ph type="sldNum" sz="quarter" idx="11"/>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sp>
        <p:nvSpPr>
          <p:cNvPr id="5" name="Untertitel"/>
          <p:cNvSpPr>
            <a:spLocks noGrp="1"/>
          </p:cNvSpPr>
          <p:nvPr>
            <p:ph type="subTitle" idx="12" hasCustomPrompt="1"/>
          </p:nvPr>
        </p:nvSpPr>
        <p:spPr>
          <a:xfrm>
            <a:off x="1200151" y="1854000"/>
            <a:ext cx="9791700" cy="261610"/>
          </a:xfrm>
        </p:spPr>
        <p:txBody>
          <a:bodyPr/>
          <a:lstStyle>
            <a:lvl1pPr marL="0" indent="0" algn="l">
              <a:buNone/>
              <a:defRPr sz="16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eingeben</a:t>
            </a:r>
          </a:p>
        </p:txBody>
      </p:sp>
      <p:sp>
        <p:nvSpPr>
          <p:cNvPr id="6" name="Textplatzhalter">
            <a:extLst>
              <a:ext uri="{FF2B5EF4-FFF2-40B4-BE49-F238E27FC236}">
                <a16:creationId xmlns:a16="http://schemas.microsoft.com/office/drawing/2014/main" id="{DC8F6DCF-49D8-DC4B-1400-4F66E44053AB}"/>
              </a:ext>
            </a:extLst>
          </p:cNvPr>
          <p:cNvSpPr>
            <a:spLocks noGrp="1"/>
          </p:cNvSpPr>
          <p:nvPr>
            <p:ph type="body" sz="quarter" idx="13" hasCustomPrompt="1"/>
          </p:nvPr>
        </p:nvSpPr>
        <p:spPr>
          <a:xfrm>
            <a:off x="720000" y="388800"/>
            <a:ext cx="8280000" cy="828000"/>
          </a:xfrm>
        </p:spPr>
        <p:txBody>
          <a:bodyPr>
            <a:noAutofit/>
          </a:bodyPr>
          <a:lstStyle>
            <a:lvl1pPr marL="0" indent="0">
              <a:lnSpc>
                <a:spcPct val="100000"/>
              </a:lnSpc>
              <a:spcBef>
                <a:spcPts val="0"/>
              </a:spcBef>
              <a:buFontTx/>
              <a:buNone/>
              <a:defRPr lang="de-DE" sz="2800" b="1" i="0" kern="1200" cap="all" baseline="0" dirty="0" smtClean="0">
                <a:solidFill>
                  <a:schemeClr val="tx1"/>
                </a:solidFill>
                <a:latin typeface="Arial" charset="0"/>
                <a:ea typeface="+mj-ea"/>
                <a:cs typeface="Century Gothic"/>
              </a:defRPr>
            </a:lvl1pPr>
            <a:lvl2pPr marL="7200" indent="0">
              <a:lnSpc>
                <a:spcPct val="100000"/>
              </a:lnSpc>
              <a:spcBef>
                <a:spcPts val="0"/>
              </a:spcBef>
              <a:buFontTx/>
              <a:buNone/>
              <a:defRPr lang="de-DE" sz="1800" b="1" kern="1200" cap="all" baseline="0" dirty="0" smtClean="0">
                <a:solidFill>
                  <a:schemeClr val="tx1"/>
                </a:solidFill>
                <a:latin typeface="Arial" charset="0"/>
                <a:ea typeface="+mn-ea"/>
                <a:cs typeface="Century Gothic"/>
              </a:defRPr>
            </a:lvl2pPr>
          </a:lstStyle>
          <a:p>
            <a:pPr lvl="0"/>
            <a:r>
              <a:rPr lang="de-DE"/>
              <a:t>Titel Ebene 1, </a:t>
            </a:r>
            <a:r>
              <a:rPr lang="de-DE" err="1"/>
              <a:t>untertitel</a:t>
            </a:r>
            <a:r>
              <a:rPr lang="de-DE"/>
              <a:t> Ebene 2</a:t>
            </a:r>
          </a:p>
          <a:p>
            <a:pPr lvl="1"/>
            <a:r>
              <a:rPr lang="de-DE"/>
              <a:t>Zweite Ebene</a:t>
            </a:r>
          </a:p>
        </p:txBody>
      </p:sp>
      <p:sp>
        <p:nvSpPr>
          <p:cNvPr id="2" name="Fußzeilenplatzhalter 1">
            <a:extLst>
              <a:ext uri="{FF2B5EF4-FFF2-40B4-BE49-F238E27FC236}">
                <a16:creationId xmlns:a16="http://schemas.microsoft.com/office/drawing/2014/main" id="{C5C2FE50-0B1A-1811-4522-DDE3F57ACCCD}"/>
              </a:ext>
            </a:extLst>
          </p:cNvPr>
          <p:cNvSpPr>
            <a:spLocks noGrp="1"/>
          </p:cNvSpPr>
          <p:nvPr>
            <p:ph type="ftr" sz="quarter" idx="14"/>
          </p:nvPr>
        </p:nvSpPr>
        <p:spPr/>
        <p:txBody>
          <a:bodyPr/>
          <a:lstStyle/>
          <a:p>
            <a:r>
              <a:rPr lang="de-AT"/>
              <a:t>Intern</a:t>
            </a:r>
          </a:p>
        </p:txBody>
      </p:sp>
    </p:spTree>
    <p:extLst>
      <p:ext uri="{BB962C8B-B14F-4D97-AF65-F5344CB8AC3E}">
        <p14:creationId xmlns:p14="http://schemas.microsoft.com/office/powerpoint/2010/main" val="5329805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theme" Target="../theme/theme2.xml"/><Relationship Id="rId3" Type="http://schemas.openxmlformats.org/officeDocument/2006/relationships/slideLayout" Target="../slideLayouts/slideLayout8.xml"/><Relationship Id="rId21" Type="http://schemas.openxmlformats.org/officeDocument/2006/relationships/image" Target="../media/image9.png"/><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image" Target="../media/image4.svg"/><Relationship Id="rId10" Type="http://schemas.openxmlformats.org/officeDocument/2006/relationships/slideLayout" Target="../slideLayouts/slideLayout15.xml"/><Relationship Id="rId19" Type="http://schemas.openxmlformats.org/officeDocument/2006/relationships/image" Target="../media/image7.png"/><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image" Target="../media/image10.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719667" y="2787800"/>
            <a:ext cx="10752667" cy="641201"/>
          </a:xfrm>
          <a:prstGeom prst="rect">
            <a:avLst/>
          </a:prstGeom>
        </p:spPr>
        <p:txBody>
          <a:bodyPr vert="horz" wrap="square" lIns="0" tIns="0" rIns="0" bIns="0" rtlCol="0" anchor="b" anchorCtr="0">
            <a:spAutoFit/>
          </a:bodyPr>
          <a:lstStyle/>
          <a:p>
            <a:r>
              <a:rPr lang="de-AT"/>
              <a:t>Mastertitelformat bearbeiten</a:t>
            </a:r>
            <a:endParaRPr lang="de-DE"/>
          </a:p>
        </p:txBody>
      </p:sp>
      <p:sp>
        <p:nvSpPr>
          <p:cNvPr id="3" name="Datumsplatzhalter 2">
            <a:extLst>
              <a:ext uri="{FF2B5EF4-FFF2-40B4-BE49-F238E27FC236}">
                <a16:creationId xmlns:a16="http://schemas.microsoft.com/office/drawing/2014/main" id="{920C9491-232D-2A76-B9A8-17E4D637F51E}"/>
              </a:ext>
            </a:extLst>
          </p:cNvPr>
          <p:cNvSpPr>
            <a:spLocks noGrp="1"/>
          </p:cNvSpPr>
          <p:nvPr>
            <p:ph type="dt" sz="half" idx="2"/>
          </p:nvPr>
        </p:nvSpPr>
        <p:spPr>
          <a:xfrm>
            <a:off x="733425"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493F04-512B-4623-B0B9-A9318E905737}" type="datetime6">
              <a:rPr lang="de-AT" smtClean="0"/>
              <a:t>September 26</a:t>
            </a:fld>
            <a:endParaRPr lang="de-AT"/>
          </a:p>
        </p:txBody>
      </p:sp>
      <p:pic>
        <p:nvPicPr>
          <p:cNvPr id="8" name="ITSV Logo weiss">
            <a:extLst>
              <a:ext uri="{FF2B5EF4-FFF2-40B4-BE49-F238E27FC236}">
                <a16:creationId xmlns:a16="http://schemas.microsoft.com/office/drawing/2014/main" id="{90972456-08F4-F717-D0CB-385934B905DD}"/>
              </a:ext>
            </a:extLst>
          </p:cNvPr>
          <p:cNvPicPr>
            <a:picLocks noChangeAspect="1"/>
          </p:cNvPicPr>
          <p:nvPr userDrawn="1"/>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744076" y="482400"/>
            <a:ext cx="1737771" cy="558000"/>
          </a:xfrm>
          <a:prstGeom prst="rect">
            <a:avLst/>
          </a:prstGeom>
        </p:spPr>
      </p:pic>
      <p:sp>
        <p:nvSpPr>
          <p:cNvPr id="4" name="Fußzeilenplatzhalter 3">
            <a:extLst>
              <a:ext uri="{FF2B5EF4-FFF2-40B4-BE49-F238E27FC236}">
                <a16:creationId xmlns:a16="http://schemas.microsoft.com/office/drawing/2014/main" id="{8E08E791-7AFB-DC11-0C85-59862DCCA4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de-AT"/>
              <a:t>Intern</a:t>
            </a:r>
          </a:p>
        </p:txBody>
      </p:sp>
    </p:spTree>
    <p:extLst>
      <p:ext uri="{BB962C8B-B14F-4D97-AF65-F5344CB8AC3E}">
        <p14:creationId xmlns:p14="http://schemas.microsoft.com/office/powerpoint/2010/main" val="93704586"/>
      </p:ext>
    </p:extLst>
  </p:cSld>
  <p:clrMap bg1="lt1" tx1="dk1" bg2="lt2" tx2="dk2" accent1="accent1" accent2="accent2" accent3="accent3" accent4="accent4" accent5="accent5" accent6="accent6" hlink="hlink" folHlink="folHlink"/>
  <p:sldLayoutIdLst>
    <p:sldLayoutId id="2147483876" r:id="rId1"/>
    <p:sldLayoutId id="2147483877" r:id="rId2"/>
    <p:sldLayoutId id="2147483872" r:id="rId3"/>
    <p:sldLayoutId id="2147483874" r:id="rId4"/>
    <p:sldLayoutId id="2147483882" r:id="rId5"/>
  </p:sldLayoutIdLst>
  <p:hf sldNum="0" hdr="0" ftr="0"/>
  <p:txStyles>
    <p:titleStyle>
      <a:lvl1pPr algn="l" defTabSz="609585" rtl="0" eaLnBrk="1" latinLnBrk="0" hangingPunct="1">
        <a:lnSpc>
          <a:spcPts val="5000"/>
        </a:lnSpc>
        <a:spcBef>
          <a:spcPct val="0"/>
        </a:spcBef>
        <a:buNone/>
        <a:defRPr sz="4000" b="1" i="0" kern="1200" baseline="0">
          <a:solidFill>
            <a:schemeClr val="bg1"/>
          </a:solidFill>
          <a:latin typeface="Arial" charset="0"/>
          <a:ea typeface="+mj-ea"/>
          <a:cs typeface="+mj-cs"/>
        </a:defRPr>
      </a:lvl1pPr>
    </p:titleStyle>
    <p:bodyStyle>
      <a:lvl1pPr marL="457189" indent="-457189" algn="l" defTabSz="609585" rtl="0" eaLnBrk="1" latinLnBrk="0" hangingPunct="1">
        <a:spcBef>
          <a:spcPct val="20000"/>
        </a:spcBef>
        <a:buFont typeface="Arial"/>
        <a:buChar char="•"/>
        <a:defRPr sz="1333" kern="1200">
          <a:solidFill>
            <a:schemeClr val="tx1"/>
          </a:solidFill>
          <a:latin typeface="Abadi MT Condensed Extra Bold"/>
          <a:ea typeface="+mn-ea"/>
          <a:cs typeface="+mn-cs"/>
        </a:defRPr>
      </a:lvl1pPr>
      <a:lvl2pPr marL="990575" indent="-380990" algn="l" defTabSz="609585" rtl="0" eaLnBrk="1" latinLnBrk="0" hangingPunct="1">
        <a:spcBef>
          <a:spcPct val="20000"/>
        </a:spcBef>
        <a:buFont typeface="Arial"/>
        <a:buChar char="–"/>
        <a:defRPr sz="1333" kern="1200">
          <a:solidFill>
            <a:schemeClr val="tx1"/>
          </a:solidFill>
          <a:latin typeface="Abadi MT Condensed Extra Bold"/>
          <a:ea typeface="+mn-ea"/>
          <a:cs typeface="+mn-cs"/>
        </a:defRPr>
      </a:lvl2pPr>
      <a:lvl3pPr marL="1523962" indent="-304792" algn="l" defTabSz="609585" rtl="0" eaLnBrk="1" latinLnBrk="0" hangingPunct="1">
        <a:spcBef>
          <a:spcPct val="20000"/>
        </a:spcBef>
        <a:buFont typeface="Arial"/>
        <a:buChar char="•"/>
        <a:defRPr sz="1333" kern="1200">
          <a:solidFill>
            <a:schemeClr val="tx1"/>
          </a:solidFill>
          <a:latin typeface="Abadi MT Condensed Extra Bold"/>
          <a:ea typeface="+mn-ea"/>
          <a:cs typeface="+mn-cs"/>
        </a:defRPr>
      </a:lvl3pPr>
      <a:lvl4pPr marL="2133547" indent="-304792" algn="l" defTabSz="609585" rtl="0" eaLnBrk="1" latinLnBrk="0" hangingPunct="1">
        <a:spcBef>
          <a:spcPct val="20000"/>
        </a:spcBef>
        <a:buFont typeface="Arial"/>
        <a:buChar char="–"/>
        <a:defRPr sz="1333" kern="1200">
          <a:solidFill>
            <a:schemeClr val="tx1"/>
          </a:solidFill>
          <a:latin typeface="Abadi MT Condensed Extra Bold"/>
          <a:ea typeface="+mn-ea"/>
          <a:cs typeface="+mn-cs"/>
        </a:defRPr>
      </a:lvl4pPr>
      <a:lvl5pPr marL="2743131" indent="-304792" algn="l" defTabSz="609585" rtl="0" eaLnBrk="1" latinLnBrk="0" hangingPunct="1">
        <a:spcBef>
          <a:spcPct val="20000"/>
        </a:spcBef>
        <a:buFont typeface="Arial"/>
        <a:buChar char="»"/>
        <a:defRPr sz="1333" kern="1200">
          <a:solidFill>
            <a:schemeClr val="tx1"/>
          </a:solidFill>
          <a:latin typeface="Abadi MT Condensed Extra Bold"/>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de-DE"/>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7227" userDrawn="1">
          <p15:clr>
            <a:srgbClr val="F26B43"/>
          </p15:clr>
        </p15:guide>
        <p15:guide id="3" pos="453" userDrawn="1">
          <p15:clr>
            <a:srgbClr val="F26B43"/>
          </p15:clr>
        </p15:guide>
        <p15:guide id="4" orient="horz" pos="2160" userDrawn="1">
          <p15:clr>
            <a:srgbClr val="F26B43"/>
          </p15:clr>
        </p15:guide>
        <p15:guide id="5" orient="horz" pos="4020" userDrawn="1">
          <p15:clr>
            <a:srgbClr val="F26B43"/>
          </p15:clr>
        </p15:guide>
        <p15:guide id="6" orient="horz" pos="300" userDrawn="1">
          <p15:clr>
            <a:srgbClr val="F26B43"/>
          </p15:clr>
        </p15:guide>
        <p15:guide id="7" pos="756" userDrawn="1">
          <p15:clr>
            <a:srgbClr val="F26B43"/>
          </p15:clr>
        </p15:guide>
        <p15:guide id="8" pos="6924" userDrawn="1">
          <p15:clr>
            <a:srgbClr val="F26B43"/>
          </p15:clr>
        </p15:guide>
        <p15:guide id="9" orient="horz" pos="3793" userDrawn="1">
          <p15:clr>
            <a:srgbClr val="F26B43"/>
          </p15:clr>
        </p15:guide>
        <p15:guide id="10" orient="horz" pos="52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Hintergrund Schatten">
            <a:extLst>
              <a:ext uri="{FF2B5EF4-FFF2-40B4-BE49-F238E27FC236}">
                <a16:creationId xmlns:a16="http://schemas.microsoft.com/office/drawing/2014/main" id="{266403A5-0C6F-C1C9-3AB2-598955F7928E}"/>
              </a:ext>
            </a:extLst>
          </p:cNvPr>
          <p:cNvSpPr/>
          <p:nvPr userDrawn="1"/>
        </p:nvSpPr>
        <p:spPr>
          <a:xfrm>
            <a:off x="0" y="1"/>
            <a:ext cx="12192000" cy="1411514"/>
          </a:xfrm>
          <a:prstGeom prst="rect">
            <a:avLst/>
          </a:prstGeom>
          <a:solidFill>
            <a:schemeClr val="bg1"/>
          </a:solidFill>
          <a:ln>
            <a:noFill/>
          </a:ln>
          <a:effectLst>
            <a:outerShdw blurRad="101600" dist="381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3" name="Textplatzhalter"/>
          <p:cNvSpPr>
            <a:spLocks noGrp="1"/>
          </p:cNvSpPr>
          <p:nvPr>
            <p:ph type="body" idx="1"/>
          </p:nvPr>
        </p:nvSpPr>
        <p:spPr>
          <a:xfrm>
            <a:off x="1200149" y="2332801"/>
            <a:ext cx="9791701" cy="3796538"/>
          </a:xfrm>
          <a:prstGeom prst="rect">
            <a:avLst/>
          </a:prstGeom>
        </p:spPr>
        <p:txBody>
          <a:bodyPr vert="horz" wrap="square"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grpSp>
        <p:nvGrpSpPr>
          <p:cNvPr id="4" name="Gruppieren"/>
          <p:cNvGrpSpPr/>
          <p:nvPr userDrawn="1"/>
        </p:nvGrpSpPr>
        <p:grpSpPr>
          <a:xfrm>
            <a:off x="5290990" y="6423025"/>
            <a:ext cx="1610020" cy="432000"/>
            <a:chOff x="5095580" y="6489700"/>
            <a:chExt cx="2000841" cy="432000"/>
          </a:xfrm>
        </p:grpSpPr>
        <p:pic>
          <p:nvPicPr>
            <p:cNvPr id="7" name="Bild 6"/>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5095580" y="6489700"/>
              <a:ext cx="2000841" cy="432000"/>
            </a:xfrm>
            <a:prstGeom prst="rect">
              <a:avLst/>
            </a:prstGeom>
          </p:spPr>
        </p:pic>
        <p:pic>
          <p:nvPicPr>
            <p:cNvPr id="5" name="Bild 4">
              <a:hlinkClick r:id="" action="ppaction://hlinkshowjump?jump=firstslide"/>
            </p:cNvPr>
            <p:cNvPicPr>
              <a:picLocks noChangeAspect="1"/>
            </p:cNvPicPr>
            <p:nvPr userDrawn="1"/>
          </p:nvPicPr>
          <p:blipFill>
            <a:blip r:embed="rId20" cstate="screen">
              <a:extLst>
                <a:ext uri="{28A0092B-C50C-407E-A947-70E740481C1C}">
                  <a14:useLocalDpi xmlns:a14="http://schemas.microsoft.com/office/drawing/2010/main"/>
                </a:ext>
              </a:extLst>
            </a:blip>
            <a:stretch>
              <a:fillRect/>
            </a:stretch>
          </p:blipFill>
          <p:spPr>
            <a:xfrm>
              <a:off x="5393329" y="6552330"/>
              <a:ext cx="384000" cy="288000"/>
            </a:xfrm>
            <a:prstGeom prst="rect">
              <a:avLst/>
            </a:prstGeom>
          </p:spPr>
        </p:pic>
        <p:pic>
          <p:nvPicPr>
            <p:cNvPr id="10" name="Bild 9">
              <a:hlinkClick r:id="" action="ppaction://noaction"/>
            </p:cNvPr>
            <p:cNvPicPr>
              <a:picLocks noChangeAspect="1"/>
            </p:cNvPicPr>
            <p:nvPr userDrawn="1"/>
          </p:nvPicPr>
          <p:blipFill>
            <a:blip r:embed="rId21" cstate="screen">
              <a:extLst>
                <a:ext uri="{28A0092B-C50C-407E-A947-70E740481C1C}">
                  <a14:useLocalDpi xmlns:a14="http://schemas.microsoft.com/office/drawing/2010/main"/>
                </a:ext>
              </a:extLst>
            </a:blip>
            <a:stretch>
              <a:fillRect/>
            </a:stretch>
          </p:blipFill>
          <p:spPr>
            <a:xfrm>
              <a:off x="5910999" y="6555334"/>
              <a:ext cx="384000" cy="288000"/>
            </a:xfrm>
            <a:prstGeom prst="rect">
              <a:avLst/>
            </a:prstGeom>
          </p:spPr>
        </p:pic>
        <p:pic>
          <p:nvPicPr>
            <p:cNvPr id="11" name="Bild 10">
              <a:hlinkClick r:id="" action="ppaction://hlinkshowjump?jump=endshow"/>
            </p:cNvPr>
            <p:cNvPicPr>
              <a:picLocks noChangeAspect="1"/>
            </p:cNvPicPr>
            <p:nvPr userDrawn="1"/>
          </p:nvPicPr>
          <p:blipFill>
            <a:blip r:embed="rId22" cstate="screen">
              <a:extLst>
                <a:ext uri="{28A0092B-C50C-407E-A947-70E740481C1C}">
                  <a14:useLocalDpi xmlns:a14="http://schemas.microsoft.com/office/drawing/2010/main"/>
                </a:ext>
              </a:extLst>
            </a:blip>
            <a:stretch>
              <a:fillRect/>
            </a:stretch>
          </p:blipFill>
          <p:spPr>
            <a:xfrm>
              <a:off x="6441737" y="6552330"/>
              <a:ext cx="380631" cy="288000"/>
            </a:xfrm>
            <a:prstGeom prst="rect">
              <a:avLst/>
            </a:prstGeom>
          </p:spPr>
        </p:pic>
      </p:grpSp>
      <p:sp>
        <p:nvSpPr>
          <p:cNvPr id="13" name="Datumsplatzhalter"/>
          <p:cNvSpPr>
            <a:spLocks noGrp="1"/>
          </p:cNvSpPr>
          <p:nvPr>
            <p:ph type="dt" sz="half" idx="2"/>
          </p:nvPr>
        </p:nvSpPr>
        <p:spPr>
          <a:xfrm>
            <a:off x="719668" y="6561138"/>
            <a:ext cx="1080000" cy="232834"/>
          </a:xfrm>
          <a:prstGeom prst="rect">
            <a:avLst/>
          </a:prstGeom>
        </p:spPr>
        <p:txBody>
          <a:bodyPr lIns="0" tIns="0" rIns="0" bIns="0"/>
          <a:lstStyle>
            <a:lvl1pPr>
              <a:defRPr sz="1000" b="0" i="0" baseline="0">
                <a:solidFill>
                  <a:schemeClr val="accent1"/>
                </a:solidFill>
                <a:latin typeface="Arial" charset="0"/>
              </a:defRPr>
            </a:lvl1pPr>
          </a:lstStyle>
          <a:p>
            <a:fld id="{446B8CB8-E3A8-4BEF-BE70-C4F49B592C62}" type="datetime6">
              <a:rPr lang="de-AT" smtClean="0"/>
              <a:t>September 26</a:t>
            </a:fld>
            <a:endParaRPr lang="de-DE"/>
          </a:p>
        </p:txBody>
      </p:sp>
      <p:sp>
        <p:nvSpPr>
          <p:cNvPr id="14" name="Foliennummernplatzhalter"/>
          <p:cNvSpPr>
            <a:spLocks noGrp="1"/>
          </p:cNvSpPr>
          <p:nvPr>
            <p:ph type="sldNum" sz="quarter" idx="4"/>
          </p:nvPr>
        </p:nvSpPr>
        <p:spPr>
          <a:xfrm>
            <a:off x="8737600" y="6561138"/>
            <a:ext cx="2734733" cy="232834"/>
          </a:xfrm>
          <a:prstGeom prst="rect">
            <a:avLst/>
          </a:prstGeom>
        </p:spPr>
        <p:txBody>
          <a:bodyPr lIns="0" tIns="0" rIns="0" bIns="0"/>
          <a:lstStyle>
            <a:lvl1pPr algn="r">
              <a:defRPr sz="1000" b="0" i="0" baseline="0">
                <a:solidFill>
                  <a:schemeClr val="accent1"/>
                </a:solidFill>
                <a:latin typeface="Arial" charset="0"/>
              </a:defRPr>
            </a:lvl1pPr>
          </a:lstStyle>
          <a:p>
            <a:fld id="{B173078B-BB6E-1F46-9B1D-61986BEC2CA1}" type="slidenum">
              <a:rPr lang="de-DE" smtClean="0"/>
              <a:pPr/>
              <a:t>‹#›</a:t>
            </a:fld>
            <a:endParaRPr lang="de-DE"/>
          </a:p>
        </p:txBody>
      </p:sp>
      <p:pic>
        <p:nvPicPr>
          <p:cNvPr id="18" name="ITSV Logo">
            <a:extLst>
              <a:ext uri="{FF2B5EF4-FFF2-40B4-BE49-F238E27FC236}">
                <a16:creationId xmlns:a16="http://schemas.microsoft.com/office/drawing/2014/main" id="{061E93DE-1F85-6287-A85E-F8E1E3605DC8}"/>
              </a:ext>
            </a:extLst>
          </p:cNvPr>
          <p:cNvPicPr>
            <a:picLocks noChangeAspect="1"/>
          </p:cNvPicPr>
          <p:nvPr userDrawn="1"/>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p:blipFill>
        <p:spPr>
          <a:xfrm>
            <a:off x="9745200" y="447787"/>
            <a:ext cx="1737771" cy="558000"/>
          </a:xfrm>
          <a:prstGeom prst="rect">
            <a:avLst/>
          </a:prstGeom>
        </p:spPr>
      </p:pic>
      <p:sp>
        <p:nvSpPr>
          <p:cNvPr id="20" name="Hashtag">
            <a:extLst>
              <a:ext uri="{FF2B5EF4-FFF2-40B4-BE49-F238E27FC236}">
                <a16:creationId xmlns:a16="http://schemas.microsoft.com/office/drawing/2014/main" id="{2B16D2AC-85BC-5F39-2C5B-E7C09AF1FD38}"/>
              </a:ext>
            </a:extLst>
          </p:cNvPr>
          <p:cNvSpPr txBox="1"/>
          <p:nvPr userDrawn="1"/>
        </p:nvSpPr>
        <p:spPr>
          <a:xfrm>
            <a:off x="511949" y="387198"/>
            <a:ext cx="216000" cy="430887"/>
          </a:xfrm>
          <a:prstGeom prst="rect">
            <a:avLst/>
          </a:prstGeom>
          <a:noFill/>
        </p:spPr>
        <p:txBody>
          <a:bodyPr wrap="square" lIns="0" tIns="0" rIns="0" bIns="0" rtlCol="0">
            <a:noAutofit/>
          </a:bodyPr>
          <a:lstStyle/>
          <a:p>
            <a:r>
              <a:rPr lang="de-DE" sz="2800" b="1">
                <a:solidFill>
                  <a:schemeClr val="accent1"/>
                </a:solidFill>
              </a:rPr>
              <a:t>#</a:t>
            </a:r>
            <a:endParaRPr lang="de-AT" sz="2800" b="1">
              <a:solidFill>
                <a:schemeClr val="accent1"/>
              </a:solidFill>
            </a:endParaRPr>
          </a:p>
        </p:txBody>
      </p:sp>
      <p:sp>
        <p:nvSpPr>
          <p:cNvPr id="22" name="Titelplatzhalter 21">
            <a:extLst>
              <a:ext uri="{FF2B5EF4-FFF2-40B4-BE49-F238E27FC236}">
                <a16:creationId xmlns:a16="http://schemas.microsoft.com/office/drawing/2014/main" id="{AB44FC5C-7BFF-2169-7D6B-38A6BBBD9E9C}"/>
              </a:ext>
            </a:extLst>
          </p:cNvPr>
          <p:cNvSpPr>
            <a:spLocks noGrp="1"/>
          </p:cNvSpPr>
          <p:nvPr>
            <p:ph type="title"/>
          </p:nvPr>
        </p:nvSpPr>
        <p:spPr>
          <a:xfrm>
            <a:off x="719665" y="388800"/>
            <a:ext cx="8280000" cy="828000"/>
          </a:xfrm>
          <a:prstGeom prst="rect">
            <a:avLst/>
          </a:prstGeom>
        </p:spPr>
        <p:txBody>
          <a:bodyPr vert="horz" lIns="0" tIns="0" rIns="0" bIns="0" rtlCol="0" anchor="t" anchorCtr="0">
            <a:noAutofit/>
          </a:bodyPr>
          <a:lstStyle/>
          <a:p>
            <a:r>
              <a:rPr lang="de-DE"/>
              <a:t>Titel bearbeiten</a:t>
            </a:r>
            <a:br>
              <a:rPr lang="de-DE"/>
            </a:br>
            <a:endParaRPr lang="de-AT"/>
          </a:p>
        </p:txBody>
      </p:sp>
      <p:sp>
        <p:nvSpPr>
          <p:cNvPr id="2" name="Fußzeilenplatzhalter 1">
            <a:extLst>
              <a:ext uri="{FF2B5EF4-FFF2-40B4-BE49-F238E27FC236}">
                <a16:creationId xmlns:a16="http://schemas.microsoft.com/office/drawing/2014/main" id="{8FB34062-E771-CB1B-4479-DA5DADCE0F26}"/>
              </a:ext>
            </a:extLst>
          </p:cNvPr>
          <p:cNvSpPr>
            <a:spLocks noGrp="1"/>
          </p:cNvSpPr>
          <p:nvPr>
            <p:ph type="ftr" sz="quarter" idx="3"/>
          </p:nvPr>
        </p:nvSpPr>
        <p:spPr>
          <a:xfrm>
            <a:off x="1810800" y="6580800"/>
            <a:ext cx="1800000" cy="213172"/>
          </a:xfrm>
          <a:prstGeom prst="rect">
            <a:avLst/>
          </a:prstGeom>
        </p:spPr>
        <p:txBody>
          <a:bodyPr vert="horz" lIns="0" tIns="0" rIns="0" bIns="0" rtlCol="0" anchor="t" anchorCtr="0"/>
          <a:lstStyle>
            <a:lvl1pPr algn="l">
              <a:defRPr sz="800" cap="small" spc="20" baseline="0">
                <a:solidFill>
                  <a:schemeClr val="accent5"/>
                </a:solidFill>
                <a:latin typeface="+mn-lt"/>
              </a:defRPr>
            </a:lvl1pPr>
          </a:lstStyle>
          <a:p>
            <a:r>
              <a:rPr lang="de-AT"/>
              <a:t>Intern</a:t>
            </a:r>
          </a:p>
        </p:txBody>
      </p:sp>
    </p:spTree>
    <p:extLst>
      <p:ext uri="{BB962C8B-B14F-4D97-AF65-F5344CB8AC3E}">
        <p14:creationId xmlns:p14="http://schemas.microsoft.com/office/powerpoint/2010/main" val="1719864124"/>
      </p:ext>
    </p:extLst>
  </p:cSld>
  <p:clrMap bg1="lt1" tx1="dk1" bg2="lt2" tx2="dk2" accent1="accent1" accent2="accent2" accent3="accent3" accent4="accent4" accent5="accent5" accent6="accent6" hlink="hlink" folHlink="folHlink"/>
  <p:sldLayoutIdLst>
    <p:sldLayoutId id="2147483827" r:id="rId1"/>
    <p:sldLayoutId id="2147483811" r:id="rId2"/>
    <p:sldLayoutId id="2147483869" r:id="rId3"/>
    <p:sldLayoutId id="2147483829" r:id="rId4"/>
    <p:sldLayoutId id="2147483850" r:id="rId5"/>
    <p:sldLayoutId id="2147483837" r:id="rId6"/>
    <p:sldLayoutId id="2147483856" r:id="rId7"/>
    <p:sldLayoutId id="2147483878" r:id="rId8"/>
    <p:sldLayoutId id="2147483851" r:id="rId9"/>
    <p:sldLayoutId id="2147483879" r:id="rId10"/>
    <p:sldLayoutId id="2147483830" r:id="rId11"/>
    <p:sldLayoutId id="2147483853" r:id="rId12"/>
    <p:sldLayoutId id="2147483832" r:id="rId13"/>
    <p:sldLayoutId id="2147483835" r:id="rId14"/>
    <p:sldLayoutId id="2147483836" r:id="rId15"/>
    <p:sldLayoutId id="2147483870" r:id="rId16"/>
    <p:sldLayoutId id="2147483812" r:id="rId17"/>
  </p:sldLayoutIdLst>
  <p:hf sldNum="0" hdr="0" ftr="0"/>
  <p:txStyles>
    <p:titleStyle>
      <a:lvl1pPr algn="l" defTabSz="609585" rtl="0" eaLnBrk="1" latinLnBrk="0" hangingPunct="1">
        <a:spcBef>
          <a:spcPct val="0"/>
        </a:spcBef>
        <a:buNone/>
        <a:defRPr sz="2800" b="1" i="0" kern="1200" cap="all" baseline="0">
          <a:solidFill>
            <a:schemeClr val="tx1"/>
          </a:solidFill>
          <a:latin typeface="Arial" charset="0"/>
          <a:ea typeface="+mj-ea"/>
          <a:cs typeface="Century Gothic"/>
        </a:defRPr>
      </a:lvl1pPr>
    </p:titleStyle>
    <p:bodyStyle>
      <a:lvl1pPr marL="180000" indent="-180000" algn="l" defTabSz="609585" rtl="0" eaLnBrk="1" latinLnBrk="0" hangingPunct="1">
        <a:lnSpc>
          <a:spcPct val="105000"/>
        </a:lnSpc>
        <a:spcBef>
          <a:spcPts val="200"/>
        </a:spcBef>
        <a:buClr>
          <a:schemeClr val="accent1"/>
        </a:buClr>
        <a:buFont typeface="Wingdings" charset="2"/>
        <a:buChar char="§"/>
        <a:defRPr sz="1400" kern="1200" baseline="0">
          <a:solidFill>
            <a:schemeClr val="tx1"/>
          </a:solidFill>
          <a:latin typeface="Arial" charset="0"/>
          <a:ea typeface="+mn-ea"/>
          <a:cs typeface="Century Gothic"/>
        </a:defRPr>
      </a:lvl1pPr>
      <a:lvl2pPr marL="360000" indent="-180000" algn="l" defTabSz="609585" rtl="0" eaLnBrk="1" latinLnBrk="0" hangingPunct="1">
        <a:lnSpc>
          <a:spcPct val="105000"/>
        </a:lnSpc>
        <a:spcBef>
          <a:spcPts val="200"/>
        </a:spcBef>
        <a:buClr>
          <a:schemeClr val="accent1"/>
        </a:buClr>
        <a:buFont typeface="Wingdings" charset="2"/>
        <a:buChar char="§"/>
        <a:defRPr sz="1400" kern="1200" baseline="0">
          <a:solidFill>
            <a:schemeClr val="tx1"/>
          </a:solidFill>
          <a:latin typeface="Arial" charset="0"/>
          <a:ea typeface="+mn-ea"/>
          <a:cs typeface="Century Gothic"/>
        </a:defRPr>
      </a:lvl2pPr>
      <a:lvl3pPr marL="540000" indent="-180000" algn="l" defTabSz="609585" rtl="0" eaLnBrk="1" latinLnBrk="0" hangingPunct="1">
        <a:lnSpc>
          <a:spcPct val="105000"/>
        </a:lnSpc>
        <a:spcBef>
          <a:spcPts val="200"/>
        </a:spcBef>
        <a:buClr>
          <a:schemeClr val="accent1"/>
        </a:buClr>
        <a:buFont typeface="Wingdings" charset="2"/>
        <a:buChar char="§"/>
        <a:defRPr sz="1400" kern="1200" baseline="0">
          <a:solidFill>
            <a:schemeClr val="tx1"/>
          </a:solidFill>
          <a:latin typeface="Arial" charset="0"/>
          <a:ea typeface="+mn-ea"/>
          <a:cs typeface="Century Gothic"/>
        </a:defRPr>
      </a:lvl3pPr>
      <a:lvl4pPr marL="720000" indent="-180000" algn="l" defTabSz="609585" rtl="0" eaLnBrk="1" latinLnBrk="0" hangingPunct="1">
        <a:lnSpc>
          <a:spcPct val="105000"/>
        </a:lnSpc>
        <a:spcBef>
          <a:spcPts val="200"/>
        </a:spcBef>
        <a:buClr>
          <a:schemeClr val="accent1"/>
        </a:buClr>
        <a:buFont typeface="Wingdings" charset="2"/>
        <a:buChar char="§"/>
        <a:defRPr sz="1400" kern="1200" baseline="0">
          <a:solidFill>
            <a:schemeClr val="tx1"/>
          </a:solidFill>
          <a:latin typeface="Arial" charset="0"/>
          <a:ea typeface="+mn-ea"/>
          <a:cs typeface="Century Gothic"/>
        </a:defRPr>
      </a:lvl4pPr>
      <a:lvl5pPr marL="900000" indent="-180000" algn="l" defTabSz="609585" rtl="0" eaLnBrk="1" latinLnBrk="0" hangingPunct="1">
        <a:lnSpc>
          <a:spcPct val="105000"/>
        </a:lnSpc>
        <a:spcBef>
          <a:spcPts val="200"/>
        </a:spcBef>
        <a:buClr>
          <a:schemeClr val="accent1"/>
        </a:buClr>
        <a:buFont typeface="Wingdings" charset="2"/>
        <a:buChar char="§"/>
        <a:defRPr sz="1400" kern="1200" baseline="0">
          <a:solidFill>
            <a:schemeClr val="tx1"/>
          </a:solidFill>
          <a:latin typeface="Arial" charset="0"/>
          <a:ea typeface="+mn-ea"/>
          <a:cs typeface="Century Gothic"/>
        </a:defRPr>
      </a:lvl5pPr>
      <a:lvl6pPr marL="360000" indent="-360000" algn="l" defTabSz="609585" rtl="0" eaLnBrk="1" latinLnBrk="0" hangingPunct="1">
        <a:spcBef>
          <a:spcPts val="500"/>
        </a:spcBef>
        <a:buClr>
          <a:schemeClr val="accent1"/>
        </a:buClr>
        <a:buFont typeface="Wingdings" charset="2"/>
        <a:buChar char="§"/>
        <a:defRPr sz="1500" kern="1200" baseline="0">
          <a:solidFill>
            <a:schemeClr val="tx1"/>
          </a:solidFill>
          <a:latin typeface="Arial" charset="0"/>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de-DE"/>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7227" userDrawn="1">
          <p15:clr>
            <a:srgbClr val="F26B43"/>
          </p15:clr>
        </p15:guide>
        <p15:guide id="3" pos="453" userDrawn="1">
          <p15:clr>
            <a:srgbClr val="F26B43"/>
          </p15:clr>
        </p15:guide>
        <p15:guide id="4" pos="6924" userDrawn="1">
          <p15:clr>
            <a:srgbClr val="F26B43"/>
          </p15:clr>
        </p15:guide>
        <p15:guide id="5" pos="756" userDrawn="1">
          <p15:clr>
            <a:srgbClr val="F26B43"/>
          </p15:clr>
        </p15:guide>
        <p15:guide id="6" orient="horz" pos="2160" userDrawn="1">
          <p15:clr>
            <a:srgbClr val="F26B43"/>
          </p15:clr>
        </p15:guide>
        <p15:guide id="7" orient="horz" pos="300" userDrawn="1">
          <p15:clr>
            <a:srgbClr val="F26B43"/>
          </p15:clr>
        </p15:guide>
        <p15:guide id="8" orient="horz" pos="4133" userDrawn="1">
          <p15:clr>
            <a:srgbClr val="F26B43"/>
          </p15:clr>
        </p15:guide>
        <p15:guide id="10" orient="horz" pos="1162" userDrawn="1">
          <p15:clr>
            <a:srgbClr val="F26B43"/>
          </p15:clr>
        </p15:guide>
        <p15:guide id="11" orient="horz" pos="1464" userDrawn="1">
          <p15:clr>
            <a:srgbClr val="F26B43"/>
          </p15:clr>
        </p15:guide>
        <p15:guide id="12" pos="3961" userDrawn="1">
          <p15:clr>
            <a:srgbClr val="F26B43"/>
          </p15:clr>
        </p15:guide>
        <p15:guide id="13" pos="3719" userDrawn="1">
          <p15:clr>
            <a:srgbClr val="F26B43"/>
          </p15:clr>
        </p15:guide>
        <p15:guide id="14"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itle_bg.pn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2041C">
              <a:alpha val="78000"/>
            </a:srgbClr>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pic>
        <p:nvPicPr>
          <p:cNvPr id="4" name="Picture 3" descr="logo_white.png"/>
          <p:cNvPicPr>
            <a:picLocks noChangeAspect="1"/>
          </p:cNvPicPr>
          <p:nvPr/>
        </p:nvPicPr>
        <p:blipFill>
          <a:blip r:embed="rId4"/>
          <a:stretch>
            <a:fillRect/>
          </a:stretch>
        </p:blipFill>
        <p:spPr>
          <a:xfrm>
            <a:off x="621792" y="530352"/>
            <a:ext cx="1265689" cy="484632"/>
          </a:xfrm>
          <a:prstGeom prst="rect">
            <a:avLst/>
          </a:prstGeom>
        </p:spPr>
      </p:pic>
      <p:sp>
        <p:nvSpPr>
          <p:cNvPr id="5" name="TextBox 4"/>
          <p:cNvSpPr txBox="1"/>
          <p:nvPr/>
        </p:nvSpPr>
        <p:spPr>
          <a:xfrm>
            <a:off x="621792" y="2377440"/>
            <a:ext cx="10424160" cy="822960"/>
          </a:xfrm>
          <a:prstGeom prst="rect">
            <a:avLst/>
          </a:prstGeom>
          <a:noFill/>
        </p:spPr>
        <p:txBody>
          <a:bodyPr wrap="square" lIns="0" tIns="0" rIns="0" bIns="0" anchor="t">
            <a:spAutoFit/>
          </a:bodyPr>
          <a:lstStyle/>
          <a:p>
            <a:pPr algn="l"/>
            <a:r>
              <a:rPr sz="3400" b="1">
                <a:solidFill>
                  <a:srgbClr val="FFFFFF"/>
                </a:solidFill>
                <a:latin typeface="Verdana Pro Semibold"/>
              </a:rPr>
              <a:t>THE FUTURE OF DATA QUALITY:</a:t>
            </a:r>
          </a:p>
        </p:txBody>
      </p:sp>
      <p:sp>
        <p:nvSpPr>
          <p:cNvPr id="6" name="TextBox 5"/>
          <p:cNvSpPr txBox="1"/>
          <p:nvPr/>
        </p:nvSpPr>
        <p:spPr>
          <a:xfrm>
            <a:off x="621792" y="3200400"/>
            <a:ext cx="10424160" cy="822960"/>
          </a:xfrm>
          <a:prstGeom prst="rect">
            <a:avLst/>
          </a:prstGeom>
          <a:noFill/>
        </p:spPr>
        <p:txBody>
          <a:bodyPr wrap="square" lIns="0" tIns="0" rIns="0" bIns="0" anchor="t">
            <a:spAutoFit/>
          </a:bodyPr>
          <a:lstStyle/>
          <a:p>
            <a:pPr algn="l"/>
            <a:r>
              <a:rPr sz="3400" b="1">
                <a:solidFill>
                  <a:srgbClr val="5398F9"/>
                </a:solidFill>
                <a:latin typeface="Verdana Pro Semibold"/>
              </a:rPr>
              <a:t>CAN WE LET DATA FIX ITSELF?</a:t>
            </a:r>
          </a:p>
        </p:txBody>
      </p:sp>
      <p:sp>
        <p:nvSpPr>
          <p:cNvPr id="7" name="TextBox 6"/>
          <p:cNvSpPr txBox="1"/>
          <p:nvPr/>
        </p:nvSpPr>
        <p:spPr>
          <a:xfrm>
            <a:off x="621792" y="4251960"/>
            <a:ext cx="9692640" cy="548640"/>
          </a:xfrm>
          <a:prstGeom prst="rect">
            <a:avLst/>
          </a:prstGeom>
          <a:noFill/>
        </p:spPr>
        <p:txBody>
          <a:bodyPr wrap="square" lIns="0" tIns="0" rIns="0" bIns="0" anchor="t">
            <a:spAutoFit/>
          </a:bodyPr>
          <a:lstStyle/>
          <a:p>
            <a:pPr algn="l"/>
            <a:r>
              <a:rPr sz="1400" b="0">
                <a:solidFill>
                  <a:srgbClr val="C3CCE2"/>
                </a:solidFill>
                <a:latin typeface="Verdana Pro Light"/>
              </a:rPr>
              <a:t>What changes when an agent, not a rule, sits between the alert and the fix</a:t>
            </a:r>
          </a:p>
        </p:txBody>
      </p:sp>
      <p:sp>
        <p:nvSpPr>
          <p:cNvPr id="8" name="TextBox 7"/>
          <p:cNvSpPr txBox="1"/>
          <p:nvPr/>
        </p:nvSpPr>
        <p:spPr>
          <a:xfrm>
            <a:off x="621792" y="5074920"/>
            <a:ext cx="7315200" cy="365760"/>
          </a:xfrm>
          <a:prstGeom prst="rect">
            <a:avLst/>
          </a:prstGeom>
          <a:noFill/>
        </p:spPr>
        <p:txBody>
          <a:bodyPr wrap="square" lIns="0" tIns="0" rIns="0" bIns="0" anchor="t">
            <a:spAutoFit/>
          </a:bodyPr>
          <a:lstStyle/>
          <a:p>
            <a:pPr algn="l"/>
            <a:r>
              <a:rPr sz="1400" b="0">
                <a:solidFill>
                  <a:srgbClr val="FFFFFF"/>
                </a:solidFill>
                <a:latin typeface="Verdana Pro Light"/>
              </a:rPr>
              <a:t>Marcin Chudeusz   ·   Co-Founder &amp; CEO, digna</a:t>
            </a:r>
          </a:p>
        </p:txBody>
      </p:sp>
      <p:pic>
        <p:nvPicPr>
          <p:cNvPr id="9" name="Picture 8" descr="logo_white.png"/>
          <p:cNvPicPr>
            <a:picLocks noChangeAspect="1"/>
          </p:cNvPicPr>
          <p:nvPr/>
        </p:nvPicPr>
        <p:blipFill>
          <a:blip r:embed="rId4"/>
          <a:stretch>
            <a:fillRect/>
          </a:stretch>
        </p:blipFill>
        <p:spPr>
          <a:xfrm>
            <a:off x="621792" y="6327648"/>
            <a:ext cx="811952" cy="310896"/>
          </a:xfrm>
          <a:prstGeom prst="rect">
            <a:avLst/>
          </a:prstGeom>
        </p:spPr>
      </p:pic>
      <p:sp>
        <p:nvSpPr>
          <p:cNvPr id="10" name="TextBox 9"/>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B9C2D6"/>
                </a:solidFill>
                <a:latin typeface="Verdana Pro Light"/>
              </a:rPr>
              <a:t>|   Data Quality and Observability Platform</a:t>
            </a:r>
          </a:p>
        </p:txBody>
      </p:sp>
      <p:sp>
        <p:nvSpPr>
          <p:cNvPr id="11" name="TextBox 10"/>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5398F9"/>
                </a:solidFill>
                <a:latin typeface="Verdana Pro Light"/>
              </a:rPr>
              <a:t>digna   |</a:t>
            </a:r>
          </a:p>
        </p:txBody>
      </p:sp>
      <p:sp>
        <p:nvSpPr>
          <p:cNvPr id="12" name="TextBox 11"/>
          <p:cNvSpPr txBox="1"/>
          <p:nvPr/>
        </p:nvSpPr>
        <p:spPr>
          <a:xfrm>
            <a:off x="11109960" y="6345936"/>
            <a:ext cx="457200" cy="274320"/>
          </a:xfrm>
          <a:prstGeom prst="rect">
            <a:avLst/>
          </a:prstGeom>
          <a:noFill/>
        </p:spPr>
        <p:txBody>
          <a:bodyPr wrap="square" lIns="0" tIns="0" rIns="0" bIns="0" anchor="ctr">
            <a:spAutoFit/>
          </a:bodyPr>
          <a:lstStyle/>
          <a:p>
            <a:pPr algn="r"/>
            <a:r>
              <a:rPr sz="1050" b="0">
                <a:solidFill>
                  <a:srgbClr val="5398F9"/>
                </a:solidFill>
                <a:latin typeface="Verdana Pro Light"/>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onsor.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411480"/>
            <a:ext cx="8229600" cy="274320"/>
          </a:xfrm>
          <a:prstGeom prst="rect">
            <a:avLst/>
          </a:prstGeom>
          <a:noFill/>
        </p:spPr>
        <p:txBody>
          <a:bodyPr wrap="square" lIns="0" tIns="0" rIns="0" bIns="0" anchor="t">
            <a:spAutoFit/>
          </a:bodyPr>
          <a:lstStyle/>
          <a:p>
            <a:pPr algn="l"/>
            <a:r>
              <a:rPr sz="1100" b="0">
                <a:solidFill>
                  <a:srgbClr val="9FB3BF"/>
                </a:solidFill>
                <a:latin typeface="Verdana Pro Light"/>
              </a:rPr>
              <a:t>Agenda</a:t>
            </a:r>
          </a:p>
        </p:txBody>
      </p:sp>
      <p:sp>
        <p:nvSpPr>
          <p:cNvPr id="3" name="TextBox 2"/>
          <p:cNvSpPr txBox="1"/>
          <p:nvPr/>
        </p:nvSpPr>
        <p:spPr>
          <a:xfrm>
            <a:off x="621792" y="932688"/>
            <a:ext cx="10607040" cy="400110"/>
          </a:xfrm>
          <a:prstGeom prst="rect">
            <a:avLst/>
          </a:prstGeom>
          <a:noFill/>
        </p:spPr>
        <p:txBody>
          <a:bodyPr wrap="square" lIns="0" tIns="0" rIns="0" bIns="0" anchor="t">
            <a:spAutoFit/>
          </a:bodyPr>
          <a:lstStyle/>
          <a:p>
            <a:pPr algn="l"/>
            <a:r>
              <a:rPr lang="de-AT" sz="2600" b="1" dirty="0">
                <a:solidFill>
                  <a:srgbClr val="161616"/>
                </a:solidFill>
                <a:latin typeface="Verdana Pro Semibold"/>
              </a:rPr>
              <a:t>Agenda</a:t>
            </a:r>
            <a:endParaRPr sz="2600" b="1" dirty="0">
              <a:solidFill>
                <a:srgbClr val="161616"/>
              </a:solidFill>
              <a:latin typeface="Verdana Pro Semibold"/>
            </a:endParaRPr>
          </a:p>
        </p:txBody>
      </p:sp>
      <p:pic>
        <p:nvPicPr>
          <p:cNvPr id="4" name="Picture 3" descr="logo_black.png"/>
          <p:cNvPicPr>
            <a:picLocks noChangeAspect="1"/>
          </p:cNvPicPr>
          <p:nvPr/>
        </p:nvPicPr>
        <p:blipFill>
          <a:blip r:embed="rId3"/>
          <a:stretch>
            <a:fillRect/>
          </a:stretch>
        </p:blipFill>
        <p:spPr>
          <a:xfrm>
            <a:off x="621792" y="6327648"/>
            <a:ext cx="811952" cy="310896"/>
          </a:xfrm>
          <a:prstGeom prst="rect">
            <a:avLst/>
          </a:prstGeom>
        </p:spPr>
      </p:pic>
      <p:sp>
        <p:nvSpPr>
          <p:cNvPr id="5" name="TextBox 4"/>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5B7383"/>
                </a:solidFill>
                <a:latin typeface="Verdana Pro Light"/>
              </a:rPr>
              <a:t>|   Data Quality and Observability Platform</a:t>
            </a:r>
          </a:p>
        </p:txBody>
      </p:sp>
      <p:sp>
        <p:nvSpPr>
          <p:cNvPr id="6" name="TextBox 5"/>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016BFF"/>
                </a:solidFill>
                <a:latin typeface="Verdana Pro Light"/>
              </a:rPr>
              <a:t>digna   |</a:t>
            </a:r>
          </a:p>
        </p:txBody>
      </p:sp>
      <p:sp>
        <p:nvSpPr>
          <p:cNvPr id="7" name="TextBox 6"/>
          <p:cNvSpPr txBox="1"/>
          <p:nvPr/>
        </p:nvSpPr>
        <p:spPr>
          <a:xfrm>
            <a:off x="11109960" y="6402304"/>
            <a:ext cx="457200" cy="161583"/>
          </a:xfrm>
          <a:prstGeom prst="rect">
            <a:avLst/>
          </a:prstGeom>
          <a:noFill/>
        </p:spPr>
        <p:txBody>
          <a:bodyPr wrap="square" lIns="0" tIns="0" rIns="0" bIns="0" anchor="ctr">
            <a:spAutoFit/>
          </a:bodyPr>
          <a:lstStyle/>
          <a:p>
            <a:pPr algn="r"/>
            <a:r>
              <a:rPr sz="1050" b="0" dirty="0">
                <a:solidFill>
                  <a:srgbClr val="016BFF"/>
                </a:solidFill>
                <a:latin typeface="Verdana Pro Light"/>
              </a:rPr>
              <a:t>0</a:t>
            </a:r>
            <a:r>
              <a:rPr lang="de-AT" sz="1050" b="0" dirty="0">
                <a:solidFill>
                  <a:srgbClr val="016BFF"/>
                </a:solidFill>
                <a:latin typeface="Verdana Pro Light"/>
              </a:rPr>
              <a:t>3</a:t>
            </a:r>
            <a:endParaRPr sz="1050" b="0" dirty="0">
              <a:solidFill>
                <a:srgbClr val="016BFF"/>
              </a:solidFill>
              <a:latin typeface="Verdana Pro Light"/>
            </a:endParaRPr>
          </a:p>
        </p:txBody>
      </p:sp>
      <p:sp>
        <p:nvSpPr>
          <p:cNvPr id="8" name="Rectangle 7"/>
          <p:cNvSpPr/>
          <p:nvPr/>
        </p:nvSpPr>
        <p:spPr>
          <a:xfrm>
            <a:off x="621792" y="1737360"/>
            <a:ext cx="10945368" cy="841248"/>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 name="TextBox 8"/>
          <p:cNvSpPr txBox="1"/>
          <p:nvPr/>
        </p:nvSpPr>
        <p:spPr>
          <a:xfrm>
            <a:off x="987552" y="1975104"/>
            <a:ext cx="731520" cy="384048"/>
          </a:xfrm>
          <a:prstGeom prst="rect">
            <a:avLst/>
          </a:prstGeom>
          <a:noFill/>
        </p:spPr>
        <p:txBody>
          <a:bodyPr wrap="square" lIns="0" tIns="0" rIns="0" bIns="0" anchor="t">
            <a:spAutoFit/>
          </a:bodyPr>
          <a:lstStyle/>
          <a:p>
            <a:pPr algn="l"/>
            <a:r>
              <a:rPr sz="1800" b="1">
                <a:solidFill>
                  <a:srgbClr val="016BFF"/>
                </a:solidFill>
                <a:latin typeface="Verdana Pro Semibold"/>
              </a:rPr>
              <a:t>01</a:t>
            </a:r>
          </a:p>
        </p:txBody>
      </p:sp>
      <p:sp>
        <p:nvSpPr>
          <p:cNvPr id="10" name="TextBox 9"/>
          <p:cNvSpPr txBox="1"/>
          <p:nvPr/>
        </p:nvSpPr>
        <p:spPr>
          <a:xfrm>
            <a:off x="1901952" y="1883664"/>
            <a:ext cx="4937760" cy="292608"/>
          </a:xfrm>
          <a:prstGeom prst="rect">
            <a:avLst/>
          </a:prstGeom>
          <a:noFill/>
        </p:spPr>
        <p:txBody>
          <a:bodyPr wrap="square" lIns="0" tIns="0" rIns="0" bIns="0" anchor="t">
            <a:spAutoFit/>
          </a:bodyPr>
          <a:lstStyle/>
          <a:p>
            <a:pPr algn="l"/>
            <a:r>
              <a:rPr sz="1400" b="1">
                <a:solidFill>
                  <a:srgbClr val="161616"/>
                </a:solidFill>
                <a:latin typeface="Verdana Pro Semibold"/>
              </a:rPr>
              <a:t>Introduction</a:t>
            </a:r>
          </a:p>
        </p:txBody>
      </p:sp>
      <p:sp>
        <p:nvSpPr>
          <p:cNvPr id="11" name="TextBox 10"/>
          <p:cNvSpPr txBox="1"/>
          <p:nvPr/>
        </p:nvSpPr>
        <p:spPr>
          <a:xfrm>
            <a:off x="1901952" y="2221991"/>
            <a:ext cx="7680960" cy="292608"/>
          </a:xfrm>
          <a:prstGeom prst="rect">
            <a:avLst/>
          </a:prstGeom>
          <a:noFill/>
        </p:spPr>
        <p:txBody>
          <a:bodyPr wrap="square" lIns="0" tIns="0" rIns="0" bIns="0" anchor="t">
            <a:spAutoFit/>
          </a:bodyPr>
          <a:lstStyle/>
          <a:p>
            <a:pPr algn="l"/>
            <a:r>
              <a:rPr sz="1100" b="0">
                <a:solidFill>
                  <a:srgbClr val="5B7383"/>
                </a:solidFill>
                <a:latin typeface="Verdana Pro Light"/>
              </a:rPr>
              <a:t>Who I am and what digna does</a:t>
            </a:r>
          </a:p>
        </p:txBody>
      </p:sp>
      <p:sp>
        <p:nvSpPr>
          <p:cNvPr id="12" name="TextBox 11"/>
          <p:cNvSpPr txBox="1"/>
          <p:nvPr/>
        </p:nvSpPr>
        <p:spPr>
          <a:xfrm>
            <a:off x="10149840" y="2011679"/>
            <a:ext cx="1371600" cy="320040"/>
          </a:xfrm>
          <a:prstGeom prst="rect">
            <a:avLst/>
          </a:prstGeom>
          <a:noFill/>
        </p:spPr>
        <p:txBody>
          <a:bodyPr wrap="square" lIns="0" tIns="0" rIns="0" bIns="0" anchor="t">
            <a:spAutoFit/>
          </a:bodyPr>
          <a:lstStyle/>
          <a:p>
            <a:pPr algn="r"/>
            <a:r>
              <a:rPr sz="1250" b="1">
                <a:solidFill>
                  <a:srgbClr val="016BFF"/>
                </a:solidFill>
                <a:latin typeface="Verdana Pro Semibold"/>
              </a:rPr>
              <a:t>5 min</a:t>
            </a:r>
          </a:p>
        </p:txBody>
      </p:sp>
      <p:sp>
        <p:nvSpPr>
          <p:cNvPr id="13" name="Rectangle 12"/>
          <p:cNvSpPr/>
          <p:nvPr/>
        </p:nvSpPr>
        <p:spPr>
          <a:xfrm>
            <a:off x="621792" y="2651760"/>
            <a:ext cx="10945368" cy="841248"/>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 name="TextBox 13"/>
          <p:cNvSpPr txBox="1"/>
          <p:nvPr/>
        </p:nvSpPr>
        <p:spPr>
          <a:xfrm>
            <a:off x="987552" y="2889504"/>
            <a:ext cx="731520" cy="384048"/>
          </a:xfrm>
          <a:prstGeom prst="rect">
            <a:avLst/>
          </a:prstGeom>
          <a:noFill/>
        </p:spPr>
        <p:txBody>
          <a:bodyPr wrap="square" lIns="0" tIns="0" rIns="0" bIns="0" anchor="t">
            <a:spAutoFit/>
          </a:bodyPr>
          <a:lstStyle/>
          <a:p>
            <a:pPr algn="l"/>
            <a:r>
              <a:rPr sz="1800" b="1">
                <a:solidFill>
                  <a:srgbClr val="016BFF"/>
                </a:solidFill>
                <a:latin typeface="Verdana Pro Semibold"/>
              </a:rPr>
              <a:t>02</a:t>
            </a:r>
          </a:p>
        </p:txBody>
      </p:sp>
      <p:sp>
        <p:nvSpPr>
          <p:cNvPr id="15" name="TextBox 14"/>
          <p:cNvSpPr txBox="1"/>
          <p:nvPr/>
        </p:nvSpPr>
        <p:spPr>
          <a:xfrm>
            <a:off x="1901952" y="2798064"/>
            <a:ext cx="4937760" cy="292608"/>
          </a:xfrm>
          <a:prstGeom prst="rect">
            <a:avLst/>
          </a:prstGeom>
          <a:noFill/>
        </p:spPr>
        <p:txBody>
          <a:bodyPr wrap="square" lIns="0" tIns="0" rIns="0" bIns="0" anchor="t">
            <a:spAutoFit/>
          </a:bodyPr>
          <a:lstStyle/>
          <a:p>
            <a:pPr algn="l"/>
            <a:r>
              <a:rPr sz="1400" b="1">
                <a:solidFill>
                  <a:srgbClr val="161616"/>
                </a:solidFill>
                <a:latin typeface="Verdana Pro Semibold"/>
              </a:rPr>
              <a:t>Terminology</a:t>
            </a:r>
          </a:p>
        </p:txBody>
      </p:sp>
      <p:sp>
        <p:nvSpPr>
          <p:cNvPr id="16" name="TextBox 15"/>
          <p:cNvSpPr txBox="1"/>
          <p:nvPr/>
        </p:nvSpPr>
        <p:spPr>
          <a:xfrm>
            <a:off x="1901952" y="3136391"/>
            <a:ext cx="7680960" cy="292608"/>
          </a:xfrm>
          <a:prstGeom prst="rect">
            <a:avLst/>
          </a:prstGeom>
          <a:noFill/>
        </p:spPr>
        <p:txBody>
          <a:bodyPr wrap="square" lIns="0" tIns="0" rIns="0" bIns="0" anchor="t">
            <a:spAutoFit/>
          </a:bodyPr>
          <a:lstStyle/>
          <a:p>
            <a:pPr algn="l"/>
            <a:r>
              <a:rPr sz="1100" b="0">
                <a:solidFill>
                  <a:srgbClr val="5B7383"/>
                </a:solidFill>
                <a:latin typeface="Verdana Pro Light"/>
              </a:rPr>
              <a:t>Data Quality, Data Observability, Autonomous Data Quality</a:t>
            </a:r>
          </a:p>
        </p:txBody>
      </p:sp>
      <p:sp>
        <p:nvSpPr>
          <p:cNvPr id="17" name="TextBox 16"/>
          <p:cNvSpPr txBox="1"/>
          <p:nvPr/>
        </p:nvSpPr>
        <p:spPr>
          <a:xfrm>
            <a:off x="10149840" y="2926079"/>
            <a:ext cx="1371600" cy="320040"/>
          </a:xfrm>
          <a:prstGeom prst="rect">
            <a:avLst/>
          </a:prstGeom>
          <a:noFill/>
        </p:spPr>
        <p:txBody>
          <a:bodyPr wrap="square" lIns="0" tIns="0" rIns="0" bIns="0" anchor="t">
            <a:spAutoFit/>
          </a:bodyPr>
          <a:lstStyle/>
          <a:p>
            <a:pPr algn="r"/>
            <a:r>
              <a:rPr sz="1250" b="1">
                <a:solidFill>
                  <a:srgbClr val="016BFF"/>
                </a:solidFill>
                <a:latin typeface="Verdana Pro Semibold"/>
              </a:rPr>
              <a:t>6 min</a:t>
            </a:r>
          </a:p>
        </p:txBody>
      </p:sp>
      <p:sp>
        <p:nvSpPr>
          <p:cNvPr id="18" name="Rectangle 17"/>
          <p:cNvSpPr/>
          <p:nvPr/>
        </p:nvSpPr>
        <p:spPr>
          <a:xfrm>
            <a:off x="621792" y="3566160"/>
            <a:ext cx="10945368" cy="841248"/>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9" name="TextBox 18"/>
          <p:cNvSpPr txBox="1"/>
          <p:nvPr/>
        </p:nvSpPr>
        <p:spPr>
          <a:xfrm>
            <a:off x="987552" y="3803904"/>
            <a:ext cx="731520" cy="384048"/>
          </a:xfrm>
          <a:prstGeom prst="rect">
            <a:avLst/>
          </a:prstGeom>
          <a:noFill/>
        </p:spPr>
        <p:txBody>
          <a:bodyPr wrap="square" lIns="0" tIns="0" rIns="0" bIns="0" anchor="t">
            <a:spAutoFit/>
          </a:bodyPr>
          <a:lstStyle/>
          <a:p>
            <a:pPr algn="l"/>
            <a:r>
              <a:rPr sz="1800" b="1">
                <a:solidFill>
                  <a:srgbClr val="016BFF"/>
                </a:solidFill>
                <a:latin typeface="Verdana Pro Semibold"/>
              </a:rPr>
              <a:t>03</a:t>
            </a:r>
          </a:p>
        </p:txBody>
      </p:sp>
      <p:sp>
        <p:nvSpPr>
          <p:cNvPr id="20" name="TextBox 19"/>
          <p:cNvSpPr txBox="1"/>
          <p:nvPr/>
        </p:nvSpPr>
        <p:spPr>
          <a:xfrm>
            <a:off x="1901952" y="3712463"/>
            <a:ext cx="4937760" cy="292608"/>
          </a:xfrm>
          <a:prstGeom prst="rect">
            <a:avLst/>
          </a:prstGeom>
          <a:noFill/>
        </p:spPr>
        <p:txBody>
          <a:bodyPr wrap="square" lIns="0" tIns="0" rIns="0" bIns="0" anchor="t">
            <a:spAutoFit/>
          </a:bodyPr>
          <a:lstStyle/>
          <a:p>
            <a:pPr algn="l"/>
            <a:r>
              <a:rPr sz="1400" b="1">
                <a:solidFill>
                  <a:srgbClr val="161616"/>
                </a:solidFill>
                <a:latin typeface="Verdana Pro Semibold"/>
              </a:rPr>
              <a:t>What is changing</a:t>
            </a:r>
          </a:p>
        </p:txBody>
      </p:sp>
      <p:sp>
        <p:nvSpPr>
          <p:cNvPr id="21" name="TextBox 20"/>
          <p:cNvSpPr txBox="1"/>
          <p:nvPr/>
        </p:nvSpPr>
        <p:spPr>
          <a:xfrm>
            <a:off x="1901952" y="4050791"/>
            <a:ext cx="7680960" cy="292608"/>
          </a:xfrm>
          <a:prstGeom prst="rect">
            <a:avLst/>
          </a:prstGeom>
          <a:noFill/>
        </p:spPr>
        <p:txBody>
          <a:bodyPr wrap="square" lIns="0" tIns="0" rIns="0" bIns="0" anchor="t">
            <a:spAutoFit/>
          </a:bodyPr>
          <a:lstStyle/>
          <a:p>
            <a:pPr algn="l"/>
            <a:r>
              <a:rPr sz="1100" b="0">
                <a:solidFill>
                  <a:srgbClr val="5B7383"/>
                </a:solidFill>
                <a:latin typeface="Verdana Pro Light"/>
              </a:rPr>
              <a:t>Data products, orchestration, and the agents arriving on top</a:t>
            </a:r>
          </a:p>
        </p:txBody>
      </p:sp>
      <p:sp>
        <p:nvSpPr>
          <p:cNvPr id="22" name="TextBox 21"/>
          <p:cNvSpPr txBox="1"/>
          <p:nvPr/>
        </p:nvSpPr>
        <p:spPr>
          <a:xfrm>
            <a:off x="10149840" y="3840480"/>
            <a:ext cx="1371600" cy="320040"/>
          </a:xfrm>
          <a:prstGeom prst="rect">
            <a:avLst/>
          </a:prstGeom>
          <a:noFill/>
        </p:spPr>
        <p:txBody>
          <a:bodyPr wrap="square" lIns="0" tIns="0" rIns="0" bIns="0" anchor="t">
            <a:spAutoFit/>
          </a:bodyPr>
          <a:lstStyle/>
          <a:p>
            <a:pPr algn="r"/>
            <a:r>
              <a:rPr sz="1250" b="1">
                <a:solidFill>
                  <a:srgbClr val="016BFF"/>
                </a:solidFill>
                <a:latin typeface="Verdana Pro Semibold"/>
              </a:rPr>
              <a:t>9 min</a:t>
            </a:r>
          </a:p>
        </p:txBody>
      </p:sp>
      <p:sp>
        <p:nvSpPr>
          <p:cNvPr id="23" name="Rectangle 22"/>
          <p:cNvSpPr/>
          <p:nvPr/>
        </p:nvSpPr>
        <p:spPr>
          <a:xfrm>
            <a:off x="621792" y="4480560"/>
            <a:ext cx="10945368" cy="841248"/>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4" name="TextBox 23"/>
          <p:cNvSpPr txBox="1"/>
          <p:nvPr/>
        </p:nvSpPr>
        <p:spPr>
          <a:xfrm>
            <a:off x="987552" y="4718304"/>
            <a:ext cx="731520" cy="384048"/>
          </a:xfrm>
          <a:prstGeom prst="rect">
            <a:avLst/>
          </a:prstGeom>
          <a:noFill/>
        </p:spPr>
        <p:txBody>
          <a:bodyPr wrap="square" lIns="0" tIns="0" rIns="0" bIns="0" anchor="t">
            <a:spAutoFit/>
          </a:bodyPr>
          <a:lstStyle/>
          <a:p>
            <a:pPr algn="l"/>
            <a:r>
              <a:rPr sz="1800" b="1">
                <a:solidFill>
                  <a:srgbClr val="016BFF"/>
                </a:solidFill>
                <a:latin typeface="Verdana Pro Semibold"/>
              </a:rPr>
              <a:t>04</a:t>
            </a:r>
          </a:p>
        </p:txBody>
      </p:sp>
      <p:sp>
        <p:nvSpPr>
          <p:cNvPr id="25" name="TextBox 24"/>
          <p:cNvSpPr txBox="1"/>
          <p:nvPr/>
        </p:nvSpPr>
        <p:spPr>
          <a:xfrm>
            <a:off x="1901952" y="4626864"/>
            <a:ext cx="4937760" cy="292608"/>
          </a:xfrm>
          <a:prstGeom prst="rect">
            <a:avLst/>
          </a:prstGeom>
          <a:noFill/>
        </p:spPr>
        <p:txBody>
          <a:bodyPr wrap="square" lIns="0" tIns="0" rIns="0" bIns="0" anchor="t">
            <a:spAutoFit/>
          </a:bodyPr>
          <a:lstStyle/>
          <a:p>
            <a:pPr algn="l"/>
            <a:r>
              <a:rPr sz="1400" b="1">
                <a:solidFill>
                  <a:srgbClr val="161616"/>
                </a:solidFill>
                <a:latin typeface="Verdana Pro Semibold"/>
              </a:rPr>
              <a:t>Five triggers at Alpenwing</a:t>
            </a:r>
          </a:p>
        </p:txBody>
      </p:sp>
      <p:sp>
        <p:nvSpPr>
          <p:cNvPr id="26" name="TextBox 25"/>
          <p:cNvSpPr txBox="1"/>
          <p:nvPr/>
        </p:nvSpPr>
        <p:spPr>
          <a:xfrm>
            <a:off x="1901952" y="4965192"/>
            <a:ext cx="7680960" cy="292608"/>
          </a:xfrm>
          <a:prstGeom prst="rect">
            <a:avLst/>
          </a:prstGeom>
          <a:noFill/>
        </p:spPr>
        <p:txBody>
          <a:bodyPr wrap="square" lIns="0" tIns="0" rIns="0" bIns="0" anchor="t">
            <a:spAutoFit/>
          </a:bodyPr>
          <a:lstStyle/>
          <a:p>
            <a:pPr algn="l"/>
            <a:r>
              <a:rPr sz="1100" b="0">
                <a:solidFill>
                  <a:srgbClr val="5B7383"/>
                </a:solidFill>
                <a:latin typeface="Verdana Pro Light"/>
              </a:rPr>
              <a:t>What an agent actually does with each one, and where it stops</a:t>
            </a:r>
          </a:p>
        </p:txBody>
      </p:sp>
      <p:sp>
        <p:nvSpPr>
          <p:cNvPr id="27" name="TextBox 26"/>
          <p:cNvSpPr txBox="1"/>
          <p:nvPr/>
        </p:nvSpPr>
        <p:spPr>
          <a:xfrm>
            <a:off x="10149840" y="4754880"/>
            <a:ext cx="1371600" cy="320040"/>
          </a:xfrm>
          <a:prstGeom prst="rect">
            <a:avLst/>
          </a:prstGeom>
          <a:noFill/>
        </p:spPr>
        <p:txBody>
          <a:bodyPr wrap="square" lIns="0" tIns="0" rIns="0" bIns="0" anchor="t">
            <a:spAutoFit/>
          </a:bodyPr>
          <a:lstStyle/>
          <a:p>
            <a:pPr algn="r"/>
            <a:r>
              <a:rPr sz="1250" b="1">
                <a:solidFill>
                  <a:srgbClr val="016BFF"/>
                </a:solidFill>
                <a:latin typeface="Verdana Pro Semibold"/>
              </a:rPr>
              <a:t>18 min</a:t>
            </a:r>
          </a:p>
        </p:txBody>
      </p:sp>
      <p:sp>
        <p:nvSpPr>
          <p:cNvPr id="28" name="Rectangle 27"/>
          <p:cNvSpPr/>
          <p:nvPr/>
        </p:nvSpPr>
        <p:spPr>
          <a:xfrm>
            <a:off x="621792" y="5394960"/>
            <a:ext cx="10945368" cy="841248"/>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9" name="TextBox 28"/>
          <p:cNvSpPr txBox="1"/>
          <p:nvPr/>
        </p:nvSpPr>
        <p:spPr>
          <a:xfrm>
            <a:off x="987552" y="5632704"/>
            <a:ext cx="731520" cy="384048"/>
          </a:xfrm>
          <a:prstGeom prst="rect">
            <a:avLst/>
          </a:prstGeom>
          <a:noFill/>
        </p:spPr>
        <p:txBody>
          <a:bodyPr wrap="square" lIns="0" tIns="0" rIns="0" bIns="0" anchor="t">
            <a:spAutoFit/>
          </a:bodyPr>
          <a:lstStyle/>
          <a:p>
            <a:pPr algn="l"/>
            <a:r>
              <a:rPr sz="1800" b="1">
                <a:solidFill>
                  <a:srgbClr val="016BFF"/>
                </a:solidFill>
                <a:latin typeface="Verdana Pro Semibold"/>
              </a:rPr>
              <a:t>05</a:t>
            </a:r>
          </a:p>
        </p:txBody>
      </p:sp>
      <p:sp>
        <p:nvSpPr>
          <p:cNvPr id="30" name="TextBox 29"/>
          <p:cNvSpPr txBox="1"/>
          <p:nvPr/>
        </p:nvSpPr>
        <p:spPr>
          <a:xfrm>
            <a:off x="1901952" y="5541264"/>
            <a:ext cx="4937760" cy="292608"/>
          </a:xfrm>
          <a:prstGeom prst="rect">
            <a:avLst/>
          </a:prstGeom>
          <a:noFill/>
        </p:spPr>
        <p:txBody>
          <a:bodyPr wrap="square" lIns="0" tIns="0" rIns="0" bIns="0" anchor="t">
            <a:spAutoFit/>
          </a:bodyPr>
          <a:lstStyle/>
          <a:p>
            <a:pPr algn="l"/>
            <a:r>
              <a:rPr sz="1400" b="1">
                <a:solidFill>
                  <a:srgbClr val="161616"/>
                </a:solidFill>
                <a:latin typeface="Verdana Pro Semibold"/>
              </a:rPr>
              <a:t>The Steward, the limits, the horizon</a:t>
            </a:r>
          </a:p>
        </p:txBody>
      </p:sp>
      <p:sp>
        <p:nvSpPr>
          <p:cNvPr id="31" name="TextBox 30"/>
          <p:cNvSpPr txBox="1"/>
          <p:nvPr/>
        </p:nvSpPr>
        <p:spPr>
          <a:xfrm>
            <a:off x="1901952" y="5879592"/>
            <a:ext cx="7680960" cy="292608"/>
          </a:xfrm>
          <a:prstGeom prst="rect">
            <a:avLst/>
          </a:prstGeom>
          <a:noFill/>
        </p:spPr>
        <p:txBody>
          <a:bodyPr wrap="square" lIns="0" tIns="0" rIns="0" bIns="0" anchor="t">
            <a:spAutoFit/>
          </a:bodyPr>
          <a:lstStyle/>
          <a:p>
            <a:pPr algn="l"/>
            <a:r>
              <a:rPr sz="1100" b="0">
                <a:solidFill>
                  <a:srgbClr val="5B7383"/>
                </a:solidFill>
                <a:latin typeface="Verdana Pro Light"/>
              </a:rPr>
              <a:t>What gets more interesting, and what never automates</a:t>
            </a:r>
          </a:p>
        </p:txBody>
      </p:sp>
      <p:sp>
        <p:nvSpPr>
          <p:cNvPr id="32" name="TextBox 31"/>
          <p:cNvSpPr txBox="1"/>
          <p:nvPr/>
        </p:nvSpPr>
        <p:spPr>
          <a:xfrm>
            <a:off x="10149840" y="5669280"/>
            <a:ext cx="1371600" cy="320040"/>
          </a:xfrm>
          <a:prstGeom prst="rect">
            <a:avLst/>
          </a:prstGeom>
          <a:noFill/>
        </p:spPr>
        <p:txBody>
          <a:bodyPr wrap="square" lIns="0" tIns="0" rIns="0" bIns="0" anchor="t">
            <a:spAutoFit/>
          </a:bodyPr>
          <a:lstStyle/>
          <a:p>
            <a:pPr algn="r"/>
            <a:r>
              <a:rPr sz="1250" b="1">
                <a:solidFill>
                  <a:srgbClr val="016BFF"/>
                </a:solidFill>
                <a:latin typeface="Verdana Pro Semibold"/>
              </a:rPr>
              <a:t>7 min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411480"/>
            <a:ext cx="8229600" cy="274320"/>
          </a:xfrm>
          <a:prstGeom prst="rect">
            <a:avLst/>
          </a:prstGeom>
          <a:noFill/>
        </p:spPr>
        <p:txBody>
          <a:bodyPr wrap="square" lIns="0" tIns="0" rIns="0" bIns="0" anchor="t">
            <a:spAutoFit/>
          </a:bodyPr>
          <a:lstStyle/>
          <a:p>
            <a:pPr algn="l"/>
            <a:r>
              <a:rPr sz="1100" b="0">
                <a:solidFill>
                  <a:srgbClr val="9FB3BF"/>
                </a:solidFill>
                <a:latin typeface="Verdana Pro Light"/>
              </a:rPr>
              <a:t>About me</a:t>
            </a:r>
          </a:p>
        </p:txBody>
      </p:sp>
      <p:sp>
        <p:nvSpPr>
          <p:cNvPr id="3" name="TextBox 2"/>
          <p:cNvSpPr txBox="1"/>
          <p:nvPr/>
        </p:nvSpPr>
        <p:spPr>
          <a:xfrm>
            <a:off x="621792" y="932688"/>
            <a:ext cx="10607040" cy="640080"/>
          </a:xfrm>
          <a:prstGeom prst="rect">
            <a:avLst/>
          </a:prstGeom>
          <a:noFill/>
        </p:spPr>
        <p:txBody>
          <a:bodyPr wrap="square" lIns="0" tIns="0" rIns="0" bIns="0" anchor="t">
            <a:spAutoFit/>
          </a:bodyPr>
          <a:lstStyle/>
          <a:p>
            <a:pPr algn="l"/>
            <a:r>
              <a:rPr sz="2600" b="1">
                <a:solidFill>
                  <a:srgbClr val="161616"/>
                </a:solidFill>
                <a:latin typeface="Verdana Pro Semibold"/>
              </a:rPr>
              <a:t>Marcin Chudeusz</a:t>
            </a:r>
          </a:p>
        </p:txBody>
      </p:sp>
      <p:pic>
        <p:nvPicPr>
          <p:cNvPr id="4" name="Picture 3" descr="logo_black.png"/>
          <p:cNvPicPr>
            <a:picLocks noChangeAspect="1"/>
          </p:cNvPicPr>
          <p:nvPr/>
        </p:nvPicPr>
        <p:blipFill>
          <a:blip r:embed="rId3"/>
          <a:stretch>
            <a:fillRect/>
          </a:stretch>
        </p:blipFill>
        <p:spPr>
          <a:xfrm>
            <a:off x="621792" y="6327648"/>
            <a:ext cx="811952" cy="310896"/>
          </a:xfrm>
          <a:prstGeom prst="rect">
            <a:avLst/>
          </a:prstGeom>
        </p:spPr>
      </p:pic>
      <p:sp>
        <p:nvSpPr>
          <p:cNvPr id="5" name="TextBox 4"/>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5B7383"/>
                </a:solidFill>
                <a:latin typeface="Verdana Pro Light"/>
              </a:rPr>
              <a:t>|   Data Quality and Observability Platform</a:t>
            </a:r>
          </a:p>
        </p:txBody>
      </p:sp>
      <p:sp>
        <p:nvSpPr>
          <p:cNvPr id="6" name="TextBox 5"/>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016BFF"/>
                </a:solidFill>
                <a:latin typeface="Verdana Pro Light"/>
              </a:rPr>
              <a:t>digna   |</a:t>
            </a:r>
          </a:p>
        </p:txBody>
      </p:sp>
      <p:sp>
        <p:nvSpPr>
          <p:cNvPr id="7" name="TextBox 6"/>
          <p:cNvSpPr txBox="1"/>
          <p:nvPr/>
        </p:nvSpPr>
        <p:spPr>
          <a:xfrm>
            <a:off x="11109960" y="6402304"/>
            <a:ext cx="457200" cy="161583"/>
          </a:xfrm>
          <a:prstGeom prst="rect">
            <a:avLst/>
          </a:prstGeom>
          <a:noFill/>
        </p:spPr>
        <p:txBody>
          <a:bodyPr wrap="square" lIns="0" tIns="0" rIns="0" bIns="0" anchor="ctr">
            <a:spAutoFit/>
          </a:bodyPr>
          <a:lstStyle/>
          <a:p>
            <a:pPr algn="r"/>
            <a:r>
              <a:rPr sz="1050" b="0" dirty="0">
                <a:solidFill>
                  <a:srgbClr val="016BFF"/>
                </a:solidFill>
                <a:latin typeface="Verdana Pro Light"/>
              </a:rPr>
              <a:t>0</a:t>
            </a:r>
            <a:r>
              <a:rPr lang="de-AT" sz="1050" b="0" dirty="0">
                <a:solidFill>
                  <a:srgbClr val="016BFF"/>
                </a:solidFill>
                <a:latin typeface="Verdana Pro Light"/>
              </a:rPr>
              <a:t>4</a:t>
            </a:r>
            <a:endParaRPr sz="1050" b="0" dirty="0">
              <a:solidFill>
                <a:srgbClr val="016BFF"/>
              </a:solidFill>
              <a:latin typeface="Verdana Pro Light"/>
            </a:endParaRPr>
          </a:p>
        </p:txBody>
      </p:sp>
      <p:pic>
        <p:nvPicPr>
          <p:cNvPr id="8" name="Picture 7" descr="marcin_circle.png"/>
          <p:cNvPicPr>
            <a:picLocks noChangeAspect="1"/>
          </p:cNvPicPr>
          <p:nvPr/>
        </p:nvPicPr>
        <p:blipFill>
          <a:blip r:embed="rId4"/>
          <a:stretch>
            <a:fillRect/>
          </a:stretch>
        </p:blipFill>
        <p:spPr>
          <a:xfrm>
            <a:off x="8503920" y="1783080"/>
            <a:ext cx="2834640" cy="2834640"/>
          </a:xfrm>
          <a:prstGeom prst="rect">
            <a:avLst/>
          </a:prstGeom>
        </p:spPr>
      </p:pic>
      <p:sp>
        <p:nvSpPr>
          <p:cNvPr id="9" name="Oval 8"/>
          <p:cNvSpPr/>
          <p:nvPr/>
        </p:nvSpPr>
        <p:spPr>
          <a:xfrm>
            <a:off x="621792" y="1975104"/>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 name="TextBox 9"/>
          <p:cNvSpPr txBox="1"/>
          <p:nvPr/>
        </p:nvSpPr>
        <p:spPr>
          <a:xfrm>
            <a:off x="950976" y="1892808"/>
            <a:ext cx="7168895" cy="603504"/>
          </a:xfrm>
          <a:prstGeom prst="rect">
            <a:avLst/>
          </a:prstGeom>
          <a:noFill/>
        </p:spPr>
        <p:txBody>
          <a:bodyPr wrap="square" lIns="0" tIns="0" rIns="0" bIns="0" anchor="t">
            <a:spAutoFit/>
          </a:bodyPr>
          <a:lstStyle/>
          <a:p>
            <a:pPr algn="l"/>
            <a:r>
              <a:rPr sz="1400" b="0">
                <a:solidFill>
                  <a:srgbClr val="161616"/>
                </a:solidFill>
                <a:latin typeface="Verdana Pro Light"/>
              </a:rPr>
              <a:t>Living and working in Austria for 20 years</a:t>
            </a:r>
          </a:p>
        </p:txBody>
      </p:sp>
      <p:sp>
        <p:nvSpPr>
          <p:cNvPr id="11" name="Oval 10"/>
          <p:cNvSpPr/>
          <p:nvPr/>
        </p:nvSpPr>
        <p:spPr>
          <a:xfrm>
            <a:off x="621792" y="2578608"/>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 name="TextBox 11"/>
          <p:cNvSpPr txBox="1"/>
          <p:nvPr/>
        </p:nvSpPr>
        <p:spPr>
          <a:xfrm>
            <a:off x="950976" y="2496312"/>
            <a:ext cx="7168895" cy="603504"/>
          </a:xfrm>
          <a:prstGeom prst="rect">
            <a:avLst/>
          </a:prstGeom>
          <a:noFill/>
        </p:spPr>
        <p:txBody>
          <a:bodyPr wrap="square" lIns="0" tIns="0" rIns="0" bIns="0" anchor="t">
            <a:spAutoFit/>
          </a:bodyPr>
          <a:lstStyle/>
          <a:p>
            <a:pPr algn="l"/>
            <a:r>
              <a:rPr sz="1400" b="0">
                <a:solidFill>
                  <a:srgbClr val="161616"/>
                </a:solidFill>
                <a:latin typeface="Verdana Pro Light"/>
              </a:rPr>
              <a:t>Studied at the Technical University of Warsaw</a:t>
            </a:r>
          </a:p>
        </p:txBody>
      </p:sp>
      <p:sp>
        <p:nvSpPr>
          <p:cNvPr id="13" name="Oval 12"/>
          <p:cNvSpPr/>
          <p:nvPr/>
        </p:nvSpPr>
        <p:spPr>
          <a:xfrm>
            <a:off x="621792" y="3182112"/>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 name="TextBox 13"/>
          <p:cNvSpPr txBox="1"/>
          <p:nvPr/>
        </p:nvSpPr>
        <p:spPr>
          <a:xfrm>
            <a:off x="950976" y="3099816"/>
            <a:ext cx="7168895" cy="603504"/>
          </a:xfrm>
          <a:prstGeom prst="rect">
            <a:avLst/>
          </a:prstGeom>
          <a:noFill/>
        </p:spPr>
        <p:txBody>
          <a:bodyPr wrap="square" lIns="0" tIns="0" rIns="0" bIns="0" anchor="t">
            <a:spAutoFit/>
          </a:bodyPr>
          <a:lstStyle/>
          <a:p>
            <a:pPr algn="l"/>
            <a:r>
              <a:rPr sz="1400" b="0">
                <a:solidFill>
                  <a:srgbClr val="161616"/>
                </a:solidFill>
                <a:latin typeface="Verdana Pro Light"/>
              </a:rPr>
              <a:t>Focus throughout my career: data warehouses</a:t>
            </a:r>
          </a:p>
        </p:txBody>
      </p:sp>
      <p:sp>
        <p:nvSpPr>
          <p:cNvPr id="15" name="Oval 14"/>
          <p:cNvSpPr/>
          <p:nvPr/>
        </p:nvSpPr>
        <p:spPr>
          <a:xfrm>
            <a:off x="621792" y="3785615"/>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6" name="TextBox 15"/>
          <p:cNvSpPr txBox="1"/>
          <p:nvPr/>
        </p:nvSpPr>
        <p:spPr>
          <a:xfrm>
            <a:off x="950976" y="3703320"/>
            <a:ext cx="7168895" cy="603504"/>
          </a:xfrm>
          <a:prstGeom prst="rect">
            <a:avLst/>
          </a:prstGeom>
          <a:noFill/>
        </p:spPr>
        <p:txBody>
          <a:bodyPr wrap="square" lIns="0" tIns="0" rIns="0" bIns="0" anchor="t">
            <a:spAutoFit/>
          </a:bodyPr>
          <a:lstStyle/>
          <a:p>
            <a:pPr algn="l"/>
            <a:r>
              <a:rPr sz="1400" b="0">
                <a:solidFill>
                  <a:srgbClr val="161616"/>
                </a:solidFill>
                <a:latin typeface="Verdana Pro Light"/>
              </a:rPr>
              <a:t>Co-Founder &amp; CEO of digna</a:t>
            </a:r>
          </a:p>
        </p:txBody>
      </p:sp>
      <p:sp>
        <p:nvSpPr>
          <p:cNvPr id="17" name="Rectangle 16"/>
          <p:cNvSpPr/>
          <p:nvPr/>
        </p:nvSpPr>
        <p:spPr>
          <a:xfrm>
            <a:off x="621792" y="4480560"/>
            <a:ext cx="7498079" cy="141732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8" name="TextBox 17"/>
          <p:cNvSpPr txBox="1"/>
          <p:nvPr/>
        </p:nvSpPr>
        <p:spPr>
          <a:xfrm>
            <a:off x="987552" y="4480560"/>
            <a:ext cx="6766560" cy="1417320"/>
          </a:xfrm>
          <a:prstGeom prst="rect">
            <a:avLst/>
          </a:prstGeom>
          <a:noFill/>
        </p:spPr>
        <p:txBody>
          <a:bodyPr wrap="square" lIns="0" tIns="0" rIns="0" bIns="0" anchor="ctr">
            <a:spAutoFit/>
          </a:bodyPr>
          <a:lstStyle/>
          <a:p>
            <a:pPr algn="l"/>
            <a:r>
              <a:rPr sz="1300" b="0">
                <a:solidFill>
                  <a:srgbClr val="161616"/>
                </a:solidFill>
                <a:latin typeface="Verdana Pro Light"/>
              </a:rPr>
              <a:t>Twenty years of building warehouses, and the same problem in every one: not performance, not modelling — trust.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411480"/>
            <a:ext cx="8229600" cy="274320"/>
          </a:xfrm>
          <a:prstGeom prst="rect">
            <a:avLst/>
          </a:prstGeom>
          <a:noFill/>
        </p:spPr>
        <p:txBody>
          <a:bodyPr wrap="square" lIns="0" tIns="0" rIns="0" bIns="0" anchor="t">
            <a:spAutoFit/>
          </a:bodyPr>
          <a:lstStyle/>
          <a:p>
            <a:pPr algn="l"/>
            <a:r>
              <a:rPr sz="1100" b="0">
                <a:solidFill>
                  <a:srgbClr val="9FB3BF"/>
                </a:solidFill>
                <a:latin typeface="Verdana Pro Light"/>
              </a:rPr>
              <a:t>The company</a:t>
            </a:r>
          </a:p>
        </p:txBody>
      </p:sp>
      <p:sp>
        <p:nvSpPr>
          <p:cNvPr id="3" name="TextBox 2"/>
          <p:cNvSpPr txBox="1"/>
          <p:nvPr/>
        </p:nvSpPr>
        <p:spPr>
          <a:xfrm>
            <a:off x="621792" y="932688"/>
            <a:ext cx="10607040" cy="640080"/>
          </a:xfrm>
          <a:prstGeom prst="rect">
            <a:avLst/>
          </a:prstGeom>
          <a:noFill/>
        </p:spPr>
        <p:txBody>
          <a:bodyPr wrap="square" lIns="0" tIns="0" rIns="0" bIns="0" anchor="t">
            <a:spAutoFit/>
          </a:bodyPr>
          <a:lstStyle/>
          <a:p>
            <a:pPr algn="l"/>
            <a:r>
              <a:rPr sz="2600" b="1">
                <a:solidFill>
                  <a:srgbClr val="161616"/>
                </a:solidFill>
                <a:latin typeface="Verdana Pro Semibold"/>
              </a:rPr>
              <a:t>digna</a:t>
            </a:r>
          </a:p>
        </p:txBody>
      </p:sp>
      <p:pic>
        <p:nvPicPr>
          <p:cNvPr id="4" name="Picture 3" descr="logo_black.png"/>
          <p:cNvPicPr>
            <a:picLocks noChangeAspect="1"/>
          </p:cNvPicPr>
          <p:nvPr/>
        </p:nvPicPr>
        <p:blipFill>
          <a:blip r:embed="rId3"/>
          <a:stretch>
            <a:fillRect/>
          </a:stretch>
        </p:blipFill>
        <p:spPr>
          <a:xfrm>
            <a:off x="621792" y="6327648"/>
            <a:ext cx="811952" cy="310896"/>
          </a:xfrm>
          <a:prstGeom prst="rect">
            <a:avLst/>
          </a:prstGeom>
        </p:spPr>
      </p:pic>
      <p:sp>
        <p:nvSpPr>
          <p:cNvPr id="5" name="TextBox 4"/>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5B7383"/>
                </a:solidFill>
                <a:latin typeface="Verdana Pro Light"/>
              </a:rPr>
              <a:t>|   Data Quality and Observability Platform</a:t>
            </a:r>
          </a:p>
        </p:txBody>
      </p:sp>
      <p:sp>
        <p:nvSpPr>
          <p:cNvPr id="6" name="TextBox 5"/>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016BFF"/>
                </a:solidFill>
                <a:latin typeface="Verdana Pro Light"/>
              </a:rPr>
              <a:t>digna   |</a:t>
            </a:r>
          </a:p>
        </p:txBody>
      </p:sp>
      <p:sp>
        <p:nvSpPr>
          <p:cNvPr id="7" name="TextBox 6"/>
          <p:cNvSpPr txBox="1"/>
          <p:nvPr/>
        </p:nvSpPr>
        <p:spPr>
          <a:xfrm>
            <a:off x="11109960" y="6402304"/>
            <a:ext cx="457200" cy="161583"/>
          </a:xfrm>
          <a:prstGeom prst="rect">
            <a:avLst/>
          </a:prstGeom>
          <a:noFill/>
        </p:spPr>
        <p:txBody>
          <a:bodyPr wrap="square" lIns="0" tIns="0" rIns="0" bIns="0" anchor="ctr">
            <a:spAutoFit/>
          </a:bodyPr>
          <a:lstStyle/>
          <a:p>
            <a:pPr algn="r"/>
            <a:r>
              <a:rPr sz="1050" b="0" dirty="0">
                <a:solidFill>
                  <a:srgbClr val="016BFF"/>
                </a:solidFill>
                <a:latin typeface="Verdana Pro Light"/>
              </a:rPr>
              <a:t>0</a:t>
            </a:r>
            <a:r>
              <a:rPr lang="de-AT" sz="1050" b="0" dirty="0">
                <a:solidFill>
                  <a:srgbClr val="016BFF"/>
                </a:solidFill>
                <a:latin typeface="Verdana Pro Light"/>
              </a:rPr>
              <a:t>5</a:t>
            </a:r>
            <a:endParaRPr sz="1050" b="0" dirty="0">
              <a:solidFill>
                <a:srgbClr val="016BFF"/>
              </a:solidFill>
              <a:latin typeface="Verdana Pro Light"/>
            </a:endParaRPr>
          </a:p>
        </p:txBody>
      </p:sp>
      <p:sp>
        <p:nvSpPr>
          <p:cNvPr id="8" name="TextBox 7"/>
          <p:cNvSpPr txBox="1"/>
          <p:nvPr/>
        </p:nvSpPr>
        <p:spPr>
          <a:xfrm>
            <a:off x="621792" y="1691640"/>
            <a:ext cx="10607040" cy="365760"/>
          </a:xfrm>
          <a:prstGeom prst="rect">
            <a:avLst/>
          </a:prstGeom>
          <a:noFill/>
        </p:spPr>
        <p:txBody>
          <a:bodyPr wrap="square" lIns="0" tIns="0" rIns="0" bIns="0" anchor="t">
            <a:spAutoFit/>
          </a:bodyPr>
          <a:lstStyle/>
          <a:p>
            <a:pPr algn="l"/>
            <a:r>
              <a:rPr sz="1400" b="0">
                <a:solidFill>
                  <a:srgbClr val="5B7383"/>
                </a:solidFill>
                <a:latin typeface="Verdana Pro Light"/>
              </a:rPr>
              <a:t>An Austrian software company. Data Quality and Data Observability.</a:t>
            </a:r>
          </a:p>
        </p:txBody>
      </p:sp>
      <p:sp>
        <p:nvSpPr>
          <p:cNvPr id="9" name="Rectangle 8"/>
          <p:cNvSpPr/>
          <p:nvPr/>
        </p:nvSpPr>
        <p:spPr>
          <a:xfrm>
            <a:off x="621792" y="2377440"/>
            <a:ext cx="3429000" cy="228600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 name="Oval 9"/>
          <p:cNvSpPr/>
          <p:nvPr/>
        </p:nvSpPr>
        <p:spPr>
          <a:xfrm>
            <a:off x="987552" y="2651760"/>
            <a:ext cx="274320" cy="274320"/>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 name="Oval 10"/>
          <p:cNvSpPr/>
          <p:nvPr/>
        </p:nvSpPr>
        <p:spPr>
          <a:xfrm>
            <a:off x="1061618" y="2725826"/>
            <a:ext cx="126187" cy="126187"/>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 name="TextBox 11"/>
          <p:cNvSpPr txBox="1"/>
          <p:nvPr/>
        </p:nvSpPr>
        <p:spPr>
          <a:xfrm>
            <a:off x="987552" y="3090672"/>
            <a:ext cx="2743200" cy="548640"/>
          </a:xfrm>
          <a:prstGeom prst="rect">
            <a:avLst/>
          </a:prstGeom>
          <a:noFill/>
        </p:spPr>
        <p:txBody>
          <a:bodyPr wrap="square" lIns="0" tIns="0" rIns="0" bIns="0" anchor="t">
            <a:spAutoFit/>
          </a:bodyPr>
          <a:lstStyle/>
          <a:p>
            <a:pPr algn="l"/>
            <a:r>
              <a:rPr sz="1400" b="1">
                <a:solidFill>
                  <a:srgbClr val="161616"/>
                </a:solidFill>
                <a:latin typeface="Verdana Pro Semibold"/>
              </a:rPr>
              <a:t>Learns instead of asking</a:t>
            </a:r>
          </a:p>
        </p:txBody>
      </p:sp>
      <p:sp>
        <p:nvSpPr>
          <p:cNvPr id="13" name="TextBox 12"/>
          <p:cNvSpPr txBox="1"/>
          <p:nvPr/>
        </p:nvSpPr>
        <p:spPr>
          <a:xfrm>
            <a:off x="987552" y="3657600"/>
            <a:ext cx="2743200" cy="868680"/>
          </a:xfrm>
          <a:prstGeom prst="rect">
            <a:avLst/>
          </a:prstGeom>
          <a:noFill/>
        </p:spPr>
        <p:txBody>
          <a:bodyPr wrap="square" lIns="0" tIns="0" rIns="0" bIns="0" anchor="t">
            <a:spAutoFit/>
          </a:bodyPr>
          <a:lstStyle/>
          <a:p>
            <a:pPr algn="l"/>
            <a:r>
              <a:rPr sz="1150" b="0">
                <a:solidFill>
                  <a:srgbClr val="5B7383"/>
                </a:solidFill>
                <a:latin typeface="Verdana Pro Light"/>
              </a:rPr>
              <a:t>digna profiles your data and learns what normal looks like. No manual thresholds.</a:t>
            </a:r>
          </a:p>
        </p:txBody>
      </p:sp>
      <p:sp>
        <p:nvSpPr>
          <p:cNvPr id="14" name="Rectangle 13"/>
          <p:cNvSpPr/>
          <p:nvPr/>
        </p:nvSpPr>
        <p:spPr>
          <a:xfrm>
            <a:off x="4325112" y="2377440"/>
            <a:ext cx="3429000" cy="228600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5" name="Oval 14"/>
          <p:cNvSpPr/>
          <p:nvPr/>
        </p:nvSpPr>
        <p:spPr>
          <a:xfrm>
            <a:off x="4690872" y="2651760"/>
            <a:ext cx="274320" cy="274320"/>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6" name="Oval 15"/>
          <p:cNvSpPr/>
          <p:nvPr/>
        </p:nvSpPr>
        <p:spPr>
          <a:xfrm>
            <a:off x="4764938" y="2725826"/>
            <a:ext cx="126187" cy="126187"/>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 name="TextBox 16"/>
          <p:cNvSpPr txBox="1"/>
          <p:nvPr/>
        </p:nvSpPr>
        <p:spPr>
          <a:xfrm>
            <a:off x="4690872" y="3090672"/>
            <a:ext cx="2743200" cy="548640"/>
          </a:xfrm>
          <a:prstGeom prst="rect">
            <a:avLst/>
          </a:prstGeom>
          <a:noFill/>
        </p:spPr>
        <p:txBody>
          <a:bodyPr wrap="square" lIns="0" tIns="0" rIns="0" bIns="0" anchor="t">
            <a:spAutoFit/>
          </a:bodyPr>
          <a:lstStyle/>
          <a:p>
            <a:pPr algn="l"/>
            <a:r>
              <a:rPr sz="1400" b="1">
                <a:solidFill>
                  <a:srgbClr val="161616"/>
                </a:solidFill>
                <a:latin typeface="Verdana Pro Semibold"/>
              </a:rPr>
              <a:t>Runs where your data is</a:t>
            </a:r>
          </a:p>
        </p:txBody>
      </p:sp>
      <p:sp>
        <p:nvSpPr>
          <p:cNvPr id="18" name="TextBox 17"/>
          <p:cNvSpPr txBox="1"/>
          <p:nvPr/>
        </p:nvSpPr>
        <p:spPr>
          <a:xfrm>
            <a:off x="4690872" y="3657600"/>
            <a:ext cx="2743200" cy="868680"/>
          </a:xfrm>
          <a:prstGeom prst="rect">
            <a:avLst/>
          </a:prstGeom>
          <a:noFill/>
        </p:spPr>
        <p:txBody>
          <a:bodyPr wrap="square" lIns="0" tIns="0" rIns="0" bIns="0" anchor="t">
            <a:spAutoFit/>
          </a:bodyPr>
          <a:lstStyle/>
          <a:p>
            <a:pPr algn="l"/>
            <a:r>
              <a:rPr sz="1150" b="0">
                <a:solidFill>
                  <a:srgbClr val="5B7383"/>
                </a:solidFill>
                <a:latin typeface="Verdana Pro Light"/>
              </a:rPr>
              <a:t>In-database execution. Nothing is copied out — cloud or on-premise.</a:t>
            </a:r>
          </a:p>
        </p:txBody>
      </p:sp>
      <p:sp>
        <p:nvSpPr>
          <p:cNvPr id="19" name="Rectangle 18"/>
          <p:cNvSpPr/>
          <p:nvPr/>
        </p:nvSpPr>
        <p:spPr>
          <a:xfrm>
            <a:off x="8028431" y="2377440"/>
            <a:ext cx="3429000" cy="228600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0" name="Oval 19"/>
          <p:cNvSpPr/>
          <p:nvPr/>
        </p:nvSpPr>
        <p:spPr>
          <a:xfrm>
            <a:off x="8394192" y="2651760"/>
            <a:ext cx="274320" cy="274320"/>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1" name="Oval 20"/>
          <p:cNvSpPr/>
          <p:nvPr/>
        </p:nvSpPr>
        <p:spPr>
          <a:xfrm>
            <a:off x="8468258" y="2725826"/>
            <a:ext cx="126187" cy="126187"/>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2" name="TextBox 21"/>
          <p:cNvSpPr txBox="1"/>
          <p:nvPr/>
        </p:nvSpPr>
        <p:spPr>
          <a:xfrm>
            <a:off x="8394192" y="3090672"/>
            <a:ext cx="2743200" cy="548640"/>
          </a:xfrm>
          <a:prstGeom prst="rect">
            <a:avLst/>
          </a:prstGeom>
          <a:noFill/>
        </p:spPr>
        <p:txBody>
          <a:bodyPr wrap="square" lIns="0" tIns="0" rIns="0" bIns="0" anchor="t">
            <a:spAutoFit/>
          </a:bodyPr>
          <a:lstStyle/>
          <a:p>
            <a:pPr algn="l"/>
            <a:r>
              <a:rPr sz="1400" b="1">
                <a:solidFill>
                  <a:srgbClr val="161616"/>
                </a:solidFill>
                <a:latin typeface="Verdana Pro Semibold"/>
              </a:rPr>
              <a:t>Light enough to cover everything</a:t>
            </a:r>
          </a:p>
        </p:txBody>
      </p:sp>
      <p:sp>
        <p:nvSpPr>
          <p:cNvPr id="23" name="TextBox 22"/>
          <p:cNvSpPr txBox="1"/>
          <p:nvPr/>
        </p:nvSpPr>
        <p:spPr>
          <a:xfrm>
            <a:off x="8394192" y="3657600"/>
            <a:ext cx="2743200" cy="868680"/>
          </a:xfrm>
          <a:prstGeom prst="rect">
            <a:avLst/>
          </a:prstGeom>
          <a:noFill/>
        </p:spPr>
        <p:txBody>
          <a:bodyPr wrap="square" lIns="0" tIns="0" rIns="0" bIns="0" anchor="t">
            <a:spAutoFit/>
          </a:bodyPr>
          <a:lstStyle/>
          <a:p>
            <a:pPr algn="l"/>
            <a:r>
              <a:rPr sz="1150" b="0">
                <a:solidFill>
                  <a:srgbClr val="5B7383"/>
                </a:solidFill>
                <a:latin typeface="Verdana Pro Light"/>
              </a:rPr>
              <a:t>Fast, small ML models. Coverage across every table, not just a chosen few.</a:t>
            </a:r>
          </a:p>
        </p:txBody>
      </p:sp>
      <p:sp>
        <p:nvSpPr>
          <p:cNvPr id="24" name="Rectangle 23"/>
          <p:cNvSpPr/>
          <p:nvPr/>
        </p:nvSpPr>
        <p:spPr>
          <a:xfrm>
            <a:off x="621792" y="4983480"/>
            <a:ext cx="10945368" cy="73152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5" name="TextBox 24"/>
          <p:cNvSpPr txBox="1"/>
          <p:nvPr/>
        </p:nvSpPr>
        <p:spPr>
          <a:xfrm>
            <a:off x="987552" y="4983480"/>
            <a:ext cx="10213848" cy="731520"/>
          </a:xfrm>
          <a:prstGeom prst="rect">
            <a:avLst/>
          </a:prstGeom>
          <a:noFill/>
        </p:spPr>
        <p:txBody>
          <a:bodyPr wrap="square" lIns="0" tIns="0" rIns="0" bIns="0" anchor="ctr">
            <a:spAutoFit/>
          </a:bodyPr>
          <a:lstStyle/>
          <a:p>
            <a:pPr algn="l"/>
            <a:r>
              <a:rPr sz="1300" b="1">
                <a:solidFill>
                  <a:srgbClr val="016BFF"/>
                </a:solidFill>
                <a:latin typeface="Verdana Pro Semibold"/>
              </a:rPr>
              <a:t>We cover every Data Quality dimension DAMA defines.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411480"/>
            <a:ext cx="8229600" cy="274320"/>
          </a:xfrm>
          <a:prstGeom prst="rect">
            <a:avLst/>
          </a:prstGeom>
          <a:noFill/>
        </p:spPr>
        <p:txBody>
          <a:bodyPr wrap="square" lIns="0" tIns="0" rIns="0" bIns="0" anchor="t">
            <a:spAutoFit/>
          </a:bodyPr>
          <a:lstStyle/>
          <a:p>
            <a:pPr algn="l"/>
            <a:r>
              <a:rPr sz="1100" b="0">
                <a:solidFill>
                  <a:srgbClr val="9FB3BF"/>
                </a:solidFill>
                <a:latin typeface="Verdana Pro Light"/>
              </a:rPr>
              <a:t>The company</a:t>
            </a:r>
          </a:p>
        </p:txBody>
      </p:sp>
      <p:sp>
        <p:nvSpPr>
          <p:cNvPr id="3" name="TextBox 2"/>
          <p:cNvSpPr txBox="1"/>
          <p:nvPr/>
        </p:nvSpPr>
        <p:spPr>
          <a:xfrm>
            <a:off x="621792" y="932688"/>
            <a:ext cx="10607040" cy="640080"/>
          </a:xfrm>
          <a:prstGeom prst="rect">
            <a:avLst/>
          </a:prstGeom>
          <a:noFill/>
        </p:spPr>
        <p:txBody>
          <a:bodyPr wrap="square" lIns="0" tIns="0" rIns="0" bIns="0" anchor="t">
            <a:spAutoFit/>
          </a:bodyPr>
          <a:lstStyle/>
          <a:p>
            <a:pPr algn="l"/>
            <a:r>
              <a:rPr sz="2600" b="1">
                <a:solidFill>
                  <a:srgbClr val="161616"/>
                </a:solidFill>
                <a:latin typeface="Verdana Pro Semibold"/>
              </a:rPr>
              <a:t>digna modules</a:t>
            </a:r>
          </a:p>
        </p:txBody>
      </p:sp>
      <p:pic>
        <p:nvPicPr>
          <p:cNvPr id="4" name="Picture 3" descr="logo_black.png"/>
          <p:cNvPicPr>
            <a:picLocks noChangeAspect="1"/>
          </p:cNvPicPr>
          <p:nvPr/>
        </p:nvPicPr>
        <p:blipFill>
          <a:blip r:embed="rId3"/>
          <a:stretch>
            <a:fillRect/>
          </a:stretch>
        </p:blipFill>
        <p:spPr>
          <a:xfrm>
            <a:off x="621792" y="6327648"/>
            <a:ext cx="811952" cy="310896"/>
          </a:xfrm>
          <a:prstGeom prst="rect">
            <a:avLst/>
          </a:prstGeom>
        </p:spPr>
      </p:pic>
      <p:sp>
        <p:nvSpPr>
          <p:cNvPr id="5" name="TextBox 4"/>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5B7383"/>
                </a:solidFill>
                <a:latin typeface="Verdana Pro Light"/>
              </a:rPr>
              <a:t>|   Data Quality and Observability Platform</a:t>
            </a:r>
          </a:p>
        </p:txBody>
      </p:sp>
      <p:sp>
        <p:nvSpPr>
          <p:cNvPr id="6" name="TextBox 5"/>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016BFF"/>
                </a:solidFill>
                <a:latin typeface="Verdana Pro Light"/>
              </a:rPr>
              <a:t>digna   |</a:t>
            </a:r>
          </a:p>
        </p:txBody>
      </p:sp>
      <p:sp>
        <p:nvSpPr>
          <p:cNvPr id="7" name="TextBox 6"/>
          <p:cNvSpPr txBox="1"/>
          <p:nvPr/>
        </p:nvSpPr>
        <p:spPr>
          <a:xfrm>
            <a:off x="11109960" y="6402304"/>
            <a:ext cx="457200" cy="161583"/>
          </a:xfrm>
          <a:prstGeom prst="rect">
            <a:avLst/>
          </a:prstGeom>
          <a:noFill/>
        </p:spPr>
        <p:txBody>
          <a:bodyPr wrap="square" lIns="0" tIns="0" rIns="0" bIns="0" anchor="ctr">
            <a:spAutoFit/>
          </a:bodyPr>
          <a:lstStyle/>
          <a:p>
            <a:pPr algn="r"/>
            <a:r>
              <a:rPr sz="1050" b="0" dirty="0">
                <a:solidFill>
                  <a:srgbClr val="016BFF"/>
                </a:solidFill>
                <a:latin typeface="Verdana Pro Light"/>
              </a:rPr>
              <a:t>05</a:t>
            </a:r>
            <a:r>
              <a:rPr lang="de-AT" sz="1050" b="0" dirty="0">
                <a:solidFill>
                  <a:srgbClr val="016BFF"/>
                </a:solidFill>
                <a:latin typeface="Verdana Pro Light"/>
              </a:rPr>
              <a:t>6</a:t>
            </a:r>
            <a:endParaRPr sz="1050" b="0" dirty="0">
              <a:solidFill>
                <a:srgbClr val="016BFF"/>
              </a:solidFill>
              <a:latin typeface="Verdana Pro Light"/>
            </a:endParaRPr>
          </a:p>
        </p:txBody>
      </p:sp>
      <p:sp>
        <p:nvSpPr>
          <p:cNvPr id="8" name="TextBox 7"/>
          <p:cNvSpPr txBox="1"/>
          <p:nvPr/>
        </p:nvSpPr>
        <p:spPr>
          <a:xfrm>
            <a:off x="621792" y="1691640"/>
            <a:ext cx="10607040" cy="365760"/>
          </a:xfrm>
          <a:prstGeom prst="rect">
            <a:avLst/>
          </a:prstGeom>
          <a:noFill/>
        </p:spPr>
        <p:txBody>
          <a:bodyPr wrap="square" lIns="0" tIns="0" rIns="0" bIns="0" anchor="t">
            <a:spAutoFit/>
          </a:bodyPr>
          <a:lstStyle/>
          <a:p>
            <a:pPr algn="l"/>
            <a:r>
              <a:rPr sz="1300" b="1">
                <a:solidFill>
                  <a:srgbClr val="016BFF"/>
                </a:solidFill>
                <a:latin typeface="Verdana Pro Semibold"/>
              </a:rPr>
              <a:t>It began as a single idea. That idea became one module — the rest grew around it.</a:t>
            </a:r>
          </a:p>
        </p:txBody>
      </p:sp>
      <p:sp>
        <p:nvSpPr>
          <p:cNvPr id="9" name="Rectangle 8"/>
          <p:cNvSpPr/>
          <p:nvPr/>
        </p:nvSpPr>
        <p:spPr>
          <a:xfrm>
            <a:off x="621792" y="2286000"/>
            <a:ext cx="3465576" cy="13258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 name="TextBox 9"/>
          <p:cNvSpPr txBox="1"/>
          <p:nvPr/>
        </p:nvSpPr>
        <p:spPr>
          <a:xfrm>
            <a:off x="941832" y="2505456"/>
            <a:ext cx="2825496" cy="292608"/>
          </a:xfrm>
          <a:prstGeom prst="rect">
            <a:avLst/>
          </a:prstGeom>
          <a:noFill/>
        </p:spPr>
        <p:txBody>
          <a:bodyPr wrap="square" lIns="0" tIns="0" rIns="0" bIns="0" anchor="t">
            <a:spAutoFit/>
          </a:bodyPr>
          <a:lstStyle/>
          <a:p>
            <a:pPr algn="l"/>
            <a:r>
              <a:rPr sz="1300" b="1">
                <a:solidFill>
                  <a:srgbClr val="016BFF"/>
                </a:solidFill>
                <a:latin typeface="Verdana Pro Semibold"/>
              </a:rPr>
              <a:t>Data Anomalies</a:t>
            </a:r>
          </a:p>
        </p:txBody>
      </p:sp>
      <p:sp>
        <p:nvSpPr>
          <p:cNvPr id="11" name="TextBox 10"/>
          <p:cNvSpPr txBox="1"/>
          <p:nvPr/>
        </p:nvSpPr>
        <p:spPr>
          <a:xfrm>
            <a:off x="941832" y="2889504"/>
            <a:ext cx="2825496" cy="658368"/>
          </a:xfrm>
          <a:prstGeom prst="rect">
            <a:avLst/>
          </a:prstGeom>
          <a:noFill/>
        </p:spPr>
        <p:txBody>
          <a:bodyPr wrap="square" lIns="0" tIns="0" rIns="0" bIns="0" anchor="t">
            <a:spAutoFit/>
          </a:bodyPr>
          <a:lstStyle/>
          <a:p>
            <a:pPr algn="l"/>
            <a:r>
              <a:rPr sz="1050" b="0">
                <a:solidFill>
                  <a:srgbClr val="5B7383"/>
                </a:solidFill>
                <a:latin typeface="Verdana Pro Light"/>
              </a:rPr>
              <a:t>Learns a table's normal behaviour and flags deviation.</a:t>
            </a:r>
          </a:p>
        </p:txBody>
      </p:sp>
      <p:sp>
        <p:nvSpPr>
          <p:cNvPr id="12" name="Rectangle 11"/>
          <p:cNvSpPr/>
          <p:nvPr/>
        </p:nvSpPr>
        <p:spPr>
          <a:xfrm>
            <a:off x="4361688" y="2286000"/>
            <a:ext cx="3465576" cy="13258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3" name="TextBox 12"/>
          <p:cNvSpPr txBox="1"/>
          <p:nvPr/>
        </p:nvSpPr>
        <p:spPr>
          <a:xfrm>
            <a:off x="4681728" y="2505456"/>
            <a:ext cx="2825496" cy="292608"/>
          </a:xfrm>
          <a:prstGeom prst="rect">
            <a:avLst/>
          </a:prstGeom>
          <a:noFill/>
        </p:spPr>
        <p:txBody>
          <a:bodyPr wrap="square" lIns="0" tIns="0" rIns="0" bIns="0" anchor="t">
            <a:spAutoFit/>
          </a:bodyPr>
          <a:lstStyle/>
          <a:p>
            <a:pPr algn="l"/>
            <a:r>
              <a:rPr sz="1300" b="1">
                <a:solidFill>
                  <a:srgbClr val="016BFF"/>
                </a:solidFill>
                <a:latin typeface="Verdana Pro Semibold"/>
              </a:rPr>
              <a:t>Data Analytics</a:t>
            </a:r>
          </a:p>
        </p:txBody>
      </p:sp>
      <p:sp>
        <p:nvSpPr>
          <p:cNvPr id="14" name="TextBox 13"/>
          <p:cNvSpPr txBox="1"/>
          <p:nvPr/>
        </p:nvSpPr>
        <p:spPr>
          <a:xfrm>
            <a:off x="4681728" y="2889504"/>
            <a:ext cx="2825496" cy="658368"/>
          </a:xfrm>
          <a:prstGeom prst="rect">
            <a:avLst/>
          </a:prstGeom>
          <a:noFill/>
        </p:spPr>
        <p:txBody>
          <a:bodyPr wrap="square" lIns="0" tIns="0" rIns="0" bIns="0" anchor="t">
            <a:spAutoFit/>
          </a:bodyPr>
          <a:lstStyle/>
          <a:p>
            <a:pPr algn="l"/>
            <a:r>
              <a:rPr sz="1050" b="0">
                <a:solidFill>
                  <a:srgbClr val="5B7383"/>
                </a:solidFill>
                <a:latin typeface="Verdana Pro Light"/>
              </a:rPr>
              <a:t>Trends and volatility of the metrics themselves, over long periods.</a:t>
            </a:r>
          </a:p>
        </p:txBody>
      </p:sp>
      <p:sp>
        <p:nvSpPr>
          <p:cNvPr id="15" name="Rectangle 14"/>
          <p:cNvSpPr/>
          <p:nvPr/>
        </p:nvSpPr>
        <p:spPr>
          <a:xfrm>
            <a:off x="8101584" y="2286000"/>
            <a:ext cx="3465576" cy="13258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6" name="TextBox 15"/>
          <p:cNvSpPr txBox="1"/>
          <p:nvPr/>
        </p:nvSpPr>
        <p:spPr>
          <a:xfrm>
            <a:off x="8421624" y="2505456"/>
            <a:ext cx="2825496" cy="292608"/>
          </a:xfrm>
          <a:prstGeom prst="rect">
            <a:avLst/>
          </a:prstGeom>
          <a:noFill/>
        </p:spPr>
        <p:txBody>
          <a:bodyPr wrap="square" lIns="0" tIns="0" rIns="0" bIns="0" anchor="t">
            <a:spAutoFit/>
          </a:bodyPr>
          <a:lstStyle/>
          <a:p>
            <a:pPr algn="l"/>
            <a:r>
              <a:rPr sz="1300" b="1">
                <a:solidFill>
                  <a:srgbClr val="016BFF"/>
                </a:solidFill>
                <a:latin typeface="Verdana Pro Semibold"/>
              </a:rPr>
              <a:t>Data Validation</a:t>
            </a:r>
          </a:p>
        </p:txBody>
      </p:sp>
      <p:sp>
        <p:nvSpPr>
          <p:cNvPr id="17" name="TextBox 16"/>
          <p:cNvSpPr txBox="1"/>
          <p:nvPr/>
        </p:nvSpPr>
        <p:spPr>
          <a:xfrm>
            <a:off x="8421624" y="2889504"/>
            <a:ext cx="2825496" cy="658368"/>
          </a:xfrm>
          <a:prstGeom prst="rect">
            <a:avLst/>
          </a:prstGeom>
          <a:noFill/>
        </p:spPr>
        <p:txBody>
          <a:bodyPr wrap="square" lIns="0" tIns="0" rIns="0" bIns="0" anchor="t">
            <a:spAutoFit/>
          </a:bodyPr>
          <a:lstStyle/>
          <a:p>
            <a:pPr algn="l"/>
            <a:r>
              <a:rPr sz="1050" b="0">
                <a:solidFill>
                  <a:srgbClr val="5B7383"/>
                </a:solidFill>
                <a:latin typeface="Verdana Pro Light"/>
              </a:rPr>
              <a:t>User-defined rules at record level, fully auditable.</a:t>
            </a:r>
          </a:p>
        </p:txBody>
      </p:sp>
      <p:sp>
        <p:nvSpPr>
          <p:cNvPr id="18" name="Rectangle 17"/>
          <p:cNvSpPr/>
          <p:nvPr/>
        </p:nvSpPr>
        <p:spPr>
          <a:xfrm>
            <a:off x="621792" y="3767328"/>
            <a:ext cx="3465576" cy="13258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9" name="TextBox 18"/>
          <p:cNvSpPr txBox="1"/>
          <p:nvPr/>
        </p:nvSpPr>
        <p:spPr>
          <a:xfrm>
            <a:off x="941832" y="3986784"/>
            <a:ext cx="2825496" cy="292608"/>
          </a:xfrm>
          <a:prstGeom prst="rect">
            <a:avLst/>
          </a:prstGeom>
          <a:noFill/>
        </p:spPr>
        <p:txBody>
          <a:bodyPr wrap="square" lIns="0" tIns="0" rIns="0" bIns="0" anchor="t">
            <a:spAutoFit/>
          </a:bodyPr>
          <a:lstStyle/>
          <a:p>
            <a:pPr algn="l"/>
            <a:r>
              <a:rPr sz="1300" b="1">
                <a:solidFill>
                  <a:srgbClr val="016BFF"/>
                </a:solidFill>
                <a:latin typeface="Verdana Pro Semibold"/>
              </a:rPr>
              <a:t>Timeliness</a:t>
            </a:r>
          </a:p>
        </p:txBody>
      </p:sp>
      <p:sp>
        <p:nvSpPr>
          <p:cNvPr id="20" name="TextBox 19"/>
          <p:cNvSpPr txBox="1"/>
          <p:nvPr/>
        </p:nvSpPr>
        <p:spPr>
          <a:xfrm>
            <a:off x="941832" y="4370832"/>
            <a:ext cx="2825496" cy="658368"/>
          </a:xfrm>
          <a:prstGeom prst="rect">
            <a:avLst/>
          </a:prstGeom>
          <a:noFill/>
        </p:spPr>
        <p:txBody>
          <a:bodyPr wrap="square" lIns="0" tIns="0" rIns="0" bIns="0" anchor="t">
            <a:spAutoFit/>
          </a:bodyPr>
          <a:lstStyle/>
          <a:p>
            <a:pPr algn="l"/>
            <a:r>
              <a:rPr sz="1050" b="0">
                <a:solidFill>
                  <a:srgbClr val="5B7383"/>
                </a:solidFill>
                <a:latin typeface="Verdana Pro Light"/>
              </a:rPr>
              <a:t>Learned arrival patterns plus the schedules you declare.</a:t>
            </a:r>
          </a:p>
        </p:txBody>
      </p:sp>
      <p:sp>
        <p:nvSpPr>
          <p:cNvPr id="21" name="Rectangle 20"/>
          <p:cNvSpPr/>
          <p:nvPr/>
        </p:nvSpPr>
        <p:spPr>
          <a:xfrm>
            <a:off x="4361688" y="3767328"/>
            <a:ext cx="3465576" cy="13258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2" name="TextBox 21"/>
          <p:cNvSpPr txBox="1"/>
          <p:nvPr/>
        </p:nvSpPr>
        <p:spPr>
          <a:xfrm>
            <a:off x="4681728" y="3986784"/>
            <a:ext cx="2825496" cy="292608"/>
          </a:xfrm>
          <a:prstGeom prst="rect">
            <a:avLst/>
          </a:prstGeom>
          <a:noFill/>
        </p:spPr>
        <p:txBody>
          <a:bodyPr wrap="square" lIns="0" tIns="0" rIns="0" bIns="0" anchor="t">
            <a:spAutoFit/>
          </a:bodyPr>
          <a:lstStyle/>
          <a:p>
            <a:pPr algn="l"/>
            <a:r>
              <a:rPr sz="1300" b="1">
                <a:solidFill>
                  <a:srgbClr val="016BFF"/>
                </a:solidFill>
                <a:latin typeface="Verdana Pro Semibold"/>
              </a:rPr>
              <a:t>Schema Tracker</a:t>
            </a:r>
          </a:p>
        </p:txBody>
      </p:sp>
      <p:sp>
        <p:nvSpPr>
          <p:cNvPr id="23" name="TextBox 22"/>
          <p:cNvSpPr txBox="1"/>
          <p:nvPr/>
        </p:nvSpPr>
        <p:spPr>
          <a:xfrm>
            <a:off x="4681728" y="4370832"/>
            <a:ext cx="2825496" cy="658368"/>
          </a:xfrm>
          <a:prstGeom prst="rect">
            <a:avLst/>
          </a:prstGeom>
          <a:noFill/>
        </p:spPr>
        <p:txBody>
          <a:bodyPr wrap="square" lIns="0" tIns="0" rIns="0" bIns="0" anchor="t">
            <a:spAutoFit/>
          </a:bodyPr>
          <a:lstStyle/>
          <a:p>
            <a:pPr algn="l"/>
            <a:r>
              <a:rPr sz="1050" b="0">
                <a:solidFill>
                  <a:srgbClr val="5B7383"/>
                </a:solidFill>
                <a:latin typeface="Verdana Pro Light"/>
              </a:rPr>
              <a:t>Structural change: columns added, removed, re-typed.</a:t>
            </a:r>
          </a:p>
        </p:txBody>
      </p:sp>
      <p:sp>
        <p:nvSpPr>
          <p:cNvPr id="24" name="Rectangle 23"/>
          <p:cNvSpPr/>
          <p:nvPr/>
        </p:nvSpPr>
        <p:spPr>
          <a:xfrm>
            <a:off x="8101584" y="3767328"/>
            <a:ext cx="3465576" cy="13258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5" name="TextBox 24"/>
          <p:cNvSpPr txBox="1"/>
          <p:nvPr/>
        </p:nvSpPr>
        <p:spPr>
          <a:xfrm>
            <a:off x="8421624" y="3986784"/>
            <a:ext cx="2825496" cy="292608"/>
          </a:xfrm>
          <a:prstGeom prst="rect">
            <a:avLst/>
          </a:prstGeom>
          <a:noFill/>
        </p:spPr>
        <p:txBody>
          <a:bodyPr wrap="square" lIns="0" tIns="0" rIns="0" bIns="0" anchor="t">
            <a:spAutoFit/>
          </a:bodyPr>
          <a:lstStyle/>
          <a:p>
            <a:pPr algn="l"/>
            <a:r>
              <a:rPr sz="1300" b="1">
                <a:solidFill>
                  <a:srgbClr val="5B7383"/>
                </a:solidFill>
                <a:latin typeface="Verdana Pro Semibold"/>
              </a:rPr>
              <a:t>Data Reconciliation</a:t>
            </a:r>
          </a:p>
        </p:txBody>
      </p:sp>
      <p:sp>
        <p:nvSpPr>
          <p:cNvPr id="26" name="TextBox 25"/>
          <p:cNvSpPr txBox="1"/>
          <p:nvPr/>
        </p:nvSpPr>
        <p:spPr>
          <a:xfrm>
            <a:off x="8421624" y="4370832"/>
            <a:ext cx="2825496" cy="658368"/>
          </a:xfrm>
          <a:prstGeom prst="rect">
            <a:avLst/>
          </a:prstGeom>
          <a:noFill/>
        </p:spPr>
        <p:txBody>
          <a:bodyPr wrap="square" lIns="0" tIns="0" rIns="0" bIns="0" anchor="t">
            <a:spAutoFit/>
          </a:bodyPr>
          <a:lstStyle/>
          <a:p>
            <a:pPr algn="l"/>
            <a:r>
              <a:rPr sz="1050" b="0">
                <a:solidFill>
                  <a:srgbClr val="5B7383"/>
                </a:solidFill>
                <a:latin typeface="Verdana Pro Light"/>
              </a:rPr>
              <a:t>In development — the same figures compared across systems.</a:t>
            </a:r>
          </a:p>
        </p:txBody>
      </p:sp>
      <p:sp>
        <p:nvSpPr>
          <p:cNvPr id="27" name="TextBox 26"/>
          <p:cNvSpPr txBox="1"/>
          <p:nvPr/>
        </p:nvSpPr>
        <p:spPr>
          <a:xfrm>
            <a:off x="621792" y="5577840"/>
            <a:ext cx="10945368" cy="274320"/>
          </a:xfrm>
          <a:prstGeom prst="rect">
            <a:avLst/>
          </a:prstGeom>
          <a:noFill/>
        </p:spPr>
        <p:txBody>
          <a:bodyPr wrap="square" lIns="0" tIns="0" rIns="0" bIns="0" anchor="t">
            <a:spAutoFit/>
          </a:bodyPr>
          <a:lstStyle/>
          <a:p>
            <a:pPr algn="l"/>
            <a:r>
              <a:rPr sz="1100" b="0">
                <a:solidFill>
                  <a:srgbClr val="9FB3BF"/>
                </a:solidFill>
                <a:latin typeface="Verdana Pro Light"/>
              </a:rPr>
              <a:t>Five modules today, one in development. You turn on what you need.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411480"/>
            <a:ext cx="8229600" cy="274320"/>
          </a:xfrm>
          <a:prstGeom prst="rect">
            <a:avLst/>
          </a:prstGeom>
          <a:noFill/>
        </p:spPr>
        <p:txBody>
          <a:bodyPr wrap="square" lIns="0" tIns="0" rIns="0" bIns="0" anchor="t">
            <a:spAutoFit/>
          </a:bodyPr>
          <a:lstStyle/>
          <a:p>
            <a:pPr algn="l"/>
            <a:r>
              <a:rPr sz="1100" b="0">
                <a:solidFill>
                  <a:srgbClr val="9FB3BF"/>
                </a:solidFill>
                <a:latin typeface="Verdana Pro Light"/>
              </a:rPr>
              <a:t>Terminology</a:t>
            </a:r>
          </a:p>
        </p:txBody>
      </p:sp>
      <p:sp>
        <p:nvSpPr>
          <p:cNvPr id="3" name="TextBox 2"/>
          <p:cNvSpPr txBox="1"/>
          <p:nvPr/>
        </p:nvSpPr>
        <p:spPr>
          <a:xfrm>
            <a:off x="621792" y="932688"/>
            <a:ext cx="10607040" cy="640080"/>
          </a:xfrm>
          <a:prstGeom prst="rect">
            <a:avLst/>
          </a:prstGeom>
          <a:noFill/>
        </p:spPr>
        <p:txBody>
          <a:bodyPr wrap="square" lIns="0" tIns="0" rIns="0" bIns="0" anchor="t">
            <a:spAutoFit/>
          </a:bodyPr>
          <a:lstStyle/>
          <a:p>
            <a:pPr algn="l"/>
            <a:r>
              <a:rPr sz="2600" b="1">
                <a:solidFill>
                  <a:srgbClr val="161616"/>
                </a:solidFill>
                <a:latin typeface="Verdana Pro Semibold"/>
              </a:rPr>
              <a:t>What is Data Quality?</a:t>
            </a:r>
          </a:p>
        </p:txBody>
      </p:sp>
      <p:pic>
        <p:nvPicPr>
          <p:cNvPr id="4" name="Picture 3" descr="logo_black.png"/>
          <p:cNvPicPr>
            <a:picLocks noChangeAspect="1"/>
          </p:cNvPicPr>
          <p:nvPr/>
        </p:nvPicPr>
        <p:blipFill>
          <a:blip r:embed="rId3"/>
          <a:stretch>
            <a:fillRect/>
          </a:stretch>
        </p:blipFill>
        <p:spPr>
          <a:xfrm>
            <a:off x="621792" y="6327648"/>
            <a:ext cx="811952" cy="310896"/>
          </a:xfrm>
          <a:prstGeom prst="rect">
            <a:avLst/>
          </a:prstGeom>
        </p:spPr>
      </p:pic>
      <p:sp>
        <p:nvSpPr>
          <p:cNvPr id="5" name="TextBox 4"/>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5B7383"/>
                </a:solidFill>
                <a:latin typeface="Verdana Pro Light"/>
              </a:rPr>
              <a:t>|   Data Quality and Observability Platform</a:t>
            </a:r>
          </a:p>
        </p:txBody>
      </p:sp>
      <p:sp>
        <p:nvSpPr>
          <p:cNvPr id="6" name="TextBox 5"/>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016BFF"/>
                </a:solidFill>
                <a:latin typeface="Verdana Pro Light"/>
              </a:rPr>
              <a:t>digna   |</a:t>
            </a:r>
          </a:p>
        </p:txBody>
      </p:sp>
      <p:sp>
        <p:nvSpPr>
          <p:cNvPr id="7" name="TextBox 6"/>
          <p:cNvSpPr txBox="1"/>
          <p:nvPr/>
        </p:nvSpPr>
        <p:spPr>
          <a:xfrm>
            <a:off x="11109960" y="6345936"/>
            <a:ext cx="457200" cy="274320"/>
          </a:xfrm>
          <a:prstGeom prst="rect">
            <a:avLst/>
          </a:prstGeom>
          <a:noFill/>
        </p:spPr>
        <p:txBody>
          <a:bodyPr wrap="square" lIns="0" tIns="0" rIns="0" bIns="0" anchor="ctr">
            <a:spAutoFit/>
          </a:bodyPr>
          <a:lstStyle/>
          <a:p>
            <a:pPr algn="r"/>
            <a:r>
              <a:rPr sz="1050" b="0">
                <a:solidFill>
                  <a:srgbClr val="016BFF"/>
                </a:solidFill>
                <a:latin typeface="Verdana Pro Light"/>
              </a:rPr>
              <a:t>07</a:t>
            </a:r>
          </a:p>
        </p:txBody>
      </p:sp>
      <p:sp>
        <p:nvSpPr>
          <p:cNvPr id="8" name="Rectangle 7"/>
          <p:cNvSpPr/>
          <p:nvPr/>
        </p:nvSpPr>
        <p:spPr>
          <a:xfrm>
            <a:off x="621792" y="1691640"/>
            <a:ext cx="10945368" cy="82296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 name="TextBox 8"/>
          <p:cNvSpPr txBox="1"/>
          <p:nvPr/>
        </p:nvSpPr>
        <p:spPr>
          <a:xfrm>
            <a:off x="987552" y="1691640"/>
            <a:ext cx="10213848" cy="822960"/>
          </a:xfrm>
          <a:prstGeom prst="rect">
            <a:avLst/>
          </a:prstGeom>
          <a:noFill/>
        </p:spPr>
        <p:txBody>
          <a:bodyPr wrap="square" lIns="0" tIns="0" rIns="0" bIns="0" anchor="ctr">
            <a:spAutoFit/>
          </a:bodyPr>
          <a:lstStyle/>
          <a:p>
            <a:pPr algn="l"/>
            <a:r>
              <a:rPr sz="1400" b="0">
                <a:solidFill>
                  <a:srgbClr val="016BFF"/>
                </a:solidFill>
                <a:latin typeface="Verdana Pro Light"/>
              </a:rPr>
              <a:t>The degree to which data is fit for the purpose it is used for — measured against an expectation somebody had to write down.</a:t>
            </a:r>
          </a:p>
        </p:txBody>
      </p:sp>
      <p:sp>
        <p:nvSpPr>
          <p:cNvPr id="10" name="Oval 9"/>
          <p:cNvSpPr/>
          <p:nvPr/>
        </p:nvSpPr>
        <p:spPr>
          <a:xfrm>
            <a:off x="621792" y="2971800"/>
            <a:ext cx="274320" cy="274320"/>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 name="Oval 10"/>
          <p:cNvSpPr/>
          <p:nvPr/>
        </p:nvSpPr>
        <p:spPr>
          <a:xfrm>
            <a:off x="695858" y="3045866"/>
            <a:ext cx="126187" cy="126187"/>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 name="TextBox 11"/>
          <p:cNvSpPr txBox="1"/>
          <p:nvPr/>
        </p:nvSpPr>
        <p:spPr>
          <a:xfrm>
            <a:off x="621792" y="3429000"/>
            <a:ext cx="3200400" cy="457200"/>
          </a:xfrm>
          <a:prstGeom prst="rect">
            <a:avLst/>
          </a:prstGeom>
          <a:noFill/>
        </p:spPr>
        <p:txBody>
          <a:bodyPr wrap="square" lIns="0" tIns="0" rIns="0" bIns="0" anchor="t">
            <a:spAutoFit/>
          </a:bodyPr>
          <a:lstStyle/>
          <a:p>
            <a:pPr algn="l"/>
            <a:r>
              <a:rPr sz="1500" b="1">
                <a:solidFill>
                  <a:srgbClr val="161616"/>
                </a:solidFill>
                <a:latin typeface="Verdana Pro Semibold"/>
              </a:rPr>
              <a:t>A property of the data</a:t>
            </a:r>
          </a:p>
        </p:txBody>
      </p:sp>
      <p:sp>
        <p:nvSpPr>
          <p:cNvPr id="13" name="TextBox 12"/>
          <p:cNvSpPr txBox="1"/>
          <p:nvPr/>
        </p:nvSpPr>
        <p:spPr>
          <a:xfrm>
            <a:off x="621792" y="3977639"/>
            <a:ext cx="3200400" cy="1463040"/>
          </a:xfrm>
          <a:prstGeom prst="rect">
            <a:avLst/>
          </a:prstGeom>
          <a:noFill/>
        </p:spPr>
        <p:txBody>
          <a:bodyPr wrap="square" lIns="0" tIns="0" rIns="0" bIns="0" anchor="t">
            <a:spAutoFit/>
          </a:bodyPr>
          <a:lstStyle/>
          <a:p>
            <a:pPr algn="l"/>
            <a:r>
              <a:rPr sz="1200" b="0">
                <a:solidFill>
                  <a:srgbClr val="5B7383"/>
                </a:solidFill>
                <a:latin typeface="Verdana Pro Light"/>
              </a:rPr>
              <a:t>Values, keys, relationships. Not the pipeline, not the server.</a:t>
            </a:r>
          </a:p>
        </p:txBody>
      </p:sp>
      <p:sp>
        <p:nvSpPr>
          <p:cNvPr id="14" name="Oval 13"/>
          <p:cNvSpPr/>
          <p:nvPr/>
        </p:nvSpPr>
        <p:spPr>
          <a:xfrm>
            <a:off x="4325112" y="2971800"/>
            <a:ext cx="274320" cy="274320"/>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5" name="Oval 14"/>
          <p:cNvSpPr/>
          <p:nvPr/>
        </p:nvSpPr>
        <p:spPr>
          <a:xfrm>
            <a:off x="4399178" y="3045866"/>
            <a:ext cx="126187" cy="126187"/>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6" name="TextBox 15"/>
          <p:cNvSpPr txBox="1"/>
          <p:nvPr/>
        </p:nvSpPr>
        <p:spPr>
          <a:xfrm>
            <a:off x="4325112" y="3429000"/>
            <a:ext cx="3200400" cy="457200"/>
          </a:xfrm>
          <a:prstGeom prst="rect">
            <a:avLst/>
          </a:prstGeom>
          <a:noFill/>
        </p:spPr>
        <p:txBody>
          <a:bodyPr wrap="square" lIns="0" tIns="0" rIns="0" bIns="0" anchor="t">
            <a:spAutoFit/>
          </a:bodyPr>
          <a:lstStyle/>
          <a:p>
            <a:pPr algn="l"/>
            <a:r>
              <a:rPr sz="1500" b="1">
                <a:solidFill>
                  <a:srgbClr val="161616"/>
                </a:solidFill>
                <a:latin typeface="Verdana Pro Semibold"/>
              </a:rPr>
              <a:t>Relative to a purpose</a:t>
            </a:r>
          </a:p>
        </p:txBody>
      </p:sp>
      <p:sp>
        <p:nvSpPr>
          <p:cNvPr id="17" name="TextBox 16"/>
          <p:cNvSpPr txBox="1"/>
          <p:nvPr/>
        </p:nvSpPr>
        <p:spPr>
          <a:xfrm>
            <a:off x="4325112" y="3977639"/>
            <a:ext cx="3200400" cy="1463040"/>
          </a:xfrm>
          <a:prstGeom prst="rect">
            <a:avLst/>
          </a:prstGeom>
          <a:noFill/>
        </p:spPr>
        <p:txBody>
          <a:bodyPr wrap="square" lIns="0" tIns="0" rIns="0" bIns="0" anchor="t">
            <a:spAutoFit/>
          </a:bodyPr>
          <a:lstStyle/>
          <a:p>
            <a:pPr algn="l"/>
            <a:r>
              <a:rPr sz="1200" b="0">
                <a:solidFill>
                  <a:srgbClr val="5B7383"/>
                </a:solidFill>
                <a:latin typeface="Verdana Pro Light"/>
              </a:rPr>
              <a:t>A departure time good enough for a report is not good enough for a slot filing.</a:t>
            </a:r>
          </a:p>
        </p:txBody>
      </p:sp>
      <p:sp>
        <p:nvSpPr>
          <p:cNvPr id="18" name="Oval 17"/>
          <p:cNvSpPr/>
          <p:nvPr/>
        </p:nvSpPr>
        <p:spPr>
          <a:xfrm>
            <a:off x="8028431" y="2971800"/>
            <a:ext cx="274320" cy="274320"/>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9" name="Oval 18"/>
          <p:cNvSpPr/>
          <p:nvPr/>
        </p:nvSpPr>
        <p:spPr>
          <a:xfrm>
            <a:off x="8102498" y="3045866"/>
            <a:ext cx="126187" cy="126187"/>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0" name="TextBox 19"/>
          <p:cNvSpPr txBox="1"/>
          <p:nvPr/>
        </p:nvSpPr>
        <p:spPr>
          <a:xfrm>
            <a:off x="8028431" y="3429000"/>
            <a:ext cx="3200400" cy="457200"/>
          </a:xfrm>
          <a:prstGeom prst="rect">
            <a:avLst/>
          </a:prstGeom>
          <a:noFill/>
        </p:spPr>
        <p:txBody>
          <a:bodyPr wrap="square" lIns="0" tIns="0" rIns="0" bIns="0" anchor="t">
            <a:spAutoFit/>
          </a:bodyPr>
          <a:lstStyle/>
          <a:p>
            <a:pPr algn="l"/>
            <a:r>
              <a:rPr sz="1500" b="1">
                <a:solidFill>
                  <a:srgbClr val="161616"/>
                </a:solidFill>
                <a:latin typeface="Verdana Pro Semibold"/>
              </a:rPr>
              <a:t>Declarative</a:t>
            </a:r>
          </a:p>
        </p:txBody>
      </p:sp>
      <p:sp>
        <p:nvSpPr>
          <p:cNvPr id="21" name="TextBox 20"/>
          <p:cNvSpPr txBox="1"/>
          <p:nvPr/>
        </p:nvSpPr>
        <p:spPr>
          <a:xfrm>
            <a:off x="8028431" y="3977639"/>
            <a:ext cx="3200400" cy="1463040"/>
          </a:xfrm>
          <a:prstGeom prst="rect">
            <a:avLst/>
          </a:prstGeom>
          <a:noFill/>
        </p:spPr>
        <p:txBody>
          <a:bodyPr wrap="square" lIns="0" tIns="0" rIns="0" bIns="0" anchor="t">
            <a:spAutoFit/>
          </a:bodyPr>
          <a:lstStyle/>
          <a:p>
            <a:pPr algn="l"/>
            <a:r>
              <a:rPr sz="1200" b="0">
                <a:solidFill>
                  <a:srgbClr val="5B7383"/>
                </a:solidFill>
                <a:latin typeface="Verdana Pro Light"/>
              </a:rPr>
              <a:t>It only ever finds what somebody already thought of.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411480"/>
            <a:ext cx="8229600" cy="274320"/>
          </a:xfrm>
          <a:prstGeom prst="rect">
            <a:avLst/>
          </a:prstGeom>
          <a:noFill/>
        </p:spPr>
        <p:txBody>
          <a:bodyPr wrap="square" lIns="0" tIns="0" rIns="0" bIns="0" anchor="t">
            <a:spAutoFit/>
          </a:bodyPr>
          <a:lstStyle/>
          <a:p>
            <a:pPr algn="l"/>
            <a:r>
              <a:rPr sz="1100" b="0">
                <a:solidFill>
                  <a:srgbClr val="9FB3BF"/>
                </a:solidFill>
                <a:latin typeface="Verdana Pro Light"/>
              </a:rPr>
              <a:t>Terminology</a:t>
            </a:r>
          </a:p>
        </p:txBody>
      </p:sp>
      <p:sp>
        <p:nvSpPr>
          <p:cNvPr id="3" name="TextBox 2"/>
          <p:cNvSpPr txBox="1"/>
          <p:nvPr/>
        </p:nvSpPr>
        <p:spPr>
          <a:xfrm>
            <a:off x="621792" y="932688"/>
            <a:ext cx="10607040" cy="640080"/>
          </a:xfrm>
          <a:prstGeom prst="rect">
            <a:avLst/>
          </a:prstGeom>
          <a:noFill/>
        </p:spPr>
        <p:txBody>
          <a:bodyPr wrap="square" lIns="0" tIns="0" rIns="0" bIns="0" anchor="t">
            <a:spAutoFit/>
          </a:bodyPr>
          <a:lstStyle/>
          <a:p>
            <a:pPr algn="l"/>
            <a:r>
              <a:rPr sz="2600" b="1">
                <a:solidFill>
                  <a:srgbClr val="161616"/>
                </a:solidFill>
                <a:latin typeface="Verdana Pro Semibold"/>
              </a:rPr>
              <a:t>What is Data Observability?</a:t>
            </a:r>
          </a:p>
        </p:txBody>
      </p:sp>
      <p:pic>
        <p:nvPicPr>
          <p:cNvPr id="4" name="Picture 3" descr="logo_black.png"/>
          <p:cNvPicPr>
            <a:picLocks noChangeAspect="1"/>
          </p:cNvPicPr>
          <p:nvPr/>
        </p:nvPicPr>
        <p:blipFill>
          <a:blip r:embed="rId3"/>
          <a:stretch>
            <a:fillRect/>
          </a:stretch>
        </p:blipFill>
        <p:spPr>
          <a:xfrm>
            <a:off x="621792" y="6327648"/>
            <a:ext cx="811952" cy="310896"/>
          </a:xfrm>
          <a:prstGeom prst="rect">
            <a:avLst/>
          </a:prstGeom>
        </p:spPr>
      </p:pic>
      <p:sp>
        <p:nvSpPr>
          <p:cNvPr id="5" name="TextBox 4"/>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5B7383"/>
                </a:solidFill>
                <a:latin typeface="Verdana Pro Light"/>
              </a:rPr>
              <a:t>|   Data Quality and Observability Platform</a:t>
            </a:r>
          </a:p>
        </p:txBody>
      </p:sp>
      <p:sp>
        <p:nvSpPr>
          <p:cNvPr id="6" name="TextBox 5"/>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016BFF"/>
                </a:solidFill>
                <a:latin typeface="Verdana Pro Light"/>
              </a:rPr>
              <a:t>digna   |</a:t>
            </a:r>
          </a:p>
        </p:txBody>
      </p:sp>
      <p:sp>
        <p:nvSpPr>
          <p:cNvPr id="7" name="TextBox 6"/>
          <p:cNvSpPr txBox="1"/>
          <p:nvPr/>
        </p:nvSpPr>
        <p:spPr>
          <a:xfrm>
            <a:off x="11109960" y="6345936"/>
            <a:ext cx="457200" cy="274320"/>
          </a:xfrm>
          <a:prstGeom prst="rect">
            <a:avLst/>
          </a:prstGeom>
          <a:noFill/>
        </p:spPr>
        <p:txBody>
          <a:bodyPr wrap="square" lIns="0" tIns="0" rIns="0" bIns="0" anchor="ctr">
            <a:spAutoFit/>
          </a:bodyPr>
          <a:lstStyle/>
          <a:p>
            <a:pPr algn="r"/>
            <a:r>
              <a:rPr sz="1050" b="0">
                <a:solidFill>
                  <a:srgbClr val="016BFF"/>
                </a:solidFill>
                <a:latin typeface="Verdana Pro Light"/>
              </a:rPr>
              <a:t>08</a:t>
            </a:r>
          </a:p>
        </p:txBody>
      </p:sp>
      <p:sp>
        <p:nvSpPr>
          <p:cNvPr id="8" name="Rectangle 7"/>
          <p:cNvSpPr/>
          <p:nvPr/>
        </p:nvSpPr>
        <p:spPr>
          <a:xfrm>
            <a:off x="621792" y="1691640"/>
            <a:ext cx="10945368" cy="82296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 name="TextBox 8"/>
          <p:cNvSpPr txBox="1"/>
          <p:nvPr/>
        </p:nvSpPr>
        <p:spPr>
          <a:xfrm>
            <a:off x="987552" y="1691640"/>
            <a:ext cx="10213848" cy="822960"/>
          </a:xfrm>
          <a:prstGeom prst="rect">
            <a:avLst/>
          </a:prstGeom>
          <a:noFill/>
        </p:spPr>
        <p:txBody>
          <a:bodyPr wrap="square" lIns="0" tIns="0" rIns="0" bIns="0" anchor="ctr">
            <a:spAutoFit/>
          </a:bodyPr>
          <a:lstStyle/>
          <a:p>
            <a:pPr algn="l"/>
            <a:r>
              <a:rPr sz="1400" b="0">
                <a:solidFill>
                  <a:srgbClr val="016BFF"/>
                </a:solidFill>
                <a:latin typeface="Verdana Pro Light"/>
              </a:rPr>
              <a:t>The ability to understand the health and behaviour of your data from the signals it emits — without knowing in advance what will go wrong.</a:t>
            </a:r>
          </a:p>
        </p:txBody>
      </p:sp>
      <p:sp>
        <p:nvSpPr>
          <p:cNvPr id="10" name="Rectangle 9"/>
          <p:cNvSpPr/>
          <p:nvPr/>
        </p:nvSpPr>
        <p:spPr>
          <a:xfrm>
            <a:off x="621792" y="2880360"/>
            <a:ext cx="2006193" cy="26974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 name="Oval 10"/>
          <p:cNvSpPr/>
          <p:nvPr/>
        </p:nvSpPr>
        <p:spPr>
          <a:xfrm>
            <a:off x="877824" y="3154680"/>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 name="Oval 11"/>
          <p:cNvSpPr/>
          <p:nvPr/>
        </p:nvSpPr>
        <p:spPr>
          <a:xfrm>
            <a:off x="946952" y="3223808"/>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3" name="TextBox 12"/>
          <p:cNvSpPr txBox="1"/>
          <p:nvPr/>
        </p:nvSpPr>
        <p:spPr>
          <a:xfrm>
            <a:off x="877824" y="3584448"/>
            <a:ext cx="1548993" cy="292608"/>
          </a:xfrm>
          <a:prstGeom prst="rect">
            <a:avLst/>
          </a:prstGeom>
          <a:noFill/>
        </p:spPr>
        <p:txBody>
          <a:bodyPr wrap="square" lIns="0" tIns="0" rIns="0" bIns="0" anchor="t">
            <a:spAutoFit/>
          </a:bodyPr>
          <a:lstStyle/>
          <a:p>
            <a:pPr algn="l"/>
            <a:r>
              <a:rPr sz="1250" b="1">
                <a:solidFill>
                  <a:srgbClr val="161616"/>
                </a:solidFill>
                <a:latin typeface="Verdana Pro Semibold"/>
              </a:rPr>
              <a:t>Freshness</a:t>
            </a:r>
          </a:p>
        </p:txBody>
      </p:sp>
      <p:sp>
        <p:nvSpPr>
          <p:cNvPr id="14" name="TextBox 13"/>
          <p:cNvSpPr txBox="1"/>
          <p:nvPr/>
        </p:nvSpPr>
        <p:spPr>
          <a:xfrm>
            <a:off x="877824" y="3950208"/>
            <a:ext cx="1548993" cy="1463040"/>
          </a:xfrm>
          <a:prstGeom prst="rect">
            <a:avLst/>
          </a:prstGeom>
          <a:noFill/>
        </p:spPr>
        <p:txBody>
          <a:bodyPr wrap="square" lIns="0" tIns="0" rIns="0" bIns="0" anchor="t">
            <a:spAutoFit/>
          </a:bodyPr>
          <a:lstStyle/>
          <a:p>
            <a:pPr algn="l"/>
            <a:r>
              <a:rPr sz="1050" b="0">
                <a:solidFill>
                  <a:srgbClr val="5B7383"/>
                </a:solidFill>
                <a:latin typeface="Verdana Pro Light"/>
              </a:rPr>
              <a:t>When did this table last change?</a:t>
            </a:r>
          </a:p>
        </p:txBody>
      </p:sp>
      <p:sp>
        <p:nvSpPr>
          <p:cNvPr id="15" name="Rectangle 14"/>
          <p:cNvSpPr/>
          <p:nvPr/>
        </p:nvSpPr>
        <p:spPr>
          <a:xfrm>
            <a:off x="2856585" y="2880360"/>
            <a:ext cx="2006193" cy="26974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6" name="Oval 15"/>
          <p:cNvSpPr/>
          <p:nvPr/>
        </p:nvSpPr>
        <p:spPr>
          <a:xfrm>
            <a:off x="3112617" y="3154680"/>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 name="Oval 16"/>
          <p:cNvSpPr/>
          <p:nvPr/>
        </p:nvSpPr>
        <p:spPr>
          <a:xfrm>
            <a:off x="3181746" y="3223808"/>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8" name="TextBox 17"/>
          <p:cNvSpPr txBox="1"/>
          <p:nvPr/>
        </p:nvSpPr>
        <p:spPr>
          <a:xfrm>
            <a:off x="3112617" y="3584448"/>
            <a:ext cx="1548993" cy="292608"/>
          </a:xfrm>
          <a:prstGeom prst="rect">
            <a:avLst/>
          </a:prstGeom>
          <a:noFill/>
        </p:spPr>
        <p:txBody>
          <a:bodyPr wrap="square" lIns="0" tIns="0" rIns="0" bIns="0" anchor="t">
            <a:spAutoFit/>
          </a:bodyPr>
          <a:lstStyle/>
          <a:p>
            <a:pPr algn="l"/>
            <a:r>
              <a:rPr sz="1250" b="1">
                <a:solidFill>
                  <a:srgbClr val="161616"/>
                </a:solidFill>
                <a:latin typeface="Verdana Pro Semibold"/>
              </a:rPr>
              <a:t>Volume</a:t>
            </a:r>
          </a:p>
        </p:txBody>
      </p:sp>
      <p:sp>
        <p:nvSpPr>
          <p:cNvPr id="19" name="TextBox 18"/>
          <p:cNvSpPr txBox="1"/>
          <p:nvPr/>
        </p:nvSpPr>
        <p:spPr>
          <a:xfrm>
            <a:off x="3112617" y="3950208"/>
            <a:ext cx="1548993" cy="1463040"/>
          </a:xfrm>
          <a:prstGeom prst="rect">
            <a:avLst/>
          </a:prstGeom>
          <a:noFill/>
        </p:spPr>
        <p:txBody>
          <a:bodyPr wrap="square" lIns="0" tIns="0" rIns="0" bIns="0" anchor="t">
            <a:spAutoFit/>
          </a:bodyPr>
          <a:lstStyle/>
          <a:p>
            <a:pPr algn="l"/>
            <a:r>
              <a:rPr sz="1050" b="0">
                <a:solidFill>
                  <a:srgbClr val="5B7383"/>
                </a:solidFill>
                <a:latin typeface="Verdana Pro Light"/>
              </a:rPr>
              <a:t>How many rows arrived, against the norm?</a:t>
            </a:r>
          </a:p>
        </p:txBody>
      </p:sp>
      <p:sp>
        <p:nvSpPr>
          <p:cNvPr id="20" name="Rectangle 19"/>
          <p:cNvSpPr/>
          <p:nvPr/>
        </p:nvSpPr>
        <p:spPr>
          <a:xfrm>
            <a:off x="5091379" y="2880360"/>
            <a:ext cx="2006193" cy="26974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1" name="Oval 20"/>
          <p:cNvSpPr/>
          <p:nvPr/>
        </p:nvSpPr>
        <p:spPr>
          <a:xfrm>
            <a:off x="5347411" y="3154680"/>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2" name="Oval 21"/>
          <p:cNvSpPr/>
          <p:nvPr/>
        </p:nvSpPr>
        <p:spPr>
          <a:xfrm>
            <a:off x="5416539" y="3223808"/>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3" name="TextBox 22"/>
          <p:cNvSpPr txBox="1"/>
          <p:nvPr/>
        </p:nvSpPr>
        <p:spPr>
          <a:xfrm>
            <a:off x="5347411" y="3584448"/>
            <a:ext cx="1548993" cy="292608"/>
          </a:xfrm>
          <a:prstGeom prst="rect">
            <a:avLst/>
          </a:prstGeom>
          <a:noFill/>
        </p:spPr>
        <p:txBody>
          <a:bodyPr wrap="square" lIns="0" tIns="0" rIns="0" bIns="0" anchor="t">
            <a:spAutoFit/>
          </a:bodyPr>
          <a:lstStyle/>
          <a:p>
            <a:pPr algn="l"/>
            <a:r>
              <a:rPr sz="1250" b="1">
                <a:solidFill>
                  <a:srgbClr val="161616"/>
                </a:solidFill>
                <a:latin typeface="Verdana Pro Semibold"/>
              </a:rPr>
              <a:t>Schema</a:t>
            </a:r>
          </a:p>
        </p:txBody>
      </p:sp>
      <p:sp>
        <p:nvSpPr>
          <p:cNvPr id="24" name="TextBox 23"/>
          <p:cNvSpPr txBox="1"/>
          <p:nvPr/>
        </p:nvSpPr>
        <p:spPr>
          <a:xfrm>
            <a:off x="5347411" y="3950208"/>
            <a:ext cx="1548993" cy="1463040"/>
          </a:xfrm>
          <a:prstGeom prst="rect">
            <a:avLst/>
          </a:prstGeom>
          <a:noFill/>
        </p:spPr>
        <p:txBody>
          <a:bodyPr wrap="square" lIns="0" tIns="0" rIns="0" bIns="0" anchor="t">
            <a:spAutoFit/>
          </a:bodyPr>
          <a:lstStyle/>
          <a:p>
            <a:pPr algn="l"/>
            <a:r>
              <a:rPr sz="1050" b="0">
                <a:solidFill>
                  <a:srgbClr val="5B7383"/>
                </a:solidFill>
                <a:latin typeface="Verdana Pro Light"/>
              </a:rPr>
              <a:t>Did a column change type or disappear?</a:t>
            </a:r>
          </a:p>
        </p:txBody>
      </p:sp>
      <p:sp>
        <p:nvSpPr>
          <p:cNvPr id="25" name="Rectangle 24"/>
          <p:cNvSpPr/>
          <p:nvPr/>
        </p:nvSpPr>
        <p:spPr>
          <a:xfrm>
            <a:off x="7326172" y="2880360"/>
            <a:ext cx="2006193" cy="26974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6" name="Oval 25"/>
          <p:cNvSpPr/>
          <p:nvPr/>
        </p:nvSpPr>
        <p:spPr>
          <a:xfrm>
            <a:off x="7582204" y="3154680"/>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7" name="Oval 26"/>
          <p:cNvSpPr/>
          <p:nvPr/>
        </p:nvSpPr>
        <p:spPr>
          <a:xfrm>
            <a:off x="7651333" y="3223808"/>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8" name="TextBox 27"/>
          <p:cNvSpPr txBox="1"/>
          <p:nvPr/>
        </p:nvSpPr>
        <p:spPr>
          <a:xfrm>
            <a:off x="7582204" y="3584448"/>
            <a:ext cx="1548993" cy="292608"/>
          </a:xfrm>
          <a:prstGeom prst="rect">
            <a:avLst/>
          </a:prstGeom>
          <a:noFill/>
        </p:spPr>
        <p:txBody>
          <a:bodyPr wrap="square" lIns="0" tIns="0" rIns="0" bIns="0" anchor="t">
            <a:spAutoFit/>
          </a:bodyPr>
          <a:lstStyle/>
          <a:p>
            <a:pPr algn="l"/>
            <a:r>
              <a:rPr sz="1250" b="1">
                <a:solidFill>
                  <a:srgbClr val="161616"/>
                </a:solidFill>
                <a:latin typeface="Verdana Pro Semibold"/>
              </a:rPr>
              <a:t>Distribution</a:t>
            </a:r>
          </a:p>
        </p:txBody>
      </p:sp>
      <p:sp>
        <p:nvSpPr>
          <p:cNvPr id="29" name="TextBox 28"/>
          <p:cNvSpPr txBox="1"/>
          <p:nvPr/>
        </p:nvSpPr>
        <p:spPr>
          <a:xfrm>
            <a:off x="7582204" y="3950208"/>
            <a:ext cx="1548993" cy="1463040"/>
          </a:xfrm>
          <a:prstGeom prst="rect">
            <a:avLst/>
          </a:prstGeom>
          <a:noFill/>
        </p:spPr>
        <p:txBody>
          <a:bodyPr wrap="square" lIns="0" tIns="0" rIns="0" bIns="0" anchor="t">
            <a:spAutoFit/>
          </a:bodyPr>
          <a:lstStyle/>
          <a:p>
            <a:pPr algn="l"/>
            <a:r>
              <a:rPr sz="1050" b="0">
                <a:solidFill>
                  <a:srgbClr val="5B7383"/>
                </a:solidFill>
                <a:latin typeface="Verdana Pro Light"/>
              </a:rPr>
              <a:t>Did the values inside the column shift?</a:t>
            </a:r>
          </a:p>
        </p:txBody>
      </p:sp>
      <p:sp>
        <p:nvSpPr>
          <p:cNvPr id="30" name="Rectangle 29"/>
          <p:cNvSpPr/>
          <p:nvPr/>
        </p:nvSpPr>
        <p:spPr>
          <a:xfrm>
            <a:off x="9560966" y="2880360"/>
            <a:ext cx="2006193" cy="26974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1" name="Oval 30"/>
          <p:cNvSpPr/>
          <p:nvPr/>
        </p:nvSpPr>
        <p:spPr>
          <a:xfrm>
            <a:off x="9816998" y="3154680"/>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2" name="Oval 31"/>
          <p:cNvSpPr/>
          <p:nvPr/>
        </p:nvSpPr>
        <p:spPr>
          <a:xfrm>
            <a:off x="9886127" y="3223808"/>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3" name="TextBox 32"/>
          <p:cNvSpPr txBox="1"/>
          <p:nvPr/>
        </p:nvSpPr>
        <p:spPr>
          <a:xfrm>
            <a:off x="9816998" y="3584448"/>
            <a:ext cx="1548993" cy="292608"/>
          </a:xfrm>
          <a:prstGeom prst="rect">
            <a:avLst/>
          </a:prstGeom>
          <a:noFill/>
        </p:spPr>
        <p:txBody>
          <a:bodyPr wrap="square" lIns="0" tIns="0" rIns="0" bIns="0" anchor="t">
            <a:spAutoFit/>
          </a:bodyPr>
          <a:lstStyle/>
          <a:p>
            <a:pPr algn="l"/>
            <a:r>
              <a:rPr sz="1250" b="1">
                <a:solidFill>
                  <a:srgbClr val="161616"/>
                </a:solidFill>
                <a:latin typeface="Verdana Pro Semibold"/>
              </a:rPr>
              <a:t>Lineage</a:t>
            </a:r>
          </a:p>
        </p:txBody>
      </p:sp>
      <p:sp>
        <p:nvSpPr>
          <p:cNvPr id="34" name="TextBox 33"/>
          <p:cNvSpPr txBox="1"/>
          <p:nvPr/>
        </p:nvSpPr>
        <p:spPr>
          <a:xfrm>
            <a:off x="9816998" y="3950208"/>
            <a:ext cx="1548993" cy="1463040"/>
          </a:xfrm>
          <a:prstGeom prst="rect">
            <a:avLst/>
          </a:prstGeom>
          <a:noFill/>
        </p:spPr>
        <p:txBody>
          <a:bodyPr wrap="square" lIns="0" tIns="0" rIns="0" bIns="0" anchor="t">
            <a:spAutoFit/>
          </a:bodyPr>
          <a:lstStyle/>
          <a:p>
            <a:pPr algn="l"/>
            <a:r>
              <a:rPr sz="1050" b="0">
                <a:solidFill>
                  <a:srgbClr val="5B7383"/>
                </a:solidFill>
                <a:latin typeface="Verdana Pro Light"/>
              </a:rPr>
              <a:t>What produced this, and what breaks downstream?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411480"/>
            <a:ext cx="8229600" cy="274320"/>
          </a:xfrm>
          <a:prstGeom prst="rect">
            <a:avLst/>
          </a:prstGeom>
          <a:noFill/>
        </p:spPr>
        <p:txBody>
          <a:bodyPr wrap="square" lIns="0" tIns="0" rIns="0" bIns="0" anchor="t">
            <a:spAutoFit/>
          </a:bodyPr>
          <a:lstStyle/>
          <a:p>
            <a:pPr algn="l"/>
            <a:r>
              <a:rPr sz="1100" b="0">
                <a:solidFill>
                  <a:srgbClr val="9FB3BF"/>
                </a:solidFill>
                <a:latin typeface="Verdana Pro Light"/>
              </a:rPr>
              <a:t>Terminology</a:t>
            </a:r>
          </a:p>
        </p:txBody>
      </p:sp>
      <p:sp>
        <p:nvSpPr>
          <p:cNvPr id="3" name="TextBox 2"/>
          <p:cNvSpPr txBox="1"/>
          <p:nvPr/>
        </p:nvSpPr>
        <p:spPr>
          <a:xfrm>
            <a:off x="621792" y="932688"/>
            <a:ext cx="10607040" cy="640080"/>
          </a:xfrm>
          <a:prstGeom prst="rect">
            <a:avLst/>
          </a:prstGeom>
          <a:noFill/>
        </p:spPr>
        <p:txBody>
          <a:bodyPr wrap="square" lIns="0" tIns="0" rIns="0" bIns="0" anchor="t">
            <a:spAutoFit/>
          </a:bodyPr>
          <a:lstStyle/>
          <a:p>
            <a:pPr algn="l"/>
            <a:r>
              <a:rPr sz="2600" b="1">
                <a:solidFill>
                  <a:srgbClr val="161616"/>
                </a:solidFill>
                <a:latin typeface="Verdana Pro Semibold"/>
              </a:rPr>
              <a:t>Two disciplines, not one</a:t>
            </a:r>
          </a:p>
        </p:txBody>
      </p:sp>
      <p:pic>
        <p:nvPicPr>
          <p:cNvPr id="4" name="Picture 3" descr="logo_black.png"/>
          <p:cNvPicPr>
            <a:picLocks noChangeAspect="1"/>
          </p:cNvPicPr>
          <p:nvPr/>
        </p:nvPicPr>
        <p:blipFill>
          <a:blip r:embed="rId3"/>
          <a:stretch>
            <a:fillRect/>
          </a:stretch>
        </p:blipFill>
        <p:spPr>
          <a:xfrm>
            <a:off x="621792" y="6327648"/>
            <a:ext cx="811952" cy="310896"/>
          </a:xfrm>
          <a:prstGeom prst="rect">
            <a:avLst/>
          </a:prstGeom>
        </p:spPr>
      </p:pic>
      <p:sp>
        <p:nvSpPr>
          <p:cNvPr id="5" name="TextBox 4"/>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5B7383"/>
                </a:solidFill>
                <a:latin typeface="Verdana Pro Light"/>
              </a:rPr>
              <a:t>|   Data Quality and Observability Platform</a:t>
            </a:r>
          </a:p>
        </p:txBody>
      </p:sp>
      <p:sp>
        <p:nvSpPr>
          <p:cNvPr id="6" name="TextBox 5"/>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016BFF"/>
                </a:solidFill>
                <a:latin typeface="Verdana Pro Light"/>
              </a:rPr>
              <a:t>digna   |</a:t>
            </a:r>
          </a:p>
        </p:txBody>
      </p:sp>
      <p:sp>
        <p:nvSpPr>
          <p:cNvPr id="7" name="TextBox 6"/>
          <p:cNvSpPr txBox="1"/>
          <p:nvPr/>
        </p:nvSpPr>
        <p:spPr>
          <a:xfrm>
            <a:off x="11109960" y="6345936"/>
            <a:ext cx="457200" cy="274320"/>
          </a:xfrm>
          <a:prstGeom prst="rect">
            <a:avLst/>
          </a:prstGeom>
          <a:noFill/>
        </p:spPr>
        <p:txBody>
          <a:bodyPr wrap="square" lIns="0" tIns="0" rIns="0" bIns="0" anchor="ctr">
            <a:spAutoFit/>
          </a:bodyPr>
          <a:lstStyle/>
          <a:p>
            <a:pPr algn="r"/>
            <a:r>
              <a:rPr sz="1050" b="0">
                <a:solidFill>
                  <a:srgbClr val="016BFF"/>
                </a:solidFill>
                <a:latin typeface="Verdana Pro Light"/>
              </a:rPr>
              <a:t>09</a:t>
            </a:r>
          </a:p>
        </p:txBody>
      </p:sp>
      <p:sp>
        <p:nvSpPr>
          <p:cNvPr id="8" name="Rectangle 7"/>
          <p:cNvSpPr/>
          <p:nvPr/>
        </p:nvSpPr>
        <p:spPr>
          <a:xfrm>
            <a:off x="3931920" y="1691640"/>
            <a:ext cx="3794760" cy="411480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 name="Rectangle 8"/>
          <p:cNvSpPr/>
          <p:nvPr/>
        </p:nvSpPr>
        <p:spPr>
          <a:xfrm>
            <a:off x="7772400" y="1691640"/>
            <a:ext cx="3794760" cy="41148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 name="TextBox 9"/>
          <p:cNvSpPr txBox="1"/>
          <p:nvPr/>
        </p:nvSpPr>
        <p:spPr>
          <a:xfrm>
            <a:off x="4206240" y="1920240"/>
            <a:ext cx="3291840" cy="365760"/>
          </a:xfrm>
          <a:prstGeom prst="rect">
            <a:avLst/>
          </a:prstGeom>
          <a:noFill/>
        </p:spPr>
        <p:txBody>
          <a:bodyPr wrap="square" lIns="0" tIns="0" rIns="0" bIns="0" anchor="t">
            <a:spAutoFit/>
          </a:bodyPr>
          <a:lstStyle/>
          <a:p>
            <a:pPr algn="l"/>
            <a:r>
              <a:rPr sz="1600" b="1">
                <a:solidFill>
                  <a:srgbClr val="016BFF"/>
                </a:solidFill>
                <a:latin typeface="Verdana Pro Semibold"/>
              </a:rPr>
              <a:t>Data Quality</a:t>
            </a:r>
          </a:p>
        </p:txBody>
      </p:sp>
      <p:sp>
        <p:nvSpPr>
          <p:cNvPr id="11" name="TextBox 10"/>
          <p:cNvSpPr txBox="1"/>
          <p:nvPr/>
        </p:nvSpPr>
        <p:spPr>
          <a:xfrm>
            <a:off x="8046720" y="1920240"/>
            <a:ext cx="3291840" cy="365760"/>
          </a:xfrm>
          <a:prstGeom prst="rect">
            <a:avLst/>
          </a:prstGeom>
          <a:noFill/>
        </p:spPr>
        <p:txBody>
          <a:bodyPr wrap="square" lIns="0" tIns="0" rIns="0" bIns="0" anchor="t">
            <a:spAutoFit/>
          </a:bodyPr>
          <a:lstStyle/>
          <a:p>
            <a:pPr algn="l"/>
            <a:r>
              <a:rPr sz="1600" b="1">
                <a:solidFill>
                  <a:srgbClr val="161616"/>
                </a:solidFill>
                <a:latin typeface="Verdana Pro Semibold"/>
              </a:rPr>
              <a:t>Data Observability</a:t>
            </a:r>
          </a:p>
        </p:txBody>
      </p:sp>
      <p:sp>
        <p:nvSpPr>
          <p:cNvPr id="12" name="TextBox 11"/>
          <p:cNvSpPr txBox="1"/>
          <p:nvPr/>
        </p:nvSpPr>
        <p:spPr>
          <a:xfrm>
            <a:off x="621792" y="2514600"/>
            <a:ext cx="3108960" cy="530352"/>
          </a:xfrm>
          <a:prstGeom prst="rect">
            <a:avLst/>
          </a:prstGeom>
          <a:noFill/>
        </p:spPr>
        <p:txBody>
          <a:bodyPr wrap="square" lIns="0" tIns="0" rIns="0" bIns="0" anchor="ctr">
            <a:spAutoFit/>
          </a:bodyPr>
          <a:lstStyle/>
          <a:p>
            <a:pPr algn="l"/>
            <a:r>
              <a:rPr sz="1100" b="1">
                <a:solidFill>
                  <a:srgbClr val="5B7383"/>
                </a:solidFill>
                <a:latin typeface="Verdana Pro Semibold"/>
              </a:rPr>
              <a:t>Question answered</a:t>
            </a:r>
          </a:p>
        </p:txBody>
      </p:sp>
      <p:sp>
        <p:nvSpPr>
          <p:cNvPr id="13" name="TextBox 12"/>
          <p:cNvSpPr txBox="1"/>
          <p:nvPr/>
        </p:nvSpPr>
        <p:spPr>
          <a:xfrm>
            <a:off x="4206240" y="2514600"/>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Is this data correct?</a:t>
            </a:r>
          </a:p>
        </p:txBody>
      </p:sp>
      <p:sp>
        <p:nvSpPr>
          <p:cNvPr id="14" name="TextBox 13"/>
          <p:cNvSpPr txBox="1"/>
          <p:nvPr/>
        </p:nvSpPr>
        <p:spPr>
          <a:xfrm>
            <a:off x="8046720" y="2514600"/>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Is this data behaving normally?</a:t>
            </a:r>
          </a:p>
        </p:txBody>
      </p:sp>
      <p:sp>
        <p:nvSpPr>
          <p:cNvPr id="15" name="TextBox 14"/>
          <p:cNvSpPr txBox="1"/>
          <p:nvPr/>
        </p:nvSpPr>
        <p:spPr>
          <a:xfrm>
            <a:off x="621792" y="3044952"/>
            <a:ext cx="3108960" cy="530352"/>
          </a:xfrm>
          <a:prstGeom prst="rect">
            <a:avLst/>
          </a:prstGeom>
          <a:noFill/>
        </p:spPr>
        <p:txBody>
          <a:bodyPr wrap="square" lIns="0" tIns="0" rIns="0" bIns="0" anchor="ctr">
            <a:spAutoFit/>
          </a:bodyPr>
          <a:lstStyle/>
          <a:p>
            <a:pPr algn="l"/>
            <a:r>
              <a:rPr sz="1100" b="1">
                <a:solidFill>
                  <a:srgbClr val="5B7383"/>
                </a:solidFill>
                <a:latin typeface="Verdana Pro Semibold"/>
              </a:rPr>
              <a:t>What is measured</a:t>
            </a:r>
          </a:p>
        </p:txBody>
      </p:sp>
      <p:sp>
        <p:nvSpPr>
          <p:cNvPr id="16" name="TextBox 15"/>
          <p:cNvSpPr txBox="1"/>
          <p:nvPr/>
        </p:nvSpPr>
        <p:spPr>
          <a:xfrm>
            <a:off x="4206240" y="3044952"/>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The data values</a:t>
            </a:r>
          </a:p>
        </p:txBody>
      </p:sp>
      <p:sp>
        <p:nvSpPr>
          <p:cNvPr id="17" name="TextBox 16"/>
          <p:cNvSpPr txBox="1"/>
          <p:nvPr/>
        </p:nvSpPr>
        <p:spPr>
          <a:xfrm>
            <a:off x="8046720" y="3044952"/>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The data and its metadata over time</a:t>
            </a:r>
          </a:p>
        </p:txBody>
      </p:sp>
      <p:sp>
        <p:nvSpPr>
          <p:cNvPr id="18" name="TextBox 17"/>
          <p:cNvSpPr txBox="1"/>
          <p:nvPr/>
        </p:nvSpPr>
        <p:spPr>
          <a:xfrm>
            <a:off x="621792" y="3575304"/>
            <a:ext cx="3108960" cy="530352"/>
          </a:xfrm>
          <a:prstGeom prst="rect">
            <a:avLst/>
          </a:prstGeom>
          <a:noFill/>
        </p:spPr>
        <p:txBody>
          <a:bodyPr wrap="square" lIns="0" tIns="0" rIns="0" bIns="0" anchor="ctr">
            <a:spAutoFit/>
          </a:bodyPr>
          <a:lstStyle/>
          <a:p>
            <a:pPr algn="l"/>
            <a:r>
              <a:rPr sz="1100" b="1">
                <a:solidFill>
                  <a:srgbClr val="5B7383"/>
                </a:solidFill>
                <a:latin typeface="Verdana Pro Semibold"/>
              </a:rPr>
              <a:t>Needs business input</a:t>
            </a:r>
          </a:p>
        </p:txBody>
      </p:sp>
      <p:sp>
        <p:nvSpPr>
          <p:cNvPr id="19" name="TextBox 18"/>
          <p:cNvSpPr txBox="1"/>
          <p:nvPr/>
        </p:nvSpPr>
        <p:spPr>
          <a:xfrm>
            <a:off x="4206240" y="3575304"/>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Yes — someone states the expectation</a:t>
            </a:r>
          </a:p>
        </p:txBody>
      </p:sp>
      <p:sp>
        <p:nvSpPr>
          <p:cNvPr id="20" name="TextBox 19"/>
          <p:cNvSpPr txBox="1"/>
          <p:nvPr/>
        </p:nvSpPr>
        <p:spPr>
          <a:xfrm>
            <a:off x="8046720" y="3575304"/>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No — baselines learned from history</a:t>
            </a:r>
          </a:p>
        </p:txBody>
      </p:sp>
      <p:sp>
        <p:nvSpPr>
          <p:cNvPr id="21" name="TextBox 20"/>
          <p:cNvSpPr txBox="1"/>
          <p:nvPr/>
        </p:nvSpPr>
        <p:spPr>
          <a:xfrm>
            <a:off x="621792" y="4105656"/>
            <a:ext cx="3108960" cy="530352"/>
          </a:xfrm>
          <a:prstGeom prst="rect">
            <a:avLst/>
          </a:prstGeom>
          <a:noFill/>
        </p:spPr>
        <p:txBody>
          <a:bodyPr wrap="square" lIns="0" tIns="0" rIns="0" bIns="0" anchor="ctr">
            <a:spAutoFit/>
          </a:bodyPr>
          <a:lstStyle/>
          <a:p>
            <a:pPr algn="l"/>
            <a:r>
              <a:rPr sz="1100" b="1">
                <a:solidFill>
                  <a:srgbClr val="5B7383"/>
                </a:solidFill>
                <a:latin typeface="Verdana Pro Semibold"/>
              </a:rPr>
              <a:t>Coverage</a:t>
            </a:r>
          </a:p>
        </p:txBody>
      </p:sp>
      <p:sp>
        <p:nvSpPr>
          <p:cNvPr id="22" name="TextBox 21"/>
          <p:cNvSpPr txBox="1"/>
          <p:nvPr/>
        </p:nvSpPr>
        <p:spPr>
          <a:xfrm>
            <a:off x="4206240" y="4105656"/>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Deep on the tables you invested in</a:t>
            </a:r>
          </a:p>
        </p:txBody>
      </p:sp>
      <p:sp>
        <p:nvSpPr>
          <p:cNvPr id="23" name="TextBox 22"/>
          <p:cNvSpPr txBox="1"/>
          <p:nvPr/>
        </p:nvSpPr>
        <p:spPr>
          <a:xfrm>
            <a:off x="8046720" y="4105656"/>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Broad across every table automatically</a:t>
            </a:r>
          </a:p>
        </p:txBody>
      </p:sp>
      <p:sp>
        <p:nvSpPr>
          <p:cNvPr id="24" name="TextBox 23"/>
          <p:cNvSpPr txBox="1"/>
          <p:nvPr/>
        </p:nvSpPr>
        <p:spPr>
          <a:xfrm>
            <a:off x="621792" y="4636008"/>
            <a:ext cx="3108960" cy="530352"/>
          </a:xfrm>
          <a:prstGeom prst="rect">
            <a:avLst/>
          </a:prstGeom>
          <a:noFill/>
        </p:spPr>
        <p:txBody>
          <a:bodyPr wrap="square" lIns="0" tIns="0" rIns="0" bIns="0" anchor="ctr">
            <a:spAutoFit/>
          </a:bodyPr>
          <a:lstStyle/>
          <a:p>
            <a:pPr algn="l"/>
            <a:r>
              <a:rPr sz="1100" b="1">
                <a:solidFill>
                  <a:srgbClr val="5B7383"/>
                </a:solidFill>
                <a:latin typeface="Verdana Pro Semibold"/>
              </a:rPr>
              <a:t>Finds</a:t>
            </a:r>
          </a:p>
        </p:txBody>
      </p:sp>
      <p:sp>
        <p:nvSpPr>
          <p:cNvPr id="25" name="TextBox 24"/>
          <p:cNvSpPr txBox="1"/>
          <p:nvPr/>
        </p:nvSpPr>
        <p:spPr>
          <a:xfrm>
            <a:off x="4206240" y="4636008"/>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Known unknowns</a:t>
            </a:r>
          </a:p>
        </p:txBody>
      </p:sp>
      <p:sp>
        <p:nvSpPr>
          <p:cNvPr id="26" name="TextBox 25"/>
          <p:cNvSpPr txBox="1"/>
          <p:nvPr/>
        </p:nvSpPr>
        <p:spPr>
          <a:xfrm>
            <a:off x="8046720" y="4636008"/>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Unknown unknowns</a:t>
            </a:r>
          </a:p>
        </p:txBody>
      </p:sp>
      <p:sp>
        <p:nvSpPr>
          <p:cNvPr id="27" name="TextBox 26"/>
          <p:cNvSpPr txBox="1"/>
          <p:nvPr/>
        </p:nvSpPr>
        <p:spPr>
          <a:xfrm>
            <a:off x="621792" y="5166360"/>
            <a:ext cx="3108960" cy="530352"/>
          </a:xfrm>
          <a:prstGeom prst="rect">
            <a:avLst/>
          </a:prstGeom>
          <a:noFill/>
        </p:spPr>
        <p:txBody>
          <a:bodyPr wrap="square" lIns="0" tIns="0" rIns="0" bIns="0" anchor="ctr">
            <a:spAutoFit/>
          </a:bodyPr>
          <a:lstStyle/>
          <a:p>
            <a:pPr algn="l"/>
            <a:r>
              <a:rPr sz="1100" b="1">
                <a:solidFill>
                  <a:srgbClr val="5B7383"/>
                </a:solidFill>
                <a:latin typeface="Verdana Pro Semibold"/>
              </a:rPr>
              <a:t>Blind to</a:t>
            </a:r>
          </a:p>
        </p:txBody>
      </p:sp>
      <p:sp>
        <p:nvSpPr>
          <p:cNvPr id="28" name="TextBox 27"/>
          <p:cNvSpPr txBox="1"/>
          <p:nvPr/>
        </p:nvSpPr>
        <p:spPr>
          <a:xfrm>
            <a:off x="4206240" y="5166360"/>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Anything nobody wrote a rule for</a:t>
            </a:r>
          </a:p>
        </p:txBody>
      </p:sp>
      <p:sp>
        <p:nvSpPr>
          <p:cNvPr id="29" name="TextBox 28"/>
          <p:cNvSpPr txBox="1"/>
          <p:nvPr/>
        </p:nvSpPr>
        <p:spPr>
          <a:xfrm>
            <a:off x="8046720" y="5166360"/>
            <a:ext cx="3291840" cy="530352"/>
          </a:xfrm>
          <a:prstGeom prst="rect">
            <a:avLst/>
          </a:prstGeom>
          <a:noFill/>
        </p:spPr>
        <p:txBody>
          <a:bodyPr wrap="square" lIns="0" tIns="0" rIns="0" bIns="0" anchor="ctr">
            <a:spAutoFit/>
          </a:bodyPr>
          <a:lstStyle/>
          <a:p>
            <a:pPr algn="l"/>
            <a:r>
              <a:rPr sz="1100" b="0">
                <a:solidFill>
                  <a:srgbClr val="161616"/>
                </a:solidFill>
                <a:latin typeface="Verdana Pro Light"/>
              </a:rPr>
              <a:t>Errors that look statistically normal</a:t>
            </a:r>
          </a:p>
        </p:txBody>
      </p:sp>
      <p:sp>
        <p:nvSpPr>
          <p:cNvPr id="30" name="TextBox 29"/>
          <p:cNvSpPr txBox="1"/>
          <p:nvPr/>
        </p:nvSpPr>
        <p:spPr>
          <a:xfrm>
            <a:off x="621792" y="5943600"/>
            <a:ext cx="10945368" cy="274320"/>
          </a:xfrm>
          <a:prstGeom prst="rect">
            <a:avLst/>
          </a:prstGeom>
          <a:noFill/>
        </p:spPr>
        <p:txBody>
          <a:bodyPr wrap="square" lIns="0" tIns="0" rIns="0" bIns="0" anchor="t">
            <a:spAutoFit/>
          </a:bodyPr>
          <a:lstStyle/>
          <a:p>
            <a:pPr algn="l"/>
            <a:r>
              <a:rPr sz="1150" b="0">
                <a:solidFill>
                  <a:srgbClr val="016BFF"/>
                </a:solidFill>
                <a:latin typeface="Verdana Pro Light"/>
              </a:rPr>
              <a:t>Neither contains the other. Autonomous Data Quality is the attempt to use the second to generate the first.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411480"/>
            <a:ext cx="8229600" cy="274320"/>
          </a:xfrm>
          <a:prstGeom prst="rect">
            <a:avLst/>
          </a:prstGeom>
          <a:noFill/>
        </p:spPr>
        <p:txBody>
          <a:bodyPr wrap="square" lIns="0" tIns="0" rIns="0" bIns="0" anchor="t">
            <a:spAutoFit/>
          </a:bodyPr>
          <a:lstStyle/>
          <a:p>
            <a:pPr algn="l"/>
            <a:r>
              <a:rPr sz="1100" b="0">
                <a:solidFill>
                  <a:srgbClr val="9FB3BF"/>
                </a:solidFill>
                <a:latin typeface="Verdana Pro Light"/>
              </a:rPr>
              <a:t>Terminology</a:t>
            </a:r>
          </a:p>
        </p:txBody>
      </p:sp>
      <p:sp>
        <p:nvSpPr>
          <p:cNvPr id="3" name="TextBox 2"/>
          <p:cNvSpPr txBox="1"/>
          <p:nvPr/>
        </p:nvSpPr>
        <p:spPr>
          <a:xfrm>
            <a:off x="621792" y="932688"/>
            <a:ext cx="10607040" cy="640080"/>
          </a:xfrm>
          <a:prstGeom prst="rect">
            <a:avLst/>
          </a:prstGeom>
          <a:noFill/>
        </p:spPr>
        <p:txBody>
          <a:bodyPr wrap="square" lIns="0" tIns="0" rIns="0" bIns="0" anchor="t">
            <a:spAutoFit/>
          </a:bodyPr>
          <a:lstStyle/>
          <a:p>
            <a:pPr algn="l"/>
            <a:r>
              <a:rPr sz="2600" b="1">
                <a:solidFill>
                  <a:srgbClr val="161616"/>
                </a:solidFill>
                <a:latin typeface="Verdana Pro Semibold"/>
              </a:rPr>
              <a:t>What is Autonomous Data Quality?</a:t>
            </a:r>
          </a:p>
        </p:txBody>
      </p:sp>
      <p:pic>
        <p:nvPicPr>
          <p:cNvPr id="4" name="Picture 3" descr="logo_black.png"/>
          <p:cNvPicPr>
            <a:picLocks noChangeAspect="1"/>
          </p:cNvPicPr>
          <p:nvPr/>
        </p:nvPicPr>
        <p:blipFill>
          <a:blip r:embed="rId3"/>
          <a:stretch>
            <a:fillRect/>
          </a:stretch>
        </p:blipFill>
        <p:spPr>
          <a:xfrm>
            <a:off x="621792" y="6327648"/>
            <a:ext cx="811952" cy="310896"/>
          </a:xfrm>
          <a:prstGeom prst="rect">
            <a:avLst/>
          </a:prstGeom>
        </p:spPr>
      </p:pic>
      <p:sp>
        <p:nvSpPr>
          <p:cNvPr id="5" name="TextBox 4"/>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5B7383"/>
                </a:solidFill>
                <a:latin typeface="Verdana Pro Light"/>
              </a:rPr>
              <a:t>|   Data Quality and Observability Platform</a:t>
            </a:r>
          </a:p>
        </p:txBody>
      </p:sp>
      <p:sp>
        <p:nvSpPr>
          <p:cNvPr id="6" name="TextBox 5"/>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016BFF"/>
                </a:solidFill>
                <a:latin typeface="Verdana Pro Light"/>
              </a:rPr>
              <a:t>digna   |</a:t>
            </a:r>
          </a:p>
        </p:txBody>
      </p:sp>
      <p:sp>
        <p:nvSpPr>
          <p:cNvPr id="7" name="TextBox 6"/>
          <p:cNvSpPr txBox="1"/>
          <p:nvPr/>
        </p:nvSpPr>
        <p:spPr>
          <a:xfrm>
            <a:off x="11109960" y="6345936"/>
            <a:ext cx="457200" cy="274320"/>
          </a:xfrm>
          <a:prstGeom prst="rect">
            <a:avLst/>
          </a:prstGeom>
          <a:noFill/>
        </p:spPr>
        <p:txBody>
          <a:bodyPr wrap="square" lIns="0" tIns="0" rIns="0" bIns="0" anchor="ctr">
            <a:spAutoFit/>
          </a:bodyPr>
          <a:lstStyle/>
          <a:p>
            <a:pPr algn="r"/>
            <a:r>
              <a:rPr sz="1050" b="0">
                <a:solidFill>
                  <a:srgbClr val="016BFF"/>
                </a:solidFill>
                <a:latin typeface="Verdana Pro Light"/>
              </a:rPr>
              <a:t>10</a:t>
            </a:r>
          </a:p>
        </p:txBody>
      </p:sp>
      <p:sp>
        <p:nvSpPr>
          <p:cNvPr id="8" name="Rectangle 7"/>
          <p:cNvSpPr/>
          <p:nvPr/>
        </p:nvSpPr>
        <p:spPr>
          <a:xfrm>
            <a:off x="621792" y="1691640"/>
            <a:ext cx="10945368" cy="91440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 name="TextBox 8"/>
          <p:cNvSpPr txBox="1"/>
          <p:nvPr/>
        </p:nvSpPr>
        <p:spPr>
          <a:xfrm>
            <a:off x="987552" y="1691640"/>
            <a:ext cx="10213848" cy="914400"/>
          </a:xfrm>
          <a:prstGeom prst="rect">
            <a:avLst/>
          </a:prstGeom>
          <a:noFill/>
        </p:spPr>
        <p:txBody>
          <a:bodyPr wrap="square" lIns="0" tIns="0" rIns="0" bIns="0" anchor="ctr">
            <a:spAutoFit/>
          </a:bodyPr>
          <a:lstStyle/>
          <a:p>
            <a:pPr algn="l"/>
            <a:r>
              <a:rPr sz="1400" b="0">
                <a:solidFill>
                  <a:srgbClr val="016BFF"/>
                </a:solidFill>
                <a:latin typeface="Verdana Pro Light"/>
              </a:rPr>
              <a:t>The continuous, mostly AI-driven ability to detect, investigate, assess and remediate Data Quality issues with minimal human intervention.</a:t>
            </a:r>
          </a:p>
        </p:txBody>
      </p:sp>
      <p:sp>
        <p:nvSpPr>
          <p:cNvPr id="10" name="Rectangle 9"/>
          <p:cNvSpPr/>
          <p:nvPr/>
        </p:nvSpPr>
        <p:spPr>
          <a:xfrm>
            <a:off x="621792" y="2926080"/>
            <a:ext cx="2544318" cy="192024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 name="Oval 10"/>
          <p:cNvSpPr/>
          <p:nvPr/>
        </p:nvSpPr>
        <p:spPr>
          <a:xfrm>
            <a:off x="896112" y="3182112"/>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 name="Oval 11"/>
          <p:cNvSpPr/>
          <p:nvPr/>
        </p:nvSpPr>
        <p:spPr>
          <a:xfrm>
            <a:off x="965240" y="3251240"/>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3" name="TextBox 12"/>
          <p:cNvSpPr txBox="1"/>
          <p:nvPr/>
        </p:nvSpPr>
        <p:spPr>
          <a:xfrm>
            <a:off x="896112" y="3584448"/>
            <a:ext cx="1995678" cy="292608"/>
          </a:xfrm>
          <a:prstGeom prst="rect">
            <a:avLst/>
          </a:prstGeom>
          <a:noFill/>
        </p:spPr>
        <p:txBody>
          <a:bodyPr wrap="square" lIns="0" tIns="0" rIns="0" bIns="0" anchor="t">
            <a:spAutoFit/>
          </a:bodyPr>
          <a:lstStyle/>
          <a:p>
            <a:pPr algn="l"/>
            <a:r>
              <a:rPr sz="1400" b="1">
                <a:solidFill>
                  <a:srgbClr val="161616"/>
                </a:solidFill>
                <a:latin typeface="Verdana Pro Semibold"/>
              </a:rPr>
              <a:t>Detect</a:t>
            </a:r>
          </a:p>
        </p:txBody>
      </p:sp>
      <p:sp>
        <p:nvSpPr>
          <p:cNvPr id="14" name="TextBox 13"/>
          <p:cNvSpPr txBox="1"/>
          <p:nvPr/>
        </p:nvSpPr>
        <p:spPr>
          <a:xfrm>
            <a:off x="896112" y="3950208"/>
            <a:ext cx="1995678" cy="822960"/>
          </a:xfrm>
          <a:prstGeom prst="rect">
            <a:avLst/>
          </a:prstGeom>
          <a:noFill/>
        </p:spPr>
        <p:txBody>
          <a:bodyPr wrap="square" lIns="0" tIns="0" rIns="0" bIns="0" anchor="t">
            <a:spAutoFit/>
          </a:bodyPr>
          <a:lstStyle/>
          <a:p>
            <a:pPr algn="l"/>
            <a:r>
              <a:rPr sz="1050" b="0">
                <a:solidFill>
                  <a:srgbClr val="5B7383"/>
                </a:solidFill>
                <a:latin typeface="Verdana Pro Light"/>
              </a:rPr>
              <a:t>Something moved far enough to be worth attention.</a:t>
            </a:r>
          </a:p>
        </p:txBody>
      </p:sp>
      <p:sp>
        <p:nvSpPr>
          <p:cNvPr id="15" name="Right Arrow 14"/>
          <p:cNvSpPr/>
          <p:nvPr/>
        </p:nvSpPr>
        <p:spPr>
          <a:xfrm>
            <a:off x="3220974" y="3913632"/>
            <a:ext cx="146304" cy="164592"/>
          </a:xfrm>
          <a:prstGeom prst="rightArrow">
            <a:avLst/>
          </a:prstGeom>
          <a:solidFill>
            <a:srgbClr val="9FB3B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6" name="Rectangle 15"/>
          <p:cNvSpPr/>
          <p:nvPr/>
        </p:nvSpPr>
        <p:spPr>
          <a:xfrm>
            <a:off x="3422142" y="2926080"/>
            <a:ext cx="2544318" cy="192024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 name="Oval 16"/>
          <p:cNvSpPr/>
          <p:nvPr/>
        </p:nvSpPr>
        <p:spPr>
          <a:xfrm>
            <a:off x="3696462" y="3182112"/>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8" name="Oval 17"/>
          <p:cNvSpPr/>
          <p:nvPr/>
        </p:nvSpPr>
        <p:spPr>
          <a:xfrm>
            <a:off x="3765590" y="3251240"/>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9" name="TextBox 18"/>
          <p:cNvSpPr txBox="1"/>
          <p:nvPr/>
        </p:nvSpPr>
        <p:spPr>
          <a:xfrm>
            <a:off x="3696462" y="3584448"/>
            <a:ext cx="1995678" cy="292608"/>
          </a:xfrm>
          <a:prstGeom prst="rect">
            <a:avLst/>
          </a:prstGeom>
          <a:noFill/>
        </p:spPr>
        <p:txBody>
          <a:bodyPr wrap="square" lIns="0" tIns="0" rIns="0" bIns="0" anchor="t">
            <a:spAutoFit/>
          </a:bodyPr>
          <a:lstStyle/>
          <a:p>
            <a:pPr algn="l"/>
            <a:r>
              <a:rPr sz="1400" b="1">
                <a:solidFill>
                  <a:srgbClr val="161616"/>
                </a:solidFill>
                <a:latin typeface="Verdana Pro Semibold"/>
              </a:rPr>
              <a:t>Investigate</a:t>
            </a:r>
          </a:p>
        </p:txBody>
      </p:sp>
      <p:sp>
        <p:nvSpPr>
          <p:cNvPr id="20" name="TextBox 19"/>
          <p:cNvSpPr txBox="1"/>
          <p:nvPr/>
        </p:nvSpPr>
        <p:spPr>
          <a:xfrm>
            <a:off x="3696462" y="3950208"/>
            <a:ext cx="1995678" cy="822960"/>
          </a:xfrm>
          <a:prstGeom prst="rect">
            <a:avLst/>
          </a:prstGeom>
          <a:noFill/>
        </p:spPr>
        <p:txBody>
          <a:bodyPr wrap="square" lIns="0" tIns="0" rIns="0" bIns="0" anchor="t">
            <a:spAutoFit/>
          </a:bodyPr>
          <a:lstStyle/>
          <a:p>
            <a:pPr algn="l"/>
            <a:r>
              <a:rPr sz="1050" b="0">
                <a:solidFill>
                  <a:srgbClr val="5B7383"/>
                </a:solidFill>
                <a:latin typeface="Verdana Pro Light"/>
              </a:rPr>
              <a:t>Which feed, which load, which column.</a:t>
            </a:r>
          </a:p>
        </p:txBody>
      </p:sp>
      <p:sp>
        <p:nvSpPr>
          <p:cNvPr id="21" name="Right Arrow 20"/>
          <p:cNvSpPr/>
          <p:nvPr/>
        </p:nvSpPr>
        <p:spPr>
          <a:xfrm>
            <a:off x="6021324" y="3913632"/>
            <a:ext cx="146304" cy="164592"/>
          </a:xfrm>
          <a:prstGeom prst="rightArrow">
            <a:avLst/>
          </a:prstGeom>
          <a:solidFill>
            <a:srgbClr val="9FB3B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2" name="Rectangle 21"/>
          <p:cNvSpPr/>
          <p:nvPr/>
        </p:nvSpPr>
        <p:spPr>
          <a:xfrm>
            <a:off x="6222492" y="2926080"/>
            <a:ext cx="2544318" cy="192024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3" name="Oval 22"/>
          <p:cNvSpPr/>
          <p:nvPr/>
        </p:nvSpPr>
        <p:spPr>
          <a:xfrm>
            <a:off x="6496812" y="3182112"/>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4" name="Oval 23"/>
          <p:cNvSpPr/>
          <p:nvPr/>
        </p:nvSpPr>
        <p:spPr>
          <a:xfrm>
            <a:off x="6565940" y="3251240"/>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5" name="TextBox 24"/>
          <p:cNvSpPr txBox="1"/>
          <p:nvPr/>
        </p:nvSpPr>
        <p:spPr>
          <a:xfrm>
            <a:off x="6496812" y="3584448"/>
            <a:ext cx="1995678" cy="292608"/>
          </a:xfrm>
          <a:prstGeom prst="rect">
            <a:avLst/>
          </a:prstGeom>
          <a:noFill/>
        </p:spPr>
        <p:txBody>
          <a:bodyPr wrap="square" lIns="0" tIns="0" rIns="0" bIns="0" anchor="t">
            <a:spAutoFit/>
          </a:bodyPr>
          <a:lstStyle/>
          <a:p>
            <a:pPr algn="l"/>
            <a:r>
              <a:rPr sz="1400" b="1">
                <a:solidFill>
                  <a:srgbClr val="161616"/>
                </a:solidFill>
                <a:latin typeface="Verdana Pro Semibold"/>
              </a:rPr>
              <a:t>Assess</a:t>
            </a:r>
          </a:p>
        </p:txBody>
      </p:sp>
      <p:sp>
        <p:nvSpPr>
          <p:cNvPr id="26" name="TextBox 25"/>
          <p:cNvSpPr txBox="1"/>
          <p:nvPr/>
        </p:nvSpPr>
        <p:spPr>
          <a:xfrm>
            <a:off x="6496812" y="3950208"/>
            <a:ext cx="1995678" cy="822960"/>
          </a:xfrm>
          <a:prstGeom prst="rect">
            <a:avLst/>
          </a:prstGeom>
          <a:noFill/>
        </p:spPr>
        <p:txBody>
          <a:bodyPr wrap="square" lIns="0" tIns="0" rIns="0" bIns="0" anchor="t">
            <a:spAutoFit/>
          </a:bodyPr>
          <a:lstStyle/>
          <a:p>
            <a:pPr algn="l"/>
            <a:r>
              <a:rPr sz="1050" b="0">
                <a:solidFill>
                  <a:srgbClr val="5B7383"/>
                </a:solidFill>
                <a:latin typeface="Verdana Pro Light"/>
              </a:rPr>
              <a:t>How bad it is and what depends on it.</a:t>
            </a:r>
          </a:p>
        </p:txBody>
      </p:sp>
      <p:sp>
        <p:nvSpPr>
          <p:cNvPr id="27" name="Right Arrow 26"/>
          <p:cNvSpPr/>
          <p:nvPr/>
        </p:nvSpPr>
        <p:spPr>
          <a:xfrm>
            <a:off x="8821674" y="3913632"/>
            <a:ext cx="146304" cy="164592"/>
          </a:xfrm>
          <a:prstGeom prst="rightArrow">
            <a:avLst/>
          </a:prstGeom>
          <a:solidFill>
            <a:srgbClr val="9FB3B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8" name="Rectangle 27"/>
          <p:cNvSpPr/>
          <p:nvPr/>
        </p:nvSpPr>
        <p:spPr>
          <a:xfrm>
            <a:off x="9022842" y="2926080"/>
            <a:ext cx="2544318" cy="192024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9" name="Oval 28"/>
          <p:cNvSpPr/>
          <p:nvPr/>
        </p:nvSpPr>
        <p:spPr>
          <a:xfrm>
            <a:off x="9297162" y="3182112"/>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0" name="Oval 29"/>
          <p:cNvSpPr/>
          <p:nvPr/>
        </p:nvSpPr>
        <p:spPr>
          <a:xfrm>
            <a:off x="9366290" y="3251240"/>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1" name="TextBox 30"/>
          <p:cNvSpPr txBox="1"/>
          <p:nvPr/>
        </p:nvSpPr>
        <p:spPr>
          <a:xfrm>
            <a:off x="9297162" y="3584448"/>
            <a:ext cx="1995678" cy="292608"/>
          </a:xfrm>
          <a:prstGeom prst="rect">
            <a:avLst/>
          </a:prstGeom>
          <a:noFill/>
        </p:spPr>
        <p:txBody>
          <a:bodyPr wrap="square" lIns="0" tIns="0" rIns="0" bIns="0" anchor="t">
            <a:spAutoFit/>
          </a:bodyPr>
          <a:lstStyle/>
          <a:p>
            <a:pPr algn="l"/>
            <a:r>
              <a:rPr sz="1400" b="1">
                <a:solidFill>
                  <a:srgbClr val="161616"/>
                </a:solidFill>
                <a:latin typeface="Verdana Pro Semibold"/>
              </a:rPr>
              <a:t>Remediate</a:t>
            </a:r>
          </a:p>
        </p:txBody>
      </p:sp>
      <p:sp>
        <p:nvSpPr>
          <p:cNvPr id="32" name="TextBox 31"/>
          <p:cNvSpPr txBox="1"/>
          <p:nvPr/>
        </p:nvSpPr>
        <p:spPr>
          <a:xfrm>
            <a:off x="9297162" y="3950208"/>
            <a:ext cx="1995678" cy="822960"/>
          </a:xfrm>
          <a:prstGeom prst="rect">
            <a:avLst/>
          </a:prstGeom>
          <a:noFill/>
        </p:spPr>
        <p:txBody>
          <a:bodyPr wrap="square" lIns="0" tIns="0" rIns="0" bIns="0" anchor="t">
            <a:spAutoFit/>
          </a:bodyPr>
          <a:lstStyle/>
          <a:p>
            <a:pPr algn="l"/>
            <a:r>
              <a:rPr sz="1050" b="0">
                <a:solidFill>
                  <a:srgbClr val="5B7383"/>
                </a:solidFill>
                <a:latin typeface="Verdana Pro Light"/>
              </a:rPr>
              <a:t>Quarantine, hold, re-run — and record what was done.</a:t>
            </a:r>
          </a:p>
        </p:txBody>
      </p:sp>
      <p:sp>
        <p:nvSpPr>
          <p:cNvPr id="33" name="Rectangle 32"/>
          <p:cNvSpPr/>
          <p:nvPr/>
        </p:nvSpPr>
        <p:spPr>
          <a:xfrm>
            <a:off x="621792" y="5074920"/>
            <a:ext cx="10945368" cy="77724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4" name="TextBox 33"/>
          <p:cNvSpPr txBox="1"/>
          <p:nvPr/>
        </p:nvSpPr>
        <p:spPr>
          <a:xfrm>
            <a:off x="987552" y="5074920"/>
            <a:ext cx="10213848" cy="777240"/>
          </a:xfrm>
          <a:prstGeom prst="rect">
            <a:avLst/>
          </a:prstGeom>
          <a:noFill/>
        </p:spPr>
        <p:txBody>
          <a:bodyPr wrap="square" lIns="0" tIns="0" rIns="0" bIns="0" anchor="ctr">
            <a:spAutoFit/>
          </a:bodyPr>
          <a:lstStyle/>
          <a:p>
            <a:pPr algn="l"/>
            <a:r>
              <a:rPr sz="1250" b="0">
                <a:solidFill>
                  <a:srgbClr val="161616"/>
                </a:solidFill>
                <a:latin typeface="Verdana Pro Light"/>
              </a:rPr>
              <a:t>Like Data Observability, it adapts. Thresholds and priorities follow the data instead of freezing on the day somebody wrote them.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411480"/>
            <a:ext cx="8229600" cy="274320"/>
          </a:xfrm>
          <a:prstGeom prst="rect">
            <a:avLst/>
          </a:prstGeom>
          <a:noFill/>
        </p:spPr>
        <p:txBody>
          <a:bodyPr wrap="square" lIns="0" tIns="0" rIns="0" bIns="0" anchor="t">
            <a:spAutoFit/>
          </a:bodyPr>
          <a:lstStyle/>
          <a:p>
            <a:pPr algn="l"/>
            <a:r>
              <a:rPr sz="1100" b="0">
                <a:solidFill>
                  <a:srgbClr val="9FB3BF"/>
                </a:solidFill>
                <a:latin typeface="Verdana Pro Light"/>
              </a:rPr>
              <a:t>The case</a:t>
            </a:r>
          </a:p>
        </p:txBody>
      </p:sp>
      <p:sp>
        <p:nvSpPr>
          <p:cNvPr id="3" name="TextBox 2"/>
          <p:cNvSpPr txBox="1"/>
          <p:nvPr/>
        </p:nvSpPr>
        <p:spPr>
          <a:xfrm>
            <a:off x="621792" y="932688"/>
            <a:ext cx="10607040" cy="640080"/>
          </a:xfrm>
          <a:prstGeom prst="rect">
            <a:avLst/>
          </a:prstGeom>
          <a:noFill/>
        </p:spPr>
        <p:txBody>
          <a:bodyPr wrap="square" lIns="0" tIns="0" rIns="0" bIns="0" anchor="t">
            <a:spAutoFit/>
          </a:bodyPr>
          <a:lstStyle/>
          <a:p>
            <a:pPr algn="l"/>
            <a:r>
              <a:rPr sz="2600" b="1">
                <a:solidFill>
                  <a:srgbClr val="161616"/>
                </a:solidFill>
                <a:latin typeface="Verdana Pro Semibold"/>
              </a:rPr>
              <a:t>Alpenwing Airways</a:t>
            </a:r>
          </a:p>
        </p:txBody>
      </p:sp>
      <p:pic>
        <p:nvPicPr>
          <p:cNvPr id="4" name="Picture 3" descr="logo_black.png"/>
          <p:cNvPicPr>
            <a:picLocks noChangeAspect="1"/>
          </p:cNvPicPr>
          <p:nvPr/>
        </p:nvPicPr>
        <p:blipFill>
          <a:blip r:embed="rId3"/>
          <a:stretch>
            <a:fillRect/>
          </a:stretch>
        </p:blipFill>
        <p:spPr>
          <a:xfrm>
            <a:off x="621792" y="6327648"/>
            <a:ext cx="811952" cy="310896"/>
          </a:xfrm>
          <a:prstGeom prst="rect">
            <a:avLst/>
          </a:prstGeom>
        </p:spPr>
      </p:pic>
      <p:sp>
        <p:nvSpPr>
          <p:cNvPr id="5" name="TextBox 4"/>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5B7383"/>
                </a:solidFill>
                <a:latin typeface="Verdana Pro Light"/>
              </a:rPr>
              <a:t>|   Data Quality and Observability Platform</a:t>
            </a:r>
          </a:p>
        </p:txBody>
      </p:sp>
      <p:sp>
        <p:nvSpPr>
          <p:cNvPr id="6" name="TextBox 5"/>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016BFF"/>
                </a:solidFill>
                <a:latin typeface="Verdana Pro Light"/>
              </a:rPr>
              <a:t>digna   |</a:t>
            </a:r>
          </a:p>
        </p:txBody>
      </p:sp>
      <p:sp>
        <p:nvSpPr>
          <p:cNvPr id="7" name="TextBox 6"/>
          <p:cNvSpPr txBox="1"/>
          <p:nvPr/>
        </p:nvSpPr>
        <p:spPr>
          <a:xfrm>
            <a:off x="11109960" y="6345936"/>
            <a:ext cx="457200" cy="274320"/>
          </a:xfrm>
          <a:prstGeom prst="rect">
            <a:avLst/>
          </a:prstGeom>
          <a:noFill/>
        </p:spPr>
        <p:txBody>
          <a:bodyPr wrap="square" lIns="0" tIns="0" rIns="0" bIns="0" anchor="ctr">
            <a:spAutoFit/>
          </a:bodyPr>
          <a:lstStyle/>
          <a:p>
            <a:pPr algn="r"/>
            <a:r>
              <a:rPr sz="1050" b="0">
                <a:solidFill>
                  <a:srgbClr val="016BFF"/>
                </a:solidFill>
                <a:latin typeface="Verdana Pro Light"/>
              </a:rPr>
              <a:t>11</a:t>
            </a:r>
          </a:p>
        </p:txBody>
      </p:sp>
      <p:sp>
        <p:nvSpPr>
          <p:cNvPr id="8" name="Rectangle 7"/>
          <p:cNvSpPr/>
          <p:nvPr/>
        </p:nvSpPr>
        <p:spPr>
          <a:xfrm>
            <a:off x="621792" y="1691640"/>
            <a:ext cx="10945368" cy="658368"/>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 name="TextBox 8"/>
          <p:cNvSpPr txBox="1"/>
          <p:nvPr/>
        </p:nvSpPr>
        <p:spPr>
          <a:xfrm>
            <a:off x="987552" y="1691640"/>
            <a:ext cx="10213848" cy="658368"/>
          </a:xfrm>
          <a:prstGeom prst="rect">
            <a:avLst/>
          </a:prstGeom>
          <a:noFill/>
        </p:spPr>
        <p:txBody>
          <a:bodyPr wrap="square" lIns="0" tIns="0" rIns="0" bIns="0" anchor="ctr">
            <a:spAutoFit/>
          </a:bodyPr>
          <a:lstStyle/>
          <a:p>
            <a:pPr algn="l"/>
            <a:r>
              <a:rPr sz="1350" b="0">
                <a:solidFill>
                  <a:srgbClr val="016BFF"/>
                </a:solidFill>
                <a:latin typeface="Verdana Pro Light"/>
              </a:rPr>
              <a:t>One airline and one flight leg — one take-off and one landing: WG 402, VIE (Vienna) → WAW (Warsaw Chopin), 12 February, tail OE-LGA. Every trigger later in this talk is that leg.</a:t>
            </a:r>
          </a:p>
        </p:txBody>
      </p:sp>
      <p:sp>
        <p:nvSpPr>
          <p:cNvPr id="10" name="Rectangle 9"/>
          <p:cNvSpPr/>
          <p:nvPr/>
        </p:nvSpPr>
        <p:spPr>
          <a:xfrm>
            <a:off x="621792" y="2606040"/>
            <a:ext cx="2006193" cy="9601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 name="TextBox 10"/>
          <p:cNvSpPr txBox="1"/>
          <p:nvPr/>
        </p:nvSpPr>
        <p:spPr>
          <a:xfrm>
            <a:off x="621792" y="2697480"/>
            <a:ext cx="2006193" cy="411480"/>
          </a:xfrm>
          <a:prstGeom prst="rect">
            <a:avLst/>
          </a:prstGeom>
          <a:noFill/>
        </p:spPr>
        <p:txBody>
          <a:bodyPr wrap="square" lIns="0" tIns="0" rIns="0" bIns="0" anchor="t">
            <a:spAutoFit/>
          </a:bodyPr>
          <a:lstStyle/>
          <a:p>
            <a:pPr algn="ctr"/>
            <a:r>
              <a:rPr sz="2000" b="1">
                <a:solidFill>
                  <a:srgbClr val="161616"/>
                </a:solidFill>
                <a:latin typeface="Verdana Pro Semibold"/>
              </a:rPr>
              <a:t>WG</a:t>
            </a:r>
          </a:p>
        </p:txBody>
      </p:sp>
      <p:sp>
        <p:nvSpPr>
          <p:cNvPr id="12" name="TextBox 11"/>
          <p:cNvSpPr txBox="1"/>
          <p:nvPr/>
        </p:nvSpPr>
        <p:spPr>
          <a:xfrm>
            <a:off x="621792" y="3154680"/>
            <a:ext cx="2006193" cy="274320"/>
          </a:xfrm>
          <a:prstGeom prst="rect">
            <a:avLst/>
          </a:prstGeom>
          <a:noFill/>
        </p:spPr>
        <p:txBody>
          <a:bodyPr wrap="square" lIns="0" tIns="0" rIns="0" bIns="0" anchor="t">
            <a:spAutoFit/>
          </a:bodyPr>
          <a:lstStyle/>
          <a:p>
            <a:pPr algn="ctr"/>
            <a:r>
              <a:rPr sz="1100" b="0">
                <a:solidFill>
                  <a:srgbClr val="5B7383"/>
                </a:solidFill>
                <a:latin typeface="Verdana Pro Light"/>
              </a:rPr>
              <a:t>IATA code</a:t>
            </a:r>
          </a:p>
        </p:txBody>
      </p:sp>
      <p:sp>
        <p:nvSpPr>
          <p:cNvPr id="13" name="Rectangle 12"/>
          <p:cNvSpPr/>
          <p:nvPr/>
        </p:nvSpPr>
        <p:spPr>
          <a:xfrm>
            <a:off x="2856585" y="2606040"/>
            <a:ext cx="2006193" cy="9601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 name="TextBox 13"/>
          <p:cNvSpPr txBox="1"/>
          <p:nvPr/>
        </p:nvSpPr>
        <p:spPr>
          <a:xfrm>
            <a:off x="2856585" y="2697480"/>
            <a:ext cx="2006193" cy="411480"/>
          </a:xfrm>
          <a:prstGeom prst="rect">
            <a:avLst/>
          </a:prstGeom>
          <a:noFill/>
        </p:spPr>
        <p:txBody>
          <a:bodyPr wrap="square" lIns="0" tIns="0" rIns="0" bIns="0" anchor="t">
            <a:spAutoFit/>
          </a:bodyPr>
          <a:lstStyle/>
          <a:p>
            <a:pPr algn="ctr"/>
            <a:r>
              <a:rPr sz="2000" b="1">
                <a:solidFill>
                  <a:srgbClr val="161616"/>
                </a:solidFill>
                <a:latin typeface="Verdana Pro Semibold"/>
              </a:rPr>
              <a:t>VIE</a:t>
            </a:r>
          </a:p>
        </p:txBody>
      </p:sp>
      <p:sp>
        <p:nvSpPr>
          <p:cNvPr id="15" name="TextBox 14"/>
          <p:cNvSpPr txBox="1"/>
          <p:nvPr/>
        </p:nvSpPr>
        <p:spPr>
          <a:xfrm>
            <a:off x="2856585" y="3154680"/>
            <a:ext cx="2006193" cy="274320"/>
          </a:xfrm>
          <a:prstGeom prst="rect">
            <a:avLst/>
          </a:prstGeom>
          <a:noFill/>
        </p:spPr>
        <p:txBody>
          <a:bodyPr wrap="square" lIns="0" tIns="0" rIns="0" bIns="0" anchor="t">
            <a:spAutoFit/>
          </a:bodyPr>
          <a:lstStyle/>
          <a:p>
            <a:pPr algn="ctr"/>
            <a:r>
              <a:rPr sz="1100" b="0">
                <a:solidFill>
                  <a:srgbClr val="5B7383"/>
                </a:solidFill>
                <a:latin typeface="Verdana Pro Light"/>
              </a:rPr>
              <a:t>hub</a:t>
            </a:r>
          </a:p>
        </p:txBody>
      </p:sp>
      <p:sp>
        <p:nvSpPr>
          <p:cNvPr id="16" name="Rectangle 15"/>
          <p:cNvSpPr/>
          <p:nvPr/>
        </p:nvSpPr>
        <p:spPr>
          <a:xfrm>
            <a:off x="5091379" y="2606040"/>
            <a:ext cx="2006193" cy="9601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 name="TextBox 16"/>
          <p:cNvSpPr txBox="1"/>
          <p:nvPr/>
        </p:nvSpPr>
        <p:spPr>
          <a:xfrm>
            <a:off x="5091379" y="2697480"/>
            <a:ext cx="2006193" cy="411480"/>
          </a:xfrm>
          <a:prstGeom prst="rect">
            <a:avLst/>
          </a:prstGeom>
          <a:noFill/>
        </p:spPr>
        <p:txBody>
          <a:bodyPr wrap="square" lIns="0" tIns="0" rIns="0" bIns="0" anchor="t">
            <a:spAutoFit/>
          </a:bodyPr>
          <a:lstStyle/>
          <a:p>
            <a:pPr algn="ctr"/>
            <a:r>
              <a:rPr sz="2000" b="1">
                <a:solidFill>
                  <a:srgbClr val="161616"/>
                </a:solidFill>
                <a:latin typeface="Verdana Pro Semibold"/>
              </a:rPr>
              <a:t>62</a:t>
            </a:r>
          </a:p>
        </p:txBody>
      </p:sp>
      <p:sp>
        <p:nvSpPr>
          <p:cNvPr id="18" name="TextBox 17"/>
          <p:cNvSpPr txBox="1"/>
          <p:nvPr/>
        </p:nvSpPr>
        <p:spPr>
          <a:xfrm>
            <a:off x="5091379" y="3154680"/>
            <a:ext cx="2006193" cy="274320"/>
          </a:xfrm>
          <a:prstGeom prst="rect">
            <a:avLst/>
          </a:prstGeom>
          <a:noFill/>
        </p:spPr>
        <p:txBody>
          <a:bodyPr wrap="square" lIns="0" tIns="0" rIns="0" bIns="0" anchor="t">
            <a:spAutoFit/>
          </a:bodyPr>
          <a:lstStyle/>
          <a:p>
            <a:pPr algn="ctr"/>
            <a:r>
              <a:rPr sz="1100" b="0">
                <a:solidFill>
                  <a:srgbClr val="5B7383"/>
                </a:solidFill>
                <a:latin typeface="Verdana Pro Light"/>
              </a:rPr>
              <a:t>aircraft</a:t>
            </a:r>
          </a:p>
        </p:txBody>
      </p:sp>
      <p:sp>
        <p:nvSpPr>
          <p:cNvPr id="19" name="Rectangle 18"/>
          <p:cNvSpPr/>
          <p:nvPr/>
        </p:nvSpPr>
        <p:spPr>
          <a:xfrm>
            <a:off x="7326172" y="2606040"/>
            <a:ext cx="2006193" cy="9601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0" name="TextBox 19"/>
          <p:cNvSpPr txBox="1"/>
          <p:nvPr/>
        </p:nvSpPr>
        <p:spPr>
          <a:xfrm>
            <a:off x="7326172" y="2697480"/>
            <a:ext cx="2006193" cy="411480"/>
          </a:xfrm>
          <a:prstGeom prst="rect">
            <a:avLst/>
          </a:prstGeom>
          <a:noFill/>
        </p:spPr>
        <p:txBody>
          <a:bodyPr wrap="square" lIns="0" tIns="0" rIns="0" bIns="0" anchor="t">
            <a:spAutoFit/>
          </a:bodyPr>
          <a:lstStyle/>
          <a:p>
            <a:pPr algn="ctr"/>
            <a:r>
              <a:rPr sz="2000" b="1">
                <a:solidFill>
                  <a:srgbClr val="161616"/>
                </a:solidFill>
                <a:latin typeface="Verdana Pro Semibold"/>
              </a:rPr>
              <a:t>94</a:t>
            </a:r>
          </a:p>
        </p:txBody>
      </p:sp>
      <p:sp>
        <p:nvSpPr>
          <p:cNvPr id="21" name="TextBox 20"/>
          <p:cNvSpPr txBox="1"/>
          <p:nvPr/>
        </p:nvSpPr>
        <p:spPr>
          <a:xfrm>
            <a:off x="7326172" y="3154680"/>
            <a:ext cx="2006193" cy="274320"/>
          </a:xfrm>
          <a:prstGeom prst="rect">
            <a:avLst/>
          </a:prstGeom>
          <a:noFill/>
        </p:spPr>
        <p:txBody>
          <a:bodyPr wrap="square" lIns="0" tIns="0" rIns="0" bIns="0" anchor="t">
            <a:spAutoFit/>
          </a:bodyPr>
          <a:lstStyle/>
          <a:p>
            <a:pPr algn="ctr"/>
            <a:r>
              <a:rPr sz="1100" b="0">
                <a:solidFill>
                  <a:srgbClr val="5B7383"/>
                </a:solidFill>
                <a:latin typeface="Verdana Pro Light"/>
              </a:rPr>
              <a:t>destinations</a:t>
            </a:r>
          </a:p>
        </p:txBody>
      </p:sp>
      <p:sp>
        <p:nvSpPr>
          <p:cNvPr id="22" name="Rectangle 21"/>
          <p:cNvSpPr/>
          <p:nvPr/>
        </p:nvSpPr>
        <p:spPr>
          <a:xfrm>
            <a:off x="9560966" y="2606040"/>
            <a:ext cx="2006193" cy="9601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3" name="TextBox 22"/>
          <p:cNvSpPr txBox="1"/>
          <p:nvPr/>
        </p:nvSpPr>
        <p:spPr>
          <a:xfrm>
            <a:off x="9560966" y="2697480"/>
            <a:ext cx="2006193" cy="411480"/>
          </a:xfrm>
          <a:prstGeom prst="rect">
            <a:avLst/>
          </a:prstGeom>
          <a:noFill/>
        </p:spPr>
        <p:txBody>
          <a:bodyPr wrap="square" lIns="0" tIns="0" rIns="0" bIns="0" anchor="t">
            <a:spAutoFit/>
          </a:bodyPr>
          <a:lstStyle/>
          <a:p>
            <a:pPr algn="ctr"/>
            <a:r>
              <a:rPr sz="2000" b="1">
                <a:solidFill>
                  <a:srgbClr val="161616"/>
                </a:solidFill>
                <a:latin typeface="Verdana Pro Semibold"/>
              </a:rPr>
              <a:t>11</a:t>
            </a:r>
          </a:p>
        </p:txBody>
      </p:sp>
      <p:sp>
        <p:nvSpPr>
          <p:cNvPr id="24" name="TextBox 23"/>
          <p:cNvSpPr txBox="1"/>
          <p:nvPr/>
        </p:nvSpPr>
        <p:spPr>
          <a:xfrm>
            <a:off x="9560966" y="3154680"/>
            <a:ext cx="2006193" cy="274320"/>
          </a:xfrm>
          <a:prstGeom prst="rect">
            <a:avLst/>
          </a:prstGeom>
          <a:noFill/>
        </p:spPr>
        <p:txBody>
          <a:bodyPr wrap="square" lIns="0" tIns="0" rIns="0" bIns="0" anchor="t">
            <a:spAutoFit/>
          </a:bodyPr>
          <a:lstStyle/>
          <a:p>
            <a:pPr algn="ctr"/>
            <a:r>
              <a:rPr sz="1100" b="0">
                <a:solidFill>
                  <a:srgbClr val="5B7383"/>
                </a:solidFill>
                <a:latin typeface="Verdana Pro Light"/>
              </a:rPr>
              <a:t>codeshare partners</a:t>
            </a:r>
          </a:p>
        </p:txBody>
      </p:sp>
      <p:sp>
        <p:nvSpPr>
          <p:cNvPr id="25" name="TextBox 24"/>
          <p:cNvSpPr txBox="1"/>
          <p:nvPr/>
        </p:nvSpPr>
        <p:spPr>
          <a:xfrm>
            <a:off x="621792" y="3886200"/>
            <a:ext cx="10945368" cy="274320"/>
          </a:xfrm>
          <a:prstGeom prst="rect">
            <a:avLst/>
          </a:prstGeom>
          <a:noFill/>
        </p:spPr>
        <p:txBody>
          <a:bodyPr wrap="square" lIns="0" tIns="0" rIns="0" bIns="0" anchor="t">
            <a:spAutoFit/>
          </a:bodyPr>
          <a:lstStyle/>
          <a:p>
            <a:pPr algn="l"/>
            <a:r>
              <a:rPr sz="1250" b="1">
                <a:solidFill>
                  <a:srgbClr val="161616"/>
                </a:solidFill>
                <a:latin typeface="Verdana Pro Semibold"/>
              </a:rPr>
              <a:t>Seven systems describe the same flight</a:t>
            </a:r>
          </a:p>
        </p:txBody>
      </p:sp>
      <p:sp>
        <p:nvSpPr>
          <p:cNvPr id="26" name="Rectangle 25"/>
          <p:cNvSpPr/>
          <p:nvPr/>
        </p:nvSpPr>
        <p:spPr>
          <a:xfrm>
            <a:off x="621792" y="4251960"/>
            <a:ext cx="1422545" cy="10972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7" name="TextBox 26"/>
          <p:cNvSpPr txBox="1"/>
          <p:nvPr/>
        </p:nvSpPr>
        <p:spPr>
          <a:xfrm>
            <a:off x="713232" y="4370832"/>
            <a:ext cx="1239665" cy="274320"/>
          </a:xfrm>
          <a:prstGeom prst="rect">
            <a:avLst/>
          </a:prstGeom>
          <a:noFill/>
        </p:spPr>
        <p:txBody>
          <a:bodyPr wrap="square" lIns="0" tIns="0" rIns="0" bIns="0" anchor="t">
            <a:spAutoFit/>
          </a:bodyPr>
          <a:lstStyle/>
          <a:p>
            <a:pPr algn="ctr"/>
            <a:r>
              <a:rPr sz="1100" b="1">
                <a:solidFill>
                  <a:srgbClr val="016BFF"/>
                </a:solidFill>
                <a:latin typeface="Verdana Pro Semibold"/>
              </a:rPr>
              <a:t>PSS</a:t>
            </a:r>
          </a:p>
        </p:txBody>
      </p:sp>
      <p:sp>
        <p:nvSpPr>
          <p:cNvPr id="28" name="TextBox 27"/>
          <p:cNvSpPr txBox="1"/>
          <p:nvPr/>
        </p:nvSpPr>
        <p:spPr>
          <a:xfrm>
            <a:off x="713232" y="4663440"/>
            <a:ext cx="1239665" cy="685800"/>
          </a:xfrm>
          <a:prstGeom prst="rect">
            <a:avLst/>
          </a:prstGeom>
          <a:noFill/>
        </p:spPr>
        <p:txBody>
          <a:bodyPr wrap="square" lIns="0" tIns="0" rIns="0" bIns="0" anchor="t">
            <a:spAutoFit/>
          </a:bodyPr>
          <a:lstStyle/>
          <a:p>
            <a:pPr algn="ctr"/>
            <a:r>
              <a:rPr sz="1000" b="0">
                <a:solidFill>
                  <a:srgbClr val="5B7383"/>
                </a:solidFill>
                <a:latin typeface="Verdana Pro Light"/>
              </a:rPr>
              <a:t>Passenger Service System · bookings</a:t>
            </a:r>
          </a:p>
        </p:txBody>
      </p:sp>
      <p:sp>
        <p:nvSpPr>
          <p:cNvPr id="29" name="Rectangle 28"/>
          <p:cNvSpPr/>
          <p:nvPr/>
        </p:nvSpPr>
        <p:spPr>
          <a:xfrm>
            <a:off x="2208929" y="4251960"/>
            <a:ext cx="1422545" cy="10972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0" name="TextBox 29"/>
          <p:cNvSpPr txBox="1"/>
          <p:nvPr/>
        </p:nvSpPr>
        <p:spPr>
          <a:xfrm>
            <a:off x="2300369" y="4370832"/>
            <a:ext cx="1239665" cy="274320"/>
          </a:xfrm>
          <a:prstGeom prst="rect">
            <a:avLst/>
          </a:prstGeom>
          <a:noFill/>
        </p:spPr>
        <p:txBody>
          <a:bodyPr wrap="square" lIns="0" tIns="0" rIns="0" bIns="0" anchor="t">
            <a:spAutoFit/>
          </a:bodyPr>
          <a:lstStyle/>
          <a:p>
            <a:pPr algn="ctr"/>
            <a:r>
              <a:rPr sz="1100" b="1">
                <a:solidFill>
                  <a:srgbClr val="016BFF"/>
                </a:solidFill>
                <a:latin typeface="Verdana Pro Semibold"/>
              </a:rPr>
              <a:t>DCS</a:t>
            </a:r>
          </a:p>
        </p:txBody>
      </p:sp>
      <p:sp>
        <p:nvSpPr>
          <p:cNvPr id="31" name="TextBox 30"/>
          <p:cNvSpPr txBox="1"/>
          <p:nvPr/>
        </p:nvSpPr>
        <p:spPr>
          <a:xfrm>
            <a:off x="2300369" y="4663440"/>
            <a:ext cx="1239665" cy="685800"/>
          </a:xfrm>
          <a:prstGeom prst="rect">
            <a:avLst/>
          </a:prstGeom>
          <a:noFill/>
        </p:spPr>
        <p:txBody>
          <a:bodyPr wrap="square" lIns="0" tIns="0" rIns="0" bIns="0" anchor="t">
            <a:spAutoFit/>
          </a:bodyPr>
          <a:lstStyle/>
          <a:p>
            <a:pPr algn="ctr"/>
            <a:r>
              <a:rPr sz="1000" b="0">
                <a:solidFill>
                  <a:srgbClr val="5B7383"/>
                </a:solidFill>
                <a:latin typeface="Verdana Pro Light"/>
              </a:rPr>
              <a:t>Departure Control · check-in, boarding</a:t>
            </a:r>
          </a:p>
        </p:txBody>
      </p:sp>
      <p:sp>
        <p:nvSpPr>
          <p:cNvPr id="32" name="Rectangle 31"/>
          <p:cNvSpPr/>
          <p:nvPr/>
        </p:nvSpPr>
        <p:spPr>
          <a:xfrm>
            <a:off x="3796066" y="4251960"/>
            <a:ext cx="1422545" cy="10972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3" name="TextBox 32"/>
          <p:cNvSpPr txBox="1"/>
          <p:nvPr/>
        </p:nvSpPr>
        <p:spPr>
          <a:xfrm>
            <a:off x="3887506" y="4370832"/>
            <a:ext cx="1239665" cy="274320"/>
          </a:xfrm>
          <a:prstGeom prst="rect">
            <a:avLst/>
          </a:prstGeom>
          <a:noFill/>
        </p:spPr>
        <p:txBody>
          <a:bodyPr wrap="square" lIns="0" tIns="0" rIns="0" bIns="0" anchor="t">
            <a:spAutoFit/>
          </a:bodyPr>
          <a:lstStyle/>
          <a:p>
            <a:pPr algn="ctr"/>
            <a:r>
              <a:rPr sz="1100" b="1">
                <a:solidFill>
                  <a:srgbClr val="016BFF"/>
                </a:solidFill>
                <a:latin typeface="Verdana Pro Semibold"/>
              </a:rPr>
              <a:t>AODB</a:t>
            </a:r>
          </a:p>
        </p:txBody>
      </p:sp>
      <p:sp>
        <p:nvSpPr>
          <p:cNvPr id="34" name="TextBox 33"/>
          <p:cNvSpPr txBox="1"/>
          <p:nvPr/>
        </p:nvSpPr>
        <p:spPr>
          <a:xfrm>
            <a:off x="3887506" y="4663440"/>
            <a:ext cx="1239665" cy="685800"/>
          </a:xfrm>
          <a:prstGeom prst="rect">
            <a:avLst/>
          </a:prstGeom>
          <a:noFill/>
        </p:spPr>
        <p:txBody>
          <a:bodyPr wrap="square" lIns="0" tIns="0" rIns="0" bIns="0" anchor="t">
            <a:spAutoFit/>
          </a:bodyPr>
          <a:lstStyle/>
          <a:p>
            <a:pPr algn="ctr"/>
            <a:r>
              <a:rPr sz="1000" b="0">
                <a:solidFill>
                  <a:srgbClr val="5B7383"/>
                </a:solidFill>
                <a:latin typeface="Verdana Pro Light"/>
              </a:rPr>
              <a:t>Airport Operational Database · times</a:t>
            </a:r>
          </a:p>
        </p:txBody>
      </p:sp>
      <p:sp>
        <p:nvSpPr>
          <p:cNvPr id="35" name="Rectangle 34"/>
          <p:cNvSpPr/>
          <p:nvPr/>
        </p:nvSpPr>
        <p:spPr>
          <a:xfrm>
            <a:off x="5383203" y="4251960"/>
            <a:ext cx="1422545" cy="10972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6" name="TextBox 35"/>
          <p:cNvSpPr txBox="1"/>
          <p:nvPr/>
        </p:nvSpPr>
        <p:spPr>
          <a:xfrm>
            <a:off x="5474643" y="4370832"/>
            <a:ext cx="1239665" cy="274320"/>
          </a:xfrm>
          <a:prstGeom prst="rect">
            <a:avLst/>
          </a:prstGeom>
          <a:noFill/>
        </p:spPr>
        <p:txBody>
          <a:bodyPr wrap="square" lIns="0" tIns="0" rIns="0" bIns="0" anchor="t">
            <a:spAutoFit/>
          </a:bodyPr>
          <a:lstStyle/>
          <a:p>
            <a:pPr algn="ctr"/>
            <a:r>
              <a:rPr sz="1100" b="1">
                <a:solidFill>
                  <a:srgbClr val="016BFF"/>
                </a:solidFill>
                <a:latin typeface="Verdana Pro Semibold"/>
              </a:rPr>
              <a:t>AMOS</a:t>
            </a:r>
          </a:p>
        </p:txBody>
      </p:sp>
      <p:sp>
        <p:nvSpPr>
          <p:cNvPr id="37" name="TextBox 36"/>
          <p:cNvSpPr txBox="1"/>
          <p:nvPr/>
        </p:nvSpPr>
        <p:spPr>
          <a:xfrm>
            <a:off x="5474643" y="4663440"/>
            <a:ext cx="1239665" cy="685800"/>
          </a:xfrm>
          <a:prstGeom prst="rect">
            <a:avLst/>
          </a:prstGeom>
          <a:noFill/>
        </p:spPr>
        <p:txBody>
          <a:bodyPr wrap="square" lIns="0" tIns="0" rIns="0" bIns="0" anchor="t">
            <a:spAutoFit/>
          </a:bodyPr>
          <a:lstStyle/>
          <a:p>
            <a:pPr algn="ctr"/>
            <a:r>
              <a:rPr sz="1000" b="0">
                <a:solidFill>
                  <a:srgbClr val="5B7383"/>
                </a:solidFill>
                <a:latin typeface="Verdana Pro Light"/>
              </a:rPr>
              <a:t>Maintenance · fleet, fuel</a:t>
            </a:r>
          </a:p>
        </p:txBody>
      </p:sp>
      <p:sp>
        <p:nvSpPr>
          <p:cNvPr id="38" name="Rectangle 37"/>
          <p:cNvSpPr/>
          <p:nvPr/>
        </p:nvSpPr>
        <p:spPr>
          <a:xfrm>
            <a:off x="6970340" y="4251960"/>
            <a:ext cx="1422545" cy="10972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9" name="TextBox 38"/>
          <p:cNvSpPr txBox="1"/>
          <p:nvPr/>
        </p:nvSpPr>
        <p:spPr>
          <a:xfrm>
            <a:off x="7061780" y="4370832"/>
            <a:ext cx="1239665" cy="274320"/>
          </a:xfrm>
          <a:prstGeom prst="rect">
            <a:avLst/>
          </a:prstGeom>
          <a:noFill/>
        </p:spPr>
        <p:txBody>
          <a:bodyPr wrap="square" lIns="0" tIns="0" rIns="0" bIns="0" anchor="t">
            <a:spAutoFit/>
          </a:bodyPr>
          <a:lstStyle/>
          <a:p>
            <a:pPr algn="ctr"/>
            <a:r>
              <a:rPr sz="1100" b="1">
                <a:solidFill>
                  <a:srgbClr val="016BFF"/>
                </a:solidFill>
                <a:latin typeface="Verdana Pro Semibold"/>
              </a:rPr>
              <a:t>Crew</a:t>
            </a:r>
          </a:p>
        </p:txBody>
      </p:sp>
      <p:sp>
        <p:nvSpPr>
          <p:cNvPr id="40" name="TextBox 39"/>
          <p:cNvSpPr txBox="1"/>
          <p:nvPr/>
        </p:nvSpPr>
        <p:spPr>
          <a:xfrm>
            <a:off x="7061780" y="4663440"/>
            <a:ext cx="1239665" cy="685800"/>
          </a:xfrm>
          <a:prstGeom prst="rect">
            <a:avLst/>
          </a:prstGeom>
          <a:noFill/>
        </p:spPr>
        <p:txBody>
          <a:bodyPr wrap="square" lIns="0" tIns="0" rIns="0" bIns="0" anchor="t">
            <a:spAutoFit/>
          </a:bodyPr>
          <a:lstStyle/>
          <a:p>
            <a:pPr algn="ctr"/>
            <a:r>
              <a:rPr sz="1000" b="0">
                <a:solidFill>
                  <a:srgbClr val="5B7383"/>
                </a:solidFill>
                <a:latin typeface="Verdana Pro Light"/>
              </a:rPr>
              <a:t>Crew management · rosters</a:t>
            </a:r>
          </a:p>
        </p:txBody>
      </p:sp>
      <p:sp>
        <p:nvSpPr>
          <p:cNvPr id="41" name="Rectangle 40"/>
          <p:cNvSpPr/>
          <p:nvPr/>
        </p:nvSpPr>
        <p:spPr>
          <a:xfrm>
            <a:off x="8557477" y="4251960"/>
            <a:ext cx="1422545" cy="10972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42" name="TextBox 41"/>
          <p:cNvSpPr txBox="1"/>
          <p:nvPr/>
        </p:nvSpPr>
        <p:spPr>
          <a:xfrm>
            <a:off x="8648917" y="4370832"/>
            <a:ext cx="1239665" cy="274320"/>
          </a:xfrm>
          <a:prstGeom prst="rect">
            <a:avLst/>
          </a:prstGeom>
          <a:noFill/>
        </p:spPr>
        <p:txBody>
          <a:bodyPr wrap="square" lIns="0" tIns="0" rIns="0" bIns="0" anchor="t">
            <a:spAutoFit/>
          </a:bodyPr>
          <a:lstStyle/>
          <a:p>
            <a:pPr algn="ctr"/>
            <a:r>
              <a:rPr sz="1100" b="1">
                <a:solidFill>
                  <a:srgbClr val="016BFF"/>
                </a:solidFill>
                <a:latin typeface="Verdana Pro Semibold"/>
              </a:rPr>
              <a:t>Revenue acc.</a:t>
            </a:r>
          </a:p>
        </p:txBody>
      </p:sp>
      <p:sp>
        <p:nvSpPr>
          <p:cNvPr id="43" name="TextBox 42"/>
          <p:cNvSpPr txBox="1"/>
          <p:nvPr/>
        </p:nvSpPr>
        <p:spPr>
          <a:xfrm>
            <a:off x="8648917" y="4663440"/>
            <a:ext cx="1239665" cy="685800"/>
          </a:xfrm>
          <a:prstGeom prst="rect">
            <a:avLst/>
          </a:prstGeom>
          <a:noFill/>
        </p:spPr>
        <p:txBody>
          <a:bodyPr wrap="square" lIns="0" tIns="0" rIns="0" bIns="0" anchor="t">
            <a:spAutoFit/>
          </a:bodyPr>
          <a:lstStyle/>
          <a:p>
            <a:pPr algn="ctr"/>
            <a:r>
              <a:rPr sz="1000" b="0">
                <a:solidFill>
                  <a:srgbClr val="5B7383"/>
                </a:solidFill>
                <a:latin typeface="Verdana Pro Light"/>
              </a:rPr>
              <a:t>Revenue accounting · fares</a:t>
            </a:r>
          </a:p>
        </p:txBody>
      </p:sp>
      <p:sp>
        <p:nvSpPr>
          <p:cNvPr id="44" name="Rectangle 43"/>
          <p:cNvSpPr/>
          <p:nvPr/>
        </p:nvSpPr>
        <p:spPr>
          <a:xfrm>
            <a:off x="10144614" y="4251960"/>
            <a:ext cx="1422545" cy="10972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45" name="TextBox 44"/>
          <p:cNvSpPr txBox="1"/>
          <p:nvPr/>
        </p:nvSpPr>
        <p:spPr>
          <a:xfrm>
            <a:off x="10236054" y="4370832"/>
            <a:ext cx="1239665" cy="274320"/>
          </a:xfrm>
          <a:prstGeom prst="rect">
            <a:avLst/>
          </a:prstGeom>
          <a:noFill/>
        </p:spPr>
        <p:txBody>
          <a:bodyPr wrap="square" lIns="0" tIns="0" rIns="0" bIns="0" anchor="t">
            <a:spAutoFit/>
          </a:bodyPr>
          <a:lstStyle/>
          <a:p>
            <a:pPr algn="ctr"/>
            <a:r>
              <a:rPr sz="1100" b="1">
                <a:solidFill>
                  <a:srgbClr val="016BFF"/>
                </a:solidFill>
                <a:latin typeface="Verdana Pro Semibold"/>
              </a:rPr>
              <a:t>Partners</a:t>
            </a:r>
          </a:p>
        </p:txBody>
      </p:sp>
      <p:sp>
        <p:nvSpPr>
          <p:cNvPr id="46" name="TextBox 45"/>
          <p:cNvSpPr txBox="1"/>
          <p:nvPr/>
        </p:nvSpPr>
        <p:spPr>
          <a:xfrm>
            <a:off x="10236054" y="4663440"/>
            <a:ext cx="1239665" cy="685800"/>
          </a:xfrm>
          <a:prstGeom prst="rect">
            <a:avLst/>
          </a:prstGeom>
          <a:noFill/>
        </p:spPr>
        <p:txBody>
          <a:bodyPr wrap="square" lIns="0" tIns="0" rIns="0" bIns="0" anchor="t">
            <a:spAutoFit/>
          </a:bodyPr>
          <a:lstStyle/>
          <a:p>
            <a:pPr algn="ctr"/>
            <a:r>
              <a:rPr sz="1000" b="0">
                <a:solidFill>
                  <a:srgbClr val="5B7383"/>
                </a:solidFill>
                <a:latin typeface="Verdana Pro Light"/>
              </a:rPr>
              <a:t>Codeshare partners · eleven feeds</a:t>
            </a:r>
          </a:p>
        </p:txBody>
      </p:sp>
      <p:sp>
        <p:nvSpPr>
          <p:cNvPr id="47" name="TextBox 46"/>
          <p:cNvSpPr txBox="1"/>
          <p:nvPr/>
        </p:nvSpPr>
        <p:spPr>
          <a:xfrm>
            <a:off x="621792" y="5440680"/>
            <a:ext cx="10945368" cy="320040"/>
          </a:xfrm>
          <a:prstGeom prst="rect">
            <a:avLst/>
          </a:prstGeom>
          <a:noFill/>
        </p:spPr>
        <p:txBody>
          <a:bodyPr wrap="square" lIns="0" tIns="0" rIns="0" bIns="0" anchor="t">
            <a:spAutoFit/>
          </a:bodyPr>
          <a:lstStyle/>
          <a:p>
            <a:pPr algn="l"/>
            <a:r>
              <a:rPr sz="1150" b="0">
                <a:solidFill>
                  <a:srgbClr val="5B7383"/>
                </a:solidFill>
                <a:latin typeface="Verdana Pro Light"/>
              </a:rPr>
              <a:t>Nothing here is unusual. Every airline, bank and insurer has the same shape of problem: one real thing, seven systems, seven versions of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section_bg.png"/>
          <p:cNvPicPr>
            <a:picLocks noChangeAspect="1"/>
          </p:cNvPicPr>
          <p:nvPr/>
        </p:nvPicPr>
        <p:blipFill>
          <a:blip r:embed="rId3"/>
          <a:stretch>
            <a:fillRect/>
          </a:stretch>
        </p:blipFill>
        <p:spPr>
          <a:xfrm>
            <a:off x="0" y="0"/>
            <a:ext cx="12191695" cy="6858000"/>
          </a:xfrm>
          <a:prstGeom prst="rect">
            <a:avLst/>
          </a:prstGeom>
        </p:spPr>
      </p:pic>
      <p:sp>
        <p:nvSpPr>
          <p:cNvPr id="4" name="Shape 5"/>
          <p:cNvSpPr/>
          <p:nvPr/>
        </p:nvSpPr>
        <p:spPr>
          <a:xfrm>
            <a:off x="0" y="0"/>
            <a:ext cx="12191695" cy="6858000"/>
          </a:xfrm>
          <a:prstGeom prst="rect">
            <a:avLst/>
          </a:prstGeom>
          <a:solidFill>
            <a:srgbClr val="02041C"/>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pic>
        <p:nvPicPr>
          <p:cNvPr id="8" name="Picture 9" descr="logo_white.png"/>
          <p:cNvPicPr>
            <a:picLocks noChangeAspect="1"/>
          </p:cNvPicPr>
          <p:nvPr/>
        </p:nvPicPr>
        <p:blipFill>
          <a:blip r:embed="rId4"/>
          <a:stretch>
            <a:fillRect/>
          </a:stretch>
        </p:blipFill>
        <p:spPr>
          <a:xfrm>
            <a:off x="621792" y="502920"/>
            <a:ext cx="1098523" cy="420624"/>
          </a:xfrm>
          <a:prstGeom prst="rect">
            <a:avLst/>
          </a:prstGeom>
        </p:spPr>
      </p:pic>
      <p:sp>
        <p:nvSpPr>
          <p:cNvPr id="10" name="TextBox 11"/>
          <p:cNvSpPr txBox="1"/>
          <p:nvPr/>
        </p:nvSpPr>
        <p:spPr>
          <a:xfrm>
            <a:off x="621792" y="2606040"/>
            <a:ext cx="7315200" cy="292608"/>
          </a:xfrm>
          <a:prstGeom prst="rect">
            <a:avLst/>
          </a:prstGeom>
          <a:noFill/>
        </p:spPr>
        <p:txBody>
          <a:bodyPr wrap="square" lIns="0" tIns="0" rIns="0" bIns="0" anchor="t"/>
          <a:lstStyle/>
          <a:p>
            <a:pPr algn="l"/>
            <a:r>
              <a:rPr sz="1200" b="0">
                <a:solidFill>
                  <a:srgbClr val="5398F9"/>
                </a:solidFill>
                <a:latin typeface="Verdana Pro Light"/>
              </a:rPr>
              <a:t>What is changing</a:t>
            </a:r>
          </a:p>
        </p:txBody>
      </p:sp>
      <p:sp>
        <p:nvSpPr>
          <p:cNvPr id="12" name="TextBox 13"/>
          <p:cNvSpPr txBox="1"/>
          <p:nvPr/>
        </p:nvSpPr>
        <p:spPr>
          <a:xfrm>
            <a:off x="621792" y="3017520"/>
            <a:ext cx="9692640" cy="1188720"/>
          </a:xfrm>
          <a:prstGeom prst="rect">
            <a:avLst/>
          </a:prstGeom>
          <a:noFill/>
        </p:spPr>
        <p:txBody>
          <a:bodyPr wrap="square" lIns="0" tIns="0" rIns="0" bIns="0" anchor="t"/>
          <a:lstStyle/>
          <a:p>
            <a:pPr algn="l"/>
            <a:r>
              <a:rPr sz="3200" b="1">
                <a:solidFill>
                  <a:srgbClr val="FFFFFF"/>
                </a:solidFill>
                <a:latin typeface="Verdana Pro Semibold"/>
              </a:rPr>
              <a:t>Two things are changing</a:t>
            </a:r>
          </a:p>
          <a:p>
            <a:pPr algn="l"/>
            <a:r>
              <a:rPr sz="3200" b="1">
                <a:solidFill>
                  <a:srgbClr val="FFFFFF"/>
                </a:solidFill>
                <a:latin typeface="Verdana Pro Semibold"/>
              </a:rPr>
              <a:t>at the same time</a:t>
            </a:r>
          </a:p>
        </p:txBody>
      </p:sp>
      <p:sp>
        <p:nvSpPr>
          <p:cNvPr id="14" name="TextBox 15"/>
          <p:cNvSpPr txBox="1"/>
          <p:nvPr/>
        </p:nvSpPr>
        <p:spPr>
          <a:xfrm>
            <a:off x="621792" y="4434840"/>
            <a:ext cx="8778240" cy="640080"/>
          </a:xfrm>
          <a:prstGeom prst="rect">
            <a:avLst/>
          </a:prstGeom>
          <a:noFill/>
        </p:spPr>
        <p:txBody>
          <a:bodyPr wrap="square" lIns="0" tIns="0" rIns="0" bIns="0" anchor="t"/>
          <a:lstStyle/>
          <a:p>
            <a:pPr algn="l"/>
            <a:r>
              <a:rPr sz="1400" b="0">
                <a:solidFill>
                  <a:srgbClr val="C3CCE2"/>
                </a:solidFill>
                <a:latin typeface="Verdana Pro Light"/>
              </a:rPr>
              <a:t>The data platform is changing shape, and agents are arriving on top of it.</a:t>
            </a:r>
          </a:p>
        </p:txBody>
      </p:sp>
      <p:pic>
        <p:nvPicPr>
          <p:cNvPr id="16" name="Picture 17" descr="logo_white.png"/>
          <p:cNvPicPr>
            <a:picLocks noChangeAspect="1"/>
          </p:cNvPicPr>
          <p:nvPr/>
        </p:nvPicPr>
        <p:blipFill>
          <a:blip r:embed="rId4"/>
          <a:stretch>
            <a:fillRect/>
          </a:stretch>
        </p:blipFill>
        <p:spPr>
          <a:xfrm>
            <a:off x="621792" y="6327648"/>
            <a:ext cx="811952" cy="310896"/>
          </a:xfrm>
          <a:prstGeom prst="rect">
            <a:avLst/>
          </a:prstGeom>
        </p:spPr>
      </p:pic>
      <p:sp>
        <p:nvSpPr>
          <p:cNvPr id="18" name="TextBox 19"/>
          <p:cNvSpPr txBox="1"/>
          <p:nvPr/>
        </p:nvSpPr>
        <p:spPr>
          <a:xfrm>
            <a:off x="1627632" y="6345936"/>
            <a:ext cx="5943600" cy="274320"/>
          </a:xfrm>
          <a:prstGeom prst="rect">
            <a:avLst/>
          </a:prstGeom>
          <a:noFill/>
        </p:spPr>
        <p:txBody>
          <a:bodyPr wrap="square" lIns="0" tIns="0" rIns="0" bIns="0" anchor="ctr"/>
          <a:lstStyle/>
          <a:p>
            <a:pPr algn="l"/>
            <a:r>
              <a:rPr sz="1000" b="0">
                <a:solidFill>
                  <a:srgbClr val="B9C2D6"/>
                </a:solidFill>
                <a:latin typeface="Verdana Pro Light"/>
              </a:rPr>
              <a:t>|   Data Quality and Observability Platform</a:t>
            </a:r>
          </a:p>
        </p:txBody>
      </p:sp>
      <p:sp>
        <p:nvSpPr>
          <p:cNvPr id="20" name="TextBox 21"/>
          <p:cNvSpPr txBox="1"/>
          <p:nvPr/>
        </p:nvSpPr>
        <p:spPr>
          <a:xfrm>
            <a:off x="9692640" y="6345936"/>
            <a:ext cx="1371600" cy="274320"/>
          </a:xfrm>
          <a:prstGeom prst="rect">
            <a:avLst/>
          </a:prstGeom>
          <a:noFill/>
        </p:spPr>
        <p:txBody>
          <a:bodyPr wrap="square" lIns="0" tIns="0" rIns="0" bIns="0" anchor="ctr"/>
          <a:lstStyle/>
          <a:p>
            <a:pPr algn="r"/>
            <a:r>
              <a:rPr sz="1050" b="0">
                <a:solidFill>
                  <a:srgbClr val="5398F9"/>
                </a:solidFill>
                <a:latin typeface="Verdana Pro Light"/>
              </a:rPr>
              <a:t>digna   |</a:t>
            </a:r>
          </a:p>
        </p:txBody>
      </p:sp>
      <p:sp>
        <p:nvSpPr>
          <p:cNvPr id="22" name="TextBox 23"/>
          <p:cNvSpPr txBox="1"/>
          <p:nvPr/>
        </p:nvSpPr>
        <p:spPr>
          <a:xfrm>
            <a:off x="11109960" y="6345936"/>
            <a:ext cx="457200" cy="274320"/>
          </a:xfrm>
          <a:prstGeom prst="rect">
            <a:avLst/>
          </a:prstGeom>
          <a:noFill/>
        </p:spPr>
        <p:txBody>
          <a:bodyPr wrap="square" lIns="0" tIns="0" rIns="0" bIns="0" anchor="ctr"/>
          <a:lstStyle/>
          <a:p>
            <a:pPr algn="r"/>
            <a:r>
              <a:rPr sz="1050" b="0">
                <a:solidFill>
                  <a:srgbClr val="5398F9"/>
                </a:solidFill>
                <a:latin typeface="Verdana Pro Light"/>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5"/>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What is changing</a:t>
            </a:r>
          </a:p>
        </p:txBody>
      </p:sp>
      <p:sp>
        <p:nvSpPr>
          <p:cNvPr id="26" name="TextBox 27"/>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From one warehouse to many data products</a:t>
            </a:r>
          </a:p>
        </p:txBody>
      </p:sp>
      <p:pic>
        <p:nvPicPr>
          <p:cNvPr id="28" name="Picture 29" descr="logo_black.png"/>
          <p:cNvPicPr>
            <a:picLocks noChangeAspect="1"/>
          </p:cNvPicPr>
          <p:nvPr/>
        </p:nvPicPr>
        <p:blipFill>
          <a:blip r:embed="rId3"/>
          <a:stretch>
            <a:fillRect/>
          </a:stretch>
        </p:blipFill>
        <p:spPr>
          <a:xfrm>
            <a:off x="621792" y="6327648"/>
            <a:ext cx="811952" cy="310896"/>
          </a:xfrm>
          <a:prstGeom prst="rect">
            <a:avLst/>
          </a:prstGeom>
        </p:spPr>
      </p:pic>
      <p:sp>
        <p:nvSpPr>
          <p:cNvPr id="30" name="TextBox 31"/>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32" name="TextBox 33"/>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34" name="TextBox 35"/>
          <p:cNvSpPr txBox="1"/>
          <p:nvPr/>
        </p:nvSpPr>
        <p:spPr>
          <a:xfrm>
            <a:off x="11109960" y="6345936"/>
            <a:ext cx="457200" cy="274320"/>
          </a:xfrm>
          <a:prstGeom prst="rect">
            <a:avLst/>
          </a:prstGeom>
          <a:noFill/>
        </p:spPr>
        <p:txBody>
          <a:bodyPr wrap="square" lIns="0" tIns="0" rIns="0" bIns="0" anchor="ctr"/>
          <a:lstStyle/>
          <a:p>
            <a:pPr algn="r"/>
            <a:r>
              <a:rPr sz="1050" b="0">
                <a:solidFill>
                  <a:srgbClr val="016BFF"/>
                </a:solidFill>
                <a:latin typeface="Verdana Pro Light"/>
              </a:rPr>
              <a:t>13</a:t>
            </a:r>
          </a:p>
        </p:txBody>
      </p:sp>
      <p:sp>
        <p:nvSpPr>
          <p:cNvPr id="36" name="TextBox 37"/>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Before the agents arrive, the thing they operate on has already changed shape.</a:t>
            </a:r>
          </a:p>
        </p:txBody>
      </p:sp>
      <p:sp>
        <p:nvSpPr>
          <p:cNvPr id="38" name="Shape 39"/>
          <p:cNvSpPr/>
          <p:nvPr/>
        </p:nvSpPr>
        <p:spPr>
          <a:xfrm>
            <a:off x="621792" y="1965960"/>
            <a:ext cx="5257800" cy="347472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40" name="TextBox 41"/>
          <p:cNvSpPr txBox="1"/>
          <p:nvPr/>
        </p:nvSpPr>
        <p:spPr>
          <a:xfrm>
            <a:off x="987552" y="2176272"/>
            <a:ext cx="4526280" cy="292608"/>
          </a:xfrm>
          <a:prstGeom prst="rect">
            <a:avLst/>
          </a:prstGeom>
          <a:noFill/>
        </p:spPr>
        <p:txBody>
          <a:bodyPr wrap="square" lIns="0" tIns="0" rIns="0" bIns="0" anchor="t"/>
          <a:lstStyle/>
          <a:p>
            <a:pPr algn="l"/>
            <a:r>
              <a:rPr sz="1500" b="1">
                <a:solidFill>
                  <a:srgbClr val="5B7383"/>
                </a:solidFill>
                <a:latin typeface="Verdana Pro Semibold"/>
              </a:rPr>
              <a:t>A central source of truth</a:t>
            </a:r>
          </a:p>
        </p:txBody>
      </p:sp>
      <p:sp>
        <p:nvSpPr>
          <p:cNvPr id="42" name="Shape 43"/>
          <p:cNvSpPr/>
          <p:nvPr/>
        </p:nvSpPr>
        <p:spPr>
          <a:xfrm>
            <a:off x="987552" y="27432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44" name="TextBox 45"/>
          <p:cNvSpPr txBox="1"/>
          <p:nvPr/>
        </p:nvSpPr>
        <p:spPr>
          <a:xfrm>
            <a:off x="1316736" y="26517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Everything landed in a warehouse owned by a team who agreed what a passenger was</a:t>
            </a:r>
          </a:p>
        </p:txBody>
      </p:sp>
      <p:sp>
        <p:nvSpPr>
          <p:cNvPr id="46" name="Shape 47"/>
          <p:cNvSpPr/>
          <p:nvPr/>
        </p:nvSpPr>
        <p:spPr>
          <a:xfrm>
            <a:off x="987552" y="34290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48" name="TextBox 49"/>
          <p:cNvSpPr txBox="1"/>
          <p:nvPr/>
        </p:nvSpPr>
        <p:spPr>
          <a:xfrm>
            <a:off x="1316736" y="33375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Each source was checked as it arrived — but the data the warehouse produced from them, only at the end</a:t>
            </a:r>
          </a:p>
        </p:txBody>
      </p:sp>
      <p:sp>
        <p:nvSpPr>
          <p:cNvPr id="50" name="Shape 51"/>
          <p:cNvSpPr/>
          <p:nvPr/>
        </p:nvSpPr>
        <p:spPr>
          <a:xfrm>
            <a:off x="987552" y="41148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2" name="TextBox 53"/>
          <p:cNvSpPr txBox="1"/>
          <p:nvPr/>
        </p:nvSpPr>
        <p:spPr>
          <a:xfrm>
            <a:off x="1316736" y="40233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A late source held up the whole load behind it</a:t>
            </a:r>
          </a:p>
        </p:txBody>
      </p:sp>
      <p:sp>
        <p:nvSpPr>
          <p:cNvPr id="54" name="Shape 55"/>
          <p:cNvSpPr/>
          <p:nvPr/>
        </p:nvSpPr>
        <p:spPr>
          <a:xfrm>
            <a:off x="6309360" y="1965960"/>
            <a:ext cx="5257800" cy="34747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6" name="TextBox 57"/>
          <p:cNvSpPr txBox="1"/>
          <p:nvPr/>
        </p:nvSpPr>
        <p:spPr>
          <a:xfrm>
            <a:off x="6675120" y="2176272"/>
            <a:ext cx="4526280" cy="292608"/>
          </a:xfrm>
          <a:prstGeom prst="rect">
            <a:avLst/>
          </a:prstGeom>
          <a:noFill/>
        </p:spPr>
        <p:txBody>
          <a:bodyPr wrap="square" lIns="0" tIns="0" rIns="0" bIns="0" anchor="t"/>
          <a:lstStyle/>
          <a:p>
            <a:pPr algn="l"/>
            <a:r>
              <a:rPr sz="1500" b="1">
                <a:solidFill>
                  <a:srgbClr val="016BFF"/>
                </a:solidFill>
                <a:latin typeface="Verdana Pro Semibold"/>
              </a:rPr>
              <a:t>Many data products, many owners</a:t>
            </a:r>
          </a:p>
        </p:txBody>
      </p:sp>
      <p:sp>
        <p:nvSpPr>
          <p:cNvPr id="58" name="Shape 59"/>
          <p:cNvSpPr/>
          <p:nvPr/>
        </p:nvSpPr>
        <p:spPr>
          <a:xfrm>
            <a:off x="6675120" y="27432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0" name="TextBox 61"/>
          <p:cNvSpPr txBox="1"/>
          <p:nvPr/>
        </p:nvSpPr>
        <p:spPr>
          <a:xfrm>
            <a:off x="7004304" y="26517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A flights product, a revenue product, a loyalty product</a:t>
            </a:r>
          </a:p>
        </p:txBody>
      </p:sp>
      <p:sp>
        <p:nvSpPr>
          <p:cNvPr id="62" name="Shape 63"/>
          <p:cNvSpPr/>
          <p:nvPr/>
        </p:nvSpPr>
        <p:spPr>
          <a:xfrm>
            <a:off x="6675120" y="34290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4" name="TextBox 65"/>
          <p:cNvSpPr txBox="1"/>
          <p:nvPr/>
        </p:nvSpPr>
        <p:spPr>
          <a:xfrm>
            <a:off x="7004304" y="33375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Each with its own owner, contract and release cycle</a:t>
            </a:r>
          </a:p>
        </p:txBody>
      </p:sp>
      <p:sp>
        <p:nvSpPr>
          <p:cNvPr id="66" name="Shape 67"/>
          <p:cNvSpPr/>
          <p:nvPr/>
        </p:nvSpPr>
        <p:spPr>
          <a:xfrm>
            <a:off x="6675120" y="41148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8" name="TextBox 69"/>
          <p:cNvSpPr txBox="1"/>
          <p:nvPr/>
        </p:nvSpPr>
        <p:spPr>
          <a:xfrm>
            <a:off x="7004304" y="40233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Quality has to hold at every boundary the data crosses, not just where it lands</a:t>
            </a:r>
          </a:p>
        </p:txBody>
      </p:sp>
      <p:sp>
        <p:nvSpPr>
          <p:cNvPr id="70" name="Shape 71"/>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2" name="TextBox 73"/>
          <p:cNvSpPr txBox="1"/>
          <p:nvPr/>
        </p:nvSpPr>
        <p:spPr>
          <a:xfrm>
            <a:off x="1981200" y="5578560"/>
            <a:ext cx="8229600" cy="5000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Nobody owns the whole chain any more, so orchestration has to cover the gap.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9"/>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What is changing</a:t>
            </a:r>
          </a:p>
        </p:txBody>
      </p:sp>
      <p:sp>
        <p:nvSpPr>
          <p:cNvPr id="160" name="TextBox 161"/>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What an agent needs from you</a:t>
            </a:r>
          </a:p>
        </p:txBody>
      </p:sp>
      <p:pic>
        <p:nvPicPr>
          <p:cNvPr id="162" name="Picture 163" descr="logo_black.png"/>
          <p:cNvPicPr>
            <a:picLocks noChangeAspect="1"/>
          </p:cNvPicPr>
          <p:nvPr/>
        </p:nvPicPr>
        <p:blipFill>
          <a:blip r:embed="rId3"/>
          <a:stretch>
            <a:fillRect/>
          </a:stretch>
        </p:blipFill>
        <p:spPr>
          <a:xfrm>
            <a:off x="621792" y="6327648"/>
            <a:ext cx="811952" cy="310896"/>
          </a:xfrm>
          <a:prstGeom prst="rect">
            <a:avLst/>
          </a:prstGeom>
        </p:spPr>
      </p:pic>
      <p:sp>
        <p:nvSpPr>
          <p:cNvPr id="164" name="TextBox 165"/>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166" name="TextBox 167"/>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168" name="TextBox 169"/>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016BFF"/>
                </a:solidFill>
                <a:latin typeface="Verdana Pro Light"/>
              </a:rPr>
              <a:t>14</a:t>
            </a:r>
            <a:endParaRPr sz="1050" b="0" dirty="0">
              <a:solidFill>
                <a:srgbClr val="016BFF"/>
              </a:solidFill>
              <a:latin typeface="Verdana Pro Light"/>
            </a:endParaRPr>
          </a:p>
        </p:txBody>
      </p:sp>
      <p:sp>
        <p:nvSpPr>
          <p:cNvPr id="170" name="Shape 171"/>
          <p:cNvSpPr/>
          <p:nvPr/>
        </p:nvSpPr>
        <p:spPr>
          <a:xfrm>
            <a:off x="621792" y="2286000"/>
            <a:ext cx="10948416" cy="182880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2" name="TextBox 173"/>
          <p:cNvSpPr txBox="1"/>
          <p:nvPr/>
        </p:nvSpPr>
        <p:spPr>
          <a:xfrm>
            <a:off x="1188720" y="2286000"/>
            <a:ext cx="9500000" cy="1828800"/>
          </a:xfrm>
          <a:prstGeom prst="rect">
            <a:avLst/>
          </a:prstGeom>
          <a:noFill/>
        </p:spPr>
        <p:txBody>
          <a:bodyPr wrap="square" lIns="0" tIns="0" rIns="0" bIns="0" anchor="ctr"/>
          <a:lstStyle/>
          <a:p>
            <a:pPr algn="l">
              <a:lnSpc>
                <a:spcPct val="118000"/>
              </a:lnSpc>
            </a:pPr>
            <a:r>
              <a:rPr sz="2000" b="1">
                <a:solidFill>
                  <a:srgbClr val="016BFF"/>
                </a:solidFill>
                <a:latin typeface="Verdana Pro Semibold"/>
              </a:rPr>
              <a:t>An agent does not need to be told how.
It needs to be told what, and how far it may go.</a:t>
            </a:r>
          </a:p>
        </p:txBody>
      </p:sp>
      <p:sp>
        <p:nvSpPr>
          <p:cNvPr id="174" name="TextBox 175"/>
          <p:cNvSpPr txBox="1"/>
          <p:nvPr/>
        </p:nvSpPr>
        <p:spPr>
          <a:xfrm>
            <a:off x="621792" y="4480560"/>
            <a:ext cx="10400000" cy="1188720"/>
          </a:xfrm>
          <a:prstGeom prst="rect">
            <a:avLst/>
          </a:prstGeom>
          <a:noFill/>
        </p:spPr>
        <p:txBody>
          <a:bodyPr wrap="square" lIns="0" tIns="0" rIns="0" bIns="0" anchor="t"/>
          <a:lstStyle/>
          <a:p>
            <a:pPr algn="l">
              <a:lnSpc>
                <a:spcPct val="120000"/>
              </a:lnSpc>
            </a:pPr>
            <a:r>
              <a:rPr sz="1450" b="0">
                <a:solidFill>
                  <a:srgbClr val="5B7383"/>
                </a:solidFill>
                <a:latin typeface="Verdana Pro Light"/>
              </a:rPr>
              <a:t>That is a different integration model from anything we have built before, and it is the part most teams have not priced in yet.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TextBox 177"/>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What is changing</a:t>
            </a:r>
          </a:p>
        </p:txBody>
      </p:sp>
      <p:sp>
        <p:nvSpPr>
          <p:cNvPr id="178" name="TextBox 179"/>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Integration today, and what replaces it</a:t>
            </a:r>
          </a:p>
        </p:txBody>
      </p:sp>
      <p:pic>
        <p:nvPicPr>
          <p:cNvPr id="180" name="Picture 181" descr="logo_black.png"/>
          <p:cNvPicPr>
            <a:picLocks noChangeAspect="1"/>
          </p:cNvPicPr>
          <p:nvPr/>
        </p:nvPicPr>
        <p:blipFill>
          <a:blip r:embed="rId3"/>
          <a:stretch>
            <a:fillRect/>
          </a:stretch>
        </p:blipFill>
        <p:spPr>
          <a:xfrm>
            <a:off x="621792" y="6327648"/>
            <a:ext cx="811952" cy="310896"/>
          </a:xfrm>
          <a:prstGeom prst="rect">
            <a:avLst/>
          </a:prstGeom>
        </p:spPr>
      </p:pic>
      <p:sp>
        <p:nvSpPr>
          <p:cNvPr id="182" name="TextBox 183"/>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184" name="TextBox 185"/>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186" name="TextBox 187"/>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016BFF"/>
                </a:solidFill>
                <a:latin typeface="Verdana Pro Light"/>
              </a:rPr>
              <a:t>15</a:t>
            </a:r>
            <a:endParaRPr sz="1050" b="0" dirty="0">
              <a:solidFill>
                <a:srgbClr val="016BFF"/>
              </a:solidFill>
              <a:latin typeface="Verdana Pro Light"/>
            </a:endParaRPr>
          </a:p>
        </p:txBody>
      </p:sp>
      <p:sp>
        <p:nvSpPr>
          <p:cNvPr id="188" name="TextBox 189"/>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The same reload, expressed two ways — and the difference is who does the work.</a:t>
            </a:r>
          </a:p>
        </p:txBody>
      </p:sp>
      <p:sp>
        <p:nvSpPr>
          <p:cNvPr id="190" name="Shape 191"/>
          <p:cNvSpPr/>
          <p:nvPr/>
        </p:nvSpPr>
        <p:spPr>
          <a:xfrm>
            <a:off x="621792" y="1965960"/>
            <a:ext cx="5257800" cy="347472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92" name="TextBox 193"/>
          <p:cNvSpPr txBox="1"/>
          <p:nvPr/>
        </p:nvSpPr>
        <p:spPr>
          <a:xfrm>
            <a:off x="987552" y="2176272"/>
            <a:ext cx="4526280" cy="292608"/>
          </a:xfrm>
          <a:prstGeom prst="rect">
            <a:avLst/>
          </a:prstGeom>
          <a:noFill/>
        </p:spPr>
        <p:txBody>
          <a:bodyPr wrap="square" lIns="0" tIns="0" rIns="0" bIns="0" anchor="t"/>
          <a:lstStyle/>
          <a:p>
            <a:pPr algn="l"/>
            <a:r>
              <a:rPr sz="1500" b="1">
                <a:solidFill>
                  <a:srgbClr val="5B7383"/>
                </a:solidFill>
                <a:latin typeface="Verdana Pro Semibold"/>
              </a:rPr>
              <a:t>Today: you wire every call</a:t>
            </a:r>
          </a:p>
        </p:txBody>
      </p:sp>
      <p:sp>
        <p:nvSpPr>
          <p:cNvPr id="194" name="Shape 195"/>
          <p:cNvSpPr/>
          <p:nvPr/>
        </p:nvSpPr>
        <p:spPr>
          <a:xfrm>
            <a:off x="987552" y="27432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96" name="TextBox 197"/>
          <p:cNvSpPr txBox="1"/>
          <p:nvPr/>
        </p:nvSpPr>
        <p:spPr>
          <a:xfrm>
            <a:off x="1316736" y="26517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Find the stored procedure and its parameters</a:t>
            </a:r>
          </a:p>
        </p:txBody>
      </p:sp>
      <p:sp>
        <p:nvSpPr>
          <p:cNvPr id="198" name="Shape 199"/>
          <p:cNvSpPr/>
          <p:nvPr/>
        </p:nvSpPr>
        <p:spPr>
          <a:xfrm>
            <a:off x="987552" y="34290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00" name="TextBox 201"/>
          <p:cNvSpPr txBox="1"/>
          <p:nvPr/>
        </p:nvSpPr>
        <p:spPr>
          <a:xfrm>
            <a:off x="1316736" y="33375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Find the source API, its auth, its rate limit, its paging</a:t>
            </a:r>
          </a:p>
        </p:txBody>
      </p:sp>
      <p:sp>
        <p:nvSpPr>
          <p:cNvPr id="202" name="Shape 203"/>
          <p:cNvSpPr/>
          <p:nvPr/>
        </p:nvSpPr>
        <p:spPr>
          <a:xfrm>
            <a:off x="987552" y="41148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04" name="TextBox 205"/>
          <p:cNvSpPr txBox="1"/>
          <p:nvPr/>
        </p:nvSpPr>
        <p:spPr>
          <a:xfrm>
            <a:off x="1316736" y="40233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Write the retry, the ordering and the error handling</a:t>
            </a:r>
          </a:p>
        </p:txBody>
      </p:sp>
      <p:sp>
        <p:nvSpPr>
          <p:cNvPr id="206" name="Shape 207"/>
          <p:cNvSpPr/>
          <p:nvPr/>
        </p:nvSpPr>
        <p:spPr>
          <a:xfrm>
            <a:off x="987552" y="48006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08" name="TextBox 209"/>
          <p:cNvSpPr txBox="1"/>
          <p:nvPr/>
        </p:nvSpPr>
        <p:spPr>
          <a:xfrm>
            <a:off x="1316736" y="47091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Rewrite all of it when the partner changes their export</a:t>
            </a:r>
          </a:p>
        </p:txBody>
      </p:sp>
      <p:sp>
        <p:nvSpPr>
          <p:cNvPr id="210" name="Shape 211"/>
          <p:cNvSpPr/>
          <p:nvPr/>
        </p:nvSpPr>
        <p:spPr>
          <a:xfrm>
            <a:off x="6309360" y="1965960"/>
            <a:ext cx="5257800" cy="34747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12" name="TextBox 213"/>
          <p:cNvSpPr txBox="1"/>
          <p:nvPr/>
        </p:nvSpPr>
        <p:spPr>
          <a:xfrm>
            <a:off x="6675120" y="2176272"/>
            <a:ext cx="4526280" cy="292608"/>
          </a:xfrm>
          <a:prstGeom prst="rect">
            <a:avLst/>
          </a:prstGeom>
          <a:noFill/>
        </p:spPr>
        <p:txBody>
          <a:bodyPr wrap="square" lIns="0" tIns="0" rIns="0" bIns="0" anchor="t"/>
          <a:lstStyle/>
          <a:p>
            <a:pPr algn="l"/>
            <a:r>
              <a:rPr sz="1500" b="1">
                <a:solidFill>
                  <a:srgbClr val="016BFF"/>
                </a:solidFill>
                <a:latin typeface="Verdana Pro Semibold"/>
              </a:rPr>
              <a:t>Emerging: you state the intent</a:t>
            </a:r>
          </a:p>
        </p:txBody>
      </p:sp>
      <p:sp>
        <p:nvSpPr>
          <p:cNvPr id="214" name="Shape 215"/>
          <p:cNvSpPr/>
          <p:nvPr/>
        </p:nvSpPr>
        <p:spPr>
          <a:xfrm>
            <a:off x="6675120" y="27432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16" name="TextBox 217"/>
          <p:cNvSpPr txBox="1"/>
          <p:nvPr/>
        </p:nvSpPr>
        <p:spPr>
          <a:xfrm>
            <a:off x="7004304" y="26517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“Reload yesterday's boarding records for WG 402”</a:t>
            </a:r>
          </a:p>
        </p:txBody>
      </p:sp>
      <p:sp>
        <p:nvSpPr>
          <p:cNvPr id="218" name="Shape 219"/>
          <p:cNvSpPr/>
          <p:nvPr/>
        </p:nvSpPr>
        <p:spPr>
          <a:xfrm>
            <a:off x="6675120" y="34290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20" name="TextBox 221"/>
          <p:cNvSpPr txBox="1"/>
          <p:nvPr/>
        </p:nvSpPr>
        <p:spPr>
          <a:xfrm>
            <a:off x="7004304" y="33375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The agent finds the procedure and the API in the catalog</a:t>
            </a:r>
          </a:p>
        </p:txBody>
      </p:sp>
      <p:sp>
        <p:nvSpPr>
          <p:cNvPr id="222" name="Shape 223"/>
          <p:cNvSpPr/>
          <p:nvPr/>
        </p:nvSpPr>
        <p:spPr>
          <a:xfrm>
            <a:off x="6675120" y="41148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24" name="TextBox 225"/>
          <p:cNvSpPr txBox="1"/>
          <p:nvPr/>
        </p:nvSpPr>
        <p:spPr>
          <a:xfrm>
            <a:off x="7004304" y="40233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It sequences, retries and verifies the row count itself</a:t>
            </a:r>
          </a:p>
        </p:txBody>
      </p:sp>
      <p:sp>
        <p:nvSpPr>
          <p:cNvPr id="226" name="Shape 227"/>
          <p:cNvSpPr/>
          <p:nvPr/>
        </p:nvSpPr>
        <p:spPr>
          <a:xfrm>
            <a:off x="6675120" y="48006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28" name="TextBox 229"/>
          <p:cNvSpPr txBox="1"/>
          <p:nvPr/>
        </p:nvSpPr>
        <p:spPr>
          <a:xfrm>
            <a:off x="7004304" y="47091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A changed export becomes a new plan, not a new sprint</a:t>
            </a:r>
          </a:p>
        </p:txBody>
      </p:sp>
      <p:sp>
        <p:nvSpPr>
          <p:cNvPr id="230" name="Shape 231"/>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32" name="TextBox 233"/>
          <p:cNvSpPr txBox="1"/>
          <p:nvPr/>
        </p:nvSpPr>
        <p:spPr>
          <a:xfrm>
            <a:off x="1981200" y="5578560"/>
            <a:ext cx="8229600" cy="5000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We will spend less time specifying how a reload happens and more time specifying what may be reloaded, by whom, and without asking.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 name="Picture 235" descr="section_bg.png"/>
          <p:cNvPicPr>
            <a:picLocks noChangeAspect="1"/>
          </p:cNvPicPr>
          <p:nvPr/>
        </p:nvPicPr>
        <p:blipFill>
          <a:blip r:embed="rId3"/>
          <a:stretch>
            <a:fillRect/>
          </a:stretch>
        </p:blipFill>
        <p:spPr>
          <a:xfrm>
            <a:off x="0" y="0"/>
            <a:ext cx="12191695" cy="6858000"/>
          </a:xfrm>
          <a:prstGeom prst="rect">
            <a:avLst/>
          </a:prstGeom>
        </p:spPr>
      </p:pic>
      <p:sp>
        <p:nvSpPr>
          <p:cNvPr id="236" name="Shape 237"/>
          <p:cNvSpPr/>
          <p:nvPr/>
        </p:nvSpPr>
        <p:spPr>
          <a:xfrm>
            <a:off x="0" y="0"/>
            <a:ext cx="12191695" cy="6858000"/>
          </a:xfrm>
          <a:prstGeom prst="rect">
            <a:avLst/>
          </a:prstGeom>
          <a:solidFill>
            <a:srgbClr val="02041C"/>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pic>
        <p:nvPicPr>
          <p:cNvPr id="240" name="Picture 241" descr="logo_white.png"/>
          <p:cNvPicPr>
            <a:picLocks noChangeAspect="1"/>
          </p:cNvPicPr>
          <p:nvPr/>
        </p:nvPicPr>
        <p:blipFill>
          <a:blip r:embed="rId4"/>
          <a:stretch>
            <a:fillRect/>
          </a:stretch>
        </p:blipFill>
        <p:spPr>
          <a:xfrm>
            <a:off x="621792" y="502920"/>
            <a:ext cx="1098523" cy="420624"/>
          </a:xfrm>
          <a:prstGeom prst="rect">
            <a:avLst/>
          </a:prstGeom>
        </p:spPr>
      </p:pic>
      <p:sp>
        <p:nvSpPr>
          <p:cNvPr id="242" name="TextBox 243"/>
          <p:cNvSpPr txBox="1"/>
          <p:nvPr/>
        </p:nvSpPr>
        <p:spPr>
          <a:xfrm>
            <a:off x="621792" y="2606040"/>
            <a:ext cx="7315200" cy="292608"/>
          </a:xfrm>
          <a:prstGeom prst="rect">
            <a:avLst/>
          </a:prstGeom>
          <a:noFill/>
        </p:spPr>
        <p:txBody>
          <a:bodyPr wrap="square" lIns="0" tIns="0" rIns="0" bIns="0" anchor="t"/>
          <a:lstStyle/>
          <a:p>
            <a:pPr algn="l"/>
            <a:r>
              <a:rPr sz="1200" b="0">
                <a:solidFill>
                  <a:srgbClr val="5398F9"/>
                </a:solidFill>
                <a:latin typeface="Verdana Pro Light"/>
              </a:rPr>
              <a:t>How agents fit</a:t>
            </a:r>
          </a:p>
        </p:txBody>
      </p:sp>
      <p:sp>
        <p:nvSpPr>
          <p:cNvPr id="244" name="TextBox 245"/>
          <p:cNvSpPr txBox="1"/>
          <p:nvPr/>
        </p:nvSpPr>
        <p:spPr>
          <a:xfrm>
            <a:off x="621792" y="3017520"/>
            <a:ext cx="9692640" cy="1188720"/>
          </a:xfrm>
          <a:prstGeom prst="rect">
            <a:avLst/>
          </a:prstGeom>
          <a:noFill/>
        </p:spPr>
        <p:txBody>
          <a:bodyPr wrap="square" lIns="0" tIns="0" rIns="0" bIns="0" anchor="t"/>
          <a:lstStyle/>
          <a:p>
            <a:pPr algn="l"/>
            <a:r>
              <a:rPr sz="3200" b="1">
                <a:solidFill>
                  <a:srgbClr val="FFFFFF"/>
                </a:solidFill>
                <a:latin typeface="Verdana Pro Semibold"/>
              </a:rPr>
              <a:t>What the agent reads,</a:t>
            </a:r>
          </a:p>
          <a:p>
            <a:pPr algn="l"/>
            <a:r>
              <a:rPr sz="3200" b="1">
                <a:solidFill>
                  <a:srgbClr val="FFFFFF"/>
                </a:solidFill>
                <a:latin typeface="Verdana Pro Semibold"/>
              </a:rPr>
              <a:t>and what it may change</a:t>
            </a:r>
          </a:p>
        </p:txBody>
      </p:sp>
      <p:sp>
        <p:nvSpPr>
          <p:cNvPr id="246" name="TextBox 247"/>
          <p:cNvSpPr txBox="1"/>
          <p:nvPr/>
        </p:nvSpPr>
        <p:spPr>
          <a:xfrm>
            <a:off x="621792" y="4434840"/>
            <a:ext cx="8778240" cy="640080"/>
          </a:xfrm>
          <a:prstGeom prst="rect">
            <a:avLst/>
          </a:prstGeom>
          <a:noFill/>
        </p:spPr>
        <p:txBody>
          <a:bodyPr wrap="square" lIns="0" tIns="0" rIns="0" bIns="0" anchor="t"/>
          <a:lstStyle/>
          <a:p>
            <a:pPr algn="l"/>
            <a:r>
              <a:rPr sz="1400" b="0">
                <a:solidFill>
                  <a:srgbClr val="C3CCE2"/>
                </a:solidFill>
                <a:latin typeface="Verdana Pro Light"/>
              </a:rPr>
              <a:t>Two separate questions, and the second one is where the risk is.</a:t>
            </a:r>
          </a:p>
        </p:txBody>
      </p:sp>
      <p:pic>
        <p:nvPicPr>
          <p:cNvPr id="248" name="Picture 249" descr="logo_white.png"/>
          <p:cNvPicPr>
            <a:picLocks noChangeAspect="1"/>
          </p:cNvPicPr>
          <p:nvPr/>
        </p:nvPicPr>
        <p:blipFill>
          <a:blip r:embed="rId4"/>
          <a:stretch>
            <a:fillRect/>
          </a:stretch>
        </p:blipFill>
        <p:spPr>
          <a:xfrm>
            <a:off x="621792" y="6327648"/>
            <a:ext cx="811952" cy="310896"/>
          </a:xfrm>
          <a:prstGeom prst="rect">
            <a:avLst/>
          </a:prstGeom>
        </p:spPr>
      </p:pic>
      <p:sp>
        <p:nvSpPr>
          <p:cNvPr id="250" name="TextBox 251"/>
          <p:cNvSpPr txBox="1"/>
          <p:nvPr/>
        </p:nvSpPr>
        <p:spPr>
          <a:xfrm>
            <a:off x="1627632" y="6345936"/>
            <a:ext cx="5943600" cy="274320"/>
          </a:xfrm>
          <a:prstGeom prst="rect">
            <a:avLst/>
          </a:prstGeom>
          <a:noFill/>
        </p:spPr>
        <p:txBody>
          <a:bodyPr wrap="square" lIns="0" tIns="0" rIns="0" bIns="0" anchor="ctr"/>
          <a:lstStyle/>
          <a:p>
            <a:pPr algn="l"/>
            <a:r>
              <a:rPr sz="1000" b="0">
                <a:solidFill>
                  <a:srgbClr val="B9C2D6"/>
                </a:solidFill>
                <a:latin typeface="Verdana Pro Light"/>
              </a:rPr>
              <a:t>|   Data Quality and Observability Platform</a:t>
            </a:r>
          </a:p>
        </p:txBody>
      </p:sp>
      <p:sp>
        <p:nvSpPr>
          <p:cNvPr id="252" name="TextBox 253"/>
          <p:cNvSpPr txBox="1"/>
          <p:nvPr/>
        </p:nvSpPr>
        <p:spPr>
          <a:xfrm>
            <a:off x="9692640" y="6345936"/>
            <a:ext cx="1371600" cy="274320"/>
          </a:xfrm>
          <a:prstGeom prst="rect">
            <a:avLst/>
          </a:prstGeom>
          <a:noFill/>
        </p:spPr>
        <p:txBody>
          <a:bodyPr wrap="square" lIns="0" tIns="0" rIns="0" bIns="0" anchor="ctr"/>
          <a:lstStyle/>
          <a:p>
            <a:pPr algn="r"/>
            <a:r>
              <a:rPr sz="1050" b="0">
                <a:solidFill>
                  <a:srgbClr val="5398F9"/>
                </a:solidFill>
                <a:latin typeface="Verdana Pro Light"/>
              </a:rPr>
              <a:t>digna   |</a:t>
            </a:r>
          </a:p>
        </p:txBody>
      </p:sp>
      <p:sp>
        <p:nvSpPr>
          <p:cNvPr id="254" name="TextBox 255"/>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5398F9"/>
                </a:solidFill>
                <a:latin typeface="Verdana Pro Light"/>
              </a:rPr>
              <a:t>16</a:t>
            </a:r>
            <a:endParaRPr sz="1050" b="0" dirty="0">
              <a:solidFill>
                <a:srgbClr val="5398F9"/>
              </a:solidFill>
              <a:latin typeface="Verdana Pro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TextBox 257"/>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How agents fit</a:t>
            </a:r>
          </a:p>
        </p:txBody>
      </p:sp>
      <p:sp>
        <p:nvSpPr>
          <p:cNvPr id="258" name="TextBox 259"/>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An alert becomes work, not a queue entry</a:t>
            </a:r>
          </a:p>
        </p:txBody>
      </p:sp>
      <p:pic>
        <p:nvPicPr>
          <p:cNvPr id="260" name="Picture 261" descr="logo_black.png"/>
          <p:cNvPicPr>
            <a:picLocks noChangeAspect="1"/>
          </p:cNvPicPr>
          <p:nvPr/>
        </p:nvPicPr>
        <p:blipFill>
          <a:blip r:embed="rId3"/>
          <a:stretch>
            <a:fillRect/>
          </a:stretch>
        </p:blipFill>
        <p:spPr>
          <a:xfrm>
            <a:off x="621792" y="6327648"/>
            <a:ext cx="811952" cy="310896"/>
          </a:xfrm>
          <a:prstGeom prst="rect">
            <a:avLst/>
          </a:prstGeom>
        </p:spPr>
      </p:pic>
      <p:sp>
        <p:nvSpPr>
          <p:cNvPr id="262" name="TextBox 263"/>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264" name="TextBox 265"/>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266" name="TextBox 267"/>
          <p:cNvSpPr txBox="1"/>
          <p:nvPr/>
        </p:nvSpPr>
        <p:spPr>
          <a:xfrm>
            <a:off x="11121111" y="6345936"/>
            <a:ext cx="457200" cy="274320"/>
          </a:xfrm>
          <a:prstGeom prst="rect">
            <a:avLst/>
          </a:prstGeom>
          <a:noFill/>
        </p:spPr>
        <p:txBody>
          <a:bodyPr wrap="square" lIns="0" tIns="0" rIns="0" bIns="0" anchor="ctr"/>
          <a:lstStyle/>
          <a:p>
            <a:pPr algn="r"/>
            <a:r>
              <a:rPr lang="de-AT" sz="1050" b="0" dirty="0">
                <a:solidFill>
                  <a:srgbClr val="016BFF"/>
                </a:solidFill>
                <a:latin typeface="Verdana Pro Light"/>
              </a:rPr>
              <a:t>17</a:t>
            </a:r>
            <a:endParaRPr sz="1050" b="0" dirty="0">
              <a:solidFill>
                <a:srgbClr val="016BFF"/>
              </a:solidFill>
              <a:latin typeface="Verdana Pro Light"/>
            </a:endParaRPr>
          </a:p>
        </p:txBody>
      </p:sp>
      <p:sp>
        <p:nvSpPr>
          <p:cNvPr id="268" name="Shape 269"/>
          <p:cNvSpPr/>
          <p:nvPr/>
        </p:nvSpPr>
        <p:spPr>
          <a:xfrm>
            <a:off x="621792" y="2286000"/>
            <a:ext cx="10948416" cy="182880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70" name="TextBox 271"/>
          <p:cNvSpPr txBox="1"/>
          <p:nvPr/>
        </p:nvSpPr>
        <p:spPr>
          <a:xfrm>
            <a:off x="1188720" y="2286000"/>
            <a:ext cx="9500000" cy="1828800"/>
          </a:xfrm>
          <a:prstGeom prst="rect">
            <a:avLst/>
          </a:prstGeom>
          <a:noFill/>
        </p:spPr>
        <p:txBody>
          <a:bodyPr wrap="square" lIns="0" tIns="0" rIns="0" bIns="0" anchor="ctr"/>
          <a:lstStyle/>
          <a:p>
            <a:pPr algn="l">
              <a:lnSpc>
                <a:spcPct val="118000"/>
              </a:lnSpc>
            </a:pPr>
            <a:r>
              <a:rPr sz="2000" b="1">
                <a:solidFill>
                  <a:srgbClr val="016BFF"/>
                </a:solidFill>
                <a:latin typeface="Verdana Pro Semibold"/>
              </a:rPr>
              <a:t>An alert no longer waits for somebody to read it.
It starts the work itself.</a:t>
            </a:r>
          </a:p>
        </p:txBody>
      </p:sp>
      <p:sp>
        <p:nvSpPr>
          <p:cNvPr id="272" name="TextBox 273"/>
          <p:cNvSpPr txBox="1"/>
          <p:nvPr/>
        </p:nvSpPr>
        <p:spPr>
          <a:xfrm>
            <a:off x="621792" y="4480560"/>
            <a:ext cx="10400000" cy="1188720"/>
          </a:xfrm>
          <a:prstGeom prst="rect">
            <a:avLst/>
          </a:prstGeom>
          <a:noFill/>
        </p:spPr>
        <p:txBody>
          <a:bodyPr wrap="square" lIns="0" tIns="0" rIns="0" bIns="0" anchor="t"/>
          <a:lstStyle/>
          <a:p>
            <a:pPr algn="l">
              <a:lnSpc>
                <a:spcPct val="120000"/>
              </a:lnSpc>
            </a:pPr>
            <a:r>
              <a:rPr sz="1450" b="0">
                <a:solidFill>
                  <a:srgbClr val="5B7383"/>
                </a:solidFill>
                <a:latin typeface="Verdana Pro Light"/>
              </a:rPr>
              <a:t>Today it lands in a queue and waits for Monday. What changes is that the finding arrives with its evidence attached, at something able to act on 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TextBox 275"/>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How agents fit</a:t>
            </a:r>
          </a:p>
        </p:txBody>
      </p:sp>
      <p:sp>
        <p:nvSpPr>
          <p:cNvPr id="276" name="TextBox 277"/>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How an agent handles a finding</a:t>
            </a:r>
          </a:p>
        </p:txBody>
      </p:sp>
      <p:pic>
        <p:nvPicPr>
          <p:cNvPr id="278" name="Picture 279" descr="logo_black.png"/>
          <p:cNvPicPr>
            <a:picLocks noChangeAspect="1"/>
          </p:cNvPicPr>
          <p:nvPr/>
        </p:nvPicPr>
        <p:blipFill>
          <a:blip r:embed="rId3"/>
          <a:stretch>
            <a:fillRect/>
          </a:stretch>
        </p:blipFill>
        <p:spPr>
          <a:xfrm>
            <a:off x="621792" y="6327648"/>
            <a:ext cx="811952" cy="310896"/>
          </a:xfrm>
          <a:prstGeom prst="rect">
            <a:avLst/>
          </a:prstGeom>
        </p:spPr>
      </p:pic>
      <p:sp>
        <p:nvSpPr>
          <p:cNvPr id="280" name="TextBox 281"/>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282" name="TextBox 283"/>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284" name="TextBox 285"/>
          <p:cNvSpPr txBox="1"/>
          <p:nvPr/>
        </p:nvSpPr>
        <p:spPr>
          <a:xfrm>
            <a:off x="11109960" y="6345936"/>
            <a:ext cx="457200" cy="274320"/>
          </a:xfrm>
          <a:prstGeom prst="rect">
            <a:avLst/>
          </a:prstGeom>
          <a:noFill/>
        </p:spPr>
        <p:txBody>
          <a:bodyPr wrap="square" lIns="0" tIns="0" rIns="0" bIns="0" anchor="ctr"/>
          <a:lstStyle/>
          <a:p>
            <a:pPr algn="r"/>
            <a:r>
              <a:rPr sz="1050" b="0" dirty="0">
                <a:solidFill>
                  <a:srgbClr val="016BFF"/>
                </a:solidFill>
                <a:latin typeface="Verdana Pro Light"/>
              </a:rPr>
              <a:t>1</a:t>
            </a:r>
            <a:r>
              <a:rPr lang="de-AT" sz="1050" b="0" dirty="0">
                <a:solidFill>
                  <a:srgbClr val="016BFF"/>
                </a:solidFill>
                <a:latin typeface="Verdana Pro Light"/>
              </a:rPr>
              <a:t>8</a:t>
            </a:r>
            <a:endParaRPr sz="1050" b="0" dirty="0">
              <a:solidFill>
                <a:srgbClr val="016BFF"/>
              </a:solidFill>
              <a:latin typeface="Verdana Pro Light"/>
            </a:endParaRPr>
          </a:p>
        </p:txBody>
      </p:sp>
      <p:sp>
        <p:nvSpPr>
          <p:cNvPr id="286" name="TextBox 287"/>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Every alert takes this path. Precedent makes it cheaper; the gate is what decides.</a:t>
            </a:r>
          </a:p>
        </p:txBody>
      </p:sp>
      <p:pic>
        <p:nvPicPr>
          <p:cNvPr id="288" name="Picture 289" descr="agent_loop.png"/>
          <p:cNvPicPr>
            <a:picLocks noChangeAspect="1"/>
          </p:cNvPicPr>
          <p:nvPr/>
        </p:nvPicPr>
        <p:blipFill>
          <a:blip r:embed="rId4"/>
          <a:stretch>
            <a:fillRect/>
          </a:stretch>
        </p:blipFill>
        <p:spPr>
          <a:xfrm>
            <a:off x="727862" y="2103120"/>
            <a:ext cx="10736275" cy="3383280"/>
          </a:xfrm>
          <a:prstGeom prst="rect">
            <a:avLst/>
          </a:prstGeom>
        </p:spPr>
      </p:pic>
      <p:sp>
        <p:nvSpPr>
          <p:cNvPr id="290" name="Shape 291"/>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292" name="TextBox 293"/>
          <p:cNvSpPr txBox="1"/>
          <p:nvPr/>
        </p:nvSpPr>
        <p:spPr>
          <a:xfrm>
            <a:off x="1981200" y="5578560"/>
            <a:ext cx="8229600" cy="5000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Precedent is an input, not a switch — it is neither required nor sufficient.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TextBox 295"/>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How agents fit</a:t>
            </a:r>
          </a:p>
        </p:txBody>
      </p:sp>
      <p:sp>
        <p:nvSpPr>
          <p:cNvPr id="296" name="TextBox 297"/>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Which sources the agent may trust</a:t>
            </a:r>
          </a:p>
        </p:txBody>
      </p:sp>
      <p:pic>
        <p:nvPicPr>
          <p:cNvPr id="298" name="Picture 299" descr="logo_black.png"/>
          <p:cNvPicPr>
            <a:picLocks noChangeAspect="1"/>
          </p:cNvPicPr>
          <p:nvPr/>
        </p:nvPicPr>
        <p:blipFill>
          <a:blip r:embed="rId3"/>
          <a:stretch>
            <a:fillRect/>
          </a:stretch>
        </p:blipFill>
        <p:spPr>
          <a:xfrm>
            <a:off x="621792" y="6327648"/>
            <a:ext cx="811952" cy="310896"/>
          </a:xfrm>
          <a:prstGeom prst="rect">
            <a:avLst/>
          </a:prstGeom>
        </p:spPr>
      </p:pic>
      <p:sp>
        <p:nvSpPr>
          <p:cNvPr id="300" name="TextBox 301"/>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302" name="TextBox 303"/>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304" name="TextBox 305"/>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016BFF"/>
                </a:solidFill>
                <a:latin typeface="Verdana Pro Light"/>
              </a:rPr>
              <a:t>19</a:t>
            </a:r>
            <a:endParaRPr sz="1050" b="0" dirty="0">
              <a:solidFill>
                <a:srgbClr val="016BFF"/>
              </a:solidFill>
              <a:latin typeface="Verdana Pro Light"/>
            </a:endParaRPr>
          </a:p>
        </p:txBody>
      </p:sp>
      <p:sp>
        <p:nvSpPr>
          <p:cNvPr id="306" name="TextBox 307"/>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The agent can reach four kinds of source. They are not interchangeable, and the order it consults them in is part of the design.</a:t>
            </a:r>
          </a:p>
        </p:txBody>
      </p:sp>
      <p:sp>
        <p:nvSpPr>
          <p:cNvPr id="308" name="Shape 309"/>
          <p:cNvSpPr/>
          <p:nvPr/>
        </p:nvSpPr>
        <p:spPr>
          <a:xfrm>
            <a:off x="621792" y="1965960"/>
            <a:ext cx="10948416" cy="777240"/>
          </a:xfrm>
          <a:prstGeom prst="rect">
            <a:avLst/>
          </a:prstGeom>
          <a:solidFill>
            <a:srgbClr val="EAF4EE"/>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10" name="TextBox 311"/>
          <p:cNvSpPr txBox="1"/>
          <p:nvPr/>
        </p:nvSpPr>
        <p:spPr>
          <a:xfrm>
            <a:off x="987552" y="1965960"/>
            <a:ext cx="2800000" cy="777240"/>
          </a:xfrm>
          <a:prstGeom prst="rect">
            <a:avLst/>
          </a:prstGeom>
          <a:noFill/>
        </p:spPr>
        <p:txBody>
          <a:bodyPr wrap="square" lIns="0" tIns="0" rIns="0" bIns="0" anchor="ctr"/>
          <a:lstStyle/>
          <a:p>
            <a:pPr algn="l"/>
            <a:r>
              <a:rPr sz="1400" b="1">
                <a:solidFill>
                  <a:srgbClr val="161616"/>
                </a:solidFill>
                <a:latin typeface="Verdana Pro Semibold"/>
              </a:rPr>
              <a:t>Your knowledge base</a:t>
            </a:r>
          </a:p>
        </p:txBody>
      </p:sp>
      <p:sp>
        <p:nvSpPr>
          <p:cNvPr id="312" name="TextBox 313"/>
          <p:cNvSpPr txBox="1"/>
          <p:nvPr/>
        </p:nvSpPr>
        <p:spPr>
          <a:xfrm>
            <a:off x="3657600" y="1965960"/>
            <a:ext cx="2100000" cy="777240"/>
          </a:xfrm>
          <a:prstGeom prst="rect">
            <a:avLst/>
          </a:prstGeom>
          <a:noFill/>
        </p:spPr>
        <p:txBody>
          <a:bodyPr wrap="square" lIns="0" tIns="0" rIns="0" bIns="0" anchor="ctr"/>
          <a:lstStyle/>
          <a:p>
            <a:pPr algn="l"/>
            <a:r>
              <a:rPr sz="1150" b="1">
                <a:solidFill>
                  <a:srgbClr val="1E7F4F"/>
                </a:solidFill>
                <a:latin typeface="Verdana Pro Semibold"/>
              </a:rPr>
              <a:t>check here first</a:t>
            </a:r>
          </a:p>
        </p:txBody>
      </p:sp>
      <p:sp>
        <p:nvSpPr>
          <p:cNvPr id="314" name="TextBox 315"/>
          <p:cNvSpPr txBox="1"/>
          <p:nvPr/>
        </p:nvSpPr>
        <p:spPr>
          <a:xfrm>
            <a:off x="6035040" y="1965960"/>
            <a:ext cx="5300000" cy="777240"/>
          </a:xfrm>
          <a:prstGeom prst="rect">
            <a:avLst/>
          </a:prstGeom>
          <a:noFill/>
        </p:spPr>
        <p:txBody>
          <a:bodyPr wrap="square" lIns="0" tIns="0" rIns="0" bIns="0" anchor="ctr"/>
          <a:lstStyle/>
          <a:p>
            <a:pPr algn="l">
              <a:lnSpc>
                <a:spcPct val="112000"/>
              </a:lnSpc>
            </a:pPr>
            <a:r>
              <a:rPr sz="1100" b="0">
                <a:solidFill>
                  <a:srgbClr val="5B7383"/>
                </a:solidFill>
                <a:latin typeface="Verdana Pro Light"/>
              </a:rPr>
              <a:t>The catalog, the lineage, the approved pattern library, the contracts. It knows what your columns are meant to hold and what was already decided — so it is the first place the agent looks, not the last.</a:t>
            </a:r>
          </a:p>
        </p:txBody>
      </p:sp>
      <p:sp>
        <p:nvSpPr>
          <p:cNvPr id="316" name="Shape 317"/>
          <p:cNvSpPr/>
          <p:nvPr/>
        </p:nvSpPr>
        <p:spPr>
          <a:xfrm>
            <a:off x="621792" y="2834640"/>
            <a:ext cx="10948416" cy="777240"/>
          </a:xfrm>
          <a:prstGeom prst="rect">
            <a:avLst/>
          </a:prstGeom>
          <a:solidFill>
            <a:srgbClr val="EAF4EE"/>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18" name="TextBox 319"/>
          <p:cNvSpPr txBox="1"/>
          <p:nvPr/>
        </p:nvSpPr>
        <p:spPr>
          <a:xfrm>
            <a:off x="987552" y="2834640"/>
            <a:ext cx="2800000" cy="777240"/>
          </a:xfrm>
          <a:prstGeom prst="rect">
            <a:avLst/>
          </a:prstGeom>
          <a:noFill/>
        </p:spPr>
        <p:txBody>
          <a:bodyPr wrap="square" lIns="0" tIns="0" rIns="0" bIns="0" anchor="ctr"/>
          <a:lstStyle/>
          <a:p>
            <a:pPr algn="l"/>
            <a:r>
              <a:rPr sz="1400" b="1">
                <a:solidFill>
                  <a:srgbClr val="161616"/>
                </a:solidFill>
                <a:latin typeface="Verdana Pro Semibold"/>
              </a:rPr>
              <a:t>Published registers</a:t>
            </a:r>
          </a:p>
        </p:txBody>
      </p:sp>
      <p:sp>
        <p:nvSpPr>
          <p:cNvPr id="320" name="TextBox 321"/>
          <p:cNvSpPr txBox="1"/>
          <p:nvPr/>
        </p:nvSpPr>
        <p:spPr>
          <a:xfrm>
            <a:off x="3657600" y="2834640"/>
            <a:ext cx="2100000" cy="777240"/>
          </a:xfrm>
          <a:prstGeom prst="rect">
            <a:avLst/>
          </a:prstGeom>
          <a:noFill/>
        </p:spPr>
        <p:txBody>
          <a:bodyPr wrap="square" lIns="0" tIns="0" rIns="0" bIns="0" anchor="ctr"/>
          <a:lstStyle/>
          <a:p>
            <a:pPr algn="l"/>
            <a:r>
              <a:rPr sz="1150" b="1">
                <a:solidFill>
                  <a:srgbClr val="1E7F4F"/>
                </a:solidFill>
                <a:latin typeface="Verdana Pro Semibold"/>
              </a:rPr>
              <a:t>authoritative, external</a:t>
            </a:r>
          </a:p>
        </p:txBody>
      </p:sp>
      <p:sp>
        <p:nvSpPr>
          <p:cNvPr id="322" name="TextBox 323"/>
          <p:cNvSpPr txBox="1"/>
          <p:nvPr/>
        </p:nvSpPr>
        <p:spPr>
          <a:xfrm>
            <a:off x="6035040" y="2834640"/>
            <a:ext cx="5300000" cy="777240"/>
          </a:xfrm>
          <a:prstGeom prst="rect">
            <a:avLst/>
          </a:prstGeom>
          <a:noFill/>
        </p:spPr>
        <p:txBody>
          <a:bodyPr wrap="square" lIns="0" tIns="0" rIns="0" bIns="0" anchor="ctr"/>
          <a:lstStyle/>
          <a:p>
            <a:pPr algn="l">
              <a:lnSpc>
                <a:spcPct val="112000"/>
              </a:lnSpc>
            </a:pPr>
            <a:r>
              <a:rPr sz="1100" b="0">
                <a:solidFill>
                  <a:srgbClr val="5B7383"/>
                </a:solidFill>
                <a:latin typeface="Verdana Pro Light"/>
              </a:rPr>
              <a:t>IATA and ICAO codes, national aircraft registers, the IATA delay-code list. Dated, citable, and the change itself is published — the right second stop when the answer is not in-house.</a:t>
            </a:r>
          </a:p>
        </p:txBody>
      </p:sp>
      <p:sp>
        <p:nvSpPr>
          <p:cNvPr id="324" name="Shape 325"/>
          <p:cNvSpPr/>
          <p:nvPr/>
        </p:nvSpPr>
        <p:spPr>
          <a:xfrm>
            <a:off x="621792" y="3703320"/>
            <a:ext cx="10948416" cy="777240"/>
          </a:xfrm>
          <a:prstGeom prst="rect">
            <a:avLst/>
          </a:prstGeom>
          <a:solidFill>
            <a:srgbClr val="FBF2E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26" name="TextBox 327"/>
          <p:cNvSpPr txBox="1"/>
          <p:nvPr/>
        </p:nvSpPr>
        <p:spPr>
          <a:xfrm>
            <a:off x="987552" y="3703320"/>
            <a:ext cx="2800000" cy="777240"/>
          </a:xfrm>
          <a:prstGeom prst="rect">
            <a:avLst/>
          </a:prstGeom>
          <a:noFill/>
        </p:spPr>
        <p:txBody>
          <a:bodyPr wrap="square" lIns="0" tIns="0" rIns="0" bIns="0" anchor="ctr"/>
          <a:lstStyle/>
          <a:p>
            <a:pPr algn="l"/>
            <a:r>
              <a:rPr sz="1400" b="1">
                <a:solidFill>
                  <a:srgbClr val="161616"/>
                </a:solidFill>
                <a:latin typeface="Verdana Pro Semibold"/>
              </a:rPr>
              <a:t>The open internet</a:t>
            </a:r>
          </a:p>
        </p:txBody>
      </p:sp>
      <p:sp>
        <p:nvSpPr>
          <p:cNvPr id="328" name="TextBox 329"/>
          <p:cNvSpPr txBox="1"/>
          <p:nvPr/>
        </p:nvSpPr>
        <p:spPr>
          <a:xfrm>
            <a:off x="3657600" y="3703320"/>
            <a:ext cx="2100000" cy="777240"/>
          </a:xfrm>
          <a:prstGeom prst="rect">
            <a:avLst/>
          </a:prstGeom>
          <a:noFill/>
        </p:spPr>
        <p:txBody>
          <a:bodyPr wrap="square" lIns="0" tIns="0" rIns="0" bIns="0" anchor="ctr"/>
          <a:lstStyle/>
          <a:p>
            <a:pPr algn="l"/>
            <a:r>
              <a:rPr sz="1150" b="1">
                <a:solidFill>
                  <a:srgbClr val="9A6400"/>
                </a:solidFill>
                <a:latin typeface="Verdana Pro Semibold"/>
              </a:rPr>
              <a:t>plausible, unverified</a:t>
            </a:r>
          </a:p>
        </p:txBody>
      </p:sp>
      <p:sp>
        <p:nvSpPr>
          <p:cNvPr id="330" name="TextBox 331"/>
          <p:cNvSpPr txBox="1"/>
          <p:nvPr/>
        </p:nvSpPr>
        <p:spPr>
          <a:xfrm>
            <a:off x="6035040" y="3703320"/>
            <a:ext cx="5300000" cy="777240"/>
          </a:xfrm>
          <a:prstGeom prst="rect">
            <a:avLst/>
          </a:prstGeom>
          <a:noFill/>
        </p:spPr>
        <p:txBody>
          <a:bodyPr wrap="square" lIns="0" tIns="0" rIns="0" bIns="0" anchor="ctr"/>
          <a:lstStyle/>
          <a:p>
            <a:pPr algn="l">
              <a:lnSpc>
                <a:spcPct val="112000"/>
              </a:lnSpc>
            </a:pPr>
            <a:r>
              <a:rPr sz="1100" b="0">
                <a:solidFill>
                  <a:srgbClr val="5B7383"/>
                </a:solidFill>
                <a:latin typeface="Verdana Pro Light"/>
              </a:rPr>
              <a:t>Useful for orientation and for explaining an unfamiliar value. Never sufficient on its own to justify writing to your warehouse.</a:t>
            </a:r>
          </a:p>
        </p:txBody>
      </p:sp>
      <p:sp>
        <p:nvSpPr>
          <p:cNvPr id="332" name="Shape 333"/>
          <p:cNvSpPr/>
          <p:nvPr/>
        </p:nvSpPr>
        <p:spPr>
          <a:xfrm>
            <a:off x="621792" y="4572000"/>
            <a:ext cx="10948416" cy="777240"/>
          </a:xfrm>
          <a:prstGeom prst="rect">
            <a:avLst/>
          </a:prstGeom>
          <a:solidFill>
            <a:srgbClr val="FDEEEE"/>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34" name="TextBox 335"/>
          <p:cNvSpPr txBox="1"/>
          <p:nvPr/>
        </p:nvSpPr>
        <p:spPr>
          <a:xfrm>
            <a:off x="987552" y="4572000"/>
            <a:ext cx="2800000" cy="777240"/>
          </a:xfrm>
          <a:prstGeom prst="rect">
            <a:avLst/>
          </a:prstGeom>
          <a:noFill/>
        </p:spPr>
        <p:txBody>
          <a:bodyPr wrap="square" lIns="0" tIns="0" rIns="0" bIns="0" anchor="ctr"/>
          <a:lstStyle/>
          <a:p>
            <a:pPr algn="l"/>
            <a:r>
              <a:rPr sz="1400" b="1">
                <a:solidFill>
                  <a:srgbClr val="161616"/>
                </a:solidFill>
                <a:latin typeface="Verdana Pro Semibold"/>
              </a:rPr>
              <a:t>The model's own memory</a:t>
            </a:r>
          </a:p>
        </p:txBody>
      </p:sp>
      <p:sp>
        <p:nvSpPr>
          <p:cNvPr id="336" name="TextBox 337"/>
          <p:cNvSpPr txBox="1"/>
          <p:nvPr/>
        </p:nvSpPr>
        <p:spPr>
          <a:xfrm>
            <a:off x="3657600" y="4572000"/>
            <a:ext cx="2100000" cy="777240"/>
          </a:xfrm>
          <a:prstGeom prst="rect">
            <a:avLst/>
          </a:prstGeom>
          <a:noFill/>
        </p:spPr>
        <p:txBody>
          <a:bodyPr wrap="square" lIns="0" tIns="0" rIns="0" bIns="0" anchor="ctr"/>
          <a:lstStyle/>
          <a:p>
            <a:pPr algn="l"/>
            <a:r>
              <a:rPr sz="1150" b="1">
                <a:solidFill>
                  <a:srgbClr val="C62828"/>
                </a:solidFill>
                <a:latin typeface="Verdana Pro Semibold"/>
              </a:rPr>
              <a:t>weakest of the four</a:t>
            </a:r>
          </a:p>
        </p:txBody>
      </p:sp>
      <p:sp>
        <p:nvSpPr>
          <p:cNvPr id="338" name="TextBox 339"/>
          <p:cNvSpPr txBox="1"/>
          <p:nvPr/>
        </p:nvSpPr>
        <p:spPr>
          <a:xfrm>
            <a:off x="6035040" y="4572000"/>
            <a:ext cx="5300000" cy="777240"/>
          </a:xfrm>
          <a:prstGeom prst="rect">
            <a:avLst/>
          </a:prstGeom>
          <a:noFill/>
        </p:spPr>
        <p:txBody>
          <a:bodyPr wrap="square" lIns="0" tIns="0" rIns="0" bIns="0" anchor="ctr"/>
          <a:lstStyle/>
          <a:p>
            <a:pPr algn="l">
              <a:lnSpc>
                <a:spcPct val="112000"/>
              </a:lnSpc>
            </a:pPr>
            <a:r>
              <a:rPr sz="1100" b="0">
                <a:solidFill>
                  <a:srgbClr val="5B7383"/>
                </a:solidFill>
                <a:latin typeface="Verdana Pro Light"/>
              </a:rPr>
              <a:t>An agent that says LOWW is Vienna without citing anything looks identical to one that looked it up. This is the tier nobody lists, and the one that causes the incidents.</a:t>
            </a:r>
          </a:p>
        </p:txBody>
      </p:sp>
      <p:sp>
        <p:nvSpPr>
          <p:cNvPr id="340" name="Shape 341"/>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42" name="TextBox 343"/>
          <p:cNvSpPr txBox="1"/>
          <p:nvPr/>
        </p:nvSpPr>
        <p:spPr>
          <a:xfrm>
            <a:off x="1981200" y="5578560"/>
            <a:ext cx="8229600" cy="5000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Ask your own knowledge base first. An agent that cannot name its source does not get to act.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TextBox 345"/>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How agents fit</a:t>
            </a:r>
          </a:p>
        </p:txBody>
      </p:sp>
      <p:sp>
        <p:nvSpPr>
          <p:cNvPr id="346" name="TextBox 347"/>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What decides whether it may act alone</a:t>
            </a:r>
          </a:p>
        </p:txBody>
      </p:sp>
      <p:pic>
        <p:nvPicPr>
          <p:cNvPr id="348" name="Picture 349" descr="logo_black.png"/>
          <p:cNvPicPr>
            <a:picLocks noChangeAspect="1"/>
          </p:cNvPicPr>
          <p:nvPr/>
        </p:nvPicPr>
        <p:blipFill>
          <a:blip r:embed="rId3"/>
          <a:stretch>
            <a:fillRect/>
          </a:stretch>
        </p:blipFill>
        <p:spPr>
          <a:xfrm>
            <a:off x="621792" y="6327648"/>
            <a:ext cx="811952" cy="310896"/>
          </a:xfrm>
          <a:prstGeom prst="rect">
            <a:avLst/>
          </a:prstGeom>
        </p:spPr>
      </p:pic>
      <p:sp>
        <p:nvSpPr>
          <p:cNvPr id="350" name="TextBox 351"/>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352" name="TextBox 353"/>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354" name="TextBox 355"/>
          <p:cNvSpPr txBox="1"/>
          <p:nvPr/>
        </p:nvSpPr>
        <p:spPr>
          <a:xfrm>
            <a:off x="11109960" y="6345936"/>
            <a:ext cx="457200" cy="274320"/>
          </a:xfrm>
          <a:prstGeom prst="rect">
            <a:avLst/>
          </a:prstGeom>
          <a:noFill/>
        </p:spPr>
        <p:txBody>
          <a:bodyPr wrap="square" lIns="0" tIns="0" rIns="0" bIns="0" anchor="ctr"/>
          <a:lstStyle/>
          <a:p>
            <a:pPr algn="r"/>
            <a:r>
              <a:rPr sz="1050" b="0" dirty="0">
                <a:solidFill>
                  <a:srgbClr val="016BFF"/>
                </a:solidFill>
                <a:latin typeface="Verdana Pro Light"/>
              </a:rPr>
              <a:t>2</a:t>
            </a:r>
            <a:r>
              <a:rPr lang="de-AT" sz="1050" b="0" dirty="0">
                <a:solidFill>
                  <a:srgbClr val="016BFF"/>
                </a:solidFill>
                <a:latin typeface="Verdana Pro Light"/>
              </a:rPr>
              <a:t>0</a:t>
            </a:r>
            <a:endParaRPr sz="1050" b="0" dirty="0">
              <a:solidFill>
                <a:srgbClr val="016BFF"/>
              </a:solidFill>
              <a:latin typeface="Verdana Pro Light"/>
            </a:endParaRPr>
          </a:p>
        </p:txBody>
      </p:sp>
      <p:sp>
        <p:nvSpPr>
          <p:cNvPr id="356" name="TextBox 357"/>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Four questions, all of them checkable — and none of them is the model's own confidence.</a:t>
            </a:r>
          </a:p>
        </p:txBody>
      </p:sp>
      <p:sp>
        <p:nvSpPr>
          <p:cNvPr id="358" name="Shape 359"/>
          <p:cNvSpPr/>
          <p:nvPr/>
        </p:nvSpPr>
        <p:spPr>
          <a:xfrm>
            <a:off x="621792" y="1965960"/>
            <a:ext cx="2599104" cy="347472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60" name="TextBox 361"/>
          <p:cNvSpPr txBox="1"/>
          <p:nvPr/>
        </p:nvSpPr>
        <p:spPr>
          <a:xfrm>
            <a:off x="896112" y="2194560"/>
            <a:ext cx="2011680" cy="365760"/>
          </a:xfrm>
          <a:prstGeom prst="rect">
            <a:avLst/>
          </a:prstGeom>
          <a:noFill/>
        </p:spPr>
        <p:txBody>
          <a:bodyPr wrap="square" lIns="0" tIns="0" rIns="0" bIns="0" anchor="t"/>
          <a:lstStyle/>
          <a:p>
            <a:pPr algn="l"/>
            <a:r>
              <a:rPr sz="1800" b="1">
                <a:solidFill>
                  <a:srgbClr val="016BFF"/>
                </a:solidFill>
                <a:latin typeface="Verdana Pro Semibold"/>
              </a:rPr>
              <a:t>01</a:t>
            </a:r>
          </a:p>
        </p:txBody>
      </p:sp>
      <p:sp>
        <p:nvSpPr>
          <p:cNvPr id="362" name="TextBox 363"/>
          <p:cNvSpPr txBox="1"/>
          <p:nvPr/>
        </p:nvSpPr>
        <p:spPr>
          <a:xfrm>
            <a:off x="896112" y="2697480"/>
            <a:ext cx="2050464" cy="685800"/>
          </a:xfrm>
          <a:prstGeom prst="rect">
            <a:avLst/>
          </a:prstGeom>
          <a:noFill/>
        </p:spPr>
        <p:txBody>
          <a:bodyPr wrap="square" lIns="0" tIns="0" rIns="0" bIns="0" anchor="t"/>
          <a:lstStyle/>
          <a:p>
            <a:pPr algn="l">
              <a:lnSpc>
                <a:spcPct val="112000"/>
              </a:lnSpc>
            </a:pPr>
            <a:r>
              <a:rPr sz="1350" b="1">
                <a:solidFill>
                  <a:srgbClr val="161616"/>
                </a:solidFill>
                <a:latin typeface="Verdana Pro Semibold"/>
              </a:rPr>
              <a:t>Has this exact pattern been approved before?</a:t>
            </a:r>
          </a:p>
        </p:txBody>
      </p:sp>
      <p:sp>
        <p:nvSpPr>
          <p:cNvPr id="364" name="TextBox 365"/>
          <p:cNvSpPr txBox="1"/>
          <p:nvPr/>
        </p:nvSpPr>
        <p:spPr>
          <a:xfrm>
            <a:off x="896112" y="3474720"/>
            <a:ext cx="2050464" cy="1828800"/>
          </a:xfrm>
          <a:prstGeom prst="rect">
            <a:avLst/>
          </a:prstGeom>
          <a:noFill/>
        </p:spPr>
        <p:txBody>
          <a:bodyPr wrap="square" lIns="0" tIns="0" rIns="0" bIns="0" anchor="t"/>
          <a:lstStyle/>
          <a:p>
            <a:pPr algn="l">
              <a:lnSpc>
                <a:spcPct val="116000"/>
              </a:lnSpc>
            </a:pPr>
            <a:r>
              <a:rPr sz="1100" b="0">
                <a:solidFill>
                  <a:srgbClr val="5B7383"/>
                </a:solidFill>
                <a:latin typeface="Verdana Pro Light"/>
              </a:rPr>
              <a:t>A Steward approved LOWW → VIE once, so the tenth occurrence is a lookup rather than a judgement. The strongest single signal — and the agent can still act without it when the other three are unambiguous.</a:t>
            </a:r>
          </a:p>
        </p:txBody>
      </p:sp>
      <p:sp>
        <p:nvSpPr>
          <p:cNvPr id="366" name="Shape 367"/>
          <p:cNvSpPr/>
          <p:nvPr/>
        </p:nvSpPr>
        <p:spPr>
          <a:xfrm>
            <a:off x="3403776" y="1965960"/>
            <a:ext cx="2599104" cy="34747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68" name="TextBox 369"/>
          <p:cNvSpPr txBox="1"/>
          <p:nvPr/>
        </p:nvSpPr>
        <p:spPr>
          <a:xfrm>
            <a:off x="3678096" y="2194560"/>
            <a:ext cx="2011680" cy="365760"/>
          </a:xfrm>
          <a:prstGeom prst="rect">
            <a:avLst/>
          </a:prstGeom>
          <a:noFill/>
        </p:spPr>
        <p:txBody>
          <a:bodyPr wrap="square" lIns="0" tIns="0" rIns="0" bIns="0" anchor="t"/>
          <a:lstStyle/>
          <a:p>
            <a:pPr algn="l"/>
            <a:r>
              <a:rPr sz="1800" b="1">
                <a:solidFill>
                  <a:srgbClr val="016BFF"/>
                </a:solidFill>
                <a:latin typeface="Verdana Pro Semibold"/>
              </a:rPr>
              <a:t>02</a:t>
            </a:r>
          </a:p>
        </p:txBody>
      </p:sp>
      <p:sp>
        <p:nvSpPr>
          <p:cNvPr id="370" name="TextBox 371"/>
          <p:cNvSpPr txBox="1"/>
          <p:nvPr/>
        </p:nvSpPr>
        <p:spPr>
          <a:xfrm>
            <a:off x="3678096" y="2697480"/>
            <a:ext cx="2050464" cy="685800"/>
          </a:xfrm>
          <a:prstGeom prst="rect">
            <a:avLst/>
          </a:prstGeom>
          <a:noFill/>
        </p:spPr>
        <p:txBody>
          <a:bodyPr wrap="square" lIns="0" tIns="0" rIns="0" bIns="0" anchor="t"/>
          <a:lstStyle/>
          <a:p>
            <a:pPr algn="l">
              <a:lnSpc>
                <a:spcPct val="112000"/>
              </a:lnSpc>
            </a:pPr>
            <a:r>
              <a:rPr sz="1350" b="1">
                <a:solidFill>
                  <a:srgbClr val="161616"/>
                </a:solidFill>
                <a:latin typeface="Verdana Pro Semibold"/>
              </a:rPr>
              <a:t>Is the action reversible?</a:t>
            </a:r>
          </a:p>
        </p:txBody>
      </p:sp>
      <p:sp>
        <p:nvSpPr>
          <p:cNvPr id="372" name="TextBox 373"/>
          <p:cNvSpPr txBox="1"/>
          <p:nvPr/>
        </p:nvSpPr>
        <p:spPr>
          <a:xfrm>
            <a:off x="3678096" y="3474720"/>
            <a:ext cx="2050464" cy="1828800"/>
          </a:xfrm>
          <a:prstGeom prst="rect">
            <a:avLst/>
          </a:prstGeom>
          <a:noFill/>
        </p:spPr>
        <p:txBody>
          <a:bodyPr wrap="square" lIns="0" tIns="0" rIns="0" bIns="0" anchor="t"/>
          <a:lstStyle/>
          <a:p>
            <a:pPr algn="l">
              <a:lnSpc>
                <a:spcPct val="116000"/>
              </a:lnSpc>
            </a:pPr>
            <a:r>
              <a:rPr sz="1100" b="0">
                <a:solidFill>
                  <a:srgbClr val="5B7383"/>
                </a:solidFill>
                <a:latin typeface="Verdana Pro Light"/>
              </a:rPr>
              <a:t>Quarantine, hold, re-request and reload can all be undone. Overwriting a value in place cannot. Reversible actions earn far more freedom.</a:t>
            </a:r>
          </a:p>
        </p:txBody>
      </p:sp>
      <p:sp>
        <p:nvSpPr>
          <p:cNvPr id="374" name="Shape 375"/>
          <p:cNvSpPr/>
          <p:nvPr/>
        </p:nvSpPr>
        <p:spPr>
          <a:xfrm>
            <a:off x="6185760" y="1965960"/>
            <a:ext cx="2599104" cy="347472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76" name="TextBox 377"/>
          <p:cNvSpPr txBox="1"/>
          <p:nvPr/>
        </p:nvSpPr>
        <p:spPr>
          <a:xfrm>
            <a:off x="6460080" y="2194560"/>
            <a:ext cx="2011680" cy="365760"/>
          </a:xfrm>
          <a:prstGeom prst="rect">
            <a:avLst/>
          </a:prstGeom>
          <a:noFill/>
        </p:spPr>
        <p:txBody>
          <a:bodyPr wrap="square" lIns="0" tIns="0" rIns="0" bIns="0" anchor="t"/>
          <a:lstStyle/>
          <a:p>
            <a:pPr algn="l"/>
            <a:r>
              <a:rPr sz="1800" b="1">
                <a:solidFill>
                  <a:srgbClr val="016BFF"/>
                </a:solidFill>
                <a:latin typeface="Verdana Pro Semibold"/>
              </a:rPr>
              <a:t>03</a:t>
            </a:r>
          </a:p>
        </p:txBody>
      </p:sp>
      <p:sp>
        <p:nvSpPr>
          <p:cNvPr id="378" name="TextBox 379"/>
          <p:cNvSpPr txBox="1"/>
          <p:nvPr/>
        </p:nvSpPr>
        <p:spPr>
          <a:xfrm>
            <a:off x="6460080" y="2697480"/>
            <a:ext cx="2050464" cy="685800"/>
          </a:xfrm>
          <a:prstGeom prst="rect">
            <a:avLst/>
          </a:prstGeom>
          <a:noFill/>
        </p:spPr>
        <p:txBody>
          <a:bodyPr wrap="square" lIns="0" tIns="0" rIns="0" bIns="0" anchor="t"/>
          <a:lstStyle/>
          <a:p>
            <a:pPr algn="l">
              <a:lnSpc>
                <a:spcPct val="112000"/>
              </a:lnSpc>
            </a:pPr>
            <a:r>
              <a:rPr sz="1350" b="1">
                <a:solidFill>
                  <a:srgbClr val="161616"/>
                </a:solidFill>
                <a:latin typeface="Verdana Pro Semibold"/>
              </a:rPr>
              <a:t>Is the source authoritative and dated?</a:t>
            </a:r>
          </a:p>
        </p:txBody>
      </p:sp>
      <p:sp>
        <p:nvSpPr>
          <p:cNvPr id="380" name="TextBox 381"/>
          <p:cNvSpPr txBox="1"/>
          <p:nvPr/>
        </p:nvSpPr>
        <p:spPr>
          <a:xfrm>
            <a:off x="6460080" y="3474720"/>
            <a:ext cx="2050464" cy="1828800"/>
          </a:xfrm>
          <a:prstGeom prst="rect">
            <a:avLst/>
          </a:prstGeom>
          <a:noFill/>
        </p:spPr>
        <p:txBody>
          <a:bodyPr wrap="square" lIns="0" tIns="0" rIns="0" bIns="0" anchor="t"/>
          <a:lstStyle/>
          <a:p>
            <a:pPr algn="l">
              <a:lnSpc>
                <a:spcPct val="116000"/>
              </a:lnSpc>
            </a:pPr>
            <a:r>
              <a:rPr sz="1100" b="0">
                <a:solidFill>
                  <a:srgbClr val="5B7383"/>
                </a:solidFill>
                <a:latin typeface="Verdana Pro Light"/>
              </a:rPr>
              <a:t>A published register with a publication date justifies acting. A plausible answer with no citation does not, however confident it sounds.</a:t>
            </a:r>
          </a:p>
        </p:txBody>
      </p:sp>
      <p:sp>
        <p:nvSpPr>
          <p:cNvPr id="382" name="Shape 383"/>
          <p:cNvSpPr/>
          <p:nvPr/>
        </p:nvSpPr>
        <p:spPr>
          <a:xfrm>
            <a:off x="8967744" y="1965960"/>
            <a:ext cx="2599104" cy="34747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84" name="TextBox 385"/>
          <p:cNvSpPr txBox="1"/>
          <p:nvPr/>
        </p:nvSpPr>
        <p:spPr>
          <a:xfrm>
            <a:off x="9242064" y="2194560"/>
            <a:ext cx="2011680" cy="365760"/>
          </a:xfrm>
          <a:prstGeom prst="rect">
            <a:avLst/>
          </a:prstGeom>
          <a:noFill/>
        </p:spPr>
        <p:txBody>
          <a:bodyPr wrap="square" lIns="0" tIns="0" rIns="0" bIns="0" anchor="t"/>
          <a:lstStyle/>
          <a:p>
            <a:pPr algn="l"/>
            <a:r>
              <a:rPr sz="1800" b="1">
                <a:solidFill>
                  <a:srgbClr val="016BFF"/>
                </a:solidFill>
                <a:latin typeface="Verdana Pro Semibold"/>
              </a:rPr>
              <a:t>04</a:t>
            </a:r>
          </a:p>
        </p:txBody>
      </p:sp>
      <p:sp>
        <p:nvSpPr>
          <p:cNvPr id="386" name="TextBox 387"/>
          <p:cNvSpPr txBox="1"/>
          <p:nvPr/>
        </p:nvSpPr>
        <p:spPr>
          <a:xfrm>
            <a:off x="9242064" y="2697480"/>
            <a:ext cx="2050464" cy="685800"/>
          </a:xfrm>
          <a:prstGeom prst="rect">
            <a:avLst/>
          </a:prstGeom>
          <a:noFill/>
        </p:spPr>
        <p:txBody>
          <a:bodyPr wrap="square" lIns="0" tIns="0" rIns="0" bIns="0" anchor="t"/>
          <a:lstStyle/>
          <a:p>
            <a:pPr algn="l">
              <a:lnSpc>
                <a:spcPct val="112000"/>
              </a:lnSpc>
            </a:pPr>
            <a:r>
              <a:rPr sz="1350" b="1">
                <a:solidFill>
                  <a:srgbClr val="161616"/>
                </a:solidFill>
                <a:latin typeface="Verdana Pro Semibold"/>
              </a:rPr>
              <a:t>How large is the blast radius?</a:t>
            </a:r>
          </a:p>
        </p:txBody>
      </p:sp>
      <p:sp>
        <p:nvSpPr>
          <p:cNvPr id="388" name="TextBox 389"/>
          <p:cNvSpPr txBox="1"/>
          <p:nvPr/>
        </p:nvSpPr>
        <p:spPr>
          <a:xfrm>
            <a:off x="9242064" y="3474720"/>
            <a:ext cx="2050464" cy="1828800"/>
          </a:xfrm>
          <a:prstGeom prst="rect">
            <a:avLst/>
          </a:prstGeom>
          <a:noFill/>
        </p:spPr>
        <p:txBody>
          <a:bodyPr wrap="square" lIns="0" tIns="0" rIns="0" bIns="0" anchor="t"/>
          <a:lstStyle/>
          <a:p>
            <a:pPr algn="l">
              <a:lnSpc>
                <a:spcPct val="116000"/>
              </a:lnSpc>
            </a:pPr>
            <a:r>
              <a:rPr sz="1100" b="0">
                <a:solidFill>
                  <a:srgbClr val="5B7383"/>
                </a:solidFill>
                <a:latin typeface="Verdana Pro Light"/>
              </a:rPr>
              <a:t>One quarantined row is not the same as a dimension every mart joins to, which is not the same as a figure already filed with a regulator.</a:t>
            </a:r>
          </a:p>
        </p:txBody>
      </p:sp>
      <p:sp>
        <p:nvSpPr>
          <p:cNvPr id="390" name="Shape 391"/>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392" name="TextBox 393"/>
          <p:cNvSpPr txBox="1"/>
          <p:nvPr/>
        </p:nvSpPr>
        <p:spPr>
          <a:xfrm>
            <a:off x="1981200" y="5578560"/>
            <a:ext cx="8229600" cy="5000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Precedent is neither required nor sufficient. Unambiguous evidence can carry a reversible action without it, and a wide blast radius stops it even with it.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TextBox 479"/>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How agents fit</a:t>
            </a:r>
          </a:p>
        </p:txBody>
      </p:sp>
      <p:sp>
        <p:nvSpPr>
          <p:cNvPr id="480" name="TextBox 481"/>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How much freedom each data product gets</a:t>
            </a:r>
          </a:p>
        </p:txBody>
      </p:sp>
      <p:pic>
        <p:nvPicPr>
          <p:cNvPr id="482" name="Picture 483" descr="logo_black.png"/>
          <p:cNvPicPr>
            <a:picLocks noChangeAspect="1"/>
          </p:cNvPicPr>
          <p:nvPr/>
        </p:nvPicPr>
        <p:blipFill>
          <a:blip r:embed="rId3"/>
          <a:stretch>
            <a:fillRect/>
          </a:stretch>
        </p:blipFill>
        <p:spPr>
          <a:xfrm>
            <a:off x="621792" y="6327648"/>
            <a:ext cx="811952" cy="310896"/>
          </a:xfrm>
          <a:prstGeom prst="rect">
            <a:avLst/>
          </a:prstGeom>
        </p:spPr>
      </p:pic>
      <p:sp>
        <p:nvSpPr>
          <p:cNvPr id="484" name="TextBox 485"/>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486" name="TextBox 487"/>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488" name="TextBox 489"/>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016BFF"/>
                </a:solidFill>
                <a:latin typeface="Verdana Pro Light"/>
              </a:rPr>
              <a:t>21</a:t>
            </a:r>
            <a:endParaRPr sz="1050" b="0" dirty="0">
              <a:solidFill>
                <a:srgbClr val="016BFF"/>
              </a:solidFill>
              <a:latin typeface="Verdana Pro Light"/>
            </a:endParaRPr>
          </a:p>
        </p:txBody>
      </p:sp>
      <p:sp>
        <p:nvSpPr>
          <p:cNvPr id="490" name="TextBox 491"/>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Identical agent, identical trigger, three different answers — because the organisation and the data are not.</a:t>
            </a:r>
          </a:p>
        </p:txBody>
      </p:sp>
      <p:sp>
        <p:nvSpPr>
          <p:cNvPr id="492" name="Shape 493"/>
          <p:cNvSpPr/>
          <p:nvPr/>
        </p:nvSpPr>
        <p:spPr>
          <a:xfrm>
            <a:off x="621792" y="1965960"/>
            <a:ext cx="3465576" cy="36118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494" name="TextBox 495"/>
          <p:cNvSpPr txBox="1"/>
          <p:nvPr/>
        </p:nvSpPr>
        <p:spPr>
          <a:xfrm>
            <a:off x="896112" y="2176272"/>
            <a:ext cx="2916936" cy="548640"/>
          </a:xfrm>
          <a:prstGeom prst="rect">
            <a:avLst/>
          </a:prstGeom>
          <a:noFill/>
        </p:spPr>
        <p:txBody>
          <a:bodyPr wrap="square" lIns="0" tIns="0" rIns="0" bIns="0" anchor="t"/>
          <a:lstStyle/>
          <a:p>
            <a:pPr algn="l">
              <a:lnSpc>
                <a:spcPct val="112000"/>
              </a:lnSpc>
            </a:pPr>
            <a:r>
              <a:rPr sz="1400" b="1">
                <a:solidFill>
                  <a:srgbClr val="161616"/>
                </a:solidFill>
                <a:latin typeface="Verdana Pro Semibold"/>
              </a:rPr>
              <a:t>A regulated bank</a:t>
            </a:r>
          </a:p>
        </p:txBody>
      </p:sp>
      <p:sp>
        <p:nvSpPr>
          <p:cNvPr id="496" name="Shape 497"/>
          <p:cNvSpPr/>
          <p:nvPr/>
        </p:nvSpPr>
        <p:spPr>
          <a:xfrm>
            <a:off x="896112"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498" name="TextBox 499"/>
          <p:cNvSpPr txBox="1"/>
          <p:nvPr/>
        </p:nvSpPr>
        <p:spPr>
          <a:xfrm>
            <a:off x="1225296"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Propose only, never apply</a:t>
            </a:r>
          </a:p>
        </p:txBody>
      </p:sp>
      <p:sp>
        <p:nvSpPr>
          <p:cNvPr id="500" name="TextBox 501"/>
          <p:cNvSpPr txBox="1"/>
          <p:nvPr/>
        </p:nvSpPr>
        <p:spPr>
          <a:xfrm>
            <a:off x="1225296"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every action waits for a named approver</a:t>
            </a:r>
          </a:p>
        </p:txBody>
      </p:sp>
      <p:sp>
        <p:nvSpPr>
          <p:cNvPr id="502" name="Shape 503"/>
          <p:cNvSpPr/>
          <p:nvPr/>
        </p:nvSpPr>
        <p:spPr>
          <a:xfrm>
            <a:off x="896112"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04" name="TextBox 505"/>
          <p:cNvSpPr txBox="1"/>
          <p:nvPr/>
        </p:nvSpPr>
        <p:spPr>
          <a:xfrm>
            <a:off x="1225296"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Full evidence chain retained</a:t>
            </a:r>
          </a:p>
        </p:txBody>
      </p:sp>
      <p:sp>
        <p:nvSpPr>
          <p:cNvPr id="506" name="TextBox 507"/>
          <p:cNvSpPr txBox="1"/>
          <p:nvPr/>
        </p:nvSpPr>
        <p:spPr>
          <a:xfrm>
            <a:off x="1225296"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what it saw, what it read, what it decided</a:t>
            </a:r>
          </a:p>
        </p:txBody>
      </p:sp>
      <p:sp>
        <p:nvSpPr>
          <p:cNvPr id="508" name="Shape 509"/>
          <p:cNvSpPr/>
          <p:nvPr/>
        </p:nvSpPr>
        <p:spPr>
          <a:xfrm>
            <a:off x="896112"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10" name="TextBox 511"/>
          <p:cNvSpPr txBox="1"/>
          <p:nvPr/>
        </p:nvSpPr>
        <p:spPr>
          <a:xfrm>
            <a:off x="1225296"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Nothing touches reported figures</a:t>
            </a:r>
          </a:p>
        </p:txBody>
      </p:sp>
      <p:sp>
        <p:nvSpPr>
          <p:cNvPr id="512" name="TextBox 513"/>
          <p:cNvSpPr txBox="1"/>
          <p:nvPr/>
        </p:nvSpPr>
        <p:spPr>
          <a:xfrm>
            <a:off x="1225296"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a filed number is frozen, full stop</a:t>
            </a:r>
          </a:p>
        </p:txBody>
      </p:sp>
      <p:sp>
        <p:nvSpPr>
          <p:cNvPr id="514" name="Shape 515"/>
          <p:cNvSpPr/>
          <p:nvPr/>
        </p:nvSpPr>
        <p:spPr>
          <a:xfrm>
            <a:off x="4361688" y="1965960"/>
            <a:ext cx="3465576" cy="361188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16" name="TextBox 517"/>
          <p:cNvSpPr txBox="1"/>
          <p:nvPr/>
        </p:nvSpPr>
        <p:spPr>
          <a:xfrm>
            <a:off x="4636008" y="2176272"/>
            <a:ext cx="2916936" cy="548640"/>
          </a:xfrm>
          <a:prstGeom prst="rect">
            <a:avLst/>
          </a:prstGeom>
          <a:noFill/>
        </p:spPr>
        <p:txBody>
          <a:bodyPr wrap="square" lIns="0" tIns="0" rIns="0" bIns="0" anchor="t"/>
          <a:lstStyle/>
          <a:p>
            <a:pPr algn="l">
              <a:lnSpc>
                <a:spcPct val="112000"/>
              </a:lnSpc>
            </a:pPr>
            <a:r>
              <a:rPr sz="1400" b="1">
                <a:solidFill>
                  <a:srgbClr val="016BFF"/>
                </a:solidFill>
                <a:latin typeface="Verdana Pro Semibold"/>
              </a:rPr>
              <a:t>An airline's operations data</a:t>
            </a:r>
          </a:p>
        </p:txBody>
      </p:sp>
      <p:sp>
        <p:nvSpPr>
          <p:cNvPr id="518" name="Shape 519"/>
          <p:cNvSpPr/>
          <p:nvPr/>
        </p:nvSpPr>
        <p:spPr>
          <a:xfrm>
            <a:off x="4636008"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20" name="TextBox 521"/>
          <p:cNvSpPr txBox="1"/>
          <p:nvPr/>
        </p:nvSpPr>
        <p:spPr>
          <a:xfrm>
            <a:off x="4965192"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Reversible actions run alone</a:t>
            </a:r>
          </a:p>
        </p:txBody>
      </p:sp>
      <p:sp>
        <p:nvSpPr>
          <p:cNvPr id="522" name="TextBox 523"/>
          <p:cNvSpPr txBox="1"/>
          <p:nvPr/>
        </p:nvSpPr>
        <p:spPr>
          <a:xfrm>
            <a:off x="4965192"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reload, re-request, quarantine, hold</a:t>
            </a:r>
          </a:p>
        </p:txBody>
      </p:sp>
      <p:sp>
        <p:nvSpPr>
          <p:cNvPr id="524" name="Shape 525"/>
          <p:cNvSpPr/>
          <p:nvPr/>
        </p:nvSpPr>
        <p:spPr>
          <a:xfrm>
            <a:off x="4636008"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26" name="TextBox 527"/>
          <p:cNvSpPr txBox="1"/>
          <p:nvPr/>
        </p:nvSpPr>
        <p:spPr>
          <a:xfrm>
            <a:off x="4965192"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Irreversible ones are proposed</a:t>
            </a:r>
          </a:p>
        </p:txBody>
      </p:sp>
      <p:sp>
        <p:nvSpPr>
          <p:cNvPr id="528" name="TextBox 529"/>
          <p:cNvSpPr txBox="1"/>
          <p:nvPr/>
        </p:nvSpPr>
        <p:spPr>
          <a:xfrm>
            <a:off x="4965192"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anything that overwrites in place</a:t>
            </a:r>
          </a:p>
        </p:txBody>
      </p:sp>
      <p:sp>
        <p:nvSpPr>
          <p:cNvPr id="530" name="Shape 531"/>
          <p:cNvSpPr/>
          <p:nvPr/>
        </p:nvSpPr>
        <p:spPr>
          <a:xfrm>
            <a:off x="4636008"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32" name="TextBox 533"/>
          <p:cNvSpPr txBox="1"/>
          <p:nvPr/>
        </p:nvSpPr>
        <p:spPr>
          <a:xfrm>
            <a:off x="4965192"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Safety data always escalates</a:t>
            </a:r>
          </a:p>
        </p:txBody>
      </p:sp>
      <p:sp>
        <p:nvSpPr>
          <p:cNvPr id="534" name="TextBox 535"/>
          <p:cNvSpPr txBox="1"/>
          <p:nvPr/>
        </p:nvSpPr>
        <p:spPr>
          <a:xfrm>
            <a:off x="4965192"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a load sheet is not a data problem</a:t>
            </a:r>
          </a:p>
        </p:txBody>
      </p:sp>
      <p:sp>
        <p:nvSpPr>
          <p:cNvPr id="536" name="Shape 537"/>
          <p:cNvSpPr/>
          <p:nvPr/>
        </p:nvSpPr>
        <p:spPr>
          <a:xfrm>
            <a:off x="8101584" y="1965960"/>
            <a:ext cx="3465576" cy="36118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38" name="TextBox 539"/>
          <p:cNvSpPr txBox="1"/>
          <p:nvPr/>
        </p:nvSpPr>
        <p:spPr>
          <a:xfrm>
            <a:off x="8375904" y="2176272"/>
            <a:ext cx="2916936" cy="548640"/>
          </a:xfrm>
          <a:prstGeom prst="rect">
            <a:avLst/>
          </a:prstGeom>
          <a:noFill/>
        </p:spPr>
        <p:txBody>
          <a:bodyPr wrap="square" lIns="0" tIns="0" rIns="0" bIns="0" anchor="t"/>
          <a:lstStyle/>
          <a:p>
            <a:pPr algn="l">
              <a:lnSpc>
                <a:spcPct val="112000"/>
              </a:lnSpc>
            </a:pPr>
            <a:r>
              <a:rPr sz="1400" b="1">
                <a:solidFill>
                  <a:srgbClr val="5B7383"/>
                </a:solidFill>
                <a:latin typeface="Verdana Pro Semibold"/>
              </a:rPr>
              <a:t>A marketing data product</a:t>
            </a:r>
          </a:p>
        </p:txBody>
      </p:sp>
      <p:sp>
        <p:nvSpPr>
          <p:cNvPr id="540" name="Shape 541"/>
          <p:cNvSpPr/>
          <p:nvPr/>
        </p:nvSpPr>
        <p:spPr>
          <a:xfrm>
            <a:off x="8375904"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42" name="TextBox 543"/>
          <p:cNvSpPr txBox="1"/>
          <p:nvPr/>
        </p:nvSpPr>
        <p:spPr>
          <a:xfrm>
            <a:off x="8705088"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Most fixes run unattended</a:t>
            </a:r>
          </a:p>
        </p:txBody>
      </p:sp>
      <p:sp>
        <p:nvSpPr>
          <p:cNvPr id="544" name="TextBox 545"/>
          <p:cNvSpPr txBox="1"/>
          <p:nvPr/>
        </p:nvSpPr>
        <p:spPr>
          <a:xfrm>
            <a:off x="8705088"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the cost of being wrong is a bad segment</a:t>
            </a:r>
          </a:p>
        </p:txBody>
      </p:sp>
      <p:sp>
        <p:nvSpPr>
          <p:cNvPr id="546" name="Shape 547"/>
          <p:cNvSpPr/>
          <p:nvPr/>
        </p:nvSpPr>
        <p:spPr>
          <a:xfrm>
            <a:off x="8375904"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48" name="TextBox 549"/>
          <p:cNvSpPr txBox="1"/>
          <p:nvPr/>
        </p:nvSpPr>
        <p:spPr>
          <a:xfrm>
            <a:off x="8705088"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Escalate only on repeat</a:t>
            </a:r>
          </a:p>
        </p:txBody>
      </p:sp>
      <p:sp>
        <p:nvSpPr>
          <p:cNvPr id="550" name="TextBox 551"/>
          <p:cNvSpPr txBox="1"/>
          <p:nvPr/>
        </p:nvSpPr>
        <p:spPr>
          <a:xfrm>
            <a:off x="8705088"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one glitch is noise, three is a pattern</a:t>
            </a:r>
          </a:p>
        </p:txBody>
      </p:sp>
      <p:sp>
        <p:nvSpPr>
          <p:cNvPr id="552" name="Shape 553"/>
          <p:cNvSpPr/>
          <p:nvPr/>
        </p:nvSpPr>
        <p:spPr>
          <a:xfrm>
            <a:off x="8375904"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54" name="TextBox 555"/>
          <p:cNvSpPr txBox="1"/>
          <p:nvPr/>
        </p:nvSpPr>
        <p:spPr>
          <a:xfrm>
            <a:off x="8705088"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Review weekly, in aggregate</a:t>
            </a:r>
          </a:p>
        </p:txBody>
      </p:sp>
      <p:sp>
        <p:nvSpPr>
          <p:cNvPr id="556" name="TextBox 557"/>
          <p:cNvSpPr txBox="1"/>
          <p:nvPr/>
        </p:nvSpPr>
        <p:spPr>
          <a:xfrm>
            <a:off x="8705088"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nobody reads these one at a time</a:t>
            </a:r>
          </a:p>
        </p:txBody>
      </p:sp>
      <p:sp>
        <p:nvSpPr>
          <p:cNvPr id="558" name="Shape 559"/>
          <p:cNvSpPr/>
          <p:nvPr/>
        </p:nvSpPr>
        <p:spPr>
          <a:xfrm>
            <a:off x="621792" y="5669280"/>
            <a:ext cx="10948416" cy="4572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60" name="TextBox 561"/>
          <p:cNvSpPr txBox="1"/>
          <p:nvPr/>
        </p:nvSpPr>
        <p:spPr>
          <a:xfrm>
            <a:off x="1981200" y="5669280"/>
            <a:ext cx="8229600" cy="4572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The dial is set per domain and per data product, never once for the whole company.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TextBox 563"/>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How agents fit</a:t>
            </a:r>
          </a:p>
        </p:txBody>
      </p:sp>
      <p:sp>
        <p:nvSpPr>
          <p:cNvPr id="564" name="TextBox 565"/>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What happens when the agent is wrong</a:t>
            </a:r>
          </a:p>
        </p:txBody>
      </p:sp>
      <p:pic>
        <p:nvPicPr>
          <p:cNvPr id="566" name="Picture 567" descr="logo_black.png"/>
          <p:cNvPicPr>
            <a:picLocks noChangeAspect="1"/>
          </p:cNvPicPr>
          <p:nvPr/>
        </p:nvPicPr>
        <p:blipFill>
          <a:blip r:embed="rId3"/>
          <a:stretch>
            <a:fillRect/>
          </a:stretch>
        </p:blipFill>
        <p:spPr>
          <a:xfrm>
            <a:off x="621792" y="6327648"/>
            <a:ext cx="811952" cy="310896"/>
          </a:xfrm>
          <a:prstGeom prst="rect">
            <a:avLst/>
          </a:prstGeom>
        </p:spPr>
      </p:pic>
      <p:sp>
        <p:nvSpPr>
          <p:cNvPr id="568" name="TextBox 569"/>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570" name="TextBox 571"/>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572" name="TextBox 573"/>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016BFF"/>
                </a:solidFill>
                <a:latin typeface="Verdana Pro Light"/>
              </a:rPr>
              <a:t>22</a:t>
            </a:r>
            <a:endParaRPr sz="1050" b="0" dirty="0">
              <a:solidFill>
                <a:srgbClr val="016BFF"/>
              </a:solidFill>
              <a:latin typeface="Verdana Pro Light"/>
            </a:endParaRPr>
          </a:p>
        </p:txBody>
      </p:sp>
      <p:sp>
        <p:nvSpPr>
          <p:cNvPr id="574" name="TextBox 575"/>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It will be. The question is only whether you can see it and undo it.</a:t>
            </a:r>
          </a:p>
        </p:txBody>
      </p:sp>
      <p:sp>
        <p:nvSpPr>
          <p:cNvPr id="576" name="Shape 577"/>
          <p:cNvSpPr/>
          <p:nvPr/>
        </p:nvSpPr>
        <p:spPr>
          <a:xfrm>
            <a:off x="621792" y="1965960"/>
            <a:ext cx="3465576" cy="36118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78" name="TextBox 579"/>
          <p:cNvSpPr txBox="1"/>
          <p:nvPr/>
        </p:nvSpPr>
        <p:spPr>
          <a:xfrm>
            <a:off x="896112" y="2176272"/>
            <a:ext cx="2916936" cy="548640"/>
          </a:xfrm>
          <a:prstGeom prst="rect">
            <a:avLst/>
          </a:prstGeom>
          <a:noFill/>
        </p:spPr>
        <p:txBody>
          <a:bodyPr wrap="square" lIns="0" tIns="0" rIns="0" bIns="0" anchor="t"/>
          <a:lstStyle/>
          <a:p>
            <a:pPr algn="l">
              <a:lnSpc>
                <a:spcPct val="112000"/>
              </a:lnSpc>
            </a:pPr>
            <a:r>
              <a:rPr sz="1400" b="1">
                <a:solidFill>
                  <a:srgbClr val="161616"/>
                </a:solidFill>
                <a:latin typeface="Verdana Pro Semibold"/>
              </a:rPr>
              <a:t>Every action carries evidence</a:t>
            </a:r>
          </a:p>
        </p:txBody>
      </p:sp>
      <p:sp>
        <p:nvSpPr>
          <p:cNvPr id="580" name="Shape 581"/>
          <p:cNvSpPr/>
          <p:nvPr/>
        </p:nvSpPr>
        <p:spPr>
          <a:xfrm>
            <a:off x="896112"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82" name="TextBox 583"/>
          <p:cNvSpPr txBox="1"/>
          <p:nvPr/>
        </p:nvSpPr>
        <p:spPr>
          <a:xfrm>
            <a:off x="1225296"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What fired, and what it read</a:t>
            </a:r>
          </a:p>
        </p:txBody>
      </p:sp>
      <p:sp>
        <p:nvSpPr>
          <p:cNvPr id="584" name="TextBox 585"/>
          <p:cNvSpPr txBox="1"/>
          <p:nvPr/>
        </p:nvSpPr>
        <p:spPr>
          <a:xfrm>
            <a:off x="1225296"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the alert, the register, the catalog entry</a:t>
            </a:r>
          </a:p>
        </p:txBody>
      </p:sp>
      <p:sp>
        <p:nvSpPr>
          <p:cNvPr id="586" name="Shape 587"/>
          <p:cNvSpPr/>
          <p:nvPr/>
        </p:nvSpPr>
        <p:spPr>
          <a:xfrm>
            <a:off x="896112"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88" name="TextBox 589"/>
          <p:cNvSpPr txBox="1"/>
          <p:nvPr/>
        </p:nvSpPr>
        <p:spPr>
          <a:xfrm>
            <a:off x="1225296"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Which pattern it matched</a:t>
            </a:r>
          </a:p>
        </p:txBody>
      </p:sp>
      <p:sp>
        <p:nvSpPr>
          <p:cNvPr id="590" name="TextBox 591"/>
          <p:cNvSpPr txBox="1"/>
          <p:nvPr/>
        </p:nvSpPr>
        <p:spPr>
          <a:xfrm>
            <a:off x="1225296"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and who approved that pattern, and when</a:t>
            </a:r>
          </a:p>
        </p:txBody>
      </p:sp>
      <p:sp>
        <p:nvSpPr>
          <p:cNvPr id="592" name="Shape 593"/>
          <p:cNvSpPr/>
          <p:nvPr/>
        </p:nvSpPr>
        <p:spPr>
          <a:xfrm>
            <a:off x="896112"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594" name="TextBox 595"/>
          <p:cNvSpPr txBox="1"/>
          <p:nvPr/>
        </p:nvSpPr>
        <p:spPr>
          <a:xfrm>
            <a:off x="1225296"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What it changed, exactly</a:t>
            </a:r>
          </a:p>
        </p:txBody>
      </p:sp>
      <p:sp>
        <p:nvSpPr>
          <p:cNvPr id="596" name="TextBox 597"/>
          <p:cNvSpPr txBox="1"/>
          <p:nvPr/>
        </p:nvSpPr>
        <p:spPr>
          <a:xfrm>
            <a:off x="1225296"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row-level, with the before value retained</a:t>
            </a:r>
          </a:p>
        </p:txBody>
      </p:sp>
      <p:sp>
        <p:nvSpPr>
          <p:cNvPr id="598" name="Shape 599"/>
          <p:cNvSpPr/>
          <p:nvPr/>
        </p:nvSpPr>
        <p:spPr>
          <a:xfrm>
            <a:off x="4361688" y="1965960"/>
            <a:ext cx="3465576" cy="361188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00" name="TextBox 601"/>
          <p:cNvSpPr txBox="1"/>
          <p:nvPr/>
        </p:nvSpPr>
        <p:spPr>
          <a:xfrm>
            <a:off x="4636008" y="2176272"/>
            <a:ext cx="2916936" cy="548640"/>
          </a:xfrm>
          <a:prstGeom prst="rect">
            <a:avLst/>
          </a:prstGeom>
          <a:noFill/>
        </p:spPr>
        <p:txBody>
          <a:bodyPr wrap="square" lIns="0" tIns="0" rIns="0" bIns="0" anchor="t"/>
          <a:lstStyle/>
          <a:p>
            <a:pPr algn="l">
              <a:lnSpc>
                <a:spcPct val="112000"/>
              </a:lnSpc>
            </a:pPr>
            <a:r>
              <a:rPr sz="1400" b="1">
                <a:solidFill>
                  <a:srgbClr val="016BFF"/>
                </a:solidFill>
                <a:latin typeface="Verdana Pro Semibold"/>
              </a:rPr>
              <a:t>Every action can be undone</a:t>
            </a:r>
          </a:p>
        </p:txBody>
      </p:sp>
      <p:sp>
        <p:nvSpPr>
          <p:cNvPr id="602" name="Shape 603"/>
          <p:cNvSpPr/>
          <p:nvPr/>
        </p:nvSpPr>
        <p:spPr>
          <a:xfrm>
            <a:off x="4636008"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04" name="TextBox 605"/>
          <p:cNvSpPr txBox="1"/>
          <p:nvPr/>
        </p:nvSpPr>
        <p:spPr>
          <a:xfrm>
            <a:off x="4965192"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Reversible by construction</a:t>
            </a:r>
          </a:p>
        </p:txBody>
      </p:sp>
      <p:sp>
        <p:nvSpPr>
          <p:cNvPr id="606" name="TextBox 607"/>
          <p:cNvSpPr txBox="1"/>
          <p:nvPr/>
        </p:nvSpPr>
        <p:spPr>
          <a:xfrm>
            <a:off x="4965192"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quarantine and hold rather than overwrite</a:t>
            </a:r>
          </a:p>
        </p:txBody>
      </p:sp>
      <p:sp>
        <p:nvSpPr>
          <p:cNvPr id="608" name="Shape 609"/>
          <p:cNvSpPr/>
          <p:nvPr/>
        </p:nvSpPr>
        <p:spPr>
          <a:xfrm>
            <a:off x="4636008"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10" name="TextBox 611"/>
          <p:cNvSpPr txBox="1"/>
          <p:nvPr/>
        </p:nvSpPr>
        <p:spPr>
          <a:xfrm>
            <a:off x="4965192"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One decision rolls back</a:t>
            </a:r>
          </a:p>
        </p:txBody>
      </p:sp>
      <p:sp>
        <p:nvSpPr>
          <p:cNvPr id="612" name="TextBox 613"/>
          <p:cNvSpPr txBox="1"/>
          <p:nvPr/>
        </p:nvSpPr>
        <p:spPr>
          <a:xfrm>
            <a:off x="4965192"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not the day, not the load — the action</a:t>
            </a:r>
          </a:p>
        </p:txBody>
      </p:sp>
      <p:sp>
        <p:nvSpPr>
          <p:cNvPr id="614" name="Shape 615"/>
          <p:cNvSpPr/>
          <p:nvPr/>
        </p:nvSpPr>
        <p:spPr>
          <a:xfrm>
            <a:off x="4636008"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16" name="TextBox 617"/>
          <p:cNvSpPr txBox="1"/>
          <p:nvPr/>
        </p:nvSpPr>
        <p:spPr>
          <a:xfrm>
            <a:off x="4965192"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Undo is itself recorded</a:t>
            </a:r>
          </a:p>
        </p:txBody>
      </p:sp>
      <p:sp>
        <p:nvSpPr>
          <p:cNvPr id="618" name="TextBox 619"/>
          <p:cNvSpPr txBox="1"/>
          <p:nvPr/>
        </p:nvSpPr>
        <p:spPr>
          <a:xfrm>
            <a:off x="4965192"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including who reversed it and why</a:t>
            </a:r>
          </a:p>
        </p:txBody>
      </p:sp>
      <p:sp>
        <p:nvSpPr>
          <p:cNvPr id="620" name="Shape 621"/>
          <p:cNvSpPr/>
          <p:nvPr/>
        </p:nvSpPr>
        <p:spPr>
          <a:xfrm>
            <a:off x="8101584" y="1965960"/>
            <a:ext cx="3465576" cy="36118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22" name="TextBox 623"/>
          <p:cNvSpPr txBox="1"/>
          <p:nvPr/>
        </p:nvSpPr>
        <p:spPr>
          <a:xfrm>
            <a:off x="8375904" y="2176272"/>
            <a:ext cx="2916936" cy="548640"/>
          </a:xfrm>
          <a:prstGeom prst="rect">
            <a:avLst/>
          </a:prstGeom>
          <a:noFill/>
        </p:spPr>
        <p:txBody>
          <a:bodyPr wrap="square" lIns="0" tIns="0" rIns="0" bIns="0" anchor="t"/>
          <a:lstStyle/>
          <a:p>
            <a:pPr algn="l">
              <a:lnSpc>
                <a:spcPct val="112000"/>
              </a:lnSpc>
            </a:pPr>
            <a:r>
              <a:rPr sz="1400" b="1">
                <a:solidFill>
                  <a:srgbClr val="5B7383"/>
                </a:solidFill>
                <a:latin typeface="Verdana Pro Semibold"/>
              </a:rPr>
              <a:t>Patterns are monitored too</a:t>
            </a:r>
          </a:p>
        </p:txBody>
      </p:sp>
      <p:sp>
        <p:nvSpPr>
          <p:cNvPr id="624" name="Shape 625"/>
          <p:cNvSpPr/>
          <p:nvPr/>
        </p:nvSpPr>
        <p:spPr>
          <a:xfrm>
            <a:off x="8375904"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26" name="TextBox 627"/>
          <p:cNvSpPr txBox="1"/>
          <p:nvPr/>
        </p:nvSpPr>
        <p:spPr>
          <a:xfrm>
            <a:off x="8705088"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An approved pattern can go wrong</a:t>
            </a:r>
          </a:p>
        </p:txBody>
      </p:sp>
      <p:sp>
        <p:nvSpPr>
          <p:cNvPr id="628" name="TextBox 629"/>
          <p:cNvSpPr txBox="1"/>
          <p:nvPr/>
        </p:nvSpPr>
        <p:spPr>
          <a:xfrm>
            <a:off x="8705088"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the world moved under it</a:t>
            </a:r>
          </a:p>
        </p:txBody>
      </p:sp>
      <p:sp>
        <p:nvSpPr>
          <p:cNvPr id="630" name="Shape 631"/>
          <p:cNvSpPr/>
          <p:nvPr/>
        </p:nvSpPr>
        <p:spPr>
          <a:xfrm>
            <a:off x="8375904"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32" name="TextBox 633"/>
          <p:cNvSpPr txBox="1"/>
          <p:nvPr/>
        </p:nvSpPr>
        <p:spPr>
          <a:xfrm>
            <a:off x="8705088"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Watch the rate, not the instance</a:t>
            </a:r>
          </a:p>
        </p:txBody>
      </p:sp>
      <p:sp>
        <p:nvSpPr>
          <p:cNvPr id="634" name="TextBox 635"/>
          <p:cNvSpPr txBox="1"/>
          <p:nvPr/>
        </p:nvSpPr>
        <p:spPr>
          <a:xfrm>
            <a:off x="8705088"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a pattern firing ten times more often</a:t>
            </a:r>
          </a:p>
        </p:txBody>
      </p:sp>
      <p:sp>
        <p:nvSpPr>
          <p:cNvPr id="636" name="Shape 637"/>
          <p:cNvSpPr/>
          <p:nvPr/>
        </p:nvSpPr>
        <p:spPr>
          <a:xfrm>
            <a:off x="8375904"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38" name="TextBox 639"/>
          <p:cNvSpPr txBox="1"/>
          <p:nvPr/>
        </p:nvSpPr>
        <p:spPr>
          <a:xfrm>
            <a:off x="8705088"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Patterns expire</a:t>
            </a:r>
          </a:p>
        </p:txBody>
      </p:sp>
      <p:sp>
        <p:nvSpPr>
          <p:cNvPr id="640" name="TextBox 641"/>
          <p:cNvSpPr txBox="1"/>
          <p:nvPr/>
        </p:nvSpPr>
        <p:spPr>
          <a:xfrm>
            <a:off x="8705088"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re-approval, not permanent permission</a:t>
            </a:r>
          </a:p>
        </p:txBody>
      </p:sp>
      <p:sp>
        <p:nvSpPr>
          <p:cNvPr id="642" name="Shape 643"/>
          <p:cNvSpPr/>
          <p:nvPr/>
        </p:nvSpPr>
        <p:spPr>
          <a:xfrm>
            <a:off x="621792" y="5669280"/>
            <a:ext cx="10948416" cy="4572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44" name="TextBox 645"/>
          <p:cNvSpPr txBox="1"/>
          <p:nvPr/>
        </p:nvSpPr>
        <p:spPr>
          <a:xfrm>
            <a:off x="1981200" y="5669280"/>
            <a:ext cx="8229600" cy="4572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Without an audit trail you cannot tell a working agent from a broken 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 name="TextBox 647"/>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How agents fit</a:t>
            </a:r>
          </a:p>
        </p:txBody>
      </p:sp>
      <p:sp>
        <p:nvSpPr>
          <p:cNvPr id="648" name="TextBox 649"/>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Why this belongs in the platform</a:t>
            </a:r>
          </a:p>
        </p:txBody>
      </p:sp>
      <p:pic>
        <p:nvPicPr>
          <p:cNvPr id="650" name="Picture 651" descr="logo_black.png"/>
          <p:cNvPicPr>
            <a:picLocks noChangeAspect="1"/>
          </p:cNvPicPr>
          <p:nvPr/>
        </p:nvPicPr>
        <p:blipFill>
          <a:blip r:embed="rId3"/>
          <a:stretch>
            <a:fillRect/>
          </a:stretch>
        </p:blipFill>
        <p:spPr>
          <a:xfrm>
            <a:off x="621792" y="6327648"/>
            <a:ext cx="811952" cy="310896"/>
          </a:xfrm>
          <a:prstGeom prst="rect">
            <a:avLst/>
          </a:prstGeom>
        </p:spPr>
      </p:pic>
      <p:sp>
        <p:nvSpPr>
          <p:cNvPr id="652" name="TextBox 653"/>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654" name="TextBox 655"/>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656" name="TextBox 657"/>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016BFF"/>
                </a:solidFill>
                <a:latin typeface="Verdana Pro Light"/>
              </a:rPr>
              <a:t>23</a:t>
            </a:r>
            <a:endParaRPr sz="1050" b="0" dirty="0">
              <a:solidFill>
                <a:srgbClr val="016BFF"/>
              </a:solidFill>
              <a:latin typeface="Verdana Pro Light"/>
            </a:endParaRPr>
          </a:p>
        </p:txBody>
      </p:sp>
      <p:sp>
        <p:nvSpPr>
          <p:cNvPr id="658" name="TextBox 659"/>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A general-purpose agent with database credentials is not the same thing as this.</a:t>
            </a:r>
          </a:p>
        </p:txBody>
      </p:sp>
      <p:sp>
        <p:nvSpPr>
          <p:cNvPr id="660" name="Shape 661"/>
          <p:cNvSpPr/>
          <p:nvPr/>
        </p:nvSpPr>
        <p:spPr>
          <a:xfrm>
            <a:off x="621792" y="1965960"/>
            <a:ext cx="3465576" cy="36118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62" name="TextBox 663"/>
          <p:cNvSpPr txBox="1"/>
          <p:nvPr/>
        </p:nvSpPr>
        <p:spPr>
          <a:xfrm>
            <a:off x="896112" y="2176272"/>
            <a:ext cx="2916936" cy="548640"/>
          </a:xfrm>
          <a:prstGeom prst="rect">
            <a:avLst/>
          </a:prstGeom>
          <a:noFill/>
        </p:spPr>
        <p:txBody>
          <a:bodyPr wrap="square" lIns="0" tIns="0" rIns="0" bIns="0" anchor="t"/>
          <a:lstStyle/>
          <a:p>
            <a:pPr algn="l">
              <a:lnSpc>
                <a:spcPct val="112000"/>
              </a:lnSpc>
            </a:pPr>
            <a:r>
              <a:rPr sz="1400" b="1">
                <a:solidFill>
                  <a:srgbClr val="161616"/>
                </a:solidFill>
                <a:latin typeface="Verdana Pro Semibold"/>
              </a:rPr>
              <a:t>Without the catalog</a:t>
            </a:r>
          </a:p>
        </p:txBody>
      </p:sp>
      <p:sp>
        <p:nvSpPr>
          <p:cNvPr id="664" name="Shape 665"/>
          <p:cNvSpPr/>
          <p:nvPr/>
        </p:nvSpPr>
        <p:spPr>
          <a:xfrm>
            <a:off x="896112"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66" name="TextBox 667"/>
          <p:cNvSpPr txBox="1"/>
          <p:nvPr/>
        </p:nvSpPr>
        <p:spPr>
          <a:xfrm>
            <a:off x="1225296"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It does not know what a column means</a:t>
            </a:r>
          </a:p>
        </p:txBody>
      </p:sp>
      <p:sp>
        <p:nvSpPr>
          <p:cNvPr id="668" name="TextBox 669"/>
          <p:cNvSpPr txBox="1"/>
          <p:nvPr/>
        </p:nvSpPr>
        <p:spPr>
          <a:xfrm>
            <a:off x="1225296"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is dest_city a code or a label?</a:t>
            </a:r>
          </a:p>
        </p:txBody>
      </p:sp>
      <p:sp>
        <p:nvSpPr>
          <p:cNvPr id="670" name="Shape 671"/>
          <p:cNvSpPr/>
          <p:nvPr/>
        </p:nvSpPr>
        <p:spPr>
          <a:xfrm>
            <a:off x="896112"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72" name="TextBox 673"/>
          <p:cNvSpPr txBox="1"/>
          <p:nvPr/>
        </p:nvSpPr>
        <p:spPr>
          <a:xfrm>
            <a:off x="1225296"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It cannot judge a domain</a:t>
            </a:r>
          </a:p>
        </p:txBody>
      </p:sp>
      <p:sp>
        <p:nvSpPr>
          <p:cNvPr id="674" name="TextBox 675"/>
          <p:cNvSpPr txBox="1"/>
          <p:nvPr/>
        </p:nvSpPr>
        <p:spPr>
          <a:xfrm>
            <a:off x="1225296"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94 airports, or every string ever seen?</a:t>
            </a:r>
          </a:p>
        </p:txBody>
      </p:sp>
      <p:sp>
        <p:nvSpPr>
          <p:cNvPr id="676" name="Shape 677"/>
          <p:cNvSpPr/>
          <p:nvPr/>
        </p:nvSpPr>
        <p:spPr>
          <a:xfrm>
            <a:off x="896112"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78" name="TextBox 679"/>
          <p:cNvSpPr txBox="1"/>
          <p:nvPr/>
        </p:nvSpPr>
        <p:spPr>
          <a:xfrm>
            <a:off x="1225296"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It guesses, and sounds certain</a:t>
            </a:r>
          </a:p>
        </p:txBody>
      </p:sp>
      <p:sp>
        <p:nvSpPr>
          <p:cNvPr id="680" name="TextBox 681"/>
          <p:cNvSpPr txBox="1"/>
          <p:nvPr/>
        </p:nvSpPr>
        <p:spPr>
          <a:xfrm>
            <a:off x="1225296"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the worst possible failure mode</a:t>
            </a:r>
          </a:p>
        </p:txBody>
      </p:sp>
      <p:sp>
        <p:nvSpPr>
          <p:cNvPr id="682" name="Shape 683"/>
          <p:cNvSpPr/>
          <p:nvPr/>
        </p:nvSpPr>
        <p:spPr>
          <a:xfrm>
            <a:off x="4361688" y="1965960"/>
            <a:ext cx="3465576" cy="361188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84" name="TextBox 685"/>
          <p:cNvSpPr txBox="1"/>
          <p:nvPr/>
        </p:nvSpPr>
        <p:spPr>
          <a:xfrm>
            <a:off x="4636008" y="2176272"/>
            <a:ext cx="2916936" cy="548640"/>
          </a:xfrm>
          <a:prstGeom prst="rect">
            <a:avLst/>
          </a:prstGeom>
          <a:noFill/>
        </p:spPr>
        <p:txBody>
          <a:bodyPr wrap="square" lIns="0" tIns="0" rIns="0" bIns="0" anchor="t"/>
          <a:lstStyle/>
          <a:p>
            <a:pPr algn="l">
              <a:lnSpc>
                <a:spcPct val="112000"/>
              </a:lnSpc>
            </a:pPr>
            <a:r>
              <a:rPr sz="1400" b="1">
                <a:solidFill>
                  <a:srgbClr val="016BFF"/>
                </a:solidFill>
                <a:latin typeface="Verdana Pro Semibold"/>
              </a:rPr>
              <a:t>Without lineage</a:t>
            </a:r>
          </a:p>
        </p:txBody>
      </p:sp>
      <p:sp>
        <p:nvSpPr>
          <p:cNvPr id="686" name="Shape 687"/>
          <p:cNvSpPr/>
          <p:nvPr/>
        </p:nvSpPr>
        <p:spPr>
          <a:xfrm>
            <a:off x="4636008"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88" name="TextBox 689"/>
          <p:cNvSpPr txBox="1"/>
          <p:nvPr/>
        </p:nvSpPr>
        <p:spPr>
          <a:xfrm>
            <a:off x="4965192"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It cannot scope a re-run</a:t>
            </a:r>
          </a:p>
        </p:txBody>
      </p:sp>
      <p:sp>
        <p:nvSpPr>
          <p:cNvPr id="690" name="TextBox 691"/>
          <p:cNvSpPr txBox="1"/>
          <p:nvPr/>
        </p:nvSpPr>
        <p:spPr>
          <a:xfrm>
            <a:off x="4965192"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which four reports consume this feed?</a:t>
            </a:r>
          </a:p>
        </p:txBody>
      </p:sp>
      <p:sp>
        <p:nvSpPr>
          <p:cNvPr id="692" name="Shape 693"/>
          <p:cNvSpPr/>
          <p:nvPr/>
        </p:nvSpPr>
        <p:spPr>
          <a:xfrm>
            <a:off x="4636008"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694" name="TextBox 695"/>
          <p:cNvSpPr txBox="1"/>
          <p:nvPr/>
        </p:nvSpPr>
        <p:spPr>
          <a:xfrm>
            <a:off x="4965192"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It restarts everything, or nothing</a:t>
            </a:r>
          </a:p>
        </p:txBody>
      </p:sp>
      <p:sp>
        <p:nvSpPr>
          <p:cNvPr id="696" name="TextBox 697"/>
          <p:cNvSpPr txBox="1"/>
          <p:nvPr/>
        </p:nvSpPr>
        <p:spPr>
          <a:xfrm>
            <a:off x="4965192"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both are expensive</a:t>
            </a:r>
          </a:p>
        </p:txBody>
      </p:sp>
      <p:sp>
        <p:nvSpPr>
          <p:cNvPr id="698" name="Shape 699"/>
          <p:cNvSpPr/>
          <p:nvPr/>
        </p:nvSpPr>
        <p:spPr>
          <a:xfrm>
            <a:off x="4636008"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00" name="TextBox 701"/>
          <p:cNvSpPr txBox="1"/>
          <p:nvPr/>
        </p:nvSpPr>
        <p:spPr>
          <a:xfrm>
            <a:off x="4965192"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It cannot judge blast radius</a:t>
            </a:r>
          </a:p>
        </p:txBody>
      </p:sp>
      <p:sp>
        <p:nvSpPr>
          <p:cNvPr id="702" name="TextBox 703"/>
          <p:cNvSpPr txBox="1"/>
          <p:nvPr/>
        </p:nvSpPr>
        <p:spPr>
          <a:xfrm>
            <a:off x="4965192"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one row, or the regulatory report?</a:t>
            </a:r>
          </a:p>
        </p:txBody>
      </p:sp>
      <p:sp>
        <p:nvSpPr>
          <p:cNvPr id="704" name="Shape 705"/>
          <p:cNvSpPr/>
          <p:nvPr/>
        </p:nvSpPr>
        <p:spPr>
          <a:xfrm>
            <a:off x="8101584" y="1965960"/>
            <a:ext cx="3465576" cy="36118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06" name="TextBox 707"/>
          <p:cNvSpPr txBox="1"/>
          <p:nvPr/>
        </p:nvSpPr>
        <p:spPr>
          <a:xfrm>
            <a:off x="8375904" y="2176272"/>
            <a:ext cx="2916936" cy="548640"/>
          </a:xfrm>
          <a:prstGeom prst="rect">
            <a:avLst/>
          </a:prstGeom>
          <a:noFill/>
        </p:spPr>
        <p:txBody>
          <a:bodyPr wrap="square" lIns="0" tIns="0" rIns="0" bIns="0" anchor="t"/>
          <a:lstStyle/>
          <a:p>
            <a:pPr algn="l">
              <a:lnSpc>
                <a:spcPct val="112000"/>
              </a:lnSpc>
            </a:pPr>
            <a:r>
              <a:rPr sz="1400" b="1">
                <a:solidFill>
                  <a:srgbClr val="5B7383"/>
                </a:solidFill>
                <a:latin typeface="Verdana Pro Semibold"/>
              </a:rPr>
              <a:t>Without the pattern library</a:t>
            </a:r>
          </a:p>
        </p:txBody>
      </p:sp>
      <p:sp>
        <p:nvSpPr>
          <p:cNvPr id="708" name="Shape 709"/>
          <p:cNvSpPr/>
          <p:nvPr/>
        </p:nvSpPr>
        <p:spPr>
          <a:xfrm>
            <a:off x="8375904"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10" name="TextBox 711"/>
          <p:cNvSpPr txBox="1"/>
          <p:nvPr/>
        </p:nvSpPr>
        <p:spPr>
          <a:xfrm>
            <a:off x="8705088"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Every occurrence is the first one</a:t>
            </a:r>
          </a:p>
        </p:txBody>
      </p:sp>
      <p:sp>
        <p:nvSpPr>
          <p:cNvPr id="712" name="TextBox 713"/>
          <p:cNvSpPr txBox="1"/>
          <p:nvPr/>
        </p:nvSpPr>
        <p:spPr>
          <a:xfrm>
            <a:off x="8705088"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no precedent, so no autonomy</a:t>
            </a:r>
          </a:p>
        </p:txBody>
      </p:sp>
      <p:sp>
        <p:nvSpPr>
          <p:cNvPr id="714" name="Shape 715"/>
          <p:cNvSpPr/>
          <p:nvPr/>
        </p:nvSpPr>
        <p:spPr>
          <a:xfrm>
            <a:off x="8375904"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16" name="TextBox 717"/>
          <p:cNvSpPr txBox="1"/>
          <p:nvPr/>
        </p:nvSpPr>
        <p:spPr>
          <a:xfrm>
            <a:off x="8705088"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Nothing compounds</a:t>
            </a:r>
          </a:p>
        </p:txBody>
      </p:sp>
      <p:sp>
        <p:nvSpPr>
          <p:cNvPr id="718" name="TextBox 719"/>
          <p:cNvSpPr txBox="1"/>
          <p:nvPr/>
        </p:nvSpPr>
        <p:spPr>
          <a:xfrm>
            <a:off x="8705088"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the tenth fix costs what the first one did</a:t>
            </a:r>
          </a:p>
        </p:txBody>
      </p:sp>
      <p:sp>
        <p:nvSpPr>
          <p:cNvPr id="720" name="Shape 721"/>
          <p:cNvSpPr/>
          <p:nvPr/>
        </p:nvSpPr>
        <p:spPr>
          <a:xfrm>
            <a:off x="8375904"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22" name="TextBox 723"/>
          <p:cNvSpPr txBox="1"/>
          <p:nvPr/>
        </p:nvSpPr>
        <p:spPr>
          <a:xfrm>
            <a:off x="8705088"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The Steward never gets time back</a:t>
            </a:r>
          </a:p>
        </p:txBody>
      </p:sp>
      <p:sp>
        <p:nvSpPr>
          <p:cNvPr id="724" name="TextBox 725"/>
          <p:cNvSpPr txBox="1"/>
          <p:nvPr/>
        </p:nvSpPr>
        <p:spPr>
          <a:xfrm>
            <a:off x="8705088"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which was the entire point</a:t>
            </a:r>
          </a:p>
        </p:txBody>
      </p:sp>
      <p:sp>
        <p:nvSpPr>
          <p:cNvPr id="726" name="Shape 727"/>
          <p:cNvSpPr/>
          <p:nvPr/>
        </p:nvSpPr>
        <p:spPr>
          <a:xfrm>
            <a:off x="621792" y="5669280"/>
            <a:ext cx="10948416" cy="4572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28" name="TextBox 729"/>
          <p:cNvSpPr txBox="1"/>
          <p:nvPr/>
        </p:nvSpPr>
        <p:spPr>
          <a:xfrm>
            <a:off x="1981200" y="5669280"/>
            <a:ext cx="8229600" cy="4572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Without a catalog, lineage and approved patterns, a language model should not be near your warehouse.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0" name="Picture 731" descr="section_bg.png"/>
          <p:cNvPicPr>
            <a:picLocks noChangeAspect="1"/>
          </p:cNvPicPr>
          <p:nvPr/>
        </p:nvPicPr>
        <p:blipFill>
          <a:blip r:embed="rId3"/>
          <a:stretch>
            <a:fillRect/>
          </a:stretch>
        </p:blipFill>
        <p:spPr>
          <a:xfrm>
            <a:off x="0" y="0"/>
            <a:ext cx="12191695" cy="6858000"/>
          </a:xfrm>
          <a:prstGeom prst="rect">
            <a:avLst/>
          </a:prstGeom>
        </p:spPr>
      </p:pic>
      <p:sp>
        <p:nvSpPr>
          <p:cNvPr id="732" name="Shape 733"/>
          <p:cNvSpPr/>
          <p:nvPr/>
        </p:nvSpPr>
        <p:spPr>
          <a:xfrm>
            <a:off x="0" y="0"/>
            <a:ext cx="12191695" cy="6858000"/>
          </a:xfrm>
          <a:prstGeom prst="rect">
            <a:avLst/>
          </a:prstGeom>
          <a:solidFill>
            <a:srgbClr val="02041C"/>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pic>
        <p:nvPicPr>
          <p:cNvPr id="736" name="Picture 737" descr="logo_white.png"/>
          <p:cNvPicPr>
            <a:picLocks noChangeAspect="1"/>
          </p:cNvPicPr>
          <p:nvPr/>
        </p:nvPicPr>
        <p:blipFill>
          <a:blip r:embed="rId4"/>
          <a:stretch>
            <a:fillRect/>
          </a:stretch>
        </p:blipFill>
        <p:spPr>
          <a:xfrm>
            <a:off x="621792" y="502920"/>
            <a:ext cx="1098523" cy="420624"/>
          </a:xfrm>
          <a:prstGeom prst="rect">
            <a:avLst/>
          </a:prstGeom>
        </p:spPr>
      </p:pic>
      <p:sp>
        <p:nvSpPr>
          <p:cNvPr id="738" name="TextBox 739"/>
          <p:cNvSpPr txBox="1"/>
          <p:nvPr/>
        </p:nvSpPr>
        <p:spPr>
          <a:xfrm>
            <a:off x="621792" y="2606040"/>
            <a:ext cx="7315200" cy="292608"/>
          </a:xfrm>
          <a:prstGeom prst="rect">
            <a:avLst/>
          </a:prstGeom>
          <a:noFill/>
        </p:spPr>
        <p:txBody>
          <a:bodyPr wrap="square" lIns="0" tIns="0" rIns="0" bIns="0" anchor="t"/>
          <a:lstStyle/>
          <a:p>
            <a:pPr algn="l"/>
            <a:r>
              <a:rPr sz="1200" b="0">
                <a:solidFill>
                  <a:srgbClr val="5398F9"/>
                </a:solidFill>
                <a:latin typeface="Verdana Pro Light"/>
              </a:rPr>
              <a:t>Alpenwing</a:t>
            </a:r>
          </a:p>
        </p:txBody>
      </p:sp>
      <p:sp>
        <p:nvSpPr>
          <p:cNvPr id="740" name="TextBox 741"/>
          <p:cNvSpPr txBox="1"/>
          <p:nvPr/>
        </p:nvSpPr>
        <p:spPr>
          <a:xfrm>
            <a:off x="621792" y="3017520"/>
            <a:ext cx="9692640" cy="1188720"/>
          </a:xfrm>
          <a:prstGeom prst="rect">
            <a:avLst/>
          </a:prstGeom>
          <a:noFill/>
        </p:spPr>
        <p:txBody>
          <a:bodyPr wrap="square" lIns="0" tIns="0" rIns="0" bIns="0" anchor="t"/>
          <a:lstStyle/>
          <a:p>
            <a:pPr algn="l"/>
            <a:r>
              <a:rPr sz="3200" b="1">
                <a:solidFill>
                  <a:srgbClr val="FFFFFF"/>
                </a:solidFill>
                <a:latin typeface="Verdana Pro Semibold"/>
              </a:rPr>
              <a:t>Five triggers,</a:t>
            </a:r>
          </a:p>
          <a:p>
            <a:pPr algn="l"/>
            <a:r>
              <a:rPr sz="3200" b="1">
                <a:solidFill>
                  <a:srgbClr val="FFFFFF"/>
                </a:solidFill>
                <a:latin typeface="Verdana Pro Semibold"/>
              </a:rPr>
              <a:t>five different answers</a:t>
            </a:r>
          </a:p>
        </p:txBody>
      </p:sp>
      <p:sp>
        <p:nvSpPr>
          <p:cNvPr id="742" name="TextBox 743"/>
          <p:cNvSpPr txBox="1"/>
          <p:nvPr/>
        </p:nvSpPr>
        <p:spPr>
          <a:xfrm>
            <a:off x="621792" y="4434840"/>
            <a:ext cx="8778240" cy="640080"/>
          </a:xfrm>
          <a:prstGeom prst="rect">
            <a:avLst/>
          </a:prstGeom>
          <a:noFill/>
        </p:spPr>
        <p:txBody>
          <a:bodyPr wrap="square" lIns="0" tIns="0" rIns="0" bIns="0" anchor="t"/>
          <a:lstStyle/>
          <a:p>
            <a:pPr algn="l"/>
            <a:r>
              <a:rPr sz="1400" b="0">
                <a:solidFill>
                  <a:srgbClr val="C3CCE2"/>
                </a:solidFill>
                <a:latin typeface="Verdana Pro Light"/>
              </a:rPr>
              <a:t>One airline, one flight leg: WG 402, Vienna to Warsaw Chopin, 12 February, tail OE-LGA.</a:t>
            </a:r>
          </a:p>
        </p:txBody>
      </p:sp>
      <p:pic>
        <p:nvPicPr>
          <p:cNvPr id="744" name="Picture 745" descr="logo_white.png"/>
          <p:cNvPicPr>
            <a:picLocks noChangeAspect="1"/>
          </p:cNvPicPr>
          <p:nvPr/>
        </p:nvPicPr>
        <p:blipFill>
          <a:blip r:embed="rId4"/>
          <a:stretch>
            <a:fillRect/>
          </a:stretch>
        </p:blipFill>
        <p:spPr>
          <a:xfrm>
            <a:off x="621792" y="6327648"/>
            <a:ext cx="811952" cy="310896"/>
          </a:xfrm>
          <a:prstGeom prst="rect">
            <a:avLst/>
          </a:prstGeom>
        </p:spPr>
      </p:pic>
      <p:sp>
        <p:nvSpPr>
          <p:cNvPr id="746" name="TextBox 747"/>
          <p:cNvSpPr txBox="1"/>
          <p:nvPr/>
        </p:nvSpPr>
        <p:spPr>
          <a:xfrm>
            <a:off x="1627632" y="6345936"/>
            <a:ext cx="5943600" cy="274320"/>
          </a:xfrm>
          <a:prstGeom prst="rect">
            <a:avLst/>
          </a:prstGeom>
          <a:noFill/>
        </p:spPr>
        <p:txBody>
          <a:bodyPr wrap="square" lIns="0" tIns="0" rIns="0" bIns="0" anchor="ctr"/>
          <a:lstStyle/>
          <a:p>
            <a:pPr algn="l"/>
            <a:r>
              <a:rPr sz="1000" b="0">
                <a:solidFill>
                  <a:srgbClr val="B9C2D6"/>
                </a:solidFill>
                <a:latin typeface="Verdana Pro Light"/>
              </a:rPr>
              <a:t>|   Data Quality and Observability Platform</a:t>
            </a:r>
          </a:p>
        </p:txBody>
      </p:sp>
      <p:sp>
        <p:nvSpPr>
          <p:cNvPr id="748" name="TextBox 749"/>
          <p:cNvSpPr txBox="1"/>
          <p:nvPr/>
        </p:nvSpPr>
        <p:spPr>
          <a:xfrm>
            <a:off x="9692640" y="6345936"/>
            <a:ext cx="1371600" cy="274320"/>
          </a:xfrm>
          <a:prstGeom prst="rect">
            <a:avLst/>
          </a:prstGeom>
          <a:noFill/>
        </p:spPr>
        <p:txBody>
          <a:bodyPr wrap="square" lIns="0" tIns="0" rIns="0" bIns="0" anchor="ctr"/>
          <a:lstStyle/>
          <a:p>
            <a:pPr algn="r"/>
            <a:r>
              <a:rPr sz="1050" b="0">
                <a:solidFill>
                  <a:srgbClr val="5398F9"/>
                </a:solidFill>
                <a:latin typeface="Verdana Pro Light"/>
              </a:rPr>
              <a:t>digna   |</a:t>
            </a:r>
          </a:p>
        </p:txBody>
      </p:sp>
      <p:sp>
        <p:nvSpPr>
          <p:cNvPr id="750" name="TextBox 751"/>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5398F9"/>
                </a:solidFill>
                <a:latin typeface="Verdana Pro Light"/>
              </a:rPr>
              <a:t>24</a:t>
            </a:r>
            <a:endParaRPr sz="1050" b="0" dirty="0">
              <a:solidFill>
                <a:srgbClr val="5398F9"/>
              </a:solidFill>
              <a:latin typeface="Verdana Pr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 name="TextBox 753"/>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Scenario 01  ·  The trigger</a:t>
            </a:r>
          </a:p>
        </p:txBody>
      </p:sp>
      <p:sp>
        <p:nvSpPr>
          <p:cNvPr id="754" name="TextBox 755"/>
          <p:cNvSpPr txBox="1"/>
          <p:nvPr/>
        </p:nvSpPr>
        <p:spPr>
          <a:xfrm>
            <a:off x="621792" y="822960"/>
            <a:ext cx="10607040" cy="1005840"/>
          </a:xfrm>
          <a:prstGeom prst="rect">
            <a:avLst/>
          </a:prstGeom>
          <a:noFill/>
        </p:spPr>
        <p:txBody>
          <a:bodyPr wrap="square" lIns="0" tIns="0" rIns="0" bIns="0" anchor="b"/>
          <a:lstStyle/>
          <a:p>
            <a:pPr algn="l">
              <a:lnSpc>
                <a:spcPct val="116000"/>
              </a:lnSpc>
            </a:pPr>
            <a:r>
              <a:rPr sz="1900" b="1">
                <a:solidFill>
                  <a:srgbClr val="161616"/>
                </a:solidFill>
                <a:latin typeface="Verdana Pro Semibold"/>
              </a:rPr>
              <a:t>A partner feed switches from IATA to ICAO codes overnight</a:t>
            </a:r>
          </a:p>
        </p:txBody>
      </p:sp>
      <p:pic>
        <p:nvPicPr>
          <p:cNvPr id="756" name="Picture 757" descr="logo_black.png"/>
          <p:cNvPicPr>
            <a:picLocks noChangeAspect="1"/>
          </p:cNvPicPr>
          <p:nvPr/>
        </p:nvPicPr>
        <p:blipFill>
          <a:blip r:embed="rId3"/>
          <a:stretch>
            <a:fillRect/>
          </a:stretch>
        </p:blipFill>
        <p:spPr>
          <a:xfrm>
            <a:off x="621792" y="6327648"/>
            <a:ext cx="811952" cy="310896"/>
          </a:xfrm>
          <a:prstGeom prst="rect">
            <a:avLst/>
          </a:prstGeom>
        </p:spPr>
      </p:pic>
      <p:sp>
        <p:nvSpPr>
          <p:cNvPr id="758" name="TextBox 759"/>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760" name="TextBox 761"/>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762" name="TextBox 763"/>
          <p:cNvSpPr txBox="1"/>
          <p:nvPr/>
        </p:nvSpPr>
        <p:spPr>
          <a:xfrm>
            <a:off x="11109960" y="6345936"/>
            <a:ext cx="457200" cy="274320"/>
          </a:xfrm>
          <a:prstGeom prst="rect">
            <a:avLst/>
          </a:prstGeom>
          <a:noFill/>
        </p:spPr>
        <p:txBody>
          <a:bodyPr wrap="square" lIns="0" tIns="0" rIns="0" bIns="0" anchor="ctr"/>
          <a:lstStyle/>
          <a:p>
            <a:pPr algn="r"/>
            <a:r>
              <a:rPr sz="1050" b="0" dirty="0">
                <a:solidFill>
                  <a:srgbClr val="016BFF"/>
                </a:solidFill>
                <a:latin typeface="Verdana Pro Light"/>
              </a:rPr>
              <a:t>2</a:t>
            </a:r>
            <a:r>
              <a:rPr lang="de-AT" sz="1050" b="0" dirty="0">
                <a:solidFill>
                  <a:srgbClr val="016BFF"/>
                </a:solidFill>
                <a:latin typeface="Verdana Pro Light"/>
              </a:rPr>
              <a:t>5</a:t>
            </a:r>
            <a:endParaRPr sz="1050" b="0" dirty="0">
              <a:solidFill>
                <a:srgbClr val="016BFF"/>
              </a:solidFill>
              <a:latin typeface="Verdana Pro Light"/>
            </a:endParaRPr>
          </a:p>
        </p:txBody>
      </p:sp>
      <p:sp>
        <p:nvSpPr>
          <p:cNvPr id="764" name="Shape 765"/>
          <p:cNvSpPr/>
          <p:nvPr/>
        </p:nvSpPr>
        <p:spPr>
          <a:xfrm>
            <a:off x="621792" y="1965960"/>
            <a:ext cx="5257800" cy="3474720"/>
          </a:xfrm>
          <a:prstGeom prst="rect">
            <a:avLst/>
          </a:prstGeom>
          <a:solidFill>
            <a:srgbClr val="FDEEEE"/>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66" name="Shape 767"/>
          <p:cNvSpPr/>
          <p:nvPr/>
        </p:nvSpPr>
        <p:spPr>
          <a:xfrm>
            <a:off x="987552" y="2240279"/>
            <a:ext cx="256032" cy="256032"/>
          </a:xfrm>
          <a:prstGeom prst="ellipse">
            <a:avLst/>
          </a:prstGeom>
          <a:solidFill>
            <a:srgbClr val="E9B6B6"/>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68" name="Shape 769"/>
          <p:cNvSpPr/>
          <p:nvPr/>
        </p:nvSpPr>
        <p:spPr>
          <a:xfrm>
            <a:off x="1056680" y="2309408"/>
            <a:ext cx="117774" cy="117774"/>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70" name="TextBox 771"/>
          <p:cNvSpPr txBox="1"/>
          <p:nvPr/>
        </p:nvSpPr>
        <p:spPr>
          <a:xfrm>
            <a:off x="987552" y="2670048"/>
            <a:ext cx="4572000" cy="292608"/>
          </a:xfrm>
          <a:prstGeom prst="rect">
            <a:avLst/>
          </a:prstGeom>
          <a:noFill/>
        </p:spPr>
        <p:txBody>
          <a:bodyPr wrap="square" lIns="0" tIns="0" rIns="0" bIns="0" anchor="t"/>
          <a:lstStyle/>
          <a:p>
            <a:pPr algn="l"/>
            <a:r>
              <a:rPr sz="1500" b="1">
                <a:solidFill>
                  <a:srgbClr val="C62828"/>
                </a:solidFill>
                <a:latin typeface="Verdana Pro Semibold"/>
              </a:rPr>
              <a:t>What fired</a:t>
            </a:r>
          </a:p>
        </p:txBody>
      </p:sp>
      <p:sp>
        <p:nvSpPr>
          <p:cNvPr id="772" name="TextBox 773"/>
          <p:cNvSpPr txBox="1"/>
          <p:nvPr/>
        </p:nvSpPr>
        <p:spPr>
          <a:xfrm>
            <a:off x="987552" y="3063239"/>
            <a:ext cx="4526280" cy="274320"/>
          </a:xfrm>
          <a:prstGeom prst="rect">
            <a:avLst/>
          </a:prstGeom>
          <a:noFill/>
        </p:spPr>
        <p:txBody>
          <a:bodyPr wrap="square" lIns="0" tIns="0" rIns="0" bIns="0" anchor="t"/>
          <a:lstStyle/>
          <a:p>
            <a:pPr algn="l"/>
            <a:r>
              <a:rPr sz="1100" b="0">
                <a:solidFill>
                  <a:srgbClr val="5B7383"/>
                </a:solidFill>
                <a:latin typeface="Verdana Pro Light"/>
              </a:rPr>
              <a:t>the trigger, not a ticket</a:t>
            </a:r>
          </a:p>
        </p:txBody>
      </p:sp>
      <p:sp>
        <p:nvSpPr>
          <p:cNvPr id="774" name="Shape 775"/>
          <p:cNvSpPr/>
          <p:nvPr/>
        </p:nvSpPr>
        <p:spPr>
          <a:xfrm>
            <a:off x="987552" y="360273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76" name="TextBox 777"/>
          <p:cNvSpPr txBox="1"/>
          <p:nvPr/>
        </p:nvSpPr>
        <p:spPr>
          <a:xfrm>
            <a:off x="1316736" y="352044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Data Observability: average length of dep_airport moves from 3.00 to 4.00 overnight, on a single source</a:t>
            </a:r>
          </a:p>
        </p:txBody>
      </p:sp>
      <p:sp>
        <p:nvSpPr>
          <p:cNvPr id="778" name="Shape 779"/>
          <p:cNvSpPr/>
          <p:nvPr/>
        </p:nvSpPr>
        <p:spPr>
          <a:xfrm>
            <a:off x="987552" y="424281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80" name="TextBox 781"/>
          <p:cNvSpPr txBox="1"/>
          <p:nvPr/>
        </p:nvSpPr>
        <p:spPr>
          <a:xfrm>
            <a:off x="1316736" y="416052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Data Quality: 1,284 rows fail the allowed-set check, all from the same feed</a:t>
            </a:r>
          </a:p>
        </p:txBody>
      </p:sp>
      <p:sp>
        <p:nvSpPr>
          <p:cNvPr id="782" name="Shape 783"/>
          <p:cNvSpPr/>
          <p:nvPr/>
        </p:nvSpPr>
        <p:spPr>
          <a:xfrm>
            <a:off x="987552" y="488289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84" name="TextBox 785"/>
          <p:cNvSpPr txBox="1"/>
          <p:nvPr/>
        </p:nvSpPr>
        <p:spPr>
          <a:xfrm>
            <a:off x="1316736" y="480060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Nothing else on that feed moved — volume, nulls and arrival time are normal</a:t>
            </a:r>
          </a:p>
        </p:txBody>
      </p:sp>
      <p:sp>
        <p:nvSpPr>
          <p:cNvPr id="786" name="Shape 787"/>
          <p:cNvSpPr/>
          <p:nvPr/>
        </p:nvSpPr>
        <p:spPr>
          <a:xfrm>
            <a:off x="6309360" y="1965960"/>
            <a:ext cx="5257800" cy="34747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88" name="Shape 789"/>
          <p:cNvSpPr/>
          <p:nvPr/>
        </p:nvSpPr>
        <p:spPr>
          <a:xfrm>
            <a:off x="6675120" y="2240279"/>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90" name="Shape 791"/>
          <p:cNvSpPr/>
          <p:nvPr/>
        </p:nvSpPr>
        <p:spPr>
          <a:xfrm>
            <a:off x="6744248" y="2309408"/>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92" name="TextBox 793"/>
          <p:cNvSpPr txBox="1"/>
          <p:nvPr/>
        </p:nvSpPr>
        <p:spPr>
          <a:xfrm>
            <a:off x="6675120" y="2670048"/>
            <a:ext cx="4572000" cy="292608"/>
          </a:xfrm>
          <a:prstGeom prst="rect">
            <a:avLst/>
          </a:prstGeom>
          <a:noFill/>
        </p:spPr>
        <p:txBody>
          <a:bodyPr wrap="square" lIns="0" tIns="0" rIns="0" bIns="0" anchor="t"/>
          <a:lstStyle/>
          <a:p>
            <a:pPr algn="l"/>
            <a:r>
              <a:rPr sz="1500" b="1">
                <a:solidFill>
                  <a:srgbClr val="016BFF"/>
                </a:solidFill>
                <a:latin typeface="Verdana Pro Semibold"/>
              </a:rPr>
              <a:t>What the agent may reach</a:t>
            </a:r>
          </a:p>
        </p:txBody>
      </p:sp>
      <p:sp>
        <p:nvSpPr>
          <p:cNvPr id="794" name="TextBox 795"/>
          <p:cNvSpPr txBox="1"/>
          <p:nvPr/>
        </p:nvSpPr>
        <p:spPr>
          <a:xfrm>
            <a:off x="6675120" y="3063239"/>
            <a:ext cx="4526280" cy="274320"/>
          </a:xfrm>
          <a:prstGeom prst="rect">
            <a:avLst/>
          </a:prstGeom>
          <a:noFill/>
        </p:spPr>
        <p:txBody>
          <a:bodyPr wrap="square" lIns="0" tIns="0" rIns="0" bIns="0" anchor="t"/>
          <a:lstStyle/>
          <a:p>
            <a:pPr algn="l"/>
            <a:r>
              <a:rPr sz="1100" b="0">
                <a:solidFill>
                  <a:srgbClr val="5B7383"/>
                </a:solidFill>
                <a:latin typeface="Verdana Pro Light"/>
              </a:rPr>
              <a:t>and how far each source is trusted</a:t>
            </a:r>
          </a:p>
        </p:txBody>
      </p:sp>
      <p:sp>
        <p:nvSpPr>
          <p:cNvPr id="796" name="Shape 797"/>
          <p:cNvSpPr/>
          <p:nvPr/>
        </p:nvSpPr>
        <p:spPr>
          <a:xfrm>
            <a:off x="6675120" y="36027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798" name="TextBox 799"/>
          <p:cNvSpPr txBox="1"/>
          <p:nvPr/>
        </p:nvSpPr>
        <p:spPr>
          <a:xfrm>
            <a:off x="7004304" y="3520440"/>
            <a:ext cx="2900000" cy="292608"/>
          </a:xfrm>
          <a:prstGeom prst="rect">
            <a:avLst/>
          </a:prstGeom>
          <a:noFill/>
        </p:spPr>
        <p:txBody>
          <a:bodyPr wrap="square" lIns="0" tIns="0" rIns="0" bIns="0" anchor="t"/>
          <a:lstStyle/>
          <a:p>
            <a:pPr algn="l"/>
            <a:r>
              <a:rPr sz="1150" b="1">
                <a:solidFill>
                  <a:srgbClr val="161616"/>
                </a:solidFill>
                <a:latin typeface="Verdana Pro Semibold"/>
              </a:rPr>
              <a:t>The pattern library</a:t>
            </a:r>
          </a:p>
        </p:txBody>
      </p:sp>
      <p:sp>
        <p:nvSpPr>
          <p:cNvPr id="800" name="TextBox 801"/>
          <p:cNvSpPr txBox="1"/>
          <p:nvPr/>
        </p:nvSpPr>
        <p:spPr>
          <a:xfrm>
            <a:off x="7004304" y="381304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LOWW → VIE was approved by a Steward in March</a:t>
            </a:r>
          </a:p>
        </p:txBody>
      </p:sp>
      <p:sp>
        <p:nvSpPr>
          <p:cNvPr id="802" name="Shape 803"/>
          <p:cNvSpPr/>
          <p:nvPr/>
        </p:nvSpPr>
        <p:spPr>
          <a:xfrm>
            <a:off x="6675120" y="42428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804" name="TextBox 805"/>
          <p:cNvSpPr txBox="1"/>
          <p:nvPr/>
        </p:nvSpPr>
        <p:spPr>
          <a:xfrm>
            <a:off x="7004304" y="4160520"/>
            <a:ext cx="2900000" cy="292608"/>
          </a:xfrm>
          <a:prstGeom prst="rect">
            <a:avLst/>
          </a:prstGeom>
          <a:noFill/>
        </p:spPr>
        <p:txBody>
          <a:bodyPr wrap="square" lIns="0" tIns="0" rIns="0" bIns="0" anchor="t"/>
          <a:lstStyle/>
          <a:p>
            <a:pPr algn="l"/>
            <a:r>
              <a:rPr sz="1150" b="1">
                <a:solidFill>
                  <a:srgbClr val="161616"/>
                </a:solidFill>
                <a:latin typeface="Verdana Pro Semibold"/>
              </a:rPr>
              <a:t>The published ICAO register</a:t>
            </a:r>
          </a:p>
        </p:txBody>
      </p:sp>
      <p:sp>
        <p:nvSpPr>
          <p:cNvPr id="806" name="TextBox 807"/>
          <p:cNvSpPr txBox="1"/>
          <p:nvPr/>
        </p:nvSpPr>
        <p:spPr>
          <a:xfrm>
            <a:off x="7004304" y="445312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authoritative, dated, and reversible without ambiguity</a:t>
            </a:r>
          </a:p>
        </p:txBody>
      </p:sp>
      <p:sp>
        <p:nvSpPr>
          <p:cNvPr id="808" name="Shape 809"/>
          <p:cNvSpPr/>
          <p:nvPr/>
        </p:nvSpPr>
        <p:spPr>
          <a:xfrm>
            <a:off x="6675120" y="48828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810" name="TextBox 811"/>
          <p:cNvSpPr txBox="1"/>
          <p:nvPr/>
        </p:nvSpPr>
        <p:spPr>
          <a:xfrm>
            <a:off x="7004304" y="4800600"/>
            <a:ext cx="2900000" cy="292608"/>
          </a:xfrm>
          <a:prstGeom prst="rect">
            <a:avLst/>
          </a:prstGeom>
          <a:noFill/>
        </p:spPr>
        <p:txBody>
          <a:bodyPr wrap="square" lIns="0" tIns="0" rIns="0" bIns="0" anchor="t"/>
          <a:lstStyle/>
          <a:p>
            <a:pPr algn="l"/>
            <a:r>
              <a:rPr sz="1150" b="1">
                <a:solidFill>
                  <a:srgbClr val="161616"/>
                </a:solidFill>
                <a:latin typeface="Verdana Pro Semibold"/>
              </a:rPr>
              <a:t>The catalog entry for dep_airport</a:t>
            </a:r>
          </a:p>
        </p:txBody>
      </p:sp>
      <p:sp>
        <p:nvSpPr>
          <p:cNvPr id="812" name="TextBox 813"/>
          <p:cNvSpPr txBox="1"/>
          <p:nvPr/>
        </p:nvSpPr>
        <p:spPr>
          <a:xfrm>
            <a:off x="7004304" y="509320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declared domain: IATA airport codes</a:t>
            </a:r>
          </a:p>
        </p:txBody>
      </p:sp>
      <p:sp>
        <p:nvSpPr>
          <p:cNvPr id="814" name="Shape 815"/>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816" name="TextBox 817"/>
          <p:cNvSpPr txBox="1"/>
          <p:nvPr/>
        </p:nvSpPr>
        <p:spPr>
          <a:xfrm>
            <a:off x="941832" y="5578560"/>
            <a:ext cx="1600000" cy="500000"/>
          </a:xfrm>
          <a:prstGeom prst="rect">
            <a:avLst/>
          </a:prstGeom>
          <a:noFill/>
        </p:spPr>
        <p:txBody>
          <a:bodyPr wrap="square" lIns="0" tIns="0" rIns="0" bIns="0" anchor="ctr"/>
          <a:lstStyle/>
          <a:p>
            <a:pPr algn="l"/>
            <a:r>
              <a:rPr sz="1150" b="1">
                <a:solidFill>
                  <a:srgbClr val="5B7383"/>
                </a:solidFill>
                <a:latin typeface="Verdana Pro Semibold"/>
              </a:rPr>
              <a:t>Maturity</a:t>
            </a:r>
          </a:p>
        </p:txBody>
      </p:sp>
      <p:sp>
        <p:nvSpPr>
          <p:cNvPr id="818" name="TextBox 819"/>
          <p:cNvSpPr txBox="1"/>
          <p:nvPr/>
        </p:nvSpPr>
        <p:spPr>
          <a:xfrm>
            <a:off x="2377440" y="5578560"/>
            <a:ext cx="8000000" cy="500000"/>
          </a:xfrm>
          <a:prstGeom prst="rect">
            <a:avLst/>
          </a:prstGeom>
          <a:noFill/>
        </p:spPr>
        <p:txBody>
          <a:bodyPr wrap="square" lIns="0" tIns="0" rIns="0" bIns="0" anchor="ctr"/>
          <a:lstStyle/>
          <a:p>
            <a:pPr algn="l">
              <a:lnSpc>
                <a:spcPct val="112000"/>
              </a:lnSpc>
            </a:pPr>
            <a:r>
              <a:rPr sz="1200" b="0">
                <a:solidFill>
                  <a:srgbClr val="161616"/>
                </a:solidFill>
                <a:latin typeface="Verdana Pro Light"/>
              </a:rPr>
              <a:t>Close to today. Register lookup plus an approved pattern is the easiest case there 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 name="TextBox 873"/>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Scenario 02  ·  The trigger</a:t>
            </a:r>
          </a:p>
        </p:txBody>
      </p:sp>
      <p:sp>
        <p:nvSpPr>
          <p:cNvPr id="874" name="TextBox 875"/>
          <p:cNvSpPr txBox="1"/>
          <p:nvPr/>
        </p:nvSpPr>
        <p:spPr>
          <a:xfrm>
            <a:off x="621792" y="822960"/>
            <a:ext cx="10607040" cy="1005840"/>
          </a:xfrm>
          <a:prstGeom prst="rect">
            <a:avLst/>
          </a:prstGeom>
          <a:noFill/>
        </p:spPr>
        <p:txBody>
          <a:bodyPr wrap="square" lIns="0" tIns="0" rIns="0" bIns="0" anchor="b"/>
          <a:lstStyle/>
          <a:p>
            <a:pPr algn="l">
              <a:lnSpc>
                <a:spcPct val="116000"/>
              </a:lnSpc>
            </a:pPr>
            <a:r>
              <a:rPr sz="1900" b="1">
                <a:solidFill>
                  <a:srgbClr val="161616"/>
                </a:solidFill>
                <a:latin typeface="Verdana Pro Semibold"/>
              </a:rPr>
              <a:t>WG 402 boards 36 passengers onto a 180-seat aircraft</a:t>
            </a:r>
          </a:p>
        </p:txBody>
      </p:sp>
      <p:pic>
        <p:nvPicPr>
          <p:cNvPr id="876" name="Picture 877" descr="logo_black.png"/>
          <p:cNvPicPr>
            <a:picLocks noChangeAspect="1"/>
          </p:cNvPicPr>
          <p:nvPr/>
        </p:nvPicPr>
        <p:blipFill>
          <a:blip r:embed="rId3"/>
          <a:stretch>
            <a:fillRect/>
          </a:stretch>
        </p:blipFill>
        <p:spPr>
          <a:xfrm>
            <a:off x="621792" y="6327648"/>
            <a:ext cx="811952" cy="310896"/>
          </a:xfrm>
          <a:prstGeom prst="rect">
            <a:avLst/>
          </a:prstGeom>
        </p:spPr>
      </p:pic>
      <p:sp>
        <p:nvSpPr>
          <p:cNvPr id="878" name="TextBox 879"/>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880" name="TextBox 881"/>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882" name="TextBox 883"/>
          <p:cNvSpPr txBox="1"/>
          <p:nvPr/>
        </p:nvSpPr>
        <p:spPr>
          <a:xfrm>
            <a:off x="11109960" y="6345936"/>
            <a:ext cx="457200" cy="274320"/>
          </a:xfrm>
          <a:prstGeom prst="rect">
            <a:avLst/>
          </a:prstGeom>
          <a:noFill/>
        </p:spPr>
        <p:txBody>
          <a:bodyPr wrap="square" lIns="0" tIns="0" rIns="0" bIns="0" anchor="ctr"/>
          <a:lstStyle/>
          <a:p>
            <a:pPr algn="r"/>
            <a:r>
              <a:rPr sz="1050" b="0" dirty="0">
                <a:solidFill>
                  <a:srgbClr val="016BFF"/>
                </a:solidFill>
                <a:latin typeface="Verdana Pro Light"/>
              </a:rPr>
              <a:t>2</a:t>
            </a:r>
            <a:r>
              <a:rPr lang="de-AT" sz="1050" b="0" dirty="0">
                <a:solidFill>
                  <a:srgbClr val="016BFF"/>
                </a:solidFill>
                <a:latin typeface="Verdana Pro Light"/>
              </a:rPr>
              <a:t>6</a:t>
            </a:r>
            <a:endParaRPr sz="1050" b="0" dirty="0">
              <a:solidFill>
                <a:srgbClr val="016BFF"/>
              </a:solidFill>
              <a:latin typeface="Verdana Pro Light"/>
            </a:endParaRPr>
          </a:p>
        </p:txBody>
      </p:sp>
      <p:sp>
        <p:nvSpPr>
          <p:cNvPr id="884" name="Shape 885"/>
          <p:cNvSpPr/>
          <p:nvPr/>
        </p:nvSpPr>
        <p:spPr>
          <a:xfrm>
            <a:off x="621792" y="1965960"/>
            <a:ext cx="5257800" cy="3474720"/>
          </a:xfrm>
          <a:prstGeom prst="rect">
            <a:avLst/>
          </a:prstGeom>
          <a:solidFill>
            <a:srgbClr val="FDEEEE"/>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886" name="Shape 887"/>
          <p:cNvSpPr/>
          <p:nvPr/>
        </p:nvSpPr>
        <p:spPr>
          <a:xfrm>
            <a:off x="987552" y="2240279"/>
            <a:ext cx="256032" cy="256032"/>
          </a:xfrm>
          <a:prstGeom prst="ellipse">
            <a:avLst/>
          </a:prstGeom>
          <a:solidFill>
            <a:srgbClr val="E9B6B6"/>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888" name="Shape 889"/>
          <p:cNvSpPr/>
          <p:nvPr/>
        </p:nvSpPr>
        <p:spPr>
          <a:xfrm>
            <a:off x="1056680" y="2309408"/>
            <a:ext cx="117774" cy="117774"/>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890" name="TextBox 891"/>
          <p:cNvSpPr txBox="1"/>
          <p:nvPr/>
        </p:nvSpPr>
        <p:spPr>
          <a:xfrm>
            <a:off x="987552" y="2670048"/>
            <a:ext cx="4572000" cy="292608"/>
          </a:xfrm>
          <a:prstGeom prst="rect">
            <a:avLst/>
          </a:prstGeom>
          <a:noFill/>
        </p:spPr>
        <p:txBody>
          <a:bodyPr wrap="square" lIns="0" tIns="0" rIns="0" bIns="0" anchor="t"/>
          <a:lstStyle/>
          <a:p>
            <a:pPr algn="l"/>
            <a:r>
              <a:rPr sz="1500" b="1">
                <a:solidFill>
                  <a:srgbClr val="C62828"/>
                </a:solidFill>
                <a:latin typeface="Verdana Pro Semibold"/>
              </a:rPr>
              <a:t>What fired</a:t>
            </a:r>
          </a:p>
        </p:txBody>
      </p:sp>
      <p:sp>
        <p:nvSpPr>
          <p:cNvPr id="892" name="TextBox 893"/>
          <p:cNvSpPr txBox="1"/>
          <p:nvPr/>
        </p:nvSpPr>
        <p:spPr>
          <a:xfrm>
            <a:off x="987552" y="3063239"/>
            <a:ext cx="4526280" cy="274320"/>
          </a:xfrm>
          <a:prstGeom prst="rect">
            <a:avLst/>
          </a:prstGeom>
          <a:noFill/>
        </p:spPr>
        <p:txBody>
          <a:bodyPr wrap="square" lIns="0" tIns="0" rIns="0" bIns="0" anchor="t"/>
          <a:lstStyle/>
          <a:p>
            <a:pPr algn="l"/>
            <a:r>
              <a:rPr sz="1100" b="0">
                <a:solidFill>
                  <a:srgbClr val="5B7383"/>
                </a:solidFill>
                <a:latin typeface="Verdana Pro Light"/>
              </a:rPr>
              <a:t>the trigger, not a ticket</a:t>
            </a:r>
          </a:p>
        </p:txBody>
      </p:sp>
      <p:sp>
        <p:nvSpPr>
          <p:cNvPr id="894" name="Shape 895"/>
          <p:cNvSpPr/>
          <p:nvPr/>
        </p:nvSpPr>
        <p:spPr>
          <a:xfrm>
            <a:off x="987552" y="360273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896" name="TextBox 897"/>
          <p:cNvSpPr txBox="1"/>
          <p:nvPr/>
        </p:nvSpPr>
        <p:spPr>
          <a:xfrm>
            <a:off x="1316736" y="352044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Data Observability: load factor on VIE–WAW is 0.20, against a band that has not been below 0.72 in two years</a:t>
            </a:r>
          </a:p>
        </p:txBody>
      </p:sp>
      <p:sp>
        <p:nvSpPr>
          <p:cNvPr id="898" name="Shape 899"/>
          <p:cNvSpPr/>
          <p:nvPr/>
        </p:nvSpPr>
        <p:spPr>
          <a:xfrm>
            <a:off x="987552" y="424281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00" name="TextBox 901"/>
          <p:cNvSpPr txBox="1"/>
          <p:nvPr/>
        </p:nvSpPr>
        <p:spPr>
          <a:xfrm>
            <a:off x="1316736" y="416052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Data Quality: the leg fails the 50%-of-seats rule</a:t>
            </a:r>
          </a:p>
        </p:txBody>
      </p:sp>
      <p:sp>
        <p:nvSpPr>
          <p:cNvPr id="902" name="Shape 903"/>
          <p:cNvSpPr/>
          <p:nvPr/>
        </p:nvSpPr>
        <p:spPr>
          <a:xfrm>
            <a:off x="987552" y="488289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04" name="TextBox 905"/>
          <p:cNvSpPr txBox="1"/>
          <p:nvPr/>
        </p:nvSpPr>
        <p:spPr>
          <a:xfrm>
            <a:off x="1316736" y="480060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The rest of the day's legs are entirely normal</a:t>
            </a:r>
          </a:p>
        </p:txBody>
      </p:sp>
      <p:sp>
        <p:nvSpPr>
          <p:cNvPr id="906" name="Shape 907"/>
          <p:cNvSpPr/>
          <p:nvPr/>
        </p:nvSpPr>
        <p:spPr>
          <a:xfrm>
            <a:off x="6309360" y="1965960"/>
            <a:ext cx="5257800" cy="34747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08" name="Shape 909"/>
          <p:cNvSpPr/>
          <p:nvPr/>
        </p:nvSpPr>
        <p:spPr>
          <a:xfrm>
            <a:off x="6675120" y="2240279"/>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10" name="Shape 911"/>
          <p:cNvSpPr/>
          <p:nvPr/>
        </p:nvSpPr>
        <p:spPr>
          <a:xfrm>
            <a:off x="6744248" y="2309408"/>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12" name="TextBox 913"/>
          <p:cNvSpPr txBox="1"/>
          <p:nvPr/>
        </p:nvSpPr>
        <p:spPr>
          <a:xfrm>
            <a:off x="6675120" y="2670048"/>
            <a:ext cx="4572000" cy="292608"/>
          </a:xfrm>
          <a:prstGeom prst="rect">
            <a:avLst/>
          </a:prstGeom>
          <a:noFill/>
        </p:spPr>
        <p:txBody>
          <a:bodyPr wrap="square" lIns="0" tIns="0" rIns="0" bIns="0" anchor="t"/>
          <a:lstStyle/>
          <a:p>
            <a:pPr algn="l"/>
            <a:r>
              <a:rPr sz="1500" b="1">
                <a:solidFill>
                  <a:srgbClr val="016BFF"/>
                </a:solidFill>
                <a:latin typeface="Verdana Pro Semibold"/>
              </a:rPr>
              <a:t>What the agent may reach</a:t>
            </a:r>
          </a:p>
        </p:txBody>
      </p:sp>
      <p:sp>
        <p:nvSpPr>
          <p:cNvPr id="914" name="TextBox 915"/>
          <p:cNvSpPr txBox="1"/>
          <p:nvPr/>
        </p:nvSpPr>
        <p:spPr>
          <a:xfrm>
            <a:off x="6675120" y="3063239"/>
            <a:ext cx="4526280" cy="274320"/>
          </a:xfrm>
          <a:prstGeom prst="rect">
            <a:avLst/>
          </a:prstGeom>
          <a:noFill/>
        </p:spPr>
        <p:txBody>
          <a:bodyPr wrap="square" lIns="0" tIns="0" rIns="0" bIns="0" anchor="t"/>
          <a:lstStyle/>
          <a:p>
            <a:pPr algn="l"/>
            <a:r>
              <a:rPr sz="1100" b="0">
                <a:solidFill>
                  <a:srgbClr val="5B7383"/>
                </a:solidFill>
                <a:latin typeface="Verdana Pro Light"/>
              </a:rPr>
              <a:t>and how far each source is trusted</a:t>
            </a:r>
          </a:p>
        </p:txBody>
      </p:sp>
      <p:sp>
        <p:nvSpPr>
          <p:cNvPr id="916" name="Shape 917"/>
          <p:cNvSpPr/>
          <p:nvPr/>
        </p:nvSpPr>
        <p:spPr>
          <a:xfrm>
            <a:off x="6675120" y="36027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18" name="TextBox 919"/>
          <p:cNvSpPr txBox="1"/>
          <p:nvPr/>
        </p:nvSpPr>
        <p:spPr>
          <a:xfrm>
            <a:off x="7004304" y="3520440"/>
            <a:ext cx="2900000" cy="292608"/>
          </a:xfrm>
          <a:prstGeom prst="rect">
            <a:avLst/>
          </a:prstGeom>
          <a:noFill/>
        </p:spPr>
        <p:txBody>
          <a:bodyPr wrap="square" lIns="0" tIns="0" rIns="0" bIns="0" anchor="t"/>
          <a:lstStyle/>
          <a:p>
            <a:pPr algn="l"/>
            <a:r>
              <a:rPr sz="1150" b="1">
                <a:solidFill>
                  <a:srgbClr val="161616"/>
                </a:solidFill>
                <a:latin typeface="Verdana Pro Semibold"/>
              </a:rPr>
              <a:t>The pattern library</a:t>
            </a:r>
          </a:p>
        </p:txBody>
      </p:sp>
      <p:sp>
        <p:nvSpPr>
          <p:cNvPr id="920" name="TextBox 921"/>
          <p:cNvSpPr txBox="1"/>
          <p:nvPr/>
        </p:nvSpPr>
        <p:spPr>
          <a:xfrm>
            <a:off x="7004304" y="381304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‘reload a leg, then verify against a second source’ is approved</a:t>
            </a:r>
          </a:p>
        </p:txBody>
      </p:sp>
      <p:sp>
        <p:nvSpPr>
          <p:cNvPr id="922" name="Shape 923"/>
          <p:cNvSpPr/>
          <p:nvPr/>
        </p:nvSpPr>
        <p:spPr>
          <a:xfrm>
            <a:off x="6675120" y="42428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24" name="TextBox 925"/>
          <p:cNvSpPr txBox="1"/>
          <p:nvPr/>
        </p:nvSpPr>
        <p:spPr>
          <a:xfrm>
            <a:off x="7004304" y="4160520"/>
            <a:ext cx="2900000" cy="292608"/>
          </a:xfrm>
          <a:prstGeom prst="rect">
            <a:avLst/>
          </a:prstGeom>
          <a:noFill/>
        </p:spPr>
        <p:txBody>
          <a:bodyPr wrap="square" lIns="0" tIns="0" rIns="0" bIns="0" anchor="t"/>
          <a:lstStyle/>
          <a:p>
            <a:pPr algn="l"/>
            <a:r>
              <a:rPr sz="1150" b="1">
                <a:solidFill>
                  <a:srgbClr val="161616"/>
                </a:solidFill>
                <a:latin typeface="Verdana Pro Semibold"/>
              </a:rPr>
              <a:t>The booking system, through its API</a:t>
            </a:r>
          </a:p>
        </p:txBody>
      </p:sp>
      <p:sp>
        <p:nvSpPr>
          <p:cNvPr id="926" name="TextBox 927"/>
          <p:cNvSpPr txBox="1"/>
          <p:nvPr/>
        </p:nvSpPr>
        <p:spPr>
          <a:xfrm>
            <a:off x="7004304" y="445312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a second, independent count for the same leg</a:t>
            </a:r>
          </a:p>
        </p:txBody>
      </p:sp>
      <p:sp>
        <p:nvSpPr>
          <p:cNvPr id="928" name="Shape 929"/>
          <p:cNvSpPr/>
          <p:nvPr/>
        </p:nvSpPr>
        <p:spPr>
          <a:xfrm>
            <a:off x="6675120" y="48828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30" name="TextBox 931"/>
          <p:cNvSpPr txBox="1"/>
          <p:nvPr/>
        </p:nvSpPr>
        <p:spPr>
          <a:xfrm>
            <a:off x="7004304" y="4800600"/>
            <a:ext cx="2900000" cy="292608"/>
          </a:xfrm>
          <a:prstGeom prst="rect">
            <a:avLst/>
          </a:prstGeom>
          <a:noFill/>
        </p:spPr>
        <p:txBody>
          <a:bodyPr wrap="square" lIns="0" tIns="0" rIns="0" bIns="0" anchor="t"/>
          <a:lstStyle/>
          <a:p>
            <a:pPr algn="l"/>
            <a:r>
              <a:rPr sz="1150" b="1">
                <a:solidFill>
                  <a:srgbClr val="161616"/>
                </a:solidFill>
                <a:latin typeface="Verdana Pro Semibold"/>
              </a:rPr>
              <a:t>Lineage</a:t>
            </a:r>
          </a:p>
        </p:txBody>
      </p:sp>
      <p:sp>
        <p:nvSpPr>
          <p:cNvPr id="932" name="TextBox 933"/>
          <p:cNvSpPr txBox="1"/>
          <p:nvPr/>
        </p:nvSpPr>
        <p:spPr>
          <a:xfrm>
            <a:off x="7004304" y="509320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three marts and the daily operations report consume this leg</a:t>
            </a:r>
          </a:p>
        </p:txBody>
      </p:sp>
      <p:sp>
        <p:nvSpPr>
          <p:cNvPr id="934" name="Shape 935"/>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936" name="TextBox 937"/>
          <p:cNvSpPr txBox="1"/>
          <p:nvPr/>
        </p:nvSpPr>
        <p:spPr>
          <a:xfrm>
            <a:off x="941832" y="5578560"/>
            <a:ext cx="1600000" cy="500000"/>
          </a:xfrm>
          <a:prstGeom prst="rect">
            <a:avLst/>
          </a:prstGeom>
          <a:noFill/>
        </p:spPr>
        <p:txBody>
          <a:bodyPr wrap="square" lIns="0" tIns="0" rIns="0" bIns="0" anchor="ctr"/>
          <a:lstStyle/>
          <a:p>
            <a:pPr algn="l"/>
            <a:r>
              <a:rPr sz="1150" b="1">
                <a:solidFill>
                  <a:srgbClr val="5B7383"/>
                </a:solidFill>
                <a:latin typeface="Verdana Pro Semibold"/>
              </a:rPr>
              <a:t>Maturity</a:t>
            </a:r>
          </a:p>
        </p:txBody>
      </p:sp>
      <p:sp>
        <p:nvSpPr>
          <p:cNvPr id="938" name="TextBox 939"/>
          <p:cNvSpPr txBox="1"/>
          <p:nvPr/>
        </p:nvSpPr>
        <p:spPr>
          <a:xfrm>
            <a:off x="2377440" y="5578560"/>
            <a:ext cx="8000000" cy="500000"/>
          </a:xfrm>
          <a:prstGeom prst="rect">
            <a:avLst/>
          </a:prstGeom>
          <a:noFill/>
        </p:spPr>
        <p:txBody>
          <a:bodyPr wrap="square" lIns="0" tIns="0" rIns="0" bIns="0" anchor="ctr"/>
          <a:lstStyle/>
          <a:p>
            <a:pPr algn="l">
              <a:lnSpc>
                <a:spcPct val="112000"/>
              </a:lnSpc>
            </a:pPr>
            <a:r>
              <a:rPr sz="1200" b="0">
                <a:solidFill>
                  <a:srgbClr val="161616"/>
                </a:solidFill>
                <a:latin typeface="Verdana Pro Light"/>
              </a:rPr>
              <a:t>Close to today. The reload is a known procedure; the agent chooses when to call 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 name="TextBox 993"/>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Scenario 03  ·  The trigger</a:t>
            </a:r>
          </a:p>
        </p:txBody>
      </p:sp>
      <p:sp>
        <p:nvSpPr>
          <p:cNvPr id="994" name="TextBox 995"/>
          <p:cNvSpPr txBox="1"/>
          <p:nvPr/>
        </p:nvSpPr>
        <p:spPr>
          <a:xfrm>
            <a:off x="621792" y="822960"/>
            <a:ext cx="10607040" cy="1005840"/>
          </a:xfrm>
          <a:prstGeom prst="rect">
            <a:avLst/>
          </a:prstGeom>
          <a:noFill/>
        </p:spPr>
        <p:txBody>
          <a:bodyPr wrap="square" lIns="0" tIns="0" rIns="0" bIns="0" anchor="b"/>
          <a:lstStyle/>
          <a:p>
            <a:pPr algn="l">
              <a:lnSpc>
                <a:spcPct val="116000"/>
              </a:lnSpc>
            </a:pPr>
            <a:r>
              <a:rPr sz="1900" b="1">
                <a:solidFill>
                  <a:srgbClr val="161616"/>
                </a:solidFill>
                <a:latin typeface="Verdana Pro Semibold"/>
              </a:rPr>
              <a:t>Departure Control counts 168 passengers on WG 402, the Airport Operational Database counts 171</a:t>
            </a:r>
          </a:p>
        </p:txBody>
      </p:sp>
      <p:pic>
        <p:nvPicPr>
          <p:cNvPr id="996" name="Picture 997" descr="logo_black.png"/>
          <p:cNvPicPr>
            <a:picLocks noChangeAspect="1"/>
          </p:cNvPicPr>
          <p:nvPr/>
        </p:nvPicPr>
        <p:blipFill>
          <a:blip r:embed="rId3"/>
          <a:stretch>
            <a:fillRect/>
          </a:stretch>
        </p:blipFill>
        <p:spPr>
          <a:xfrm>
            <a:off x="621792" y="6327648"/>
            <a:ext cx="811952" cy="310896"/>
          </a:xfrm>
          <a:prstGeom prst="rect">
            <a:avLst/>
          </a:prstGeom>
        </p:spPr>
      </p:pic>
      <p:sp>
        <p:nvSpPr>
          <p:cNvPr id="998" name="TextBox 999"/>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1000" name="TextBox 1001"/>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1002" name="TextBox 1003"/>
          <p:cNvSpPr txBox="1"/>
          <p:nvPr/>
        </p:nvSpPr>
        <p:spPr>
          <a:xfrm>
            <a:off x="11098809" y="6345936"/>
            <a:ext cx="457200" cy="274320"/>
          </a:xfrm>
          <a:prstGeom prst="rect">
            <a:avLst/>
          </a:prstGeom>
          <a:noFill/>
        </p:spPr>
        <p:txBody>
          <a:bodyPr wrap="square" lIns="0" tIns="0" rIns="0" bIns="0" anchor="ctr"/>
          <a:lstStyle/>
          <a:p>
            <a:pPr algn="r"/>
            <a:r>
              <a:rPr lang="de-AT" sz="1050" b="0" dirty="0">
                <a:solidFill>
                  <a:srgbClr val="016BFF"/>
                </a:solidFill>
                <a:latin typeface="Verdana Pro Light"/>
              </a:rPr>
              <a:t>27</a:t>
            </a:r>
            <a:endParaRPr sz="1050" b="0" dirty="0">
              <a:solidFill>
                <a:srgbClr val="016BFF"/>
              </a:solidFill>
              <a:latin typeface="Verdana Pro Light"/>
            </a:endParaRPr>
          </a:p>
        </p:txBody>
      </p:sp>
      <p:sp>
        <p:nvSpPr>
          <p:cNvPr id="1004" name="Shape 1005"/>
          <p:cNvSpPr/>
          <p:nvPr/>
        </p:nvSpPr>
        <p:spPr>
          <a:xfrm>
            <a:off x="621792" y="1965960"/>
            <a:ext cx="5257800" cy="3474720"/>
          </a:xfrm>
          <a:prstGeom prst="rect">
            <a:avLst/>
          </a:prstGeom>
          <a:solidFill>
            <a:srgbClr val="FDEEEE"/>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06" name="Shape 1007"/>
          <p:cNvSpPr/>
          <p:nvPr/>
        </p:nvSpPr>
        <p:spPr>
          <a:xfrm>
            <a:off x="987552" y="2240279"/>
            <a:ext cx="256032" cy="256032"/>
          </a:xfrm>
          <a:prstGeom prst="ellipse">
            <a:avLst/>
          </a:prstGeom>
          <a:solidFill>
            <a:srgbClr val="E9B6B6"/>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08" name="Shape 1009"/>
          <p:cNvSpPr/>
          <p:nvPr/>
        </p:nvSpPr>
        <p:spPr>
          <a:xfrm>
            <a:off x="1056680" y="2309408"/>
            <a:ext cx="117774" cy="117774"/>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10" name="TextBox 1011"/>
          <p:cNvSpPr txBox="1"/>
          <p:nvPr/>
        </p:nvSpPr>
        <p:spPr>
          <a:xfrm>
            <a:off x="987552" y="2670048"/>
            <a:ext cx="4572000" cy="292608"/>
          </a:xfrm>
          <a:prstGeom prst="rect">
            <a:avLst/>
          </a:prstGeom>
          <a:noFill/>
        </p:spPr>
        <p:txBody>
          <a:bodyPr wrap="square" lIns="0" tIns="0" rIns="0" bIns="0" anchor="t"/>
          <a:lstStyle/>
          <a:p>
            <a:pPr algn="l"/>
            <a:r>
              <a:rPr sz="1500" b="1">
                <a:solidFill>
                  <a:srgbClr val="C62828"/>
                </a:solidFill>
                <a:latin typeface="Verdana Pro Semibold"/>
              </a:rPr>
              <a:t>What fired</a:t>
            </a:r>
          </a:p>
        </p:txBody>
      </p:sp>
      <p:sp>
        <p:nvSpPr>
          <p:cNvPr id="1012" name="TextBox 1013"/>
          <p:cNvSpPr txBox="1"/>
          <p:nvPr/>
        </p:nvSpPr>
        <p:spPr>
          <a:xfrm>
            <a:off x="987552" y="3063239"/>
            <a:ext cx="4526280" cy="274320"/>
          </a:xfrm>
          <a:prstGeom prst="rect">
            <a:avLst/>
          </a:prstGeom>
          <a:noFill/>
        </p:spPr>
        <p:txBody>
          <a:bodyPr wrap="square" lIns="0" tIns="0" rIns="0" bIns="0" anchor="t"/>
          <a:lstStyle/>
          <a:p>
            <a:pPr algn="l"/>
            <a:r>
              <a:rPr sz="1100" b="0">
                <a:solidFill>
                  <a:srgbClr val="5B7383"/>
                </a:solidFill>
                <a:latin typeface="Verdana Pro Light"/>
              </a:rPr>
              <a:t>the trigger, not a ticket</a:t>
            </a:r>
          </a:p>
        </p:txBody>
      </p:sp>
      <p:sp>
        <p:nvSpPr>
          <p:cNvPr id="1014" name="Shape 1015"/>
          <p:cNvSpPr/>
          <p:nvPr/>
        </p:nvSpPr>
        <p:spPr>
          <a:xfrm>
            <a:off x="987552" y="360273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16" name="TextBox 1017"/>
          <p:cNvSpPr txBox="1"/>
          <p:nvPr/>
        </p:nvSpPr>
        <p:spPr>
          <a:xfrm>
            <a:off x="1316736" y="352044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Data Reconciliation: the scheduled comparison between the two systems fails by three passengers</a:t>
            </a:r>
          </a:p>
        </p:txBody>
      </p:sp>
      <p:sp>
        <p:nvSpPr>
          <p:cNvPr id="1018" name="Shape 1019"/>
          <p:cNvSpPr/>
          <p:nvPr/>
        </p:nvSpPr>
        <p:spPr>
          <a:xfrm>
            <a:off x="987552" y="424281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20" name="TextBox 1021"/>
          <p:cNvSpPr txBox="1"/>
          <p:nvPr/>
        </p:nvSpPr>
        <p:spPr>
          <a:xfrm>
            <a:off x="1316736" y="416052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Data Observability: nothing. Both feeds are on time, at normal volume, with normal distributions</a:t>
            </a:r>
          </a:p>
        </p:txBody>
      </p:sp>
      <p:sp>
        <p:nvSpPr>
          <p:cNvPr id="1022" name="Shape 1023"/>
          <p:cNvSpPr/>
          <p:nvPr/>
        </p:nvSpPr>
        <p:spPr>
          <a:xfrm>
            <a:off x="987552" y="488289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24" name="TextBox 1025"/>
          <p:cNvSpPr txBox="1"/>
          <p:nvPr/>
        </p:nvSpPr>
        <p:spPr>
          <a:xfrm>
            <a:off x="1316736" y="480060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168 is a normal number. 171 is a normal number. No metric moved at all</a:t>
            </a:r>
          </a:p>
        </p:txBody>
      </p:sp>
      <p:sp>
        <p:nvSpPr>
          <p:cNvPr id="1026" name="Shape 1027"/>
          <p:cNvSpPr/>
          <p:nvPr/>
        </p:nvSpPr>
        <p:spPr>
          <a:xfrm>
            <a:off x="6309360" y="1965960"/>
            <a:ext cx="5257800" cy="34747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28" name="Shape 1029"/>
          <p:cNvSpPr/>
          <p:nvPr/>
        </p:nvSpPr>
        <p:spPr>
          <a:xfrm>
            <a:off x="6675120" y="2240279"/>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30" name="Shape 1031"/>
          <p:cNvSpPr/>
          <p:nvPr/>
        </p:nvSpPr>
        <p:spPr>
          <a:xfrm>
            <a:off x="6744248" y="2309408"/>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32" name="TextBox 1033"/>
          <p:cNvSpPr txBox="1"/>
          <p:nvPr/>
        </p:nvSpPr>
        <p:spPr>
          <a:xfrm>
            <a:off x="6675120" y="2670048"/>
            <a:ext cx="4572000" cy="292608"/>
          </a:xfrm>
          <a:prstGeom prst="rect">
            <a:avLst/>
          </a:prstGeom>
          <a:noFill/>
        </p:spPr>
        <p:txBody>
          <a:bodyPr wrap="square" lIns="0" tIns="0" rIns="0" bIns="0" anchor="t"/>
          <a:lstStyle/>
          <a:p>
            <a:pPr algn="l"/>
            <a:r>
              <a:rPr sz="1500" b="1">
                <a:solidFill>
                  <a:srgbClr val="016BFF"/>
                </a:solidFill>
                <a:latin typeface="Verdana Pro Semibold"/>
              </a:rPr>
              <a:t>What the agent may reach</a:t>
            </a:r>
          </a:p>
        </p:txBody>
      </p:sp>
      <p:sp>
        <p:nvSpPr>
          <p:cNvPr id="1034" name="TextBox 1035"/>
          <p:cNvSpPr txBox="1"/>
          <p:nvPr/>
        </p:nvSpPr>
        <p:spPr>
          <a:xfrm>
            <a:off x="6675120" y="3063239"/>
            <a:ext cx="4526280" cy="274320"/>
          </a:xfrm>
          <a:prstGeom prst="rect">
            <a:avLst/>
          </a:prstGeom>
          <a:noFill/>
        </p:spPr>
        <p:txBody>
          <a:bodyPr wrap="square" lIns="0" tIns="0" rIns="0" bIns="0" anchor="t"/>
          <a:lstStyle/>
          <a:p>
            <a:pPr algn="l"/>
            <a:r>
              <a:rPr sz="1100" b="0">
                <a:solidFill>
                  <a:srgbClr val="5B7383"/>
                </a:solidFill>
                <a:latin typeface="Verdana Pro Light"/>
              </a:rPr>
              <a:t>and how far each source is trusted</a:t>
            </a:r>
          </a:p>
        </p:txBody>
      </p:sp>
      <p:sp>
        <p:nvSpPr>
          <p:cNvPr id="1036" name="Shape 1037"/>
          <p:cNvSpPr/>
          <p:nvPr/>
        </p:nvSpPr>
        <p:spPr>
          <a:xfrm>
            <a:off x="6675120" y="36027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38" name="TextBox 1039"/>
          <p:cNvSpPr txBox="1"/>
          <p:nvPr/>
        </p:nvSpPr>
        <p:spPr>
          <a:xfrm>
            <a:off x="7004304" y="3520440"/>
            <a:ext cx="2900000" cy="292608"/>
          </a:xfrm>
          <a:prstGeom prst="rect">
            <a:avLst/>
          </a:prstGeom>
          <a:noFill/>
        </p:spPr>
        <p:txBody>
          <a:bodyPr wrap="square" lIns="0" tIns="0" rIns="0" bIns="0" anchor="t"/>
          <a:lstStyle/>
          <a:p>
            <a:pPr algn="l"/>
            <a:r>
              <a:rPr sz="1150" b="1">
                <a:solidFill>
                  <a:srgbClr val="161616"/>
                </a:solidFill>
                <a:latin typeface="Verdana Pro Semibold"/>
              </a:rPr>
              <a:t>The pattern library</a:t>
            </a:r>
          </a:p>
        </p:txBody>
      </p:sp>
      <p:sp>
        <p:nvSpPr>
          <p:cNvPr id="1040" name="TextBox 1041"/>
          <p:cNvSpPr txBox="1"/>
          <p:nvPr/>
        </p:nvSpPr>
        <p:spPr>
          <a:xfrm>
            <a:off x="7004304" y="381304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no approved pattern covers a definitional disagreement</a:t>
            </a:r>
          </a:p>
        </p:txBody>
      </p:sp>
      <p:sp>
        <p:nvSpPr>
          <p:cNvPr id="1042" name="Shape 1043"/>
          <p:cNvSpPr/>
          <p:nvPr/>
        </p:nvSpPr>
        <p:spPr>
          <a:xfrm>
            <a:off x="6675120" y="42428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44" name="TextBox 1045"/>
          <p:cNvSpPr txBox="1"/>
          <p:nvPr/>
        </p:nvSpPr>
        <p:spPr>
          <a:xfrm>
            <a:off x="7004304" y="4160520"/>
            <a:ext cx="2900000" cy="292608"/>
          </a:xfrm>
          <a:prstGeom prst="rect">
            <a:avLst/>
          </a:prstGeom>
          <a:noFill/>
        </p:spPr>
        <p:txBody>
          <a:bodyPr wrap="square" lIns="0" tIns="0" rIns="0" bIns="0" anchor="t"/>
          <a:lstStyle/>
          <a:p>
            <a:pPr algn="l"/>
            <a:r>
              <a:rPr sz="1150" b="1">
                <a:solidFill>
                  <a:srgbClr val="161616"/>
                </a:solidFill>
                <a:latin typeface="Verdana Pro Semibold"/>
              </a:rPr>
              <a:t>Both systems, through their APIs</a:t>
            </a:r>
          </a:p>
        </p:txBody>
      </p:sp>
      <p:sp>
        <p:nvSpPr>
          <p:cNvPr id="1046" name="TextBox 1047"/>
          <p:cNvSpPr txBox="1"/>
          <p:nvPr/>
        </p:nvSpPr>
        <p:spPr>
          <a:xfrm>
            <a:off x="7004304" y="445312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one query each — they are separate databases</a:t>
            </a:r>
          </a:p>
        </p:txBody>
      </p:sp>
      <p:sp>
        <p:nvSpPr>
          <p:cNvPr id="1048" name="Shape 1049"/>
          <p:cNvSpPr/>
          <p:nvPr/>
        </p:nvSpPr>
        <p:spPr>
          <a:xfrm>
            <a:off x="6675120" y="48828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50" name="TextBox 1051"/>
          <p:cNvSpPr txBox="1"/>
          <p:nvPr/>
        </p:nvSpPr>
        <p:spPr>
          <a:xfrm>
            <a:off x="7004304" y="4800600"/>
            <a:ext cx="2900000" cy="292608"/>
          </a:xfrm>
          <a:prstGeom prst="rect">
            <a:avLst/>
          </a:prstGeom>
          <a:noFill/>
        </p:spPr>
        <p:txBody>
          <a:bodyPr wrap="square" lIns="0" tIns="0" rIns="0" bIns="0" anchor="t"/>
          <a:lstStyle/>
          <a:p>
            <a:pPr algn="l"/>
            <a:r>
              <a:rPr sz="1150" b="1">
                <a:solidFill>
                  <a:srgbClr val="161616"/>
                </a:solidFill>
                <a:latin typeface="Verdana Pro Semibold"/>
              </a:rPr>
              <a:t>The catalog</a:t>
            </a:r>
          </a:p>
        </p:txBody>
      </p:sp>
      <p:sp>
        <p:nvSpPr>
          <p:cNvPr id="1052" name="TextBox 1053"/>
          <p:cNvSpPr txBox="1"/>
          <p:nvPr/>
        </p:nvSpPr>
        <p:spPr>
          <a:xfrm>
            <a:off x="7004304" y="509320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and it does not define whether an infant on a lap is a passenger</a:t>
            </a:r>
          </a:p>
        </p:txBody>
      </p:sp>
      <p:sp>
        <p:nvSpPr>
          <p:cNvPr id="1054" name="Shape 1055"/>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56" name="TextBox 1057"/>
          <p:cNvSpPr txBox="1"/>
          <p:nvPr/>
        </p:nvSpPr>
        <p:spPr>
          <a:xfrm>
            <a:off x="941832" y="5578560"/>
            <a:ext cx="1600000" cy="500000"/>
          </a:xfrm>
          <a:prstGeom prst="rect">
            <a:avLst/>
          </a:prstGeom>
          <a:noFill/>
        </p:spPr>
        <p:txBody>
          <a:bodyPr wrap="square" lIns="0" tIns="0" rIns="0" bIns="0" anchor="ctr"/>
          <a:lstStyle/>
          <a:p>
            <a:pPr algn="l"/>
            <a:r>
              <a:rPr sz="1150" b="1">
                <a:solidFill>
                  <a:srgbClr val="5B7383"/>
                </a:solidFill>
                <a:latin typeface="Verdana Pro Semibold"/>
              </a:rPr>
              <a:t>Maturity</a:t>
            </a:r>
          </a:p>
        </p:txBody>
      </p:sp>
      <p:sp>
        <p:nvSpPr>
          <p:cNvPr id="1058" name="TextBox 1059"/>
          <p:cNvSpPr txBox="1"/>
          <p:nvPr/>
        </p:nvSpPr>
        <p:spPr>
          <a:xfrm>
            <a:off x="2377440" y="5578560"/>
            <a:ext cx="8000000" cy="500000"/>
          </a:xfrm>
          <a:prstGeom prst="rect">
            <a:avLst/>
          </a:prstGeom>
          <a:noFill/>
        </p:spPr>
        <p:txBody>
          <a:bodyPr wrap="square" lIns="0" tIns="0" rIns="0" bIns="0" anchor="ctr"/>
          <a:lstStyle/>
          <a:p>
            <a:pPr algn="l">
              <a:lnSpc>
                <a:spcPct val="112000"/>
              </a:lnSpc>
            </a:pPr>
            <a:r>
              <a:rPr sz="1200" b="0">
                <a:solidFill>
                  <a:srgbClr val="161616"/>
                </a:solidFill>
                <a:latin typeface="Verdana Pro Light"/>
              </a:rPr>
              <a:t>Where this goes. The agent does the analysis; the definition stays a human decision.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2" name="TextBox 1113"/>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Scenario 04  ·  The trigger</a:t>
            </a:r>
          </a:p>
        </p:txBody>
      </p:sp>
      <p:sp>
        <p:nvSpPr>
          <p:cNvPr id="1114" name="TextBox 1115"/>
          <p:cNvSpPr txBox="1"/>
          <p:nvPr/>
        </p:nvSpPr>
        <p:spPr>
          <a:xfrm>
            <a:off x="621792" y="822960"/>
            <a:ext cx="10607040" cy="1005840"/>
          </a:xfrm>
          <a:prstGeom prst="rect">
            <a:avLst/>
          </a:prstGeom>
          <a:noFill/>
        </p:spPr>
        <p:txBody>
          <a:bodyPr wrap="square" lIns="0" tIns="0" rIns="0" bIns="0" anchor="b"/>
          <a:lstStyle/>
          <a:p>
            <a:pPr algn="l">
              <a:lnSpc>
                <a:spcPct val="116000"/>
              </a:lnSpc>
            </a:pPr>
            <a:r>
              <a:rPr sz="1900" b="1" dirty="0">
                <a:solidFill>
                  <a:srgbClr val="161616"/>
                </a:solidFill>
                <a:latin typeface="Verdana Pro Semibold"/>
              </a:rPr>
              <a:t>The Airport Operational Database feed lands at 05:40 and the operations report runs at 0</a:t>
            </a:r>
            <a:r>
              <a:rPr lang="de-AT" sz="1900" b="1" dirty="0">
                <a:solidFill>
                  <a:srgbClr val="161616"/>
                </a:solidFill>
                <a:latin typeface="Verdana Pro Semibold"/>
              </a:rPr>
              <a:t>5</a:t>
            </a:r>
            <a:r>
              <a:rPr sz="1900" b="1" dirty="0">
                <a:solidFill>
                  <a:srgbClr val="161616"/>
                </a:solidFill>
                <a:latin typeface="Verdana Pro Semibold"/>
              </a:rPr>
              <a:t>:</a:t>
            </a:r>
            <a:r>
              <a:rPr lang="de-AT" sz="1900" b="1" dirty="0">
                <a:solidFill>
                  <a:srgbClr val="161616"/>
                </a:solidFill>
                <a:latin typeface="Verdana Pro Semibold"/>
              </a:rPr>
              <a:t>3</a:t>
            </a:r>
            <a:r>
              <a:rPr sz="1900" b="1" dirty="0">
                <a:solidFill>
                  <a:srgbClr val="161616"/>
                </a:solidFill>
                <a:latin typeface="Verdana Pro Semibold"/>
              </a:rPr>
              <a:t>0</a:t>
            </a:r>
          </a:p>
        </p:txBody>
      </p:sp>
      <p:pic>
        <p:nvPicPr>
          <p:cNvPr id="1116" name="Picture 1117" descr="logo_black.png"/>
          <p:cNvPicPr>
            <a:picLocks noChangeAspect="1"/>
          </p:cNvPicPr>
          <p:nvPr/>
        </p:nvPicPr>
        <p:blipFill>
          <a:blip r:embed="rId3"/>
          <a:stretch>
            <a:fillRect/>
          </a:stretch>
        </p:blipFill>
        <p:spPr>
          <a:xfrm>
            <a:off x="621792" y="6327648"/>
            <a:ext cx="811952" cy="310896"/>
          </a:xfrm>
          <a:prstGeom prst="rect">
            <a:avLst/>
          </a:prstGeom>
        </p:spPr>
      </p:pic>
      <p:sp>
        <p:nvSpPr>
          <p:cNvPr id="1118" name="TextBox 1119"/>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1120" name="TextBox 1121"/>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1122" name="TextBox 1123"/>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016BFF"/>
                </a:solidFill>
                <a:latin typeface="Verdana Pro Light"/>
              </a:rPr>
              <a:t>28</a:t>
            </a:r>
            <a:endParaRPr sz="1050" b="0" dirty="0">
              <a:solidFill>
                <a:srgbClr val="016BFF"/>
              </a:solidFill>
              <a:latin typeface="Verdana Pro Light"/>
            </a:endParaRPr>
          </a:p>
        </p:txBody>
      </p:sp>
      <p:sp>
        <p:nvSpPr>
          <p:cNvPr id="1124" name="Shape 1125"/>
          <p:cNvSpPr/>
          <p:nvPr/>
        </p:nvSpPr>
        <p:spPr>
          <a:xfrm>
            <a:off x="621792" y="1965960"/>
            <a:ext cx="5257800" cy="3474720"/>
          </a:xfrm>
          <a:prstGeom prst="rect">
            <a:avLst/>
          </a:prstGeom>
          <a:solidFill>
            <a:srgbClr val="FDEEEE"/>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26" name="Shape 1127"/>
          <p:cNvSpPr/>
          <p:nvPr/>
        </p:nvSpPr>
        <p:spPr>
          <a:xfrm>
            <a:off x="987552" y="2240279"/>
            <a:ext cx="256032" cy="256032"/>
          </a:xfrm>
          <a:prstGeom prst="ellipse">
            <a:avLst/>
          </a:prstGeom>
          <a:solidFill>
            <a:srgbClr val="E9B6B6"/>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28" name="Shape 1129"/>
          <p:cNvSpPr/>
          <p:nvPr/>
        </p:nvSpPr>
        <p:spPr>
          <a:xfrm>
            <a:off x="1056680" y="2309408"/>
            <a:ext cx="117774" cy="117774"/>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30" name="TextBox 1131"/>
          <p:cNvSpPr txBox="1"/>
          <p:nvPr/>
        </p:nvSpPr>
        <p:spPr>
          <a:xfrm>
            <a:off x="987552" y="2670048"/>
            <a:ext cx="4572000" cy="292608"/>
          </a:xfrm>
          <a:prstGeom prst="rect">
            <a:avLst/>
          </a:prstGeom>
          <a:noFill/>
        </p:spPr>
        <p:txBody>
          <a:bodyPr wrap="square" lIns="0" tIns="0" rIns="0" bIns="0" anchor="t"/>
          <a:lstStyle/>
          <a:p>
            <a:pPr algn="l"/>
            <a:r>
              <a:rPr sz="1500" b="1">
                <a:solidFill>
                  <a:srgbClr val="C62828"/>
                </a:solidFill>
                <a:latin typeface="Verdana Pro Semibold"/>
              </a:rPr>
              <a:t>What fired</a:t>
            </a:r>
          </a:p>
        </p:txBody>
      </p:sp>
      <p:sp>
        <p:nvSpPr>
          <p:cNvPr id="1132" name="TextBox 1133"/>
          <p:cNvSpPr txBox="1"/>
          <p:nvPr/>
        </p:nvSpPr>
        <p:spPr>
          <a:xfrm>
            <a:off x="987552" y="3063239"/>
            <a:ext cx="4526280" cy="274320"/>
          </a:xfrm>
          <a:prstGeom prst="rect">
            <a:avLst/>
          </a:prstGeom>
          <a:noFill/>
        </p:spPr>
        <p:txBody>
          <a:bodyPr wrap="square" lIns="0" tIns="0" rIns="0" bIns="0" anchor="t"/>
          <a:lstStyle/>
          <a:p>
            <a:pPr algn="l"/>
            <a:r>
              <a:rPr sz="1100" b="0">
                <a:solidFill>
                  <a:srgbClr val="5B7383"/>
                </a:solidFill>
                <a:latin typeface="Verdana Pro Light"/>
              </a:rPr>
              <a:t>the trigger, not a ticket</a:t>
            </a:r>
          </a:p>
        </p:txBody>
      </p:sp>
      <p:sp>
        <p:nvSpPr>
          <p:cNvPr id="1134" name="Shape 1135"/>
          <p:cNvSpPr/>
          <p:nvPr/>
        </p:nvSpPr>
        <p:spPr>
          <a:xfrm>
            <a:off x="987552" y="360273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36" name="TextBox 1137"/>
          <p:cNvSpPr txBox="1"/>
          <p:nvPr/>
        </p:nvSpPr>
        <p:spPr>
          <a:xfrm>
            <a:off x="1316736" y="352044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Data Observability: arrival time is outside the learned window for a Thursday, by more than three hours</a:t>
            </a:r>
          </a:p>
        </p:txBody>
      </p:sp>
      <p:sp>
        <p:nvSpPr>
          <p:cNvPr id="1138" name="Shape 1139"/>
          <p:cNvSpPr/>
          <p:nvPr/>
        </p:nvSpPr>
        <p:spPr>
          <a:xfrm>
            <a:off x="987552" y="424281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40" name="TextBox 1141"/>
          <p:cNvSpPr txBox="1"/>
          <p:nvPr/>
        </p:nvSpPr>
        <p:spPr>
          <a:xfrm>
            <a:off x="1316736" y="416052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No Data Quality rule fired at all — the data is fine, it is simply late</a:t>
            </a:r>
          </a:p>
        </p:txBody>
      </p:sp>
      <p:sp>
        <p:nvSpPr>
          <p:cNvPr id="1142" name="Shape 1143"/>
          <p:cNvSpPr/>
          <p:nvPr/>
        </p:nvSpPr>
        <p:spPr>
          <a:xfrm>
            <a:off x="987552" y="488289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44" name="TextBox 1145"/>
          <p:cNvSpPr txBox="1"/>
          <p:nvPr/>
        </p:nvSpPr>
        <p:spPr>
          <a:xfrm>
            <a:off x="1316736" y="480060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The 06:00 operations report will run on yesterday's figures</a:t>
            </a:r>
          </a:p>
        </p:txBody>
      </p:sp>
      <p:sp>
        <p:nvSpPr>
          <p:cNvPr id="1146" name="Shape 1147"/>
          <p:cNvSpPr/>
          <p:nvPr/>
        </p:nvSpPr>
        <p:spPr>
          <a:xfrm>
            <a:off x="6309360" y="1965960"/>
            <a:ext cx="5257800" cy="34747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48" name="Shape 1149"/>
          <p:cNvSpPr/>
          <p:nvPr/>
        </p:nvSpPr>
        <p:spPr>
          <a:xfrm>
            <a:off x="6675120" y="2240279"/>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50" name="Shape 1151"/>
          <p:cNvSpPr/>
          <p:nvPr/>
        </p:nvSpPr>
        <p:spPr>
          <a:xfrm>
            <a:off x="6744248" y="2309408"/>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52" name="TextBox 1153"/>
          <p:cNvSpPr txBox="1"/>
          <p:nvPr/>
        </p:nvSpPr>
        <p:spPr>
          <a:xfrm>
            <a:off x="6675120" y="2670048"/>
            <a:ext cx="4572000" cy="292608"/>
          </a:xfrm>
          <a:prstGeom prst="rect">
            <a:avLst/>
          </a:prstGeom>
          <a:noFill/>
        </p:spPr>
        <p:txBody>
          <a:bodyPr wrap="square" lIns="0" tIns="0" rIns="0" bIns="0" anchor="t"/>
          <a:lstStyle/>
          <a:p>
            <a:pPr algn="l"/>
            <a:r>
              <a:rPr sz="1500" b="1">
                <a:solidFill>
                  <a:srgbClr val="016BFF"/>
                </a:solidFill>
                <a:latin typeface="Verdana Pro Semibold"/>
              </a:rPr>
              <a:t>What the agent may reach</a:t>
            </a:r>
          </a:p>
        </p:txBody>
      </p:sp>
      <p:sp>
        <p:nvSpPr>
          <p:cNvPr id="1154" name="TextBox 1155"/>
          <p:cNvSpPr txBox="1"/>
          <p:nvPr/>
        </p:nvSpPr>
        <p:spPr>
          <a:xfrm>
            <a:off x="6675120" y="3063239"/>
            <a:ext cx="4526280" cy="274320"/>
          </a:xfrm>
          <a:prstGeom prst="rect">
            <a:avLst/>
          </a:prstGeom>
          <a:noFill/>
        </p:spPr>
        <p:txBody>
          <a:bodyPr wrap="square" lIns="0" tIns="0" rIns="0" bIns="0" anchor="t"/>
          <a:lstStyle/>
          <a:p>
            <a:pPr algn="l"/>
            <a:r>
              <a:rPr sz="1100" b="0">
                <a:solidFill>
                  <a:srgbClr val="5B7383"/>
                </a:solidFill>
                <a:latin typeface="Verdana Pro Light"/>
              </a:rPr>
              <a:t>and how far each source is trusted</a:t>
            </a:r>
          </a:p>
        </p:txBody>
      </p:sp>
      <p:sp>
        <p:nvSpPr>
          <p:cNvPr id="1156" name="Shape 1157"/>
          <p:cNvSpPr/>
          <p:nvPr/>
        </p:nvSpPr>
        <p:spPr>
          <a:xfrm>
            <a:off x="6675120" y="36027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58" name="TextBox 1159"/>
          <p:cNvSpPr txBox="1"/>
          <p:nvPr/>
        </p:nvSpPr>
        <p:spPr>
          <a:xfrm>
            <a:off x="7004304" y="3520440"/>
            <a:ext cx="2900000" cy="292608"/>
          </a:xfrm>
          <a:prstGeom prst="rect">
            <a:avLst/>
          </a:prstGeom>
          <a:noFill/>
        </p:spPr>
        <p:txBody>
          <a:bodyPr wrap="square" lIns="0" tIns="0" rIns="0" bIns="0" anchor="t"/>
          <a:lstStyle/>
          <a:p>
            <a:pPr algn="l"/>
            <a:r>
              <a:rPr sz="1150" b="1">
                <a:solidFill>
                  <a:srgbClr val="161616"/>
                </a:solidFill>
                <a:latin typeface="Verdana Pro Semibold"/>
              </a:rPr>
              <a:t>The pattern library</a:t>
            </a:r>
          </a:p>
        </p:txBody>
      </p:sp>
      <p:sp>
        <p:nvSpPr>
          <p:cNvPr id="1160" name="TextBox 1161"/>
          <p:cNvSpPr txBox="1"/>
          <p:nvPr/>
        </p:nvSpPr>
        <p:spPr>
          <a:xfrm>
            <a:off x="7004304" y="381304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deferring dependants on late arrival was approved in January</a:t>
            </a:r>
          </a:p>
        </p:txBody>
      </p:sp>
      <p:sp>
        <p:nvSpPr>
          <p:cNvPr id="1162" name="Shape 1163"/>
          <p:cNvSpPr/>
          <p:nvPr/>
        </p:nvSpPr>
        <p:spPr>
          <a:xfrm>
            <a:off x="6675120" y="42428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64" name="TextBox 1165"/>
          <p:cNvSpPr txBox="1"/>
          <p:nvPr/>
        </p:nvSpPr>
        <p:spPr>
          <a:xfrm>
            <a:off x="7004304" y="4160520"/>
            <a:ext cx="2900000" cy="292608"/>
          </a:xfrm>
          <a:prstGeom prst="rect">
            <a:avLst/>
          </a:prstGeom>
          <a:noFill/>
        </p:spPr>
        <p:txBody>
          <a:bodyPr wrap="square" lIns="0" tIns="0" rIns="0" bIns="0" anchor="t"/>
          <a:lstStyle/>
          <a:p>
            <a:pPr algn="l"/>
            <a:r>
              <a:rPr sz="1150" b="1">
                <a:solidFill>
                  <a:srgbClr val="161616"/>
                </a:solidFill>
                <a:latin typeface="Verdana Pro Semibold"/>
              </a:rPr>
              <a:t>Lineage</a:t>
            </a:r>
          </a:p>
        </p:txBody>
      </p:sp>
      <p:sp>
        <p:nvSpPr>
          <p:cNvPr id="1166" name="TextBox 1167"/>
          <p:cNvSpPr txBox="1"/>
          <p:nvPr/>
        </p:nvSpPr>
        <p:spPr>
          <a:xfrm>
            <a:off x="7004304" y="445312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the full set of loads, marts and reports downstream of this feed</a:t>
            </a:r>
          </a:p>
        </p:txBody>
      </p:sp>
      <p:sp>
        <p:nvSpPr>
          <p:cNvPr id="1168" name="Shape 1169"/>
          <p:cNvSpPr/>
          <p:nvPr/>
        </p:nvSpPr>
        <p:spPr>
          <a:xfrm>
            <a:off x="6675120" y="48828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70" name="TextBox 1171"/>
          <p:cNvSpPr txBox="1"/>
          <p:nvPr/>
        </p:nvSpPr>
        <p:spPr>
          <a:xfrm>
            <a:off x="7004304" y="4800600"/>
            <a:ext cx="2900000" cy="292608"/>
          </a:xfrm>
          <a:prstGeom prst="rect">
            <a:avLst/>
          </a:prstGeom>
          <a:noFill/>
        </p:spPr>
        <p:txBody>
          <a:bodyPr wrap="square" lIns="0" tIns="0" rIns="0" bIns="0" anchor="t"/>
          <a:lstStyle/>
          <a:p>
            <a:pPr algn="l"/>
            <a:r>
              <a:rPr sz="1150" b="1">
                <a:solidFill>
                  <a:srgbClr val="161616"/>
                </a:solidFill>
                <a:latin typeface="Verdana Pro Semibold"/>
              </a:rPr>
              <a:t>The load log</a:t>
            </a:r>
          </a:p>
        </p:txBody>
      </p:sp>
      <p:sp>
        <p:nvSpPr>
          <p:cNvPr id="1172" name="TextBox 1173"/>
          <p:cNvSpPr txBox="1"/>
          <p:nvPr/>
        </p:nvSpPr>
        <p:spPr>
          <a:xfrm>
            <a:off x="7004304" y="509320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which of them have already run, and on what</a:t>
            </a:r>
          </a:p>
        </p:txBody>
      </p:sp>
      <p:sp>
        <p:nvSpPr>
          <p:cNvPr id="1174" name="Shape 1175"/>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176" name="TextBox 1177"/>
          <p:cNvSpPr txBox="1"/>
          <p:nvPr/>
        </p:nvSpPr>
        <p:spPr>
          <a:xfrm>
            <a:off x="941832" y="5578560"/>
            <a:ext cx="1600000" cy="500000"/>
          </a:xfrm>
          <a:prstGeom prst="rect">
            <a:avLst/>
          </a:prstGeom>
          <a:noFill/>
        </p:spPr>
        <p:txBody>
          <a:bodyPr wrap="square" lIns="0" tIns="0" rIns="0" bIns="0" anchor="ctr"/>
          <a:lstStyle/>
          <a:p>
            <a:pPr algn="l"/>
            <a:r>
              <a:rPr sz="1150" b="1">
                <a:solidFill>
                  <a:srgbClr val="5B7383"/>
                </a:solidFill>
                <a:latin typeface="Verdana Pro Semibold"/>
              </a:rPr>
              <a:t>Maturity</a:t>
            </a:r>
          </a:p>
        </p:txBody>
      </p:sp>
      <p:sp>
        <p:nvSpPr>
          <p:cNvPr id="1178" name="TextBox 1179"/>
          <p:cNvSpPr txBox="1"/>
          <p:nvPr/>
        </p:nvSpPr>
        <p:spPr>
          <a:xfrm>
            <a:off x="2377440" y="5578560"/>
            <a:ext cx="8000000" cy="500000"/>
          </a:xfrm>
          <a:prstGeom prst="rect">
            <a:avLst/>
          </a:prstGeom>
          <a:noFill/>
        </p:spPr>
        <p:txBody>
          <a:bodyPr wrap="square" lIns="0" tIns="0" rIns="0" bIns="0" anchor="ctr"/>
          <a:lstStyle/>
          <a:p>
            <a:pPr algn="l">
              <a:lnSpc>
                <a:spcPct val="112000"/>
              </a:lnSpc>
            </a:pPr>
            <a:r>
              <a:rPr sz="1200" b="0">
                <a:solidFill>
                  <a:srgbClr val="161616"/>
                </a:solidFill>
                <a:latin typeface="Verdana Pro Light"/>
              </a:rPr>
              <a:t>Close to today for the deferral; the lineage-scoped re-run is where it is heading.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 name="TextBox 1233"/>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Scenario 05  ·  The trigger</a:t>
            </a:r>
          </a:p>
        </p:txBody>
      </p:sp>
      <p:sp>
        <p:nvSpPr>
          <p:cNvPr id="1234" name="TextBox 1235"/>
          <p:cNvSpPr txBox="1"/>
          <p:nvPr/>
        </p:nvSpPr>
        <p:spPr>
          <a:xfrm>
            <a:off x="621792" y="822960"/>
            <a:ext cx="10607040" cy="1005840"/>
          </a:xfrm>
          <a:prstGeom prst="rect">
            <a:avLst/>
          </a:prstGeom>
          <a:noFill/>
        </p:spPr>
        <p:txBody>
          <a:bodyPr wrap="square" lIns="0" tIns="0" rIns="0" bIns="0" anchor="b"/>
          <a:lstStyle/>
          <a:p>
            <a:pPr algn="l">
              <a:lnSpc>
                <a:spcPct val="116000"/>
              </a:lnSpc>
            </a:pPr>
            <a:r>
              <a:rPr sz="1900" b="1">
                <a:solidFill>
                  <a:srgbClr val="161616"/>
                </a:solidFill>
                <a:latin typeface="Verdana Pro Semibold"/>
              </a:rPr>
              <a:t>dest_city arrives as free text — Wiedeń, Viena and Wien, all meaning Vienna</a:t>
            </a:r>
          </a:p>
        </p:txBody>
      </p:sp>
      <p:pic>
        <p:nvPicPr>
          <p:cNvPr id="1236" name="Picture 1237" descr="logo_black.png"/>
          <p:cNvPicPr>
            <a:picLocks noChangeAspect="1"/>
          </p:cNvPicPr>
          <p:nvPr/>
        </p:nvPicPr>
        <p:blipFill>
          <a:blip r:embed="rId3"/>
          <a:stretch>
            <a:fillRect/>
          </a:stretch>
        </p:blipFill>
        <p:spPr>
          <a:xfrm>
            <a:off x="621792" y="6327648"/>
            <a:ext cx="811952" cy="310896"/>
          </a:xfrm>
          <a:prstGeom prst="rect">
            <a:avLst/>
          </a:prstGeom>
        </p:spPr>
      </p:pic>
      <p:sp>
        <p:nvSpPr>
          <p:cNvPr id="1238" name="TextBox 1239"/>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1240" name="TextBox 1241"/>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1242" name="TextBox 1243"/>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016BFF"/>
                </a:solidFill>
                <a:latin typeface="Verdana Pro Light"/>
              </a:rPr>
              <a:t>29</a:t>
            </a:r>
            <a:endParaRPr sz="1050" b="0" dirty="0">
              <a:solidFill>
                <a:srgbClr val="016BFF"/>
              </a:solidFill>
              <a:latin typeface="Verdana Pro Light"/>
            </a:endParaRPr>
          </a:p>
        </p:txBody>
      </p:sp>
      <p:sp>
        <p:nvSpPr>
          <p:cNvPr id="1244" name="Shape 1245"/>
          <p:cNvSpPr/>
          <p:nvPr/>
        </p:nvSpPr>
        <p:spPr>
          <a:xfrm>
            <a:off x="621792" y="1965960"/>
            <a:ext cx="5257800" cy="3474720"/>
          </a:xfrm>
          <a:prstGeom prst="rect">
            <a:avLst/>
          </a:prstGeom>
          <a:solidFill>
            <a:srgbClr val="FDEEEE"/>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46" name="Shape 1247"/>
          <p:cNvSpPr/>
          <p:nvPr/>
        </p:nvSpPr>
        <p:spPr>
          <a:xfrm>
            <a:off x="987552" y="2240279"/>
            <a:ext cx="256032" cy="256032"/>
          </a:xfrm>
          <a:prstGeom prst="ellipse">
            <a:avLst/>
          </a:prstGeom>
          <a:solidFill>
            <a:srgbClr val="E9B6B6"/>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48" name="Shape 1249"/>
          <p:cNvSpPr/>
          <p:nvPr/>
        </p:nvSpPr>
        <p:spPr>
          <a:xfrm>
            <a:off x="1056680" y="2309408"/>
            <a:ext cx="117774" cy="117774"/>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50" name="TextBox 1251"/>
          <p:cNvSpPr txBox="1"/>
          <p:nvPr/>
        </p:nvSpPr>
        <p:spPr>
          <a:xfrm>
            <a:off x="987552" y="2670048"/>
            <a:ext cx="4572000" cy="292608"/>
          </a:xfrm>
          <a:prstGeom prst="rect">
            <a:avLst/>
          </a:prstGeom>
          <a:noFill/>
        </p:spPr>
        <p:txBody>
          <a:bodyPr wrap="square" lIns="0" tIns="0" rIns="0" bIns="0" anchor="t"/>
          <a:lstStyle/>
          <a:p>
            <a:pPr algn="l"/>
            <a:r>
              <a:rPr sz="1500" b="1">
                <a:solidFill>
                  <a:srgbClr val="C62828"/>
                </a:solidFill>
                <a:latin typeface="Verdana Pro Semibold"/>
              </a:rPr>
              <a:t>What fired</a:t>
            </a:r>
          </a:p>
        </p:txBody>
      </p:sp>
      <p:sp>
        <p:nvSpPr>
          <p:cNvPr id="1252" name="TextBox 1253"/>
          <p:cNvSpPr txBox="1"/>
          <p:nvPr/>
        </p:nvSpPr>
        <p:spPr>
          <a:xfrm>
            <a:off x="987552" y="3063239"/>
            <a:ext cx="4526280" cy="274320"/>
          </a:xfrm>
          <a:prstGeom prst="rect">
            <a:avLst/>
          </a:prstGeom>
          <a:noFill/>
        </p:spPr>
        <p:txBody>
          <a:bodyPr wrap="square" lIns="0" tIns="0" rIns="0" bIns="0" anchor="t"/>
          <a:lstStyle/>
          <a:p>
            <a:pPr algn="l"/>
            <a:r>
              <a:rPr sz="1100" b="0">
                <a:solidFill>
                  <a:srgbClr val="5B7383"/>
                </a:solidFill>
                <a:latin typeface="Verdana Pro Light"/>
              </a:rPr>
              <a:t>the trigger, not a ticket</a:t>
            </a:r>
          </a:p>
        </p:txBody>
      </p:sp>
      <p:sp>
        <p:nvSpPr>
          <p:cNvPr id="1254" name="Shape 1255"/>
          <p:cNvSpPr/>
          <p:nvPr/>
        </p:nvSpPr>
        <p:spPr>
          <a:xfrm>
            <a:off x="987552" y="360273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56" name="TextBox 1257"/>
          <p:cNvSpPr txBox="1"/>
          <p:nvPr/>
        </p:nvSpPr>
        <p:spPr>
          <a:xfrm>
            <a:off x="1316736" y="352044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Data Observability: distinct values in dest_city jump from 41 to 63 in a day</a:t>
            </a:r>
          </a:p>
        </p:txBody>
      </p:sp>
      <p:sp>
        <p:nvSpPr>
          <p:cNvPr id="1258" name="Shape 1259"/>
          <p:cNvSpPr/>
          <p:nvPr/>
        </p:nvSpPr>
        <p:spPr>
          <a:xfrm>
            <a:off x="987552" y="424281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60" name="TextBox 1261"/>
          <p:cNvSpPr txBox="1"/>
          <p:nvPr/>
        </p:nvSpPr>
        <p:spPr>
          <a:xfrm>
            <a:off x="1316736" y="416052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Data Quality: 2,140 rows hold a value that is in no reference list</a:t>
            </a:r>
          </a:p>
        </p:txBody>
      </p:sp>
      <p:sp>
        <p:nvSpPr>
          <p:cNvPr id="1262" name="Shape 1263"/>
          <p:cNvSpPr/>
          <p:nvPr/>
        </p:nvSpPr>
        <p:spPr>
          <a:xfrm>
            <a:off x="987552" y="4882896"/>
            <a:ext cx="137160" cy="137160"/>
          </a:xfrm>
          <a:prstGeom prst="ellipse">
            <a:avLst/>
          </a:prstGeom>
          <a:solidFill>
            <a:srgbClr val="C62828"/>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64" name="TextBox 1265"/>
          <p:cNvSpPr txBox="1"/>
          <p:nvPr/>
        </p:nvSpPr>
        <p:spPr>
          <a:xfrm>
            <a:off x="1316736" y="4800600"/>
            <a:ext cx="4100000" cy="580000"/>
          </a:xfrm>
          <a:prstGeom prst="rect">
            <a:avLst/>
          </a:prstGeom>
          <a:noFill/>
        </p:spPr>
        <p:txBody>
          <a:bodyPr wrap="square" lIns="0" tIns="0" rIns="0" bIns="0" anchor="t"/>
          <a:lstStyle/>
          <a:p>
            <a:pPr algn="l">
              <a:lnSpc>
                <a:spcPct val="114000"/>
              </a:lnSpc>
            </a:pPr>
            <a:r>
              <a:rPr sz="1150" b="0">
                <a:solidFill>
                  <a:srgbClr val="161616"/>
                </a:solidFill>
                <a:latin typeface="Verdana Pro Light"/>
              </a:rPr>
              <a:t>And some of the reference list is wrong too — somebody typed Warszawa where Warsaw was expected</a:t>
            </a:r>
          </a:p>
        </p:txBody>
      </p:sp>
      <p:sp>
        <p:nvSpPr>
          <p:cNvPr id="1266" name="Shape 1267"/>
          <p:cNvSpPr/>
          <p:nvPr/>
        </p:nvSpPr>
        <p:spPr>
          <a:xfrm>
            <a:off x="6309360" y="1965960"/>
            <a:ext cx="5257800" cy="34747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68" name="Shape 1269"/>
          <p:cNvSpPr/>
          <p:nvPr/>
        </p:nvSpPr>
        <p:spPr>
          <a:xfrm>
            <a:off x="6675120" y="2240279"/>
            <a:ext cx="256032" cy="256032"/>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70" name="Shape 1271"/>
          <p:cNvSpPr/>
          <p:nvPr/>
        </p:nvSpPr>
        <p:spPr>
          <a:xfrm>
            <a:off x="6744248" y="2309408"/>
            <a:ext cx="117774" cy="117774"/>
          </a:xfrm>
          <a:prstGeom prst="ellipse">
            <a:avLst/>
          </a:prstGeom>
          <a:solidFill>
            <a:srgbClr val="0262E7"/>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72" name="TextBox 1273"/>
          <p:cNvSpPr txBox="1"/>
          <p:nvPr/>
        </p:nvSpPr>
        <p:spPr>
          <a:xfrm>
            <a:off x="6675120" y="2670048"/>
            <a:ext cx="4572000" cy="292608"/>
          </a:xfrm>
          <a:prstGeom prst="rect">
            <a:avLst/>
          </a:prstGeom>
          <a:noFill/>
        </p:spPr>
        <p:txBody>
          <a:bodyPr wrap="square" lIns="0" tIns="0" rIns="0" bIns="0" anchor="t"/>
          <a:lstStyle/>
          <a:p>
            <a:pPr algn="l"/>
            <a:r>
              <a:rPr sz="1500" b="1">
                <a:solidFill>
                  <a:srgbClr val="016BFF"/>
                </a:solidFill>
                <a:latin typeface="Verdana Pro Semibold"/>
              </a:rPr>
              <a:t>What the agent may reach</a:t>
            </a:r>
          </a:p>
        </p:txBody>
      </p:sp>
      <p:sp>
        <p:nvSpPr>
          <p:cNvPr id="1274" name="TextBox 1275"/>
          <p:cNvSpPr txBox="1"/>
          <p:nvPr/>
        </p:nvSpPr>
        <p:spPr>
          <a:xfrm>
            <a:off x="6675120" y="3063239"/>
            <a:ext cx="4526280" cy="274320"/>
          </a:xfrm>
          <a:prstGeom prst="rect">
            <a:avLst/>
          </a:prstGeom>
          <a:noFill/>
        </p:spPr>
        <p:txBody>
          <a:bodyPr wrap="square" lIns="0" tIns="0" rIns="0" bIns="0" anchor="t"/>
          <a:lstStyle/>
          <a:p>
            <a:pPr algn="l"/>
            <a:r>
              <a:rPr sz="1100" b="0">
                <a:solidFill>
                  <a:srgbClr val="5B7383"/>
                </a:solidFill>
                <a:latin typeface="Verdana Pro Light"/>
              </a:rPr>
              <a:t>and how far each source is trusted</a:t>
            </a:r>
          </a:p>
        </p:txBody>
      </p:sp>
      <p:sp>
        <p:nvSpPr>
          <p:cNvPr id="1276" name="Shape 1277"/>
          <p:cNvSpPr/>
          <p:nvPr/>
        </p:nvSpPr>
        <p:spPr>
          <a:xfrm>
            <a:off x="6675120" y="36027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78" name="TextBox 1279"/>
          <p:cNvSpPr txBox="1"/>
          <p:nvPr/>
        </p:nvSpPr>
        <p:spPr>
          <a:xfrm>
            <a:off x="7004304" y="3520440"/>
            <a:ext cx="2900000" cy="292608"/>
          </a:xfrm>
          <a:prstGeom prst="rect">
            <a:avLst/>
          </a:prstGeom>
          <a:noFill/>
        </p:spPr>
        <p:txBody>
          <a:bodyPr wrap="square" lIns="0" tIns="0" rIns="0" bIns="0" anchor="t"/>
          <a:lstStyle/>
          <a:p>
            <a:pPr algn="l"/>
            <a:r>
              <a:rPr sz="1150" b="1">
                <a:solidFill>
                  <a:srgbClr val="161616"/>
                </a:solidFill>
                <a:latin typeface="Verdana Pro Semibold"/>
              </a:rPr>
              <a:t>The pattern library</a:t>
            </a:r>
          </a:p>
        </p:txBody>
      </p:sp>
      <p:sp>
        <p:nvSpPr>
          <p:cNvPr id="1280" name="TextBox 1281"/>
          <p:cNvSpPr txBox="1"/>
          <p:nvPr/>
        </p:nvSpPr>
        <p:spPr>
          <a:xfrm>
            <a:off x="7004304" y="381304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a register-backed city mapping is approved — but never for a column with no declared domain</a:t>
            </a:r>
          </a:p>
        </p:txBody>
      </p:sp>
      <p:sp>
        <p:nvSpPr>
          <p:cNvPr id="1282" name="Shape 1283"/>
          <p:cNvSpPr/>
          <p:nvPr/>
        </p:nvSpPr>
        <p:spPr>
          <a:xfrm>
            <a:off x="6675120" y="42428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84" name="TextBox 1285"/>
          <p:cNvSpPr txBox="1"/>
          <p:nvPr/>
        </p:nvSpPr>
        <p:spPr>
          <a:xfrm>
            <a:off x="7004304" y="4160520"/>
            <a:ext cx="2900000" cy="292608"/>
          </a:xfrm>
          <a:prstGeom prst="rect">
            <a:avLst/>
          </a:prstGeom>
          <a:noFill/>
        </p:spPr>
        <p:txBody>
          <a:bodyPr wrap="square" lIns="0" tIns="0" rIns="0" bIns="0" anchor="t"/>
          <a:lstStyle/>
          <a:p>
            <a:pPr algn="l"/>
            <a:r>
              <a:rPr sz="1150" b="1">
                <a:solidFill>
                  <a:srgbClr val="161616"/>
                </a:solidFill>
                <a:latin typeface="Verdana Pro Semibold"/>
              </a:rPr>
              <a:t>The catalog and the airport register</a:t>
            </a:r>
          </a:p>
        </p:txBody>
      </p:sp>
      <p:sp>
        <p:nvSpPr>
          <p:cNvPr id="1286" name="TextBox 1287"/>
          <p:cNvSpPr txBox="1"/>
          <p:nvPr/>
        </p:nvSpPr>
        <p:spPr>
          <a:xfrm>
            <a:off x="7004304" y="445312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dest_city is declared a city name, matched against the 94 Alpenwing serves</a:t>
            </a:r>
          </a:p>
        </p:txBody>
      </p:sp>
      <p:sp>
        <p:nvSpPr>
          <p:cNvPr id="1288" name="Shape 1289"/>
          <p:cNvSpPr/>
          <p:nvPr/>
        </p:nvSpPr>
        <p:spPr>
          <a:xfrm>
            <a:off x="6675120" y="48828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90" name="TextBox 1291"/>
          <p:cNvSpPr txBox="1"/>
          <p:nvPr/>
        </p:nvSpPr>
        <p:spPr>
          <a:xfrm>
            <a:off x="7004304" y="4800600"/>
            <a:ext cx="2900000" cy="292608"/>
          </a:xfrm>
          <a:prstGeom prst="rect">
            <a:avLst/>
          </a:prstGeom>
          <a:noFill/>
        </p:spPr>
        <p:txBody>
          <a:bodyPr wrap="square" lIns="0" tIns="0" rIns="0" bIns="0" anchor="t"/>
          <a:lstStyle/>
          <a:p>
            <a:pPr algn="l"/>
            <a:r>
              <a:rPr sz="1150" b="1">
                <a:solidFill>
                  <a:srgbClr val="161616"/>
                </a:solidFill>
                <a:latin typeface="Verdana Pro Semibold"/>
              </a:rPr>
              <a:t>The open internet</a:t>
            </a:r>
          </a:p>
        </p:txBody>
      </p:sp>
      <p:sp>
        <p:nvSpPr>
          <p:cNvPr id="1292" name="TextBox 1293"/>
          <p:cNvSpPr txBox="1"/>
          <p:nvPr/>
        </p:nvSpPr>
        <p:spPr>
          <a:xfrm>
            <a:off x="7004304" y="5093208"/>
            <a:ext cx="4100000" cy="320040"/>
          </a:xfrm>
          <a:prstGeom prst="rect">
            <a:avLst/>
          </a:prstGeom>
          <a:noFill/>
        </p:spPr>
        <p:txBody>
          <a:bodyPr wrap="square" lIns="0" tIns="0" rIns="0" bIns="0" anchor="t"/>
          <a:lstStyle/>
          <a:p>
            <a:pPr algn="l">
              <a:lnSpc>
                <a:spcPct val="110000"/>
              </a:lnSpc>
            </a:pPr>
            <a:r>
              <a:rPr sz="1000" b="0">
                <a:solidFill>
                  <a:srgbClr val="5B7383"/>
                </a:solidFill>
                <a:latin typeface="Verdana Pro Light"/>
              </a:rPr>
              <a:t>useful for knowing that Wiedeń is Polish for Vienna — and never sufficient on its own</a:t>
            </a:r>
          </a:p>
        </p:txBody>
      </p:sp>
      <p:sp>
        <p:nvSpPr>
          <p:cNvPr id="1294" name="Shape 1295"/>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296" name="TextBox 1297"/>
          <p:cNvSpPr txBox="1"/>
          <p:nvPr/>
        </p:nvSpPr>
        <p:spPr>
          <a:xfrm>
            <a:off x="941832" y="5578560"/>
            <a:ext cx="1600000" cy="500000"/>
          </a:xfrm>
          <a:prstGeom prst="rect">
            <a:avLst/>
          </a:prstGeom>
          <a:noFill/>
        </p:spPr>
        <p:txBody>
          <a:bodyPr wrap="square" lIns="0" tIns="0" rIns="0" bIns="0" anchor="ctr"/>
          <a:lstStyle/>
          <a:p>
            <a:pPr algn="l"/>
            <a:r>
              <a:rPr sz="1150" b="1">
                <a:solidFill>
                  <a:srgbClr val="5B7383"/>
                </a:solidFill>
                <a:latin typeface="Verdana Pro Semibold"/>
              </a:rPr>
              <a:t>Maturity</a:t>
            </a:r>
          </a:p>
        </p:txBody>
      </p:sp>
      <p:sp>
        <p:nvSpPr>
          <p:cNvPr id="1298" name="TextBox 1299"/>
          <p:cNvSpPr txBox="1"/>
          <p:nvPr/>
        </p:nvSpPr>
        <p:spPr>
          <a:xfrm>
            <a:off x="2377440" y="5578560"/>
            <a:ext cx="8000000" cy="500000"/>
          </a:xfrm>
          <a:prstGeom prst="rect">
            <a:avLst/>
          </a:prstGeom>
          <a:noFill/>
        </p:spPr>
        <p:txBody>
          <a:bodyPr wrap="square" lIns="0" tIns="0" rIns="0" bIns="0" anchor="ctr"/>
          <a:lstStyle/>
          <a:p>
            <a:pPr algn="l">
              <a:lnSpc>
                <a:spcPct val="112000"/>
              </a:lnSpc>
            </a:pPr>
            <a:r>
              <a:rPr sz="1200" b="0">
                <a:solidFill>
                  <a:srgbClr val="161616"/>
                </a:solidFill>
                <a:latin typeface="Verdana Pro Light"/>
              </a:rPr>
              <a:t>Where this goes. Both-directions resolution against a declared domain is the ambition.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2" name="Picture 1353" descr="section_bg.png"/>
          <p:cNvPicPr>
            <a:picLocks noChangeAspect="1"/>
          </p:cNvPicPr>
          <p:nvPr/>
        </p:nvPicPr>
        <p:blipFill>
          <a:blip r:embed="rId3"/>
          <a:stretch>
            <a:fillRect/>
          </a:stretch>
        </p:blipFill>
        <p:spPr>
          <a:xfrm>
            <a:off x="0" y="0"/>
            <a:ext cx="12191695" cy="6858000"/>
          </a:xfrm>
          <a:prstGeom prst="rect">
            <a:avLst/>
          </a:prstGeom>
        </p:spPr>
      </p:pic>
      <p:sp>
        <p:nvSpPr>
          <p:cNvPr id="1354" name="Shape 1355"/>
          <p:cNvSpPr/>
          <p:nvPr/>
        </p:nvSpPr>
        <p:spPr>
          <a:xfrm>
            <a:off x="0" y="0"/>
            <a:ext cx="12191695" cy="6858000"/>
          </a:xfrm>
          <a:prstGeom prst="rect">
            <a:avLst/>
          </a:prstGeom>
          <a:solidFill>
            <a:srgbClr val="02041C"/>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pic>
        <p:nvPicPr>
          <p:cNvPr id="1358" name="Picture 1359" descr="logo_white.png"/>
          <p:cNvPicPr>
            <a:picLocks noChangeAspect="1"/>
          </p:cNvPicPr>
          <p:nvPr/>
        </p:nvPicPr>
        <p:blipFill>
          <a:blip r:embed="rId4"/>
          <a:stretch>
            <a:fillRect/>
          </a:stretch>
        </p:blipFill>
        <p:spPr>
          <a:xfrm>
            <a:off x="621792" y="502920"/>
            <a:ext cx="1098523" cy="420624"/>
          </a:xfrm>
          <a:prstGeom prst="rect">
            <a:avLst/>
          </a:prstGeom>
        </p:spPr>
      </p:pic>
      <p:sp>
        <p:nvSpPr>
          <p:cNvPr id="1360" name="TextBox 1361"/>
          <p:cNvSpPr txBox="1"/>
          <p:nvPr/>
        </p:nvSpPr>
        <p:spPr>
          <a:xfrm>
            <a:off x="621792" y="2606040"/>
            <a:ext cx="7315200" cy="292608"/>
          </a:xfrm>
          <a:prstGeom prst="rect">
            <a:avLst/>
          </a:prstGeom>
          <a:noFill/>
        </p:spPr>
        <p:txBody>
          <a:bodyPr wrap="square" lIns="0" tIns="0" rIns="0" bIns="0" anchor="t"/>
          <a:lstStyle/>
          <a:p>
            <a:pPr algn="l"/>
            <a:r>
              <a:rPr sz="1200" b="0">
                <a:solidFill>
                  <a:srgbClr val="5398F9"/>
                </a:solidFill>
                <a:latin typeface="Verdana Pro Light"/>
              </a:rPr>
              <a:t>The Data Steward</a:t>
            </a:r>
          </a:p>
        </p:txBody>
      </p:sp>
      <p:sp>
        <p:nvSpPr>
          <p:cNvPr id="1362" name="TextBox 1363"/>
          <p:cNvSpPr txBox="1"/>
          <p:nvPr/>
        </p:nvSpPr>
        <p:spPr>
          <a:xfrm>
            <a:off x="621792" y="3017520"/>
            <a:ext cx="9692640" cy="1188720"/>
          </a:xfrm>
          <a:prstGeom prst="rect">
            <a:avLst/>
          </a:prstGeom>
          <a:noFill/>
        </p:spPr>
        <p:txBody>
          <a:bodyPr wrap="square" lIns="0" tIns="0" rIns="0" bIns="0" anchor="t"/>
          <a:lstStyle/>
          <a:p>
            <a:pPr algn="l"/>
            <a:r>
              <a:rPr sz="3200" b="1">
                <a:solidFill>
                  <a:srgbClr val="FFFFFF"/>
                </a:solidFill>
                <a:latin typeface="Verdana Pro Semibold"/>
              </a:rPr>
              <a:t>How the job</a:t>
            </a:r>
          </a:p>
          <a:p>
            <a:pPr algn="l"/>
            <a:r>
              <a:rPr sz="3200" b="1">
                <a:solidFill>
                  <a:srgbClr val="FFFFFF"/>
                </a:solidFill>
                <a:latin typeface="Verdana Pro Semibold"/>
              </a:rPr>
              <a:t>actually changes</a:t>
            </a:r>
          </a:p>
        </p:txBody>
      </p:sp>
      <p:sp>
        <p:nvSpPr>
          <p:cNvPr id="1364" name="TextBox 1365"/>
          <p:cNvSpPr txBox="1"/>
          <p:nvPr/>
        </p:nvSpPr>
        <p:spPr>
          <a:xfrm>
            <a:off x="621792" y="4434840"/>
            <a:ext cx="8778240" cy="640080"/>
          </a:xfrm>
          <a:prstGeom prst="rect">
            <a:avLst/>
          </a:prstGeom>
          <a:noFill/>
        </p:spPr>
        <p:txBody>
          <a:bodyPr wrap="square" lIns="0" tIns="0" rIns="0" bIns="0" anchor="t"/>
          <a:lstStyle/>
          <a:p>
            <a:pPr algn="l"/>
            <a:r>
              <a:rPr sz="1400" b="0">
                <a:solidFill>
                  <a:srgbClr val="C3CCE2"/>
                </a:solidFill>
                <a:latin typeface="Verdana Pro Light"/>
              </a:rPr>
              <a:t>Nothing here removes the Steward. It removes the repetitive part of the job.</a:t>
            </a:r>
          </a:p>
        </p:txBody>
      </p:sp>
      <p:pic>
        <p:nvPicPr>
          <p:cNvPr id="1366" name="Picture 1367" descr="logo_white.png"/>
          <p:cNvPicPr>
            <a:picLocks noChangeAspect="1"/>
          </p:cNvPicPr>
          <p:nvPr/>
        </p:nvPicPr>
        <p:blipFill>
          <a:blip r:embed="rId4"/>
          <a:stretch>
            <a:fillRect/>
          </a:stretch>
        </p:blipFill>
        <p:spPr>
          <a:xfrm>
            <a:off x="621792" y="6327648"/>
            <a:ext cx="811952" cy="310896"/>
          </a:xfrm>
          <a:prstGeom prst="rect">
            <a:avLst/>
          </a:prstGeom>
        </p:spPr>
      </p:pic>
      <p:sp>
        <p:nvSpPr>
          <p:cNvPr id="1368" name="TextBox 1369"/>
          <p:cNvSpPr txBox="1"/>
          <p:nvPr/>
        </p:nvSpPr>
        <p:spPr>
          <a:xfrm>
            <a:off x="1627632" y="6345936"/>
            <a:ext cx="5943600" cy="274320"/>
          </a:xfrm>
          <a:prstGeom prst="rect">
            <a:avLst/>
          </a:prstGeom>
          <a:noFill/>
        </p:spPr>
        <p:txBody>
          <a:bodyPr wrap="square" lIns="0" tIns="0" rIns="0" bIns="0" anchor="ctr"/>
          <a:lstStyle/>
          <a:p>
            <a:pPr algn="l"/>
            <a:r>
              <a:rPr sz="1000" b="0">
                <a:solidFill>
                  <a:srgbClr val="B9C2D6"/>
                </a:solidFill>
                <a:latin typeface="Verdana Pro Light"/>
              </a:rPr>
              <a:t>|   Data Quality and Observability Platform</a:t>
            </a:r>
          </a:p>
        </p:txBody>
      </p:sp>
      <p:sp>
        <p:nvSpPr>
          <p:cNvPr id="1370" name="TextBox 1371"/>
          <p:cNvSpPr txBox="1"/>
          <p:nvPr/>
        </p:nvSpPr>
        <p:spPr>
          <a:xfrm>
            <a:off x="9692640" y="6345936"/>
            <a:ext cx="1371600" cy="274320"/>
          </a:xfrm>
          <a:prstGeom prst="rect">
            <a:avLst/>
          </a:prstGeom>
          <a:noFill/>
        </p:spPr>
        <p:txBody>
          <a:bodyPr wrap="square" lIns="0" tIns="0" rIns="0" bIns="0" anchor="ctr"/>
          <a:lstStyle/>
          <a:p>
            <a:pPr algn="r"/>
            <a:r>
              <a:rPr sz="1050" b="0">
                <a:solidFill>
                  <a:srgbClr val="5398F9"/>
                </a:solidFill>
                <a:latin typeface="Verdana Pro Light"/>
              </a:rPr>
              <a:t>digna   |</a:t>
            </a:r>
          </a:p>
        </p:txBody>
      </p:sp>
      <p:sp>
        <p:nvSpPr>
          <p:cNvPr id="1372" name="TextBox 1373"/>
          <p:cNvSpPr txBox="1"/>
          <p:nvPr/>
        </p:nvSpPr>
        <p:spPr>
          <a:xfrm>
            <a:off x="11109960" y="6345936"/>
            <a:ext cx="457200" cy="274320"/>
          </a:xfrm>
          <a:prstGeom prst="rect">
            <a:avLst/>
          </a:prstGeom>
          <a:noFill/>
        </p:spPr>
        <p:txBody>
          <a:bodyPr wrap="square" lIns="0" tIns="0" rIns="0" bIns="0" anchor="ctr"/>
          <a:lstStyle/>
          <a:p>
            <a:pPr algn="r"/>
            <a:r>
              <a:rPr lang="de-AT" sz="1050" b="0" dirty="0">
                <a:solidFill>
                  <a:srgbClr val="5398F9"/>
                </a:solidFill>
                <a:latin typeface="Verdana Pro Light"/>
              </a:rPr>
              <a:t>30</a:t>
            </a:r>
            <a:endParaRPr sz="1050" b="0" dirty="0">
              <a:solidFill>
                <a:srgbClr val="5398F9"/>
              </a:solidFill>
              <a:latin typeface="Verdana Pr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 name="TextBox 1375"/>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The Data Steward</a:t>
            </a:r>
          </a:p>
        </p:txBody>
      </p:sp>
      <p:sp>
        <p:nvSpPr>
          <p:cNvPr id="1376" name="TextBox 1377"/>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A Data Steward's Monday morning</a:t>
            </a:r>
          </a:p>
        </p:txBody>
      </p:sp>
      <p:pic>
        <p:nvPicPr>
          <p:cNvPr id="1378" name="Picture 1379" descr="logo_black.png"/>
          <p:cNvPicPr>
            <a:picLocks noChangeAspect="1"/>
          </p:cNvPicPr>
          <p:nvPr/>
        </p:nvPicPr>
        <p:blipFill>
          <a:blip r:embed="rId3"/>
          <a:stretch>
            <a:fillRect/>
          </a:stretch>
        </p:blipFill>
        <p:spPr>
          <a:xfrm>
            <a:off x="621792" y="6327648"/>
            <a:ext cx="811952" cy="310896"/>
          </a:xfrm>
          <a:prstGeom prst="rect">
            <a:avLst/>
          </a:prstGeom>
        </p:spPr>
      </p:pic>
      <p:sp>
        <p:nvSpPr>
          <p:cNvPr id="1380" name="TextBox 1381"/>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1382" name="TextBox 1383"/>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1384" name="TextBox 1385"/>
          <p:cNvSpPr txBox="1"/>
          <p:nvPr/>
        </p:nvSpPr>
        <p:spPr>
          <a:xfrm>
            <a:off x="11109960" y="6345936"/>
            <a:ext cx="457200" cy="274320"/>
          </a:xfrm>
          <a:prstGeom prst="rect">
            <a:avLst/>
          </a:prstGeom>
          <a:noFill/>
        </p:spPr>
        <p:txBody>
          <a:bodyPr wrap="square" lIns="0" tIns="0" rIns="0" bIns="0" anchor="ctr"/>
          <a:lstStyle/>
          <a:p>
            <a:pPr algn="r"/>
            <a:r>
              <a:rPr sz="1050" b="0" dirty="0">
                <a:solidFill>
                  <a:srgbClr val="016BFF"/>
                </a:solidFill>
                <a:latin typeface="Verdana Pro Light"/>
              </a:rPr>
              <a:t>3</a:t>
            </a:r>
            <a:r>
              <a:rPr lang="de-AT" sz="1050" b="0" dirty="0">
                <a:solidFill>
                  <a:srgbClr val="016BFF"/>
                </a:solidFill>
                <a:latin typeface="Verdana Pro Light"/>
              </a:rPr>
              <a:t>1</a:t>
            </a:r>
            <a:endParaRPr sz="1050" b="0" dirty="0">
              <a:solidFill>
                <a:srgbClr val="016BFF"/>
              </a:solidFill>
              <a:latin typeface="Verdana Pro Light"/>
            </a:endParaRPr>
          </a:p>
        </p:txBody>
      </p:sp>
      <p:sp>
        <p:nvSpPr>
          <p:cNvPr id="1386" name="TextBox 1387"/>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The same weekend of failures. A different queue at 08:30.</a:t>
            </a:r>
          </a:p>
        </p:txBody>
      </p:sp>
      <p:pic>
        <p:nvPicPr>
          <p:cNvPr id="1388" name="Picture 1389" descr="steward_monday.png"/>
          <p:cNvPicPr>
            <a:picLocks noChangeAspect="1"/>
          </p:cNvPicPr>
          <p:nvPr/>
        </p:nvPicPr>
        <p:blipFill>
          <a:blip r:embed="rId4"/>
          <a:stretch>
            <a:fillRect/>
          </a:stretch>
        </p:blipFill>
        <p:spPr>
          <a:xfrm>
            <a:off x="1245273" y="2103120"/>
            <a:ext cx="9701453" cy="3383280"/>
          </a:xfrm>
          <a:prstGeom prst="rect">
            <a:avLst/>
          </a:prstGeom>
        </p:spPr>
      </p:pic>
      <p:sp>
        <p:nvSpPr>
          <p:cNvPr id="1390" name="Shape 1391"/>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392" name="TextBox 1393"/>
          <p:cNvSpPr txBox="1"/>
          <p:nvPr/>
        </p:nvSpPr>
        <p:spPr>
          <a:xfrm>
            <a:off x="1981200" y="5578560"/>
            <a:ext cx="8229600" cy="5000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The pile does not disappear — the repeatable part of it does.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4" name="TextBox 1395"/>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The Data Steward</a:t>
            </a:r>
          </a:p>
        </p:txBody>
      </p:sp>
      <p:sp>
        <p:nvSpPr>
          <p:cNvPr id="1396" name="TextBox 1397"/>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The job gets more interesting, not smaller</a:t>
            </a:r>
          </a:p>
        </p:txBody>
      </p:sp>
      <p:pic>
        <p:nvPicPr>
          <p:cNvPr id="1398" name="Picture 1399" descr="logo_black.png"/>
          <p:cNvPicPr>
            <a:picLocks noChangeAspect="1"/>
          </p:cNvPicPr>
          <p:nvPr/>
        </p:nvPicPr>
        <p:blipFill>
          <a:blip r:embed="rId3"/>
          <a:stretch>
            <a:fillRect/>
          </a:stretch>
        </p:blipFill>
        <p:spPr>
          <a:xfrm>
            <a:off x="621792" y="6327648"/>
            <a:ext cx="811952" cy="310896"/>
          </a:xfrm>
          <a:prstGeom prst="rect">
            <a:avLst/>
          </a:prstGeom>
        </p:spPr>
      </p:pic>
      <p:sp>
        <p:nvSpPr>
          <p:cNvPr id="1400" name="TextBox 1401"/>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1402" name="TextBox 1403"/>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1404" name="TextBox 1405"/>
          <p:cNvSpPr txBox="1"/>
          <p:nvPr/>
        </p:nvSpPr>
        <p:spPr>
          <a:xfrm>
            <a:off x="11109960" y="6345936"/>
            <a:ext cx="457200" cy="274320"/>
          </a:xfrm>
          <a:prstGeom prst="rect">
            <a:avLst/>
          </a:prstGeom>
          <a:noFill/>
        </p:spPr>
        <p:txBody>
          <a:bodyPr wrap="square" lIns="0" tIns="0" rIns="0" bIns="0" anchor="ctr"/>
          <a:lstStyle/>
          <a:p>
            <a:pPr algn="r"/>
            <a:r>
              <a:rPr sz="1050" b="0" dirty="0">
                <a:solidFill>
                  <a:srgbClr val="016BFF"/>
                </a:solidFill>
                <a:latin typeface="Verdana Pro Light"/>
              </a:rPr>
              <a:t>3</a:t>
            </a:r>
            <a:r>
              <a:rPr lang="de-AT" sz="1050" b="0" dirty="0">
                <a:solidFill>
                  <a:srgbClr val="016BFF"/>
                </a:solidFill>
                <a:latin typeface="Verdana Pro Light"/>
              </a:rPr>
              <a:t>2</a:t>
            </a:r>
            <a:endParaRPr sz="1050" b="0" dirty="0">
              <a:solidFill>
                <a:srgbClr val="016BFF"/>
              </a:solidFill>
              <a:latin typeface="Verdana Pro Light"/>
            </a:endParaRPr>
          </a:p>
        </p:txBody>
      </p:sp>
      <p:sp>
        <p:nvSpPr>
          <p:cNvPr id="1406" name="TextBox 1407"/>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Nothing here removes the Steward. It removes the part of the job nobody went into data to do.</a:t>
            </a:r>
          </a:p>
        </p:txBody>
      </p:sp>
      <p:sp>
        <p:nvSpPr>
          <p:cNvPr id="1408" name="Shape 1409"/>
          <p:cNvSpPr/>
          <p:nvPr/>
        </p:nvSpPr>
        <p:spPr>
          <a:xfrm>
            <a:off x="621792" y="1965960"/>
            <a:ext cx="5257800" cy="347472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10" name="TextBox 1411"/>
          <p:cNvSpPr txBox="1"/>
          <p:nvPr/>
        </p:nvSpPr>
        <p:spPr>
          <a:xfrm>
            <a:off x="987552" y="2176272"/>
            <a:ext cx="4526280" cy="292608"/>
          </a:xfrm>
          <a:prstGeom prst="rect">
            <a:avLst/>
          </a:prstGeom>
          <a:noFill/>
        </p:spPr>
        <p:txBody>
          <a:bodyPr wrap="square" lIns="0" tIns="0" rIns="0" bIns="0" anchor="t"/>
          <a:lstStyle/>
          <a:p>
            <a:pPr algn="l"/>
            <a:r>
              <a:rPr sz="1500" b="1">
                <a:solidFill>
                  <a:srgbClr val="5B7383"/>
                </a:solidFill>
                <a:latin typeface="Verdana Pro Semibold"/>
              </a:rPr>
              <a:t>What goes away</a:t>
            </a:r>
          </a:p>
        </p:txBody>
      </p:sp>
      <p:sp>
        <p:nvSpPr>
          <p:cNvPr id="1412" name="Shape 1413"/>
          <p:cNvSpPr/>
          <p:nvPr/>
        </p:nvSpPr>
        <p:spPr>
          <a:xfrm>
            <a:off x="987552" y="27432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14" name="TextBox 1415"/>
          <p:cNvSpPr txBox="1"/>
          <p:nvPr/>
        </p:nvSpPr>
        <p:spPr>
          <a:xfrm>
            <a:off x="1316736" y="26517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Reading the same alert for the fortieth time</a:t>
            </a:r>
          </a:p>
        </p:txBody>
      </p:sp>
      <p:sp>
        <p:nvSpPr>
          <p:cNvPr id="1416" name="Shape 1417"/>
          <p:cNvSpPr/>
          <p:nvPr/>
        </p:nvSpPr>
        <p:spPr>
          <a:xfrm>
            <a:off x="987552" y="34290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18" name="TextBox 1419"/>
          <p:cNvSpPr txBox="1"/>
          <p:nvPr/>
        </p:nvSpPr>
        <p:spPr>
          <a:xfrm>
            <a:off x="1316736" y="33375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Chasing a partner about a feed that broke again</a:t>
            </a:r>
          </a:p>
        </p:txBody>
      </p:sp>
      <p:sp>
        <p:nvSpPr>
          <p:cNvPr id="1420" name="Shape 1421"/>
          <p:cNvSpPr/>
          <p:nvPr/>
        </p:nvSpPr>
        <p:spPr>
          <a:xfrm>
            <a:off x="987552" y="41148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22" name="TextBox 1423"/>
          <p:cNvSpPr txBox="1"/>
          <p:nvPr/>
        </p:nvSpPr>
        <p:spPr>
          <a:xfrm>
            <a:off x="1316736" y="40233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Re-running loads by hand at seven in the morning</a:t>
            </a:r>
          </a:p>
        </p:txBody>
      </p:sp>
      <p:sp>
        <p:nvSpPr>
          <p:cNvPr id="1424" name="Shape 1425"/>
          <p:cNvSpPr/>
          <p:nvPr/>
        </p:nvSpPr>
        <p:spPr>
          <a:xfrm>
            <a:off x="987552" y="48006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26" name="TextBox 1427"/>
          <p:cNvSpPr txBox="1"/>
          <p:nvPr/>
        </p:nvSpPr>
        <p:spPr>
          <a:xfrm>
            <a:off x="1316736" y="47091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Explaining, once a quarter, why a number moved</a:t>
            </a:r>
          </a:p>
        </p:txBody>
      </p:sp>
      <p:sp>
        <p:nvSpPr>
          <p:cNvPr id="1428" name="Shape 1429"/>
          <p:cNvSpPr/>
          <p:nvPr/>
        </p:nvSpPr>
        <p:spPr>
          <a:xfrm>
            <a:off x="6309360" y="1965960"/>
            <a:ext cx="5257800" cy="347472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30" name="TextBox 1431"/>
          <p:cNvSpPr txBox="1"/>
          <p:nvPr/>
        </p:nvSpPr>
        <p:spPr>
          <a:xfrm>
            <a:off x="6675120" y="2176272"/>
            <a:ext cx="4526280" cy="292608"/>
          </a:xfrm>
          <a:prstGeom prst="rect">
            <a:avLst/>
          </a:prstGeom>
          <a:noFill/>
        </p:spPr>
        <p:txBody>
          <a:bodyPr wrap="square" lIns="0" tIns="0" rIns="0" bIns="0" anchor="t"/>
          <a:lstStyle/>
          <a:p>
            <a:pPr algn="l"/>
            <a:r>
              <a:rPr sz="1500" b="1">
                <a:solidFill>
                  <a:srgbClr val="016BFF"/>
                </a:solidFill>
                <a:latin typeface="Verdana Pro Semibold"/>
              </a:rPr>
              <a:t>What it becomes</a:t>
            </a:r>
          </a:p>
        </p:txBody>
      </p:sp>
      <p:sp>
        <p:nvSpPr>
          <p:cNvPr id="1432" name="Shape 1433"/>
          <p:cNvSpPr/>
          <p:nvPr/>
        </p:nvSpPr>
        <p:spPr>
          <a:xfrm>
            <a:off x="6675120" y="27432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34" name="TextBox 1435"/>
          <p:cNvSpPr txBox="1"/>
          <p:nvPr/>
        </p:nvSpPr>
        <p:spPr>
          <a:xfrm>
            <a:off x="7004304" y="26517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Curating a library of approved resolution patterns</a:t>
            </a:r>
          </a:p>
        </p:txBody>
      </p:sp>
      <p:sp>
        <p:nvSpPr>
          <p:cNvPr id="1436" name="Shape 1437"/>
          <p:cNvSpPr/>
          <p:nvPr/>
        </p:nvSpPr>
        <p:spPr>
          <a:xfrm>
            <a:off x="6675120" y="34290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38" name="TextBox 1439"/>
          <p:cNvSpPr txBox="1"/>
          <p:nvPr/>
        </p:nvSpPr>
        <p:spPr>
          <a:xfrm>
            <a:off x="7004304" y="33375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Deciding what an ambiguous value actually means</a:t>
            </a:r>
          </a:p>
        </p:txBody>
      </p:sp>
      <p:sp>
        <p:nvSpPr>
          <p:cNvPr id="1440" name="Shape 1441"/>
          <p:cNvSpPr/>
          <p:nvPr/>
        </p:nvSpPr>
        <p:spPr>
          <a:xfrm>
            <a:off x="6675120" y="41148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42" name="TextBox 1443"/>
          <p:cNvSpPr txBox="1"/>
          <p:nvPr/>
        </p:nvSpPr>
        <p:spPr>
          <a:xfrm>
            <a:off x="7004304" y="40233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Auditing the agent's decisions in aggregate, weekly</a:t>
            </a:r>
          </a:p>
        </p:txBody>
      </p:sp>
      <p:sp>
        <p:nvSpPr>
          <p:cNvPr id="1444" name="Shape 1445"/>
          <p:cNvSpPr/>
          <p:nvPr/>
        </p:nvSpPr>
        <p:spPr>
          <a:xfrm>
            <a:off x="6675120" y="4800600"/>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46" name="TextBox 1447"/>
          <p:cNvSpPr txBox="1"/>
          <p:nvPr/>
        </p:nvSpPr>
        <p:spPr>
          <a:xfrm>
            <a:off x="7004304" y="4709160"/>
            <a:ext cx="4100000" cy="640080"/>
          </a:xfrm>
          <a:prstGeom prst="rect">
            <a:avLst/>
          </a:prstGeom>
          <a:noFill/>
        </p:spPr>
        <p:txBody>
          <a:bodyPr wrap="square" lIns="0" tIns="0" rIns="0" bIns="0" anchor="t"/>
          <a:lstStyle/>
          <a:p>
            <a:pPr algn="l">
              <a:lnSpc>
                <a:spcPct val="116000"/>
              </a:lnSpc>
            </a:pPr>
            <a:r>
              <a:rPr sz="1300" b="0">
                <a:solidFill>
                  <a:srgbClr val="161616"/>
                </a:solidFill>
                <a:latin typeface="Verdana Pro Light"/>
              </a:rPr>
              <a:t>Setting how much freedom each data product gets</a:t>
            </a:r>
          </a:p>
        </p:txBody>
      </p:sp>
      <p:sp>
        <p:nvSpPr>
          <p:cNvPr id="1448" name="Shape 1449"/>
          <p:cNvSpPr/>
          <p:nvPr/>
        </p:nvSpPr>
        <p:spPr>
          <a:xfrm>
            <a:off x="621792" y="5578560"/>
            <a:ext cx="10948416" cy="5000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450" name="TextBox 1451"/>
          <p:cNvSpPr txBox="1"/>
          <p:nvPr/>
        </p:nvSpPr>
        <p:spPr>
          <a:xfrm>
            <a:off x="1981200" y="5578560"/>
            <a:ext cx="8229600" cy="5000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Fewer tickets, more judgement. The repeatable work goes; the decisions stay.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8" name="TextBox 1679"/>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The Data Steward</a:t>
            </a:r>
          </a:p>
        </p:txBody>
      </p:sp>
      <p:sp>
        <p:nvSpPr>
          <p:cNvPr id="1680" name="TextBox 1681"/>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What the Data Steward becomes</a:t>
            </a:r>
          </a:p>
        </p:txBody>
      </p:sp>
      <p:pic>
        <p:nvPicPr>
          <p:cNvPr id="1682" name="Picture 1683" descr="logo_black.png"/>
          <p:cNvPicPr>
            <a:picLocks noChangeAspect="1"/>
          </p:cNvPicPr>
          <p:nvPr/>
        </p:nvPicPr>
        <p:blipFill>
          <a:blip r:embed="rId3"/>
          <a:stretch>
            <a:fillRect/>
          </a:stretch>
        </p:blipFill>
        <p:spPr>
          <a:xfrm>
            <a:off x="621792" y="6327648"/>
            <a:ext cx="811952" cy="310896"/>
          </a:xfrm>
          <a:prstGeom prst="rect">
            <a:avLst/>
          </a:prstGeom>
        </p:spPr>
      </p:pic>
      <p:sp>
        <p:nvSpPr>
          <p:cNvPr id="1684" name="TextBox 1685"/>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1686" name="TextBox 1687"/>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1688" name="TextBox 1689"/>
          <p:cNvSpPr txBox="1"/>
          <p:nvPr/>
        </p:nvSpPr>
        <p:spPr>
          <a:xfrm>
            <a:off x="11109960" y="6345936"/>
            <a:ext cx="457200" cy="274320"/>
          </a:xfrm>
          <a:prstGeom prst="rect">
            <a:avLst/>
          </a:prstGeom>
          <a:noFill/>
        </p:spPr>
        <p:txBody>
          <a:bodyPr wrap="square" lIns="0" tIns="0" rIns="0" bIns="0" anchor="ctr"/>
          <a:lstStyle/>
          <a:p>
            <a:pPr algn="r"/>
            <a:r>
              <a:rPr lang="de-AT" sz="1050" dirty="0">
                <a:solidFill>
                  <a:srgbClr val="016BFF"/>
                </a:solidFill>
                <a:latin typeface="Verdana Pro Light"/>
              </a:rPr>
              <a:t>3</a:t>
            </a:r>
            <a:r>
              <a:rPr sz="1050" b="0" dirty="0">
                <a:solidFill>
                  <a:srgbClr val="016BFF"/>
                </a:solidFill>
                <a:latin typeface="Verdana Pro Light"/>
              </a:rPr>
              <a:t>3</a:t>
            </a:r>
          </a:p>
        </p:txBody>
      </p:sp>
      <p:sp>
        <p:nvSpPr>
          <p:cNvPr id="1690" name="Shape 1691"/>
          <p:cNvSpPr/>
          <p:nvPr/>
        </p:nvSpPr>
        <p:spPr>
          <a:xfrm>
            <a:off x="621792" y="2286000"/>
            <a:ext cx="10948416" cy="1828800"/>
          </a:xfrm>
          <a:prstGeom prst="rect">
            <a:avLst/>
          </a:prstGeom>
          <a:solidFill>
            <a:srgbClr val="EAF4EE"/>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692" name="TextBox 1693"/>
          <p:cNvSpPr txBox="1"/>
          <p:nvPr/>
        </p:nvSpPr>
        <p:spPr>
          <a:xfrm>
            <a:off x="1188720" y="2286000"/>
            <a:ext cx="9500000" cy="1828800"/>
          </a:xfrm>
          <a:prstGeom prst="rect">
            <a:avLst/>
          </a:prstGeom>
          <a:noFill/>
        </p:spPr>
        <p:txBody>
          <a:bodyPr wrap="square" lIns="0" tIns="0" rIns="0" bIns="0" anchor="ctr"/>
          <a:lstStyle/>
          <a:p>
            <a:pPr algn="l">
              <a:lnSpc>
                <a:spcPct val="118000"/>
              </a:lnSpc>
            </a:pPr>
            <a:r>
              <a:rPr sz="2000" b="1">
                <a:solidFill>
                  <a:srgbClr val="1E7F4F"/>
                </a:solidFill>
                <a:latin typeface="Verdana Pro Semibold"/>
              </a:rPr>
              <a:t>The Steward stops fixing individual problems
and starts deciding how problems get fixed.</a:t>
            </a:r>
          </a:p>
        </p:txBody>
      </p:sp>
      <p:sp>
        <p:nvSpPr>
          <p:cNvPr id="1694" name="TextBox 1695"/>
          <p:cNvSpPr txBox="1"/>
          <p:nvPr/>
        </p:nvSpPr>
        <p:spPr>
          <a:xfrm>
            <a:off x="621792" y="4480560"/>
            <a:ext cx="10400000" cy="1188720"/>
          </a:xfrm>
          <a:prstGeom prst="rect">
            <a:avLst/>
          </a:prstGeom>
          <a:noFill/>
        </p:spPr>
        <p:txBody>
          <a:bodyPr wrap="square" lIns="0" tIns="0" rIns="0" bIns="0" anchor="t"/>
          <a:lstStyle/>
          <a:p>
            <a:pPr algn="l">
              <a:lnSpc>
                <a:spcPct val="120000"/>
              </a:lnSpc>
            </a:pPr>
            <a:r>
              <a:rPr sz="1450" b="0" dirty="0">
                <a:solidFill>
                  <a:srgbClr val="5B7383"/>
                </a:solidFill>
                <a:latin typeface="Verdana Pro Light"/>
              </a:rPr>
              <a:t>That is a more senior job than most stewards hold today — closer to policy than to operations — and it is the one </a:t>
            </a:r>
            <a:r>
              <a:rPr sz="1450" b="0" dirty="0" err="1">
                <a:solidFill>
                  <a:srgbClr val="5B7383"/>
                </a:solidFill>
                <a:latin typeface="Verdana Pro Light"/>
              </a:rPr>
              <a:t>organisations</a:t>
            </a:r>
            <a:r>
              <a:rPr sz="1450" b="0" dirty="0">
                <a:solidFill>
                  <a:srgbClr val="5B7383"/>
                </a:solidFill>
                <a:latin typeface="Verdana Pro Light"/>
              </a:rPr>
              <a:t> have been short of all along. Nobody is removed.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6" name="TextBox 1697"/>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Honestly</a:t>
            </a:r>
          </a:p>
        </p:txBody>
      </p:sp>
      <p:sp>
        <p:nvSpPr>
          <p:cNvPr id="1698" name="TextBox 1699"/>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What agents still do not solve</a:t>
            </a:r>
          </a:p>
        </p:txBody>
      </p:sp>
      <p:pic>
        <p:nvPicPr>
          <p:cNvPr id="1700" name="Picture 1701" descr="logo_black.png"/>
          <p:cNvPicPr>
            <a:picLocks noChangeAspect="1"/>
          </p:cNvPicPr>
          <p:nvPr/>
        </p:nvPicPr>
        <p:blipFill>
          <a:blip r:embed="rId3"/>
          <a:stretch>
            <a:fillRect/>
          </a:stretch>
        </p:blipFill>
        <p:spPr>
          <a:xfrm>
            <a:off x="621792" y="6327648"/>
            <a:ext cx="811952" cy="310896"/>
          </a:xfrm>
          <a:prstGeom prst="rect">
            <a:avLst/>
          </a:prstGeom>
        </p:spPr>
      </p:pic>
      <p:sp>
        <p:nvSpPr>
          <p:cNvPr id="1702" name="TextBox 1703"/>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1704" name="TextBox 1705"/>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1706" name="TextBox 1707"/>
          <p:cNvSpPr txBox="1"/>
          <p:nvPr/>
        </p:nvSpPr>
        <p:spPr>
          <a:xfrm>
            <a:off x="11109960" y="6345936"/>
            <a:ext cx="457200" cy="274320"/>
          </a:xfrm>
          <a:prstGeom prst="rect">
            <a:avLst/>
          </a:prstGeom>
          <a:noFill/>
        </p:spPr>
        <p:txBody>
          <a:bodyPr wrap="square" lIns="0" tIns="0" rIns="0" bIns="0" anchor="ctr"/>
          <a:lstStyle/>
          <a:p>
            <a:pPr algn="r"/>
            <a:r>
              <a:rPr lang="de-AT" sz="1050" dirty="0">
                <a:solidFill>
                  <a:srgbClr val="016BFF"/>
                </a:solidFill>
                <a:latin typeface="Verdana Pro Light"/>
              </a:rPr>
              <a:t>3</a:t>
            </a:r>
            <a:r>
              <a:rPr sz="1050" b="0" dirty="0">
                <a:solidFill>
                  <a:srgbClr val="016BFF"/>
                </a:solidFill>
                <a:latin typeface="Verdana Pro Light"/>
              </a:rPr>
              <a:t>4</a:t>
            </a:r>
          </a:p>
        </p:txBody>
      </p:sp>
      <p:sp>
        <p:nvSpPr>
          <p:cNvPr id="1708" name="TextBox 1709"/>
          <p:cNvSpPr txBox="1"/>
          <p:nvPr/>
        </p:nvSpPr>
        <p:spPr>
          <a:xfrm>
            <a:off x="621792" y="1554480"/>
            <a:ext cx="10607040" cy="292608"/>
          </a:xfrm>
          <a:prstGeom prst="rect">
            <a:avLst/>
          </a:prstGeom>
          <a:noFill/>
        </p:spPr>
        <p:txBody>
          <a:bodyPr wrap="square" lIns="0" tIns="0" rIns="0" bIns="0" anchor="t"/>
          <a:lstStyle/>
          <a:p>
            <a:pPr algn="l"/>
            <a:r>
              <a:rPr sz="1300" b="0">
                <a:solidFill>
                  <a:srgbClr val="5B7383"/>
                </a:solidFill>
                <a:latin typeface="Verdana Pro Light"/>
              </a:rPr>
              <a:t>The limits have moved. They have not disappeared, and three of them are permanent.</a:t>
            </a:r>
          </a:p>
        </p:txBody>
      </p:sp>
      <p:sp>
        <p:nvSpPr>
          <p:cNvPr id="1710" name="Shape 1711"/>
          <p:cNvSpPr/>
          <p:nvPr/>
        </p:nvSpPr>
        <p:spPr>
          <a:xfrm>
            <a:off x="621792" y="1965960"/>
            <a:ext cx="3465576" cy="361188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12" name="TextBox 1713"/>
          <p:cNvSpPr txBox="1"/>
          <p:nvPr/>
        </p:nvSpPr>
        <p:spPr>
          <a:xfrm>
            <a:off x="896112" y="2176272"/>
            <a:ext cx="2916936" cy="548640"/>
          </a:xfrm>
          <a:prstGeom prst="rect">
            <a:avLst/>
          </a:prstGeom>
          <a:noFill/>
        </p:spPr>
        <p:txBody>
          <a:bodyPr wrap="square" lIns="0" tIns="0" rIns="0" bIns="0" anchor="t"/>
          <a:lstStyle/>
          <a:p>
            <a:pPr algn="l">
              <a:lnSpc>
                <a:spcPct val="112000"/>
              </a:lnSpc>
            </a:pPr>
            <a:r>
              <a:rPr sz="1400" b="1">
                <a:solidFill>
                  <a:srgbClr val="161616"/>
                </a:solidFill>
                <a:latin typeface="Verdana Pro Semibold"/>
              </a:rPr>
              <a:t>It cannot invent a source of truth</a:t>
            </a:r>
          </a:p>
        </p:txBody>
      </p:sp>
      <p:sp>
        <p:nvSpPr>
          <p:cNvPr id="1714" name="Shape 1715"/>
          <p:cNvSpPr/>
          <p:nvPr/>
        </p:nvSpPr>
        <p:spPr>
          <a:xfrm>
            <a:off x="896112"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16" name="TextBox 1717"/>
          <p:cNvSpPr txBox="1"/>
          <p:nvPr/>
        </p:nvSpPr>
        <p:spPr>
          <a:xfrm>
            <a:off x="1225296"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Did the passenger actually board?</a:t>
            </a:r>
          </a:p>
        </p:txBody>
      </p:sp>
      <p:sp>
        <p:nvSpPr>
          <p:cNvPr id="1718" name="TextBox 1719"/>
          <p:cNvSpPr txBox="1"/>
          <p:nvPr/>
        </p:nvSpPr>
        <p:spPr>
          <a:xfrm>
            <a:off x="1225296"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the boarding scan is the record</a:t>
            </a:r>
          </a:p>
        </p:txBody>
      </p:sp>
      <p:sp>
        <p:nvSpPr>
          <p:cNvPr id="1720" name="Shape 1721"/>
          <p:cNvSpPr/>
          <p:nvPr/>
        </p:nvSpPr>
        <p:spPr>
          <a:xfrm>
            <a:off x="896112"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22" name="TextBox 1723"/>
          <p:cNvSpPr txBox="1"/>
          <p:nvPr/>
        </p:nvSpPr>
        <p:spPr>
          <a:xfrm>
            <a:off x="1225296"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No register knows</a:t>
            </a:r>
          </a:p>
        </p:txBody>
      </p:sp>
      <p:sp>
        <p:nvSpPr>
          <p:cNvPr id="1724" name="TextBox 1725"/>
          <p:cNvSpPr txBox="1"/>
          <p:nvPr/>
        </p:nvSpPr>
        <p:spPr>
          <a:xfrm>
            <a:off x="1225296"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and no amount of reasoning substitutes for one</a:t>
            </a:r>
          </a:p>
        </p:txBody>
      </p:sp>
      <p:sp>
        <p:nvSpPr>
          <p:cNvPr id="1726" name="Shape 1727"/>
          <p:cNvSpPr/>
          <p:nvPr/>
        </p:nvSpPr>
        <p:spPr>
          <a:xfrm>
            <a:off x="896112"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28" name="TextBox 1729"/>
          <p:cNvSpPr txBox="1"/>
          <p:nvPr/>
        </p:nvSpPr>
        <p:spPr>
          <a:xfrm>
            <a:off x="1225296"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Both copies can be wrong together</a:t>
            </a:r>
          </a:p>
        </p:txBody>
      </p:sp>
      <p:sp>
        <p:nvSpPr>
          <p:cNvPr id="1730" name="TextBox 1731"/>
          <p:cNvSpPr txBox="1"/>
          <p:nvPr/>
        </p:nvSpPr>
        <p:spPr>
          <a:xfrm>
            <a:off x="1225296"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reconciliation compares, it does not verify</a:t>
            </a:r>
          </a:p>
        </p:txBody>
      </p:sp>
      <p:sp>
        <p:nvSpPr>
          <p:cNvPr id="1732" name="Shape 1733"/>
          <p:cNvSpPr/>
          <p:nvPr/>
        </p:nvSpPr>
        <p:spPr>
          <a:xfrm>
            <a:off x="4361688" y="1965960"/>
            <a:ext cx="3465576" cy="3611880"/>
          </a:xfrm>
          <a:prstGeom prst="rect">
            <a:avLst/>
          </a:prstGeom>
          <a:solidFill>
            <a:srgbClr val="E3EDFB"/>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34" name="TextBox 1735"/>
          <p:cNvSpPr txBox="1"/>
          <p:nvPr/>
        </p:nvSpPr>
        <p:spPr>
          <a:xfrm>
            <a:off x="4636008" y="2176272"/>
            <a:ext cx="2916936" cy="548640"/>
          </a:xfrm>
          <a:prstGeom prst="rect">
            <a:avLst/>
          </a:prstGeom>
          <a:noFill/>
        </p:spPr>
        <p:txBody>
          <a:bodyPr wrap="square" lIns="0" tIns="0" rIns="0" bIns="0" anchor="t"/>
          <a:lstStyle/>
          <a:p>
            <a:pPr algn="l">
              <a:lnSpc>
                <a:spcPct val="112000"/>
              </a:lnSpc>
            </a:pPr>
            <a:r>
              <a:rPr sz="1400" b="1">
                <a:solidFill>
                  <a:srgbClr val="016BFF"/>
                </a:solidFill>
                <a:latin typeface="Verdana Pro Semibold"/>
              </a:rPr>
              <a:t>It cannot define the purpose</a:t>
            </a:r>
          </a:p>
        </p:txBody>
      </p:sp>
      <p:sp>
        <p:nvSpPr>
          <p:cNvPr id="1736" name="Shape 1737"/>
          <p:cNvSpPr/>
          <p:nvPr/>
        </p:nvSpPr>
        <p:spPr>
          <a:xfrm>
            <a:off x="4636008"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38" name="TextBox 1739"/>
          <p:cNvSpPr txBox="1"/>
          <p:nvPr/>
        </p:nvSpPr>
        <p:spPr>
          <a:xfrm>
            <a:off x="4965192"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Is an infant on a lap a passenger?</a:t>
            </a:r>
          </a:p>
        </p:txBody>
      </p:sp>
      <p:sp>
        <p:nvSpPr>
          <p:cNvPr id="1740" name="TextBox 1741"/>
          <p:cNvSpPr txBox="1"/>
          <p:nvPr/>
        </p:nvSpPr>
        <p:spPr>
          <a:xfrm>
            <a:off x="4965192"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a business decision, not a data one</a:t>
            </a:r>
          </a:p>
        </p:txBody>
      </p:sp>
      <p:sp>
        <p:nvSpPr>
          <p:cNvPr id="1742" name="Shape 1743"/>
          <p:cNvSpPr/>
          <p:nvPr/>
        </p:nvSpPr>
        <p:spPr>
          <a:xfrm>
            <a:off x="4636008"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44" name="TextBox 1745"/>
          <p:cNvSpPr txBox="1"/>
          <p:nvPr/>
        </p:nvSpPr>
        <p:spPr>
          <a:xfrm>
            <a:off x="4965192"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Which system is authoritative?</a:t>
            </a:r>
          </a:p>
        </p:txBody>
      </p:sp>
      <p:sp>
        <p:nvSpPr>
          <p:cNvPr id="1746" name="TextBox 1747"/>
          <p:cNvSpPr txBox="1"/>
          <p:nvPr/>
        </p:nvSpPr>
        <p:spPr>
          <a:xfrm>
            <a:off x="4965192"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somebody has to own that, in writing</a:t>
            </a:r>
          </a:p>
        </p:txBody>
      </p:sp>
      <p:sp>
        <p:nvSpPr>
          <p:cNvPr id="1748" name="Shape 1749"/>
          <p:cNvSpPr/>
          <p:nvPr/>
        </p:nvSpPr>
        <p:spPr>
          <a:xfrm>
            <a:off x="4636008"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50" name="TextBox 1751"/>
          <p:cNvSpPr txBox="1"/>
          <p:nvPr/>
        </p:nvSpPr>
        <p:spPr>
          <a:xfrm>
            <a:off x="4965192"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May history be restated?</a:t>
            </a:r>
          </a:p>
        </p:txBody>
      </p:sp>
      <p:sp>
        <p:nvSpPr>
          <p:cNvPr id="1752" name="TextBox 1753"/>
          <p:cNvSpPr txBox="1"/>
          <p:nvPr/>
        </p:nvSpPr>
        <p:spPr>
          <a:xfrm>
            <a:off x="4965192"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the leg was reported to a regulator</a:t>
            </a:r>
          </a:p>
        </p:txBody>
      </p:sp>
      <p:sp>
        <p:nvSpPr>
          <p:cNvPr id="1754" name="Shape 1755"/>
          <p:cNvSpPr/>
          <p:nvPr/>
        </p:nvSpPr>
        <p:spPr>
          <a:xfrm>
            <a:off x="8101584" y="1965960"/>
            <a:ext cx="3465576" cy="361188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56" name="TextBox 1757"/>
          <p:cNvSpPr txBox="1"/>
          <p:nvPr/>
        </p:nvSpPr>
        <p:spPr>
          <a:xfrm>
            <a:off x="8375904" y="2176272"/>
            <a:ext cx="2916936" cy="548640"/>
          </a:xfrm>
          <a:prstGeom prst="rect">
            <a:avLst/>
          </a:prstGeom>
          <a:noFill/>
        </p:spPr>
        <p:txBody>
          <a:bodyPr wrap="square" lIns="0" tIns="0" rIns="0" bIns="0" anchor="t"/>
          <a:lstStyle/>
          <a:p>
            <a:pPr algn="l">
              <a:lnSpc>
                <a:spcPct val="112000"/>
              </a:lnSpc>
            </a:pPr>
            <a:r>
              <a:rPr sz="1400" b="1">
                <a:solidFill>
                  <a:srgbClr val="5B7383"/>
                </a:solidFill>
                <a:latin typeface="Verdana Pro Semibold"/>
              </a:rPr>
              <a:t>It does not fix the upstream</a:t>
            </a:r>
          </a:p>
        </p:txBody>
      </p:sp>
      <p:sp>
        <p:nvSpPr>
          <p:cNvPr id="1758" name="Shape 1759"/>
          <p:cNvSpPr/>
          <p:nvPr/>
        </p:nvSpPr>
        <p:spPr>
          <a:xfrm>
            <a:off x="8375904" y="291693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60" name="TextBox 1761"/>
          <p:cNvSpPr txBox="1"/>
          <p:nvPr/>
        </p:nvSpPr>
        <p:spPr>
          <a:xfrm>
            <a:off x="8705088" y="283464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A feed absorbed is a feed never repaired</a:t>
            </a:r>
          </a:p>
        </p:txBody>
      </p:sp>
      <p:sp>
        <p:nvSpPr>
          <p:cNvPr id="1762" name="TextBox 1763"/>
          <p:cNvSpPr txBox="1"/>
          <p:nvPr/>
        </p:nvSpPr>
        <p:spPr>
          <a:xfrm>
            <a:off x="8705088" y="324612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the partner never feels the pain</a:t>
            </a:r>
          </a:p>
        </p:txBody>
      </p:sp>
      <p:sp>
        <p:nvSpPr>
          <p:cNvPr id="1764" name="Shape 1765"/>
          <p:cNvSpPr/>
          <p:nvPr/>
        </p:nvSpPr>
        <p:spPr>
          <a:xfrm>
            <a:off x="8375904" y="378561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66" name="TextBox 1767"/>
          <p:cNvSpPr txBox="1"/>
          <p:nvPr/>
        </p:nvSpPr>
        <p:spPr>
          <a:xfrm>
            <a:off x="8705088" y="370332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So every silent fix is still reported</a:t>
            </a:r>
          </a:p>
        </p:txBody>
      </p:sp>
      <p:sp>
        <p:nvSpPr>
          <p:cNvPr id="1768" name="TextBox 1769"/>
          <p:cNvSpPr txBox="1"/>
          <p:nvPr/>
        </p:nvSpPr>
        <p:spPr>
          <a:xfrm>
            <a:off x="8705088" y="411480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the Steward hears about it regardless</a:t>
            </a:r>
          </a:p>
        </p:txBody>
      </p:sp>
      <p:sp>
        <p:nvSpPr>
          <p:cNvPr id="1770" name="Shape 1771"/>
          <p:cNvSpPr/>
          <p:nvPr/>
        </p:nvSpPr>
        <p:spPr>
          <a:xfrm>
            <a:off x="8375904" y="4654296"/>
            <a:ext cx="137160" cy="137160"/>
          </a:xfrm>
          <a:prstGeom prst="ellipse">
            <a:avLst/>
          </a:prstGeom>
          <a:solidFill>
            <a:srgbClr val="016BFF"/>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72" name="TextBox 1773"/>
          <p:cNvSpPr txBox="1"/>
          <p:nvPr/>
        </p:nvSpPr>
        <p:spPr>
          <a:xfrm>
            <a:off x="8705088" y="4572000"/>
            <a:ext cx="2587752" cy="365760"/>
          </a:xfrm>
          <a:prstGeom prst="rect">
            <a:avLst/>
          </a:prstGeom>
          <a:noFill/>
        </p:spPr>
        <p:txBody>
          <a:bodyPr wrap="square" lIns="0" tIns="0" rIns="0" bIns="0" anchor="t"/>
          <a:lstStyle/>
          <a:p>
            <a:pPr algn="l">
              <a:lnSpc>
                <a:spcPct val="112000"/>
              </a:lnSpc>
            </a:pPr>
            <a:r>
              <a:rPr sz="1200" b="0">
                <a:solidFill>
                  <a:srgbClr val="161616"/>
                </a:solidFill>
                <a:latin typeface="Verdana Pro Light"/>
              </a:rPr>
              <a:t>Automation can hide a rotting source</a:t>
            </a:r>
          </a:p>
        </p:txBody>
      </p:sp>
      <p:sp>
        <p:nvSpPr>
          <p:cNvPr id="1774" name="TextBox 1775"/>
          <p:cNvSpPr txBox="1"/>
          <p:nvPr/>
        </p:nvSpPr>
        <p:spPr>
          <a:xfrm>
            <a:off x="8705088" y="4983480"/>
            <a:ext cx="2587752" cy="457200"/>
          </a:xfrm>
          <a:prstGeom prst="rect">
            <a:avLst/>
          </a:prstGeom>
          <a:noFill/>
        </p:spPr>
        <p:txBody>
          <a:bodyPr wrap="square" lIns="0" tIns="0" rIns="0" bIns="0" anchor="t"/>
          <a:lstStyle/>
          <a:p>
            <a:pPr algn="l">
              <a:lnSpc>
                <a:spcPct val="112000"/>
              </a:lnSpc>
            </a:pPr>
            <a:r>
              <a:rPr sz="1100" b="0">
                <a:solidFill>
                  <a:srgbClr val="5B7383"/>
                </a:solidFill>
                <a:latin typeface="Verdana Pro Light"/>
              </a:rPr>
              <a:t>which is the risk nobody prices in</a:t>
            </a:r>
          </a:p>
        </p:txBody>
      </p:sp>
      <p:sp>
        <p:nvSpPr>
          <p:cNvPr id="1776" name="Shape 1777"/>
          <p:cNvSpPr/>
          <p:nvPr/>
        </p:nvSpPr>
        <p:spPr>
          <a:xfrm>
            <a:off x="621792" y="5669280"/>
            <a:ext cx="10948416" cy="457200"/>
          </a:xfrm>
          <a:prstGeom prst="rect">
            <a:avLst/>
          </a:prstGeom>
          <a:solidFill>
            <a:srgbClr val="F2F2F2"/>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778" name="TextBox 1779"/>
          <p:cNvSpPr txBox="1"/>
          <p:nvPr/>
        </p:nvSpPr>
        <p:spPr>
          <a:xfrm>
            <a:off x="1981200" y="5669280"/>
            <a:ext cx="8229600" cy="457200"/>
          </a:xfrm>
          <a:prstGeom prst="rect">
            <a:avLst/>
          </a:prstGeom>
          <a:noFill/>
        </p:spPr>
        <p:txBody>
          <a:bodyPr wrap="square" lIns="0" tIns="0" rIns="0" bIns="0" anchor="ctr"/>
          <a:lstStyle/>
          <a:p>
            <a:pPr algn="ctr">
              <a:lnSpc>
                <a:spcPct val="112000"/>
              </a:lnSpc>
            </a:pPr>
            <a:r>
              <a:rPr sz="1250" b="1">
                <a:solidFill>
                  <a:srgbClr val="161616"/>
                </a:solidFill>
                <a:latin typeface="Verdana Pro Semibold"/>
              </a:rPr>
              <a:t>A feed repaired silently forever never gets fixed at the source, so report every automatic fix.</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4" name="TextBox 1865"/>
          <p:cNvSpPr txBox="1"/>
          <p:nvPr/>
        </p:nvSpPr>
        <p:spPr>
          <a:xfrm>
            <a:off x="621792" y="411480"/>
            <a:ext cx="9600000" cy="274320"/>
          </a:xfrm>
          <a:prstGeom prst="rect">
            <a:avLst/>
          </a:prstGeom>
          <a:noFill/>
        </p:spPr>
        <p:txBody>
          <a:bodyPr wrap="square" lIns="0" tIns="0" rIns="0" bIns="0" anchor="t"/>
          <a:lstStyle/>
          <a:p>
            <a:pPr algn="l"/>
            <a:r>
              <a:rPr sz="1100" b="0">
                <a:solidFill>
                  <a:srgbClr val="9FB3BF"/>
                </a:solidFill>
                <a:latin typeface="Verdana Pro Light"/>
              </a:rPr>
              <a:t>Where this is</a:t>
            </a:r>
          </a:p>
        </p:txBody>
      </p:sp>
      <p:sp>
        <p:nvSpPr>
          <p:cNvPr id="1866" name="TextBox 1867"/>
          <p:cNvSpPr txBox="1"/>
          <p:nvPr/>
        </p:nvSpPr>
        <p:spPr>
          <a:xfrm>
            <a:off x="621792" y="932688"/>
            <a:ext cx="10607040" cy="640080"/>
          </a:xfrm>
          <a:prstGeom prst="rect">
            <a:avLst/>
          </a:prstGeom>
          <a:noFill/>
        </p:spPr>
        <p:txBody>
          <a:bodyPr wrap="square" lIns="0" tIns="0" rIns="0" bIns="0" anchor="t"/>
          <a:lstStyle/>
          <a:p>
            <a:pPr algn="l"/>
            <a:r>
              <a:rPr sz="2600" b="1">
                <a:solidFill>
                  <a:srgbClr val="161616"/>
                </a:solidFill>
                <a:latin typeface="Verdana Pro Semibold"/>
              </a:rPr>
              <a:t>This is the direction digna is taking</a:t>
            </a:r>
          </a:p>
        </p:txBody>
      </p:sp>
      <p:pic>
        <p:nvPicPr>
          <p:cNvPr id="1868" name="Picture 1869" descr="logo_black.png"/>
          <p:cNvPicPr>
            <a:picLocks noChangeAspect="1"/>
          </p:cNvPicPr>
          <p:nvPr/>
        </p:nvPicPr>
        <p:blipFill>
          <a:blip r:embed="rId3"/>
          <a:stretch>
            <a:fillRect/>
          </a:stretch>
        </p:blipFill>
        <p:spPr>
          <a:xfrm>
            <a:off x="621792" y="6327648"/>
            <a:ext cx="811952" cy="310896"/>
          </a:xfrm>
          <a:prstGeom prst="rect">
            <a:avLst/>
          </a:prstGeom>
        </p:spPr>
      </p:pic>
      <p:sp>
        <p:nvSpPr>
          <p:cNvPr id="1870" name="TextBox 1871"/>
          <p:cNvSpPr txBox="1"/>
          <p:nvPr/>
        </p:nvSpPr>
        <p:spPr>
          <a:xfrm>
            <a:off x="1627632" y="6345936"/>
            <a:ext cx="5943600" cy="274320"/>
          </a:xfrm>
          <a:prstGeom prst="rect">
            <a:avLst/>
          </a:prstGeom>
          <a:noFill/>
        </p:spPr>
        <p:txBody>
          <a:bodyPr wrap="square" lIns="0" tIns="0" rIns="0" bIns="0" anchor="ctr"/>
          <a:lstStyle/>
          <a:p>
            <a:pPr algn="l"/>
            <a:r>
              <a:rPr sz="1000" b="0">
                <a:solidFill>
                  <a:srgbClr val="5B7383"/>
                </a:solidFill>
                <a:latin typeface="Verdana Pro Light"/>
              </a:rPr>
              <a:t>|   Data Quality and Observability Platform</a:t>
            </a:r>
          </a:p>
        </p:txBody>
      </p:sp>
      <p:sp>
        <p:nvSpPr>
          <p:cNvPr id="1872" name="TextBox 1873"/>
          <p:cNvSpPr txBox="1"/>
          <p:nvPr/>
        </p:nvSpPr>
        <p:spPr>
          <a:xfrm>
            <a:off x="9692640" y="6345936"/>
            <a:ext cx="1371600" cy="274320"/>
          </a:xfrm>
          <a:prstGeom prst="rect">
            <a:avLst/>
          </a:prstGeom>
          <a:noFill/>
        </p:spPr>
        <p:txBody>
          <a:bodyPr wrap="square" lIns="0" tIns="0" rIns="0" bIns="0" anchor="ctr"/>
          <a:lstStyle/>
          <a:p>
            <a:pPr algn="r"/>
            <a:r>
              <a:rPr sz="1050" b="0">
                <a:solidFill>
                  <a:srgbClr val="016BFF"/>
                </a:solidFill>
                <a:latin typeface="Verdana Pro Light"/>
              </a:rPr>
              <a:t>digna   |</a:t>
            </a:r>
          </a:p>
        </p:txBody>
      </p:sp>
      <p:sp>
        <p:nvSpPr>
          <p:cNvPr id="1874" name="TextBox 1875"/>
          <p:cNvSpPr txBox="1"/>
          <p:nvPr/>
        </p:nvSpPr>
        <p:spPr>
          <a:xfrm>
            <a:off x="11109960" y="6345936"/>
            <a:ext cx="457200" cy="274320"/>
          </a:xfrm>
          <a:prstGeom prst="rect">
            <a:avLst/>
          </a:prstGeom>
          <a:noFill/>
        </p:spPr>
        <p:txBody>
          <a:bodyPr wrap="square" lIns="0" tIns="0" rIns="0" bIns="0" anchor="ctr"/>
          <a:lstStyle/>
          <a:p>
            <a:pPr algn="r"/>
            <a:r>
              <a:rPr lang="de-AT" sz="1050" dirty="0">
                <a:solidFill>
                  <a:srgbClr val="016BFF"/>
                </a:solidFill>
                <a:latin typeface="Verdana Pro Light"/>
              </a:rPr>
              <a:t>35</a:t>
            </a:r>
            <a:endParaRPr sz="1050" b="0" dirty="0">
              <a:solidFill>
                <a:srgbClr val="016BFF"/>
              </a:solidFill>
              <a:latin typeface="Verdana Pro Light"/>
            </a:endParaRPr>
          </a:p>
        </p:txBody>
      </p:sp>
      <p:sp>
        <p:nvSpPr>
          <p:cNvPr id="1876" name="Shape 1877"/>
          <p:cNvSpPr/>
          <p:nvPr/>
        </p:nvSpPr>
        <p:spPr>
          <a:xfrm>
            <a:off x="621792" y="2286000"/>
            <a:ext cx="10948416" cy="1828800"/>
          </a:xfrm>
          <a:prstGeom prst="rect">
            <a:avLst/>
          </a:prstGeom>
          <a:solidFill>
            <a:srgbClr val="EAF4EE"/>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878" name="TextBox 1879"/>
          <p:cNvSpPr txBox="1"/>
          <p:nvPr/>
        </p:nvSpPr>
        <p:spPr>
          <a:xfrm>
            <a:off x="1188720" y="2286000"/>
            <a:ext cx="9500000" cy="1828800"/>
          </a:xfrm>
          <a:prstGeom prst="rect">
            <a:avLst/>
          </a:prstGeom>
          <a:noFill/>
        </p:spPr>
        <p:txBody>
          <a:bodyPr wrap="square" lIns="0" tIns="0" rIns="0" bIns="0" anchor="ctr"/>
          <a:lstStyle/>
          <a:p>
            <a:pPr algn="l">
              <a:lnSpc>
                <a:spcPct val="118000"/>
              </a:lnSpc>
            </a:pPr>
            <a:r>
              <a:rPr sz="2000" b="1">
                <a:solidFill>
                  <a:srgbClr val="1E7F4F"/>
                </a:solidFill>
                <a:latin typeface="Verdana Pro Semibold"/>
              </a:rPr>
              <a:t>We believe this is the future.
The first version reaches our customers in Q2 2027.</a:t>
            </a:r>
          </a:p>
        </p:txBody>
      </p:sp>
      <p:sp>
        <p:nvSpPr>
          <p:cNvPr id="1880" name="TextBox 1881"/>
          <p:cNvSpPr txBox="1"/>
          <p:nvPr/>
        </p:nvSpPr>
        <p:spPr>
          <a:xfrm>
            <a:off x="621792" y="4480560"/>
            <a:ext cx="10400000" cy="1188720"/>
          </a:xfrm>
          <a:prstGeom prst="rect">
            <a:avLst/>
          </a:prstGeom>
          <a:noFill/>
        </p:spPr>
        <p:txBody>
          <a:bodyPr wrap="square" lIns="0" tIns="0" rIns="0" bIns="0" anchor="t"/>
          <a:lstStyle/>
          <a:p>
            <a:pPr algn="l">
              <a:lnSpc>
                <a:spcPct val="120000"/>
              </a:lnSpc>
            </a:pPr>
            <a:r>
              <a:rPr sz="1450" b="0">
                <a:solidFill>
                  <a:srgbClr val="5B7383"/>
                </a:solidFill>
                <a:latin typeface="Verdana Pro Light"/>
              </a:rPr>
              <a:t>Our Data Quality and Observability platform is being built around exactly this — the trust gradient, the autonomy gate, the evidence trail and the pattern library.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2" name="Picture 1883" descr="section_bg.png"/>
          <p:cNvPicPr>
            <a:picLocks noChangeAspect="1"/>
          </p:cNvPicPr>
          <p:nvPr/>
        </p:nvPicPr>
        <p:blipFill>
          <a:blip r:embed="rId3"/>
          <a:stretch>
            <a:fillRect/>
          </a:stretch>
        </p:blipFill>
        <p:spPr>
          <a:xfrm>
            <a:off x="0" y="0"/>
            <a:ext cx="12191695" cy="6858000"/>
          </a:xfrm>
          <a:prstGeom prst="rect">
            <a:avLst/>
          </a:prstGeom>
        </p:spPr>
      </p:pic>
      <p:sp>
        <p:nvSpPr>
          <p:cNvPr id="1884" name="Shape 1885"/>
          <p:cNvSpPr/>
          <p:nvPr/>
        </p:nvSpPr>
        <p:spPr>
          <a:xfrm>
            <a:off x="0" y="0"/>
            <a:ext cx="12191695" cy="6858000"/>
          </a:xfrm>
          <a:prstGeom prst="rect">
            <a:avLst/>
          </a:prstGeom>
          <a:solidFill>
            <a:srgbClr val="02041C"/>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pic>
        <p:nvPicPr>
          <p:cNvPr id="1886" name="Picture 1887" descr="logo_white.png"/>
          <p:cNvPicPr>
            <a:picLocks noChangeAspect="1"/>
          </p:cNvPicPr>
          <p:nvPr/>
        </p:nvPicPr>
        <p:blipFill>
          <a:blip r:embed="rId4"/>
          <a:stretch>
            <a:fillRect/>
          </a:stretch>
        </p:blipFill>
        <p:spPr>
          <a:xfrm>
            <a:off x="621792" y="502920"/>
            <a:ext cx="1098523" cy="420624"/>
          </a:xfrm>
          <a:prstGeom prst="rect">
            <a:avLst/>
          </a:prstGeom>
        </p:spPr>
      </p:pic>
      <p:sp>
        <p:nvSpPr>
          <p:cNvPr id="1888" name="TextBox 1889"/>
          <p:cNvSpPr txBox="1"/>
          <p:nvPr/>
        </p:nvSpPr>
        <p:spPr>
          <a:xfrm>
            <a:off x="621792" y="1554480"/>
            <a:ext cx="9692640" cy="640080"/>
          </a:xfrm>
          <a:prstGeom prst="rect">
            <a:avLst/>
          </a:prstGeom>
          <a:noFill/>
        </p:spPr>
        <p:txBody>
          <a:bodyPr wrap="square" lIns="0" tIns="0" rIns="0" bIns="0" anchor="t"/>
          <a:lstStyle/>
          <a:p>
            <a:pPr algn="l"/>
            <a:r>
              <a:rPr sz="2600" b="1">
                <a:solidFill>
                  <a:srgbClr val="FFFFFF"/>
                </a:solidFill>
                <a:latin typeface="Verdana Pro Semibold"/>
              </a:rPr>
              <a:t>Can we let data fix itself?</a:t>
            </a:r>
          </a:p>
        </p:txBody>
      </p:sp>
      <p:sp>
        <p:nvSpPr>
          <p:cNvPr id="1890" name="Shape 1891"/>
          <p:cNvSpPr/>
          <p:nvPr/>
        </p:nvSpPr>
        <p:spPr>
          <a:xfrm>
            <a:off x="621792" y="2670048"/>
            <a:ext cx="137160" cy="137160"/>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892" name="TextBox 1893"/>
          <p:cNvSpPr txBox="1"/>
          <p:nvPr/>
        </p:nvSpPr>
        <p:spPr>
          <a:xfrm>
            <a:off x="1078992" y="2560320"/>
            <a:ext cx="10200000" cy="365760"/>
          </a:xfrm>
          <a:prstGeom prst="rect">
            <a:avLst/>
          </a:prstGeom>
          <a:noFill/>
        </p:spPr>
        <p:txBody>
          <a:bodyPr wrap="square" lIns="0" tIns="0" rIns="0" bIns="0" anchor="t"/>
          <a:lstStyle/>
          <a:p>
            <a:pPr algn="l"/>
            <a:r>
              <a:rPr sz="1500" b="1">
                <a:solidFill>
                  <a:srgbClr val="FFFFFF"/>
                </a:solidFill>
                <a:latin typeface="Verdana Pro Semibold"/>
              </a:rPr>
              <a:t>Agents change the integration model, not just the tooling.</a:t>
            </a:r>
          </a:p>
        </p:txBody>
      </p:sp>
      <p:sp>
        <p:nvSpPr>
          <p:cNvPr id="1894" name="TextBox 1895"/>
          <p:cNvSpPr txBox="1"/>
          <p:nvPr/>
        </p:nvSpPr>
        <p:spPr>
          <a:xfrm>
            <a:off x="1078992" y="2971800"/>
            <a:ext cx="10200000" cy="640080"/>
          </a:xfrm>
          <a:prstGeom prst="rect">
            <a:avLst/>
          </a:prstGeom>
          <a:noFill/>
        </p:spPr>
        <p:txBody>
          <a:bodyPr wrap="square" lIns="0" tIns="0" rIns="0" bIns="0" anchor="t"/>
          <a:lstStyle/>
          <a:p>
            <a:pPr algn="l">
              <a:lnSpc>
                <a:spcPct val="118000"/>
              </a:lnSpc>
            </a:pPr>
            <a:r>
              <a:rPr sz="1250" b="0">
                <a:solidFill>
                  <a:srgbClr val="C3CCE2"/>
                </a:solidFill>
                <a:latin typeface="Verdana Pro Light"/>
              </a:rPr>
              <a:t>We will stop specifying how a reload happens and start specifying what may be reloaded, by whom, and without asking.</a:t>
            </a:r>
          </a:p>
        </p:txBody>
      </p:sp>
      <p:sp>
        <p:nvSpPr>
          <p:cNvPr id="1896" name="Shape 1897"/>
          <p:cNvSpPr/>
          <p:nvPr/>
        </p:nvSpPr>
        <p:spPr>
          <a:xfrm>
            <a:off x="621792" y="3858768"/>
            <a:ext cx="137160" cy="137160"/>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898" name="TextBox 1899"/>
          <p:cNvSpPr txBox="1"/>
          <p:nvPr/>
        </p:nvSpPr>
        <p:spPr>
          <a:xfrm>
            <a:off x="1078992" y="3749040"/>
            <a:ext cx="10200000" cy="365760"/>
          </a:xfrm>
          <a:prstGeom prst="rect">
            <a:avLst/>
          </a:prstGeom>
          <a:noFill/>
        </p:spPr>
        <p:txBody>
          <a:bodyPr wrap="square" lIns="0" tIns="0" rIns="0" bIns="0" anchor="t"/>
          <a:lstStyle/>
          <a:p>
            <a:pPr algn="l"/>
            <a:r>
              <a:rPr sz="1500" b="1">
                <a:solidFill>
                  <a:srgbClr val="FFFFFF"/>
                </a:solidFill>
                <a:latin typeface="Verdana Pro Semibold"/>
              </a:rPr>
              <a:t>Precedent, reversibility and evidence — not confidence.</a:t>
            </a:r>
          </a:p>
        </p:txBody>
      </p:sp>
      <p:sp>
        <p:nvSpPr>
          <p:cNvPr id="1900" name="TextBox 1901"/>
          <p:cNvSpPr txBox="1"/>
          <p:nvPr/>
        </p:nvSpPr>
        <p:spPr>
          <a:xfrm>
            <a:off x="1078992" y="4160520"/>
            <a:ext cx="10200000" cy="640080"/>
          </a:xfrm>
          <a:prstGeom prst="rect">
            <a:avLst/>
          </a:prstGeom>
          <a:noFill/>
        </p:spPr>
        <p:txBody>
          <a:bodyPr wrap="square" lIns="0" tIns="0" rIns="0" bIns="0" anchor="t"/>
          <a:lstStyle/>
          <a:p>
            <a:pPr algn="l">
              <a:lnSpc>
                <a:spcPct val="118000"/>
              </a:lnSpc>
            </a:pPr>
            <a:r>
              <a:rPr sz="1250" b="0">
                <a:solidFill>
                  <a:srgbClr val="C3CCE2"/>
                </a:solidFill>
                <a:latin typeface="Verdana Pro Light"/>
              </a:rPr>
              <a:t>An agent that cannot name its source does not act. An action that cannot be undone does not run unattended.</a:t>
            </a:r>
          </a:p>
        </p:txBody>
      </p:sp>
      <p:sp>
        <p:nvSpPr>
          <p:cNvPr id="1902" name="Shape 1903"/>
          <p:cNvSpPr/>
          <p:nvPr/>
        </p:nvSpPr>
        <p:spPr>
          <a:xfrm>
            <a:off x="621792" y="5047488"/>
            <a:ext cx="137160" cy="137160"/>
          </a:xfrm>
          <a:prstGeom prst="ellipse">
            <a:avLst/>
          </a:prstGeom>
          <a:solidFill>
            <a:srgbClr val="5398F9"/>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904" name="TextBox 1905"/>
          <p:cNvSpPr txBox="1"/>
          <p:nvPr/>
        </p:nvSpPr>
        <p:spPr>
          <a:xfrm>
            <a:off x="1078992" y="4937760"/>
            <a:ext cx="10200000" cy="365760"/>
          </a:xfrm>
          <a:prstGeom prst="rect">
            <a:avLst/>
          </a:prstGeom>
          <a:noFill/>
        </p:spPr>
        <p:txBody>
          <a:bodyPr wrap="square" lIns="0" tIns="0" rIns="0" bIns="0" anchor="t"/>
          <a:lstStyle/>
          <a:p>
            <a:pPr algn="l"/>
            <a:r>
              <a:rPr sz="1500" b="1">
                <a:solidFill>
                  <a:srgbClr val="FFFFFF"/>
                </a:solidFill>
                <a:latin typeface="Verdana Pro Semibold"/>
              </a:rPr>
              <a:t>The Data Steward curates patterns instead of chasing alerts.</a:t>
            </a:r>
          </a:p>
        </p:txBody>
      </p:sp>
      <p:sp>
        <p:nvSpPr>
          <p:cNvPr id="1906" name="TextBox 1907"/>
          <p:cNvSpPr txBox="1"/>
          <p:nvPr/>
        </p:nvSpPr>
        <p:spPr>
          <a:xfrm>
            <a:off x="1078992" y="5349240"/>
            <a:ext cx="10200000" cy="640080"/>
          </a:xfrm>
          <a:prstGeom prst="rect">
            <a:avLst/>
          </a:prstGeom>
          <a:noFill/>
        </p:spPr>
        <p:txBody>
          <a:bodyPr wrap="square" lIns="0" tIns="0" rIns="0" bIns="0" anchor="t"/>
          <a:lstStyle/>
          <a:p>
            <a:pPr algn="l">
              <a:lnSpc>
                <a:spcPct val="118000"/>
              </a:lnSpc>
            </a:pPr>
            <a:r>
              <a:rPr sz="1250" b="0">
                <a:solidFill>
                  <a:srgbClr val="C3CCE2"/>
                </a:solidFill>
                <a:latin typeface="Verdana Pro Light"/>
              </a:rPr>
              <a:t>Fewer tickets, more judgement, and a library that makes the hundredth fix free.</a:t>
            </a:r>
          </a:p>
        </p:txBody>
      </p:sp>
      <p:pic>
        <p:nvPicPr>
          <p:cNvPr id="1908" name="Picture 1909" descr="logo_white.png"/>
          <p:cNvPicPr>
            <a:picLocks noChangeAspect="1"/>
          </p:cNvPicPr>
          <p:nvPr/>
        </p:nvPicPr>
        <p:blipFill>
          <a:blip r:embed="rId4"/>
          <a:stretch>
            <a:fillRect/>
          </a:stretch>
        </p:blipFill>
        <p:spPr>
          <a:xfrm>
            <a:off x="621792" y="6327648"/>
            <a:ext cx="811952" cy="310896"/>
          </a:xfrm>
          <a:prstGeom prst="rect">
            <a:avLst/>
          </a:prstGeom>
        </p:spPr>
      </p:pic>
      <p:sp>
        <p:nvSpPr>
          <p:cNvPr id="1910" name="TextBox 1911"/>
          <p:cNvSpPr txBox="1"/>
          <p:nvPr/>
        </p:nvSpPr>
        <p:spPr>
          <a:xfrm>
            <a:off x="1627632" y="6345936"/>
            <a:ext cx="5943600" cy="274320"/>
          </a:xfrm>
          <a:prstGeom prst="rect">
            <a:avLst/>
          </a:prstGeom>
          <a:noFill/>
        </p:spPr>
        <p:txBody>
          <a:bodyPr wrap="square" lIns="0" tIns="0" rIns="0" bIns="0" anchor="ctr"/>
          <a:lstStyle/>
          <a:p>
            <a:pPr algn="l"/>
            <a:r>
              <a:rPr sz="1000" b="0">
                <a:solidFill>
                  <a:srgbClr val="B9C2D6"/>
                </a:solidFill>
                <a:latin typeface="Verdana Pro Light"/>
              </a:rPr>
              <a:t>|   Data Quality and Observability Platform</a:t>
            </a:r>
          </a:p>
        </p:txBody>
      </p:sp>
      <p:sp>
        <p:nvSpPr>
          <p:cNvPr id="1912" name="TextBox 1913"/>
          <p:cNvSpPr txBox="1"/>
          <p:nvPr/>
        </p:nvSpPr>
        <p:spPr>
          <a:xfrm>
            <a:off x="11109960" y="6345936"/>
            <a:ext cx="457200" cy="274320"/>
          </a:xfrm>
          <a:prstGeom prst="rect">
            <a:avLst/>
          </a:prstGeom>
          <a:noFill/>
        </p:spPr>
        <p:txBody>
          <a:bodyPr wrap="square" lIns="0" tIns="0" rIns="0" bIns="0" anchor="ctr"/>
          <a:lstStyle/>
          <a:p>
            <a:pPr algn="r"/>
            <a:r>
              <a:rPr lang="de-AT" sz="1050" dirty="0">
                <a:solidFill>
                  <a:srgbClr val="5398F9"/>
                </a:solidFill>
                <a:latin typeface="Verdana Pro Light"/>
              </a:rPr>
              <a:t>36</a:t>
            </a:r>
            <a:endParaRPr sz="1050" b="0" dirty="0">
              <a:solidFill>
                <a:srgbClr val="5398F9"/>
              </a:solidFill>
              <a:latin typeface="Verdana Pro 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932688"/>
            <a:ext cx="10607040" cy="640080"/>
          </a:xfrm>
          <a:prstGeom prst="rect">
            <a:avLst/>
          </a:prstGeom>
          <a:noFill/>
        </p:spPr>
        <p:txBody>
          <a:bodyPr wrap="square" lIns="0" tIns="0" rIns="0" bIns="0" anchor="t">
            <a:spAutoFit/>
          </a:bodyPr>
          <a:lstStyle/>
          <a:p>
            <a:pPr algn="l"/>
            <a:r>
              <a:rPr sz="2600" b="1">
                <a:solidFill>
                  <a:srgbClr val="161616"/>
                </a:solidFill>
                <a:latin typeface="Verdana Pro Semibold"/>
              </a:rPr>
              <a:t>Questions</a:t>
            </a:r>
          </a:p>
        </p:txBody>
      </p:sp>
      <p:pic>
        <p:nvPicPr>
          <p:cNvPr id="3" name="Picture 2" descr="logo_black.png"/>
          <p:cNvPicPr>
            <a:picLocks noChangeAspect="1"/>
          </p:cNvPicPr>
          <p:nvPr/>
        </p:nvPicPr>
        <p:blipFill>
          <a:blip r:embed="rId3"/>
          <a:stretch>
            <a:fillRect/>
          </a:stretch>
        </p:blipFill>
        <p:spPr>
          <a:xfrm>
            <a:off x="621792" y="6327648"/>
            <a:ext cx="811952" cy="310896"/>
          </a:xfrm>
          <a:prstGeom prst="rect">
            <a:avLst/>
          </a:prstGeom>
        </p:spPr>
      </p:pic>
      <p:sp>
        <p:nvSpPr>
          <p:cNvPr id="4" name="TextBox 3"/>
          <p:cNvSpPr txBox="1"/>
          <p:nvPr/>
        </p:nvSpPr>
        <p:spPr>
          <a:xfrm>
            <a:off x="1627632" y="6345936"/>
            <a:ext cx="5943600" cy="274320"/>
          </a:xfrm>
          <a:prstGeom prst="rect">
            <a:avLst/>
          </a:prstGeom>
          <a:noFill/>
        </p:spPr>
        <p:txBody>
          <a:bodyPr wrap="square" lIns="0" tIns="0" rIns="0" bIns="0" anchor="ctr">
            <a:spAutoFit/>
          </a:bodyPr>
          <a:lstStyle/>
          <a:p>
            <a:pPr algn="l"/>
            <a:r>
              <a:rPr sz="1100" b="0">
                <a:solidFill>
                  <a:srgbClr val="5B7383"/>
                </a:solidFill>
                <a:latin typeface="Verdana Pro Light"/>
              </a:rPr>
              <a:t>|   Data Quality and Observability Platform</a:t>
            </a:r>
          </a:p>
        </p:txBody>
      </p:sp>
      <p:sp>
        <p:nvSpPr>
          <p:cNvPr id="5" name="TextBox 4"/>
          <p:cNvSpPr txBox="1"/>
          <p:nvPr/>
        </p:nvSpPr>
        <p:spPr>
          <a:xfrm>
            <a:off x="9692640" y="6345936"/>
            <a:ext cx="1371600" cy="274320"/>
          </a:xfrm>
          <a:prstGeom prst="rect">
            <a:avLst/>
          </a:prstGeom>
          <a:noFill/>
        </p:spPr>
        <p:txBody>
          <a:bodyPr wrap="square" lIns="0" tIns="0" rIns="0" bIns="0" anchor="ctr">
            <a:spAutoFit/>
          </a:bodyPr>
          <a:lstStyle/>
          <a:p>
            <a:pPr algn="r"/>
            <a:r>
              <a:rPr sz="1050" b="0">
                <a:solidFill>
                  <a:srgbClr val="016BFF"/>
                </a:solidFill>
                <a:latin typeface="Verdana Pro Light"/>
              </a:rPr>
              <a:t>digna   |</a:t>
            </a:r>
          </a:p>
        </p:txBody>
      </p:sp>
      <p:sp>
        <p:nvSpPr>
          <p:cNvPr id="6" name="TextBox 5"/>
          <p:cNvSpPr txBox="1"/>
          <p:nvPr/>
        </p:nvSpPr>
        <p:spPr>
          <a:xfrm>
            <a:off x="11109960" y="6402304"/>
            <a:ext cx="457200" cy="161583"/>
          </a:xfrm>
          <a:prstGeom prst="rect">
            <a:avLst/>
          </a:prstGeom>
          <a:noFill/>
        </p:spPr>
        <p:txBody>
          <a:bodyPr wrap="square" lIns="0" tIns="0" rIns="0" bIns="0" anchor="ctr">
            <a:spAutoFit/>
          </a:bodyPr>
          <a:lstStyle/>
          <a:p>
            <a:pPr algn="r"/>
            <a:r>
              <a:rPr lang="de-AT" sz="1050" dirty="0">
                <a:solidFill>
                  <a:srgbClr val="016BFF"/>
                </a:solidFill>
                <a:latin typeface="Verdana Pro Light"/>
              </a:rPr>
              <a:t>37</a:t>
            </a:r>
            <a:endParaRPr sz="1050" b="0" dirty="0">
              <a:solidFill>
                <a:srgbClr val="016BFF"/>
              </a:solidFill>
              <a:latin typeface="Verdana Pro Light"/>
            </a:endParaRPr>
          </a:p>
        </p:txBody>
      </p:sp>
      <p:pic>
        <p:nvPicPr>
          <p:cNvPr id="7" name="Picture 6" descr="marcin_circle.png"/>
          <p:cNvPicPr>
            <a:picLocks noChangeAspect="1"/>
          </p:cNvPicPr>
          <p:nvPr/>
        </p:nvPicPr>
        <p:blipFill>
          <a:blip r:embed="rId4"/>
          <a:stretch>
            <a:fillRect/>
          </a:stretch>
        </p:blipFill>
        <p:spPr>
          <a:xfrm>
            <a:off x="8595360" y="1920240"/>
            <a:ext cx="2651760" cy="2651760"/>
          </a:xfrm>
          <a:prstGeom prst="rect">
            <a:avLst/>
          </a:prstGeom>
        </p:spPr>
      </p:pic>
      <p:sp>
        <p:nvSpPr>
          <p:cNvPr id="8" name="TextBox 7"/>
          <p:cNvSpPr txBox="1"/>
          <p:nvPr/>
        </p:nvSpPr>
        <p:spPr>
          <a:xfrm>
            <a:off x="621792" y="1828800"/>
            <a:ext cx="7498079" cy="548640"/>
          </a:xfrm>
          <a:prstGeom prst="rect">
            <a:avLst/>
          </a:prstGeom>
          <a:noFill/>
        </p:spPr>
        <p:txBody>
          <a:bodyPr wrap="square" lIns="0" tIns="0" rIns="0" bIns="0" anchor="t">
            <a:spAutoFit/>
          </a:bodyPr>
          <a:lstStyle/>
          <a:p>
            <a:pPr algn="l"/>
            <a:r>
              <a:rPr sz="1400" b="0">
                <a:solidFill>
                  <a:srgbClr val="5B7383"/>
                </a:solidFill>
                <a:latin typeface="Verdana Pro Light"/>
              </a:rPr>
              <a:t>Happy to go deeper on any of the nine — or on what this looked like inside a bank.</a:t>
            </a:r>
          </a:p>
        </p:txBody>
      </p:sp>
      <p:sp>
        <p:nvSpPr>
          <p:cNvPr id="9" name="Rectangle 8"/>
          <p:cNvSpPr/>
          <p:nvPr/>
        </p:nvSpPr>
        <p:spPr>
          <a:xfrm>
            <a:off x="621792" y="2743200"/>
            <a:ext cx="7315200" cy="182880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sp>
        <p:nvSpPr>
          <p:cNvPr id="10" name="TextBox 9"/>
          <p:cNvSpPr txBox="1"/>
          <p:nvPr/>
        </p:nvSpPr>
        <p:spPr>
          <a:xfrm>
            <a:off x="1033272" y="2971800"/>
            <a:ext cx="6400800" cy="365760"/>
          </a:xfrm>
          <a:prstGeom prst="rect">
            <a:avLst/>
          </a:prstGeom>
          <a:noFill/>
        </p:spPr>
        <p:txBody>
          <a:bodyPr wrap="square" lIns="0" tIns="0" rIns="0" bIns="0" anchor="t">
            <a:spAutoFit/>
          </a:bodyPr>
          <a:lstStyle/>
          <a:p>
            <a:pPr algn="l"/>
            <a:r>
              <a:rPr sz="1800" b="1">
                <a:solidFill>
                  <a:srgbClr val="161616"/>
                </a:solidFill>
                <a:latin typeface="Verdana Pro Semibold"/>
              </a:rPr>
              <a:t>Marcin Chudeusz</a:t>
            </a:r>
          </a:p>
        </p:txBody>
      </p:sp>
      <p:sp>
        <p:nvSpPr>
          <p:cNvPr id="11" name="TextBox 10"/>
          <p:cNvSpPr txBox="1"/>
          <p:nvPr/>
        </p:nvSpPr>
        <p:spPr>
          <a:xfrm>
            <a:off x="1033272" y="3401568"/>
            <a:ext cx="6400800" cy="274320"/>
          </a:xfrm>
          <a:prstGeom prst="rect">
            <a:avLst/>
          </a:prstGeom>
          <a:noFill/>
        </p:spPr>
        <p:txBody>
          <a:bodyPr wrap="square" lIns="0" tIns="0" rIns="0" bIns="0" anchor="t">
            <a:spAutoFit/>
          </a:bodyPr>
          <a:lstStyle/>
          <a:p>
            <a:pPr algn="l"/>
            <a:r>
              <a:rPr sz="1250" b="0">
                <a:solidFill>
                  <a:srgbClr val="5B7383"/>
                </a:solidFill>
                <a:latin typeface="Verdana Pro Light"/>
              </a:rPr>
              <a:t>Co-Founder &amp; CEO, digna</a:t>
            </a:r>
          </a:p>
        </p:txBody>
      </p:sp>
      <p:sp>
        <p:nvSpPr>
          <p:cNvPr id="12" name="TextBox 11"/>
          <p:cNvSpPr txBox="1"/>
          <p:nvPr/>
        </p:nvSpPr>
        <p:spPr>
          <a:xfrm>
            <a:off x="1033272" y="3858768"/>
            <a:ext cx="6400800" cy="292608"/>
          </a:xfrm>
          <a:prstGeom prst="rect">
            <a:avLst/>
          </a:prstGeom>
          <a:noFill/>
        </p:spPr>
        <p:txBody>
          <a:bodyPr wrap="square" lIns="0" tIns="0" rIns="0" bIns="0" anchor="t">
            <a:spAutoFit/>
          </a:bodyPr>
          <a:lstStyle/>
          <a:p>
            <a:pPr algn="l"/>
            <a:r>
              <a:rPr sz="1250" b="0">
                <a:solidFill>
                  <a:srgbClr val="016BFF"/>
                </a:solidFill>
                <a:latin typeface="Verdana Pro Light"/>
              </a:rPr>
              <a:t>marcin.chudeusz@digna.ai        www.digna.ai</a:t>
            </a:r>
          </a:p>
        </p:txBody>
      </p:sp>
      <p:sp>
        <p:nvSpPr>
          <p:cNvPr id="1914" name="Shape 1915"/>
          <p:cNvSpPr/>
          <p:nvPr/>
        </p:nvSpPr>
        <p:spPr>
          <a:xfrm>
            <a:off x="621792" y="4663440"/>
            <a:ext cx="7315200" cy="1188720"/>
          </a:xfrm>
          <a:prstGeom prst="rect">
            <a:avLst/>
          </a:prstGeom>
          <a:solidFill>
            <a:srgbClr val="F4F8FD"/>
          </a:solidFill>
          <a:ln>
            <a:noFill/>
          </a:ln>
          <a:effectLst/>
        </p:spPr>
        <p:style>
          <a:lnRef idx="0">
            <a:scrgbClr r="0" g="0" b="0"/>
          </a:lnRef>
          <a:fillRef idx="0">
            <a:scrgbClr r="0" g="0" b="0"/>
          </a:fillRef>
          <a:effectRef idx="0">
            <a:scrgbClr r="0" g="0" b="0"/>
          </a:effectRef>
          <a:fontRef idx="minor">
            <a:schemeClr val="lt1"/>
          </a:fontRef>
        </p:style>
        <p:txBody>
          <a:bodyPr rtlCol="0" anchor="ctr"/>
          <a:lstStyle/>
          <a:p>
            <a:endParaRPr/>
          </a:p>
        </p:txBody>
      </p:sp>
      <p:pic>
        <p:nvPicPr>
          <p:cNvPr id="1916" name="Picture 1917" descr="qr_marcin.png"/>
          <p:cNvPicPr>
            <a:picLocks noChangeAspect="1"/>
          </p:cNvPicPr>
          <p:nvPr/>
        </p:nvPicPr>
        <p:blipFill>
          <a:blip r:embed="rId5"/>
          <a:stretch>
            <a:fillRect/>
          </a:stretch>
        </p:blipFill>
        <p:spPr>
          <a:xfrm>
            <a:off x="850392" y="4754880"/>
            <a:ext cx="1005840" cy="1005840"/>
          </a:xfrm>
          <a:prstGeom prst="rect">
            <a:avLst/>
          </a:prstGeom>
        </p:spPr>
      </p:pic>
      <p:sp>
        <p:nvSpPr>
          <p:cNvPr id="1918" name="TextBox 1919"/>
          <p:cNvSpPr txBox="1"/>
          <p:nvPr/>
        </p:nvSpPr>
        <p:spPr>
          <a:xfrm>
            <a:off x="2011680" y="4754880"/>
            <a:ext cx="1700000" cy="1005840"/>
          </a:xfrm>
          <a:prstGeom prst="rect">
            <a:avLst/>
          </a:prstGeom>
          <a:noFill/>
        </p:spPr>
        <p:txBody>
          <a:bodyPr wrap="square" lIns="0" tIns="0" rIns="0" bIns="0" anchor="ctr"/>
          <a:lstStyle/>
          <a:p>
            <a:pPr algn="l"/>
            <a:r>
              <a:rPr sz="1050" b="1">
                <a:solidFill>
                  <a:srgbClr val="161616"/>
                </a:solidFill>
                <a:latin typeface="Verdana Pro Semibold"/>
              </a:rPr>
              <a:t>Connect with me</a:t>
            </a:r>
          </a:p>
          <a:p>
            <a:pPr algn="l"/>
            <a:r>
              <a:rPr sz="950" b="0">
                <a:solidFill>
                  <a:srgbClr val="5B7383"/>
                </a:solidFill>
                <a:latin typeface="Verdana Pro Light"/>
              </a:rPr>
              <a:t>on LinkedIn</a:t>
            </a:r>
          </a:p>
        </p:txBody>
      </p:sp>
      <p:pic>
        <p:nvPicPr>
          <p:cNvPr id="1920" name="Picture 1921" descr="qr_digna.png"/>
          <p:cNvPicPr>
            <a:picLocks noChangeAspect="1"/>
          </p:cNvPicPr>
          <p:nvPr/>
        </p:nvPicPr>
        <p:blipFill>
          <a:blip r:embed="rId6"/>
          <a:stretch>
            <a:fillRect/>
          </a:stretch>
        </p:blipFill>
        <p:spPr>
          <a:xfrm>
            <a:off x="4114800" y="4754880"/>
            <a:ext cx="1005840" cy="1005840"/>
          </a:xfrm>
          <a:prstGeom prst="rect">
            <a:avLst/>
          </a:prstGeom>
        </p:spPr>
      </p:pic>
      <p:sp>
        <p:nvSpPr>
          <p:cNvPr id="1922" name="TextBox 1923"/>
          <p:cNvSpPr txBox="1"/>
          <p:nvPr/>
        </p:nvSpPr>
        <p:spPr>
          <a:xfrm>
            <a:off x="5276088" y="4754880"/>
            <a:ext cx="2400000" cy="1005840"/>
          </a:xfrm>
          <a:prstGeom prst="rect">
            <a:avLst/>
          </a:prstGeom>
          <a:noFill/>
        </p:spPr>
        <p:txBody>
          <a:bodyPr wrap="square" lIns="0" tIns="0" rIns="0" bIns="0" anchor="ctr"/>
          <a:lstStyle/>
          <a:p>
            <a:pPr algn="l"/>
            <a:r>
              <a:rPr sz="1050" b="1">
                <a:solidFill>
                  <a:srgbClr val="016BFF"/>
                </a:solidFill>
                <a:latin typeface="Verdana Pro Semibold"/>
              </a:rPr>
              <a:t>Follow digna</a:t>
            </a:r>
          </a:p>
          <a:p>
            <a:pPr algn="l"/>
            <a:r>
              <a:rPr sz="950" b="0">
                <a:solidFill>
                  <a:srgbClr val="5B7383"/>
                </a:solidFill>
                <a:latin typeface="Verdana Pro Light"/>
              </a:rPr>
              <a:t>on LinkedIn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4" name="Picture 1925" descr="sqlday_feedba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ITSV Folien Titel, Kapitel, Ende">
  <a:themeElements>
    <a:clrScheme name="ITSV_Farbpalette">
      <a:dk1>
        <a:srgbClr val="000000"/>
      </a:dk1>
      <a:lt1>
        <a:srgbClr val="FFFFFF"/>
      </a:lt1>
      <a:dk2>
        <a:srgbClr val="000000"/>
      </a:dk2>
      <a:lt2>
        <a:srgbClr val="FFFFFF"/>
      </a:lt2>
      <a:accent1>
        <a:srgbClr val="699519"/>
      </a:accent1>
      <a:accent2>
        <a:srgbClr val="C1D783"/>
      </a:accent2>
      <a:accent3>
        <a:srgbClr val="E9F0CD"/>
      </a:accent3>
      <a:accent4>
        <a:srgbClr val="575757"/>
      </a:accent4>
      <a:accent5>
        <a:srgbClr val="ABABAB"/>
      </a:accent5>
      <a:accent6>
        <a:srgbClr val="E5E5E5"/>
      </a:accent6>
      <a:hlink>
        <a:srgbClr val="699519"/>
      </a:hlink>
      <a:folHlink>
        <a:srgbClr val="E9F0C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6A2834A1-500C-4F23-8717-280D7CA7D945}" vid="{871AE1F2-A688-4B6C-9477-6C2ADF68BE6A}"/>
    </a:ext>
  </a:extLst>
</a:theme>
</file>

<file path=ppt/theme/theme2.xml><?xml version="1.0" encoding="utf-8"?>
<a:theme xmlns:a="http://schemas.openxmlformats.org/drawingml/2006/main" name="ITSV Folien Inhalte">
  <a:themeElements>
    <a:clrScheme name="ITSV">
      <a:dk1>
        <a:srgbClr val="333333"/>
      </a:dk1>
      <a:lt1>
        <a:srgbClr val="FFFFFF"/>
      </a:lt1>
      <a:dk2>
        <a:srgbClr val="333333"/>
      </a:dk2>
      <a:lt2>
        <a:srgbClr val="FFFFFF"/>
      </a:lt2>
      <a:accent1>
        <a:srgbClr val="699519"/>
      </a:accent1>
      <a:accent2>
        <a:srgbClr val="C1D783"/>
      </a:accent2>
      <a:accent3>
        <a:srgbClr val="E9F0CD"/>
      </a:accent3>
      <a:accent4>
        <a:srgbClr val="575757"/>
      </a:accent4>
      <a:accent5>
        <a:srgbClr val="ABABAB"/>
      </a:accent5>
      <a:accent6>
        <a:srgbClr val="E5E5E5"/>
      </a:accent6>
      <a:hlink>
        <a:srgbClr val="699519"/>
      </a:hlink>
      <a:folHlink>
        <a:srgbClr val="E9F0C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6A2834A1-500C-4F23-8717-280D7CA7D945}" vid="{898CEEA0-3C7E-4B07-86EF-13BC377E5226}"/>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e25fff4-febf-4423-80c4-0332659601bf" xsi:nil="true"/>
    <lcf76f155ced4ddcb4097134ff3c332f xmlns="be740cf6-8c2c-4b02-bd54-6acc0c06b078">
      <Terms xmlns="http://schemas.microsoft.com/office/infopath/2007/PartnerControls"/>
    </lcf76f155ced4ddcb4097134ff3c332f>
    <Beschreibung xmlns="be740cf6-8c2c-4b02-bd54-6acc0c06b07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3A4DF166DFFF141AAC5A269B4D92140" ma:contentTypeVersion="18" ma:contentTypeDescription="Create a new document." ma:contentTypeScope="" ma:versionID="e08959da5f71e4a257ed31db917cf883">
  <xsd:schema xmlns:xsd="http://www.w3.org/2001/XMLSchema" xmlns:xs="http://www.w3.org/2001/XMLSchema" xmlns:p="http://schemas.microsoft.com/office/2006/metadata/properties" xmlns:ns2="be740cf6-8c2c-4b02-bd54-6acc0c06b078" xmlns:ns3="ce25fff4-febf-4423-80c4-0332659601bf" targetNamespace="http://schemas.microsoft.com/office/2006/metadata/properties" ma:root="true" ma:fieldsID="17b494afab77ba5fd00c2f1dbc3c577a" ns2:_="" ns3:_="">
    <xsd:import namespace="be740cf6-8c2c-4b02-bd54-6acc0c06b078"/>
    <xsd:import namespace="ce25fff4-febf-4423-80c4-0332659601b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Beschreibung"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740cf6-8c2c-4b02-bd54-6acc0c06b0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Beschreibung" ma:index="14" nillable="true" ma:displayName="Beschreibung" ma:internalName="Beschreibung">
      <xsd:simpleType>
        <xsd:restriction base="dms:Text">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a5902c7-e652-4439-aaa0-15dce4b65f5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25fff4-febf-4423-80c4-0332659601b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7fc72d6-6bff-4cd9-bc64-6ce9a8762bd7}" ma:internalName="TaxCatchAll" ma:showField="CatchAllData" ma:web="ce25fff4-febf-4423-80c4-0332659601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892C5F-2A01-4C6A-A6C2-EDCFFCF2E20D}">
  <ds:schemaRefs>
    <ds:schemaRef ds:uri="http://purl.org/dc/terms/"/>
    <ds:schemaRef ds:uri="http://schemas.microsoft.com/office/2006/documentManagement/types"/>
    <ds:schemaRef ds:uri="http://www.w3.org/XML/1998/namespace"/>
    <ds:schemaRef ds:uri="be740cf6-8c2c-4b02-bd54-6acc0c06b078"/>
    <ds:schemaRef ds:uri="http://purl.org/dc/elements/1.1/"/>
    <ds:schemaRef ds:uri="http://schemas.microsoft.com/office/2006/metadata/properties"/>
    <ds:schemaRef ds:uri="http://purl.org/dc/dcmitype/"/>
    <ds:schemaRef ds:uri="http://schemas.microsoft.com/office/infopath/2007/PartnerControls"/>
    <ds:schemaRef ds:uri="http://schemas.openxmlformats.org/package/2006/metadata/core-properties"/>
    <ds:schemaRef ds:uri="ce25fff4-febf-4423-80c4-0332659601bf"/>
  </ds:schemaRefs>
</ds:datastoreItem>
</file>

<file path=customXml/itemProps2.xml><?xml version="1.0" encoding="utf-8"?>
<ds:datastoreItem xmlns:ds="http://schemas.openxmlformats.org/officeDocument/2006/customXml" ds:itemID="{A39DC047-2138-457C-BDA1-7DEC817FFA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740cf6-8c2c-4b02-bd54-6acc0c06b078"/>
    <ds:schemaRef ds:uri="ce25fff4-febf-4423-80c4-0332659601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BCD2F6-B8CB-41D7-899F-214D3132C1D5}">
  <ds:schemaRefs>
    <ds:schemaRef ds:uri="http://schemas.microsoft.com/sharepoint/v3/contenttype/forms"/>
  </ds:schemaRefs>
</ds:datastoreItem>
</file>

<file path=docMetadata/LabelInfo.xml><?xml version="1.0" encoding="utf-8"?>
<clbl:labelList xmlns:clbl="http://schemas.microsoft.com/office/2020/mipLabelMetadata">
  <clbl:label id="{2b789c19-eae0-43d9-aa61-0a50db3df612}" enabled="0" method="" siteId="{2b789c19-eae0-43d9-aa61-0a50db3df612}" removed="1"/>
</clbl:labelList>
</file>

<file path=docProps/app.xml><?xml version="1.0" encoding="utf-8"?>
<Properties xmlns="http://schemas.openxmlformats.org/officeDocument/2006/extended-properties" xmlns:vt="http://schemas.openxmlformats.org/officeDocument/2006/docPropsVTypes">
  <Template>ITSV_Template_28032023_oeff</Template>
  <TotalTime>665</TotalTime>
  <Words>5861</Words>
  <Application>Microsoft Macintosh PowerPoint</Application>
  <PresentationFormat>Widescreen</PresentationFormat>
  <Paragraphs>709</Paragraphs>
  <Slides>38</Slides>
  <Notes>37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38</vt:i4>
      </vt:variant>
    </vt:vector>
  </HeadingPairs>
  <TitlesOfParts>
    <vt:vector size="46" baseType="lpstr">
      <vt:lpstr>Abadi MT Condensed Extra Bold</vt:lpstr>
      <vt:lpstr>Arial</vt:lpstr>
      <vt:lpstr>Calibri</vt:lpstr>
      <vt:lpstr>Verdana Pro Light</vt:lpstr>
      <vt:lpstr>Verdana Pro Semibold</vt:lpstr>
      <vt:lpstr>Wingdings</vt:lpstr>
      <vt:lpstr>ITSV Folien Titel, Kapitel, Ende</vt:lpstr>
      <vt:lpstr>ITSV Folien Inhalte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ITSV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Forget the rules –  how ruleless AI methods improved data quality checks @  ITSV</dc:title>
  <dc:creator>Radak Vojkan</dc:creator>
  <cp:lastModifiedBy>Marcin Chudeusz</cp:lastModifiedBy>
  <cp:revision>20</cp:revision>
  <cp:lastPrinted>2022-06-17T09:32:26Z</cp:lastPrinted>
  <dcterms:created xsi:type="dcterms:W3CDTF">2024-01-30T11:14:38Z</dcterms:created>
  <dcterms:modified xsi:type="dcterms:W3CDTF">2026-09-26T02:58:14Z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9ea63d-acff-49ae-a524-991063dd1f85_Enabled">
    <vt:lpwstr>true</vt:lpwstr>
  </property>
  <property fmtid="{D5CDD505-2E9C-101B-9397-08002B2CF9AE}" pid="3" name="MSIP_Label_389ea63d-acff-49ae-a524-991063dd1f85_SetDate">
    <vt:lpwstr>2023-03-28T05:27:25Z</vt:lpwstr>
  </property>
  <property fmtid="{D5CDD505-2E9C-101B-9397-08002B2CF9AE}" pid="4" name="MSIP_Label_389ea63d-acff-49ae-a524-991063dd1f85_Method">
    <vt:lpwstr>Privileged</vt:lpwstr>
  </property>
  <property fmtid="{D5CDD505-2E9C-101B-9397-08002B2CF9AE}" pid="5" name="MSIP_Label_389ea63d-acff-49ae-a524-991063dd1f85_Name">
    <vt:lpwstr>Öffentlich</vt:lpwstr>
  </property>
  <property fmtid="{D5CDD505-2E9C-101B-9397-08002B2CF9AE}" pid="6" name="MSIP_Label_389ea63d-acff-49ae-a524-991063dd1f85_SiteId">
    <vt:lpwstr>c044c411-2f9c-4d8f-a670-282d9c1fcf94</vt:lpwstr>
  </property>
  <property fmtid="{D5CDD505-2E9C-101B-9397-08002B2CF9AE}" pid="7" name="MSIP_Label_389ea63d-acff-49ae-a524-991063dd1f85_ActionId">
    <vt:lpwstr>5ceac24d-845d-476f-9cac-6cd2e510256d</vt:lpwstr>
  </property>
  <property fmtid="{D5CDD505-2E9C-101B-9397-08002B2CF9AE}" pid="8" name="MSIP_Label_389ea63d-acff-49ae-a524-991063dd1f85_ContentBits">
    <vt:lpwstr>0</vt:lpwstr>
  </property>
  <property fmtid="{D5CDD505-2E9C-101B-9397-08002B2CF9AE}" pid="9" name="ContentTypeId">
    <vt:lpwstr>0x01010043A4DF166DFFF141AAC5A269B4D92140</vt:lpwstr>
  </property>
  <property fmtid="{D5CDD505-2E9C-101B-9397-08002B2CF9AE}" pid="10" name="MediaServiceImageTags">
    <vt:lpwstr/>
  </property>
</Properties>
</file>