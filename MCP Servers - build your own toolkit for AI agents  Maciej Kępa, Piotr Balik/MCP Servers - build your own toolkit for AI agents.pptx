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5" r:id="rId3"/>
    <p:sldId id="309" r:id="rId4"/>
    <p:sldId id="310" r:id="rId5"/>
    <p:sldId id="267" r:id="rId6"/>
    <p:sldId id="320" r:id="rId7"/>
    <p:sldId id="311" r:id="rId8"/>
    <p:sldId id="319" r:id="rId9"/>
    <p:sldId id="313" r:id="rId10"/>
    <p:sldId id="314" r:id="rId11"/>
    <p:sldId id="315" r:id="rId12"/>
    <p:sldId id="316" r:id="rId13"/>
    <p:sldId id="274" r:id="rId14"/>
    <p:sldId id="263" r:id="rId15"/>
    <p:sldId id="270" r:id="rId16"/>
    <p:sldId id="266"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5C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E2C4AA-481D-441F-A6B2-B8ACADDB1917}" v="5" dt="2026-10-04T14:43:45.552"/>
  </p1510:revLst>
</p1510:revInfo>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Styl jasny 2 — Ak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A107856-5554-42FB-B03E-39F5DBC370BA}" styleName="Styl pośredni 4 — Ak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Styl pośredni 2 — Ak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7CE84F3-28C3-443E-9E96-99CF82512B78}" styleName="Styl ciemny 1 — Ak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5BE263C-DBD7-4A20-BB59-AAB30ACAA65A}" styleName="Styl pośredni 3 — Ak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ciej Kępa" userId="8edcb3e27b75da38" providerId="LiveId" clId="{ECEBA8D9-588C-44C0-93D6-0BC00DB2CD80}"/>
    <pc:docChg chg="undo custSel modSld">
      <pc:chgData name="Maciej Kępa" userId="8edcb3e27b75da38" providerId="LiveId" clId="{ECEBA8D9-588C-44C0-93D6-0BC00DB2CD80}" dt="2026-10-04T14:43:45.549" v="27" actId="20577"/>
      <pc:docMkLst>
        <pc:docMk/>
      </pc:docMkLst>
      <pc:sldChg chg="addSp delSp modSp mod">
        <pc:chgData name="Maciej Kępa" userId="8edcb3e27b75da38" providerId="LiveId" clId="{ECEBA8D9-588C-44C0-93D6-0BC00DB2CD80}" dt="2026-10-04T14:43:45.549" v="27" actId="20577"/>
        <pc:sldMkLst>
          <pc:docMk/>
          <pc:sldMk cId="1657546940" sldId="266"/>
        </pc:sldMkLst>
        <pc:spChg chg="add mod">
          <ac:chgData name="Maciej Kępa" userId="8edcb3e27b75da38" providerId="LiveId" clId="{ECEBA8D9-588C-44C0-93D6-0BC00DB2CD80}" dt="2026-10-04T14:42:12.420" v="12" actId="20577"/>
          <ac:spMkLst>
            <pc:docMk/>
            <pc:sldMk cId="1657546940" sldId="266"/>
            <ac:spMk id="2" creationId="{36B82959-16CF-1E71-4FAA-05617D6FC5D4}"/>
          </ac:spMkLst>
        </pc:spChg>
        <pc:spChg chg="add mod">
          <ac:chgData name="Maciej Kępa" userId="8edcb3e27b75da38" providerId="LiveId" clId="{ECEBA8D9-588C-44C0-93D6-0BC00DB2CD80}" dt="2026-10-04T14:43:45.549" v="27" actId="20577"/>
          <ac:spMkLst>
            <pc:docMk/>
            <pc:sldMk cId="1657546940" sldId="266"/>
            <ac:spMk id="6" creationId="{D2C89954-5FEC-7AAB-A5AA-F7C6162D65A1}"/>
          </ac:spMkLst>
        </pc:spChg>
        <pc:picChg chg="add mod">
          <ac:chgData name="Maciej Kępa" userId="8edcb3e27b75da38" providerId="LiveId" clId="{ECEBA8D9-588C-44C0-93D6-0BC00DB2CD80}" dt="2026-10-04T14:42:56.331" v="15" actId="1076"/>
          <ac:picMkLst>
            <pc:docMk/>
            <pc:sldMk cId="1657546940" sldId="266"/>
            <ac:picMk id="4" creationId="{1E5D2FB8-4A7E-37FC-9051-2F32BF4A1485}"/>
          </ac:picMkLst>
        </pc:picChg>
        <pc:picChg chg="del">
          <ac:chgData name="Maciej Kępa" userId="8edcb3e27b75da38" providerId="LiveId" clId="{ECEBA8D9-588C-44C0-93D6-0BC00DB2CD80}" dt="2026-10-04T14:42:08.756" v="0" actId="478"/>
          <ac:picMkLst>
            <pc:docMk/>
            <pc:sldMk cId="1657546940" sldId="266"/>
            <ac:picMk id="9" creationId="{2AB527FB-1B6F-3C01-DAD6-8334BBD6744E}"/>
          </ac:picMkLst>
        </pc:picChg>
      </pc:sldChg>
      <pc:sldChg chg="modSp mod">
        <pc:chgData name="Maciej Kępa" userId="8edcb3e27b75da38" providerId="LiveId" clId="{ECEBA8D9-588C-44C0-93D6-0BC00DB2CD80}" dt="2026-10-04T14:42:09.008" v="3" actId="27636"/>
        <pc:sldMkLst>
          <pc:docMk/>
          <pc:sldMk cId="3075183982" sldId="270"/>
        </pc:sldMkLst>
        <pc:spChg chg="mod">
          <ac:chgData name="Maciej Kępa" userId="8edcb3e27b75da38" providerId="LiveId" clId="{ECEBA8D9-588C-44C0-93D6-0BC00DB2CD80}" dt="2026-10-04T14:42:09.008" v="3" actId="27636"/>
          <ac:spMkLst>
            <pc:docMk/>
            <pc:sldMk cId="3075183982" sldId="270"/>
            <ac:spMk id="171" creationId="{24DB2FB5-FC96-4875-97AF-A8214DA14014}"/>
          </ac:spMkLst>
        </pc:spChg>
        <pc:spChg chg="mod">
          <ac:chgData name="Maciej Kępa" userId="8edcb3e27b75da38" providerId="LiveId" clId="{ECEBA8D9-588C-44C0-93D6-0BC00DB2CD80}" dt="2026-10-04T14:42:09.008" v="2" actId="27636"/>
          <ac:spMkLst>
            <pc:docMk/>
            <pc:sldMk cId="3075183982" sldId="270"/>
            <ac:spMk id="174" creationId="{1EF92D80-4D9F-46EF-A682-2436E46EE9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E872D-7DE8-4B1B-82A0-6668DCF21F96}" type="datetimeFigureOut">
              <a:t>4.10.2026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6881AC-23C2-4721-9D3F-71CACD103197}" type="slidenum">
              <a:t>‹#›</a:t>
            </a:fld>
            <a:endParaRPr lang="pl-PL"/>
          </a:p>
        </p:txBody>
      </p:sp>
    </p:spTree>
    <p:extLst>
      <p:ext uri="{BB962C8B-B14F-4D97-AF65-F5344CB8AC3E}">
        <p14:creationId xmlns:p14="http://schemas.microsoft.com/office/powerpoint/2010/main" val="1411737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MCP does not remove adapters to databases or APIs. It stops every AI client from inventing a different contract for the same capability.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Model Context Protocol documentation, Architecture and Transports. https://modelcontextprotocol.io/docs/learn/architecture ; https://modelcontextprotocol.io/specification/2025-06-18/basic/transports</a:t>
            </a:r>
          </a:p>
          <a:p>
            <a:r>
              <a:t>Do not equate MCP with a database proxy. The protocol defines how capabilities are discovered and invoked.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During the live build, keep the handler boring. The value sits in the contract: a narrow input schema, an authoritative definition, user scope, and evidence in the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Recommendation: Azure Container Apps for most custom remote MCP servers because it runs arbitrary containerized servers and has native MCP hosting guidance. Azure Functions fits small stateless or event-driven tool implementations. App Service is reasonable when the team already uses that web platform. Choose AKS only when Kubernetes is already an operating capability. API Management can govern an existing MCP endpoint or expose selected REST operations as MCP tools.</a:t>
            </a:r>
          </a:p>
          <a:p>
            <a:r>
              <a:t>Sources: https://learn.microsoft.com/en-us/azure/container-apps/mcp-overview ; https://learn.microsoft.com/en-us/azure/functions/scenario-mcp-server ; https://learn.microsoft.com/en-us/azure/api-management/mcp-server-overview ; https://learn.microsoft.com/en-us/azure/api-management/secure-mcp-servers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decision rule, not with protocol enthusiasm. The useful question is whether a shared, governed contract reduces repeated integration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46E8-D4CE-2F58-1510-F9C515512E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355C5C-17E7-BAFE-2DE1-B2D645514A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032DA2-9F3D-CBEC-4755-6E1918EF7506}"/>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5AC9CE76-640E-5157-7B51-6A9305B8CE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9BD15F-ED34-89FB-D132-ACE1121413DE}"/>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1554683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25EA-0E57-B9F1-AC24-990C20A0A4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4079B0-CA2E-970B-8434-A2AF7752D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DF931-E3C1-1E0C-C038-6A1262E8171F}"/>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397CAE79-9B1B-D6B6-2729-9A5E2B9EC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088A7-4D4B-E298-37B1-F77B3916A7BA}"/>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341604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25EA-0E57-B9F1-AC24-990C20A0A4C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34079B0-CA2E-970B-8434-A2AF7752DA13}"/>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DF931-E3C1-1E0C-C038-6A1262E8171F}"/>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397CAE79-9B1B-D6B6-2729-9A5E2B9EC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088A7-4D4B-E298-37B1-F77B3916A7BA}"/>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1208969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25EA-0E57-B9F1-AC24-990C20A0A4C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34079B0-CA2E-970B-8434-A2AF7752DA13}"/>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DF931-E3C1-1E0C-C038-6A1262E8171F}"/>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397CAE79-9B1B-D6B6-2729-9A5E2B9EC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088A7-4D4B-E298-37B1-F77B3916A7BA}"/>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2904095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25EA-0E57-B9F1-AC24-990C20A0A4C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34079B0-CA2E-970B-8434-A2AF7752DA13}"/>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DF931-E3C1-1E0C-C038-6A1262E8171F}"/>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397CAE79-9B1B-D6B6-2729-9A5E2B9EC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088A7-4D4B-E298-37B1-F77B3916A7BA}"/>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3812284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4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25EA-0E57-B9F1-AC24-990C20A0A4CD}"/>
              </a:ext>
            </a:extLst>
          </p:cNvPr>
          <p:cNvSpPr>
            <a:spLocks noGrp="1"/>
          </p:cNvSpPr>
          <p:nvPr>
            <p:ph type="title" hasCustomPrompt="1"/>
          </p:nvPr>
        </p:nvSpPr>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34079B0-CA2E-970B-8434-A2AF7752DA13}"/>
              </a:ext>
            </a:extLst>
          </p:cNvPr>
          <p:cNvSpPr>
            <a:spLocks noGrp="1"/>
          </p:cNvSpPr>
          <p:nvPr>
            <p:ph idx="1"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DF931-E3C1-1E0C-C038-6A1262E8171F}"/>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397CAE79-9B1B-D6B6-2729-9A5E2B9EC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088A7-4D4B-E298-37B1-F77B3916A7BA}"/>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2645944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25EA-0E57-B9F1-AC24-990C20A0A4C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34079B0-CA2E-970B-8434-A2AF7752DA13}"/>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DF931-E3C1-1E0C-C038-6A1262E8171F}"/>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397CAE79-9B1B-D6B6-2729-9A5E2B9EC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088A7-4D4B-E298-37B1-F77B3916A7BA}"/>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1218832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25EA-0E57-B9F1-AC24-990C20A0A4C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34079B0-CA2E-970B-8434-A2AF7752DA13}"/>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DF931-E3C1-1E0C-C038-6A1262E8171F}"/>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397CAE79-9B1B-D6B6-2729-9A5E2B9EC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088A7-4D4B-E298-37B1-F77B3916A7BA}"/>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2757655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71FD6-33E0-2040-45C9-164DEC5A9D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3BDA95-0DDB-08BC-079E-0F75B082EA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7560B5-F692-EDD5-6D04-D9A5EE7C83D1}"/>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6A717E0E-5288-F7B7-8530-D3F6A9DE34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AA9C9-DC12-1035-8CEB-55828072D4D2}"/>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553652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C863A-C6E3-2A45-6E79-3EAD718C07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DA9438-72B6-1420-F28B-4C31D93B29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739C1C-2569-9C57-865C-DE7D327112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630CCC-4C22-5A33-5E30-D47024D6139D}"/>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6" name="Footer Placeholder 5">
            <a:extLst>
              <a:ext uri="{FF2B5EF4-FFF2-40B4-BE49-F238E27FC236}">
                <a16:creationId xmlns:a16="http://schemas.microsoft.com/office/drawing/2014/main" id="{97FFC9A7-FF49-4545-B2D5-672A0F4E57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19CF51-49D9-00BB-B689-26C03AB6A324}"/>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220738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69D5F-480F-8497-ED83-BA0FB63DEA34}"/>
              </a:ext>
            </a:extLst>
          </p:cNvPr>
          <p:cNvSpPr>
            <a:spLocks noGrp="1"/>
          </p:cNvSpPr>
          <p:nvPr>
            <p:ph type="title"/>
          </p:nvPr>
        </p:nvSpPr>
        <p:spPr>
          <a:xfrm>
            <a:off x="839788" y="365125"/>
            <a:ext cx="8650576"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0475AD-A3DA-6F7F-DEE3-4A0D55FFD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B50444-C4B7-BF77-E77E-32363E5DE1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E2C262-6AE0-AAE5-11C9-FDF32E4CE8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637F91-2EC2-E4F2-334F-4C0C1AAE2A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BDF604-7A2C-09FA-748F-0AA262B03704}"/>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8" name="Footer Placeholder 7">
            <a:extLst>
              <a:ext uri="{FF2B5EF4-FFF2-40B4-BE49-F238E27FC236}">
                <a16:creationId xmlns:a16="http://schemas.microsoft.com/office/drawing/2014/main" id="{9F5CDB47-8ECC-918D-17AB-7EABD29206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E7ED50-068B-EB42-17A0-EF43328626AA}"/>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1978653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2BD0-3E8F-915C-23F3-4FFF40C28B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E57ABD-964D-D1CB-61C2-086DBC52B816}"/>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4" name="Footer Placeholder 3">
            <a:extLst>
              <a:ext uri="{FF2B5EF4-FFF2-40B4-BE49-F238E27FC236}">
                <a16:creationId xmlns:a16="http://schemas.microsoft.com/office/drawing/2014/main" id="{6FE9639E-E6C4-F10B-274F-ECD5D6F9B0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C8FADB-9722-FDB8-B825-864C61B9F713}"/>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2288147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B6F395-F0CD-D071-58F0-98D923414B5D}"/>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3" name="Footer Placeholder 2">
            <a:extLst>
              <a:ext uri="{FF2B5EF4-FFF2-40B4-BE49-F238E27FC236}">
                <a16:creationId xmlns:a16="http://schemas.microsoft.com/office/drawing/2014/main" id="{893E10D7-DCE6-9773-E24E-4EBCF2607F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E3F035-63A4-992E-886B-D827C2C866C9}"/>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3875650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2912-2EB3-7935-32F8-6C235A03FA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1E4228-55C4-BA66-9130-8E67E9D393FB}"/>
              </a:ext>
            </a:extLst>
          </p:cNvPr>
          <p:cNvSpPr>
            <a:spLocks noGrp="1"/>
          </p:cNvSpPr>
          <p:nvPr>
            <p:ph idx="1"/>
          </p:nvPr>
        </p:nvSpPr>
        <p:spPr>
          <a:xfrm>
            <a:off x="5183188" y="1126836"/>
            <a:ext cx="6172200" cy="473421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ACB25-3607-0C37-09BE-F9B3381E74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249070-EE56-FD1E-9EE1-4782C9086568}"/>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6" name="Footer Placeholder 5">
            <a:extLst>
              <a:ext uri="{FF2B5EF4-FFF2-40B4-BE49-F238E27FC236}">
                <a16:creationId xmlns:a16="http://schemas.microsoft.com/office/drawing/2014/main" id="{15091F71-1703-5E8F-1C8A-AAA2026B7E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BC3BA-9DAF-76B5-0592-BF039C40B926}"/>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381364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C3EE-DD3D-CC0A-9622-34AF2925E9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6F5ECF-C541-6FC8-65E5-0C48F86A93D6}"/>
              </a:ext>
            </a:extLst>
          </p:cNvPr>
          <p:cNvSpPr>
            <a:spLocks noGrp="1"/>
          </p:cNvSpPr>
          <p:nvPr>
            <p:ph type="pic" idx="1"/>
          </p:nvPr>
        </p:nvSpPr>
        <p:spPr>
          <a:xfrm>
            <a:off x="5183188" y="1117600"/>
            <a:ext cx="6172200" cy="4743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C8BC86-F3CB-0712-0F2B-63F3D994B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B008B2-EEFD-36BF-E8C7-B270B96BAD0C}"/>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6" name="Footer Placeholder 5">
            <a:extLst>
              <a:ext uri="{FF2B5EF4-FFF2-40B4-BE49-F238E27FC236}">
                <a16:creationId xmlns:a16="http://schemas.microsoft.com/office/drawing/2014/main" id="{B5F7105F-11BE-92C7-4A21-3AA3CF9344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593FA3-679C-7B34-E566-8D1680AA933F}"/>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9564093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B6F395-F0CD-D071-58F0-98D923414B5D}"/>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3" name="Footer Placeholder 2">
            <a:extLst>
              <a:ext uri="{FF2B5EF4-FFF2-40B4-BE49-F238E27FC236}">
                <a16:creationId xmlns:a16="http://schemas.microsoft.com/office/drawing/2014/main" id="{893E10D7-DCE6-9773-E24E-4EBCF2607F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E3F035-63A4-992E-886B-D827C2C866C9}"/>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9541179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B6F395-F0CD-D071-58F0-98D923414B5D}"/>
              </a:ext>
            </a:extLst>
          </p:cNvPr>
          <p:cNvSpPr>
            <a:spLocks noGrp="1"/>
          </p:cNvSpPr>
          <p:nvPr>
            <p:ph type="dt" sz="half" idx="10"/>
          </p:nvPr>
        </p:nvSpPr>
        <p:spPr/>
        <p:txBody>
          <a:bodyPr/>
          <a:lstStyle/>
          <a:p>
            <a:fld id="{8F218A68-7E6F-4792-81EA-3F8FCF2AD9D6}" type="datetimeFigureOut">
              <a:rPr lang="en-US" smtClean="0"/>
              <a:t>10/4/2026</a:t>
            </a:fld>
            <a:endParaRPr lang="en-US"/>
          </a:p>
        </p:txBody>
      </p:sp>
      <p:sp>
        <p:nvSpPr>
          <p:cNvPr id="3" name="Footer Placeholder 2">
            <a:extLst>
              <a:ext uri="{FF2B5EF4-FFF2-40B4-BE49-F238E27FC236}">
                <a16:creationId xmlns:a16="http://schemas.microsoft.com/office/drawing/2014/main" id="{893E10D7-DCE6-9773-E24E-4EBCF2607F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E3F035-63A4-992E-886B-D827C2C866C9}"/>
              </a:ext>
            </a:extLst>
          </p:cNvPr>
          <p:cNvSpPr>
            <a:spLocks noGrp="1"/>
          </p:cNvSpPr>
          <p:nvPr>
            <p:ph type="sldNum" sz="quarter" idx="12"/>
          </p:nvPr>
        </p:nvSpPr>
        <p:spPr/>
        <p:txBody>
          <a:bodyPr/>
          <a:lstStyle/>
          <a:p>
            <a:fld id="{58D103C2-89A1-4FCA-87EF-DAE6FA725F66}" type="slidenum">
              <a:rPr lang="en-US" smtClean="0"/>
              <a:t>‹#›</a:t>
            </a:fld>
            <a:endParaRPr lang="en-US"/>
          </a:p>
        </p:txBody>
      </p:sp>
    </p:spTree>
    <p:extLst>
      <p:ext uri="{BB962C8B-B14F-4D97-AF65-F5344CB8AC3E}">
        <p14:creationId xmlns:p14="http://schemas.microsoft.com/office/powerpoint/2010/main" val="386764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extLst>
      <p:ext uri="{BB962C8B-B14F-4D97-AF65-F5344CB8AC3E}">
        <p14:creationId xmlns:p14="http://schemas.microsoft.com/office/powerpoint/2010/main" val="210639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720FCF-99F2-7A24-42F1-EBD4F3377E2E}"/>
              </a:ext>
            </a:extLst>
          </p:cNvPr>
          <p:cNvSpPr>
            <a:spLocks noGrp="1"/>
          </p:cNvSpPr>
          <p:nvPr>
            <p:ph type="title"/>
          </p:nvPr>
        </p:nvSpPr>
        <p:spPr>
          <a:xfrm>
            <a:off x="838200" y="365125"/>
            <a:ext cx="864754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BC20CC-F572-DE62-0AAB-CCC4574102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6A2F9E-3C55-8F8A-D67A-7C9AA57BE0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218A68-7E6F-4792-81EA-3F8FCF2AD9D6}" type="datetimeFigureOut">
              <a:rPr lang="en-US" smtClean="0"/>
              <a:t>10/4/2026</a:t>
            </a:fld>
            <a:endParaRPr lang="en-US"/>
          </a:p>
        </p:txBody>
      </p:sp>
      <p:sp>
        <p:nvSpPr>
          <p:cNvPr id="5" name="Footer Placeholder 4">
            <a:extLst>
              <a:ext uri="{FF2B5EF4-FFF2-40B4-BE49-F238E27FC236}">
                <a16:creationId xmlns:a16="http://schemas.microsoft.com/office/drawing/2014/main" id="{A5D8732D-4FFE-1FB3-4CFA-9B128DD831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4B36AF-2FAC-96CE-CCF7-B6189B2DE1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D103C2-89A1-4FCA-87EF-DAE6FA725F66}" type="slidenum">
              <a:rPr lang="en-US" smtClean="0"/>
              <a:t>‹#›</a:t>
            </a:fld>
            <a:endParaRPr lang="en-US"/>
          </a:p>
        </p:txBody>
      </p:sp>
    </p:spTree>
    <p:extLst>
      <p:ext uri="{BB962C8B-B14F-4D97-AF65-F5344CB8AC3E}">
        <p14:creationId xmlns:p14="http://schemas.microsoft.com/office/powerpoint/2010/main" val="2525828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63" r:id="rId6"/>
    <p:sldLayoutId id="2147483664" r:id="rId7"/>
    <p:sldLayoutId id="2147483665"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 id="2147483659"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Oswald" pitchFamily="2" charset="-18"/>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swald" pitchFamily="2" charset="-1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swald" pitchFamily="2" charset="-1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swald" pitchFamily="2" charset="-1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swald" pitchFamily="2" charset="-1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swald" pitchFamily="2" charset="-1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aciejkepa/sqlday-mcp-server-demo" TargetMode="External"/><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C3F91-B0F6-F32C-9685-D17905EA71E7}"/>
              </a:ext>
            </a:extLst>
          </p:cNvPr>
          <p:cNvSpPr>
            <a:spLocks noGrp="1"/>
          </p:cNvSpPr>
          <p:nvPr>
            <p:ph type="ctrTitle"/>
          </p:nvPr>
        </p:nvSpPr>
        <p:spPr/>
        <p:txBody>
          <a:bodyPr/>
          <a:lstStyle/>
          <a:p>
            <a:r>
              <a:rPr lang="en-US">
                <a:solidFill>
                  <a:srgbClr val="000000"/>
                </a:solidFill>
                <a:latin typeface="Oswald"/>
                <a:ea typeface="Open Sans"/>
                <a:cs typeface="Open Sans"/>
              </a:rPr>
              <a:t>MCP Servers - build your own toolkit for AI agents</a:t>
            </a:r>
            <a:endParaRPr lang="pl-PL"/>
          </a:p>
        </p:txBody>
      </p:sp>
      <p:sp>
        <p:nvSpPr>
          <p:cNvPr id="3" name="Subtitle 2">
            <a:extLst>
              <a:ext uri="{FF2B5EF4-FFF2-40B4-BE49-F238E27FC236}">
                <a16:creationId xmlns:a16="http://schemas.microsoft.com/office/drawing/2014/main" id="{02395A24-37C0-A695-CCE7-96772F485FAF}"/>
              </a:ext>
            </a:extLst>
          </p:cNvPr>
          <p:cNvSpPr>
            <a:spLocks noGrp="1"/>
          </p:cNvSpPr>
          <p:nvPr>
            <p:ph type="subTitle" idx="1"/>
          </p:nvPr>
        </p:nvSpPr>
        <p:spPr>
          <a:xfrm>
            <a:off x="1524000" y="4298989"/>
            <a:ext cx="9144000" cy="1655762"/>
          </a:xfrm>
        </p:spPr>
        <p:txBody>
          <a:bodyPr vert="horz" lIns="91440" tIns="45720" rIns="91440" bIns="45720" rtlCol="0" anchor="t">
            <a:normAutofit/>
          </a:bodyPr>
          <a:lstStyle/>
          <a:p>
            <a:br>
              <a:rPr lang="en-US">
                <a:latin typeface="Oswald"/>
              </a:rPr>
            </a:br>
            <a:r>
              <a:rPr lang="en-US">
                <a:latin typeface="Oswald"/>
              </a:rPr>
              <a:t>Maciej Kępa</a:t>
            </a:r>
            <a:br>
              <a:rPr lang="en-US">
                <a:latin typeface="Oswald"/>
              </a:rPr>
            </a:br>
            <a:r>
              <a:rPr lang="en-US">
                <a:latin typeface="Oswald"/>
              </a:rPr>
              <a:t>Piotr Balik</a:t>
            </a:r>
            <a:endParaRPr lang="pl-PL"/>
          </a:p>
          <a:p>
            <a:endParaRPr lang="en-US"/>
          </a:p>
        </p:txBody>
      </p:sp>
    </p:spTree>
    <p:extLst>
      <p:ext uri="{BB962C8B-B14F-4D97-AF65-F5344CB8AC3E}">
        <p14:creationId xmlns:p14="http://schemas.microsoft.com/office/powerpoint/2010/main" val="3183648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a 4">
            <a:extLst>
              <a:ext uri="{FF2B5EF4-FFF2-40B4-BE49-F238E27FC236}">
                <a16:creationId xmlns:a16="http://schemas.microsoft.com/office/drawing/2014/main" id="{FC87DFA0-2F98-EEF0-B21C-C94C44FEEF3B}"/>
              </a:ext>
            </a:extLst>
          </p:cNvPr>
          <p:cNvGrpSpPr/>
          <p:nvPr/>
        </p:nvGrpSpPr>
        <p:grpSpPr>
          <a:xfrm>
            <a:off x="685800" y="431800"/>
            <a:ext cx="10820400" cy="5765800"/>
            <a:chOff x="685800" y="431800"/>
            <a:chExt cx="10820400" cy="5765800"/>
          </a:xfrm>
        </p:grpSpPr>
        <p:sp>
          <p:nvSpPr>
            <p:cNvPr id="4" name="Section Divider Bottom">
              <a:extLst>
                <a:ext uri="{FF2B5EF4-FFF2-40B4-BE49-F238E27FC236}">
                  <a16:creationId xmlns:a16="http://schemas.microsoft.com/office/drawing/2014/main" id="{DCB3FAE7-7D92-4287-86AB-3689210E72FA}"/>
                </a:ext>
              </a:extLst>
            </p:cNvPr>
            <p:cNvSpPr/>
            <p:nvPr/>
          </p:nvSpPr>
          <p:spPr>
            <a:xfrm>
              <a:off x="685800" y="4800600"/>
              <a:ext cx="10820400" cy="12700"/>
            </a:xfrm>
            <a:prstGeom prst="rect">
              <a:avLst/>
            </a:prstGeom>
            <a:solidFill>
              <a:srgbClr val="D9E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l-PL"/>
            </a:p>
          </p:txBody>
        </p:sp>
        <p:sp>
          <p:nvSpPr>
            <p:cNvPr id="2" name="Section Divider Top">
              <a:extLst>
                <a:ext uri="{FF2B5EF4-FFF2-40B4-BE49-F238E27FC236}">
                  <a16:creationId xmlns:a16="http://schemas.microsoft.com/office/drawing/2014/main" id="{592FA4A1-93D3-412C-B122-CF831C6CF17B}"/>
                </a:ext>
              </a:extLst>
            </p:cNvPr>
            <p:cNvSpPr/>
            <p:nvPr/>
          </p:nvSpPr>
          <p:spPr>
            <a:xfrm>
              <a:off x="685800" y="2768600"/>
              <a:ext cx="10820400" cy="12700"/>
            </a:xfrm>
            <a:prstGeom prst="rect">
              <a:avLst/>
            </a:prstGeom>
            <a:solidFill>
              <a:srgbClr val="D9E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l-PL"/>
            </a:p>
          </p:txBody>
        </p:sp>
        <p:pic>
          <p:nvPicPr>
            <p:cNvPr id="3" name="Obraz 2">
              <a:extLst>
                <a:ext uri="{FF2B5EF4-FFF2-40B4-BE49-F238E27FC236}">
                  <a16:creationId xmlns:a16="http://schemas.microsoft.com/office/drawing/2014/main" id="{0F081450-2AE8-22BD-F26B-2D78BE9BD0EB}"/>
                </a:ext>
              </a:extLst>
            </p:cNvPr>
            <p:cNvPicPr>
              <a:picLocks noChangeAspect="1"/>
            </p:cNvPicPr>
            <p:nvPr/>
          </p:nvPicPr>
          <p:blipFill>
            <a:blip r:embed="rId2"/>
            <a:stretch>
              <a:fillRect/>
            </a:stretch>
          </p:blipFill>
          <p:spPr>
            <a:xfrm>
              <a:off x="1422400" y="3632200"/>
              <a:ext cx="2895600" cy="850900"/>
            </a:xfrm>
            <a:prstGeom prst="rect">
              <a:avLst/>
            </a:prstGeom>
          </p:spPr>
        </p:pic>
        <p:pic>
          <p:nvPicPr>
            <p:cNvPr id="6" name="Obraz 5">
              <a:extLst>
                <a:ext uri="{FF2B5EF4-FFF2-40B4-BE49-F238E27FC236}">
                  <a16:creationId xmlns:a16="http://schemas.microsoft.com/office/drawing/2014/main" id="{1679883A-2046-D5DA-A2FE-9403DD516C8A}"/>
                </a:ext>
              </a:extLst>
            </p:cNvPr>
            <p:cNvPicPr>
              <a:picLocks noChangeAspect="1"/>
            </p:cNvPicPr>
            <p:nvPr/>
          </p:nvPicPr>
          <p:blipFill>
            <a:blip r:embed="rId3"/>
            <a:stretch>
              <a:fillRect/>
            </a:stretch>
          </p:blipFill>
          <p:spPr>
            <a:xfrm>
              <a:off x="6223000" y="3733800"/>
              <a:ext cx="4445000" cy="622300"/>
            </a:xfrm>
            <a:prstGeom prst="rect">
              <a:avLst/>
            </a:prstGeom>
          </p:spPr>
        </p:pic>
        <p:pic>
          <p:nvPicPr>
            <p:cNvPr id="7" name="Obraz 6">
              <a:extLst>
                <a:ext uri="{FF2B5EF4-FFF2-40B4-BE49-F238E27FC236}">
                  <a16:creationId xmlns:a16="http://schemas.microsoft.com/office/drawing/2014/main" id="{98783738-BCDB-AF7F-3643-782099ED1534}"/>
                </a:ext>
              </a:extLst>
            </p:cNvPr>
            <p:cNvPicPr>
              <a:picLocks noChangeAspect="1"/>
            </p:cNvPicPr>
            <p:nvPr/>
          </p:nvPicPr>
          <p:blipFill>
            <a:blip r:embed="rId4"/>
            <a:stretch>
              <a:fillRect/>
            </a:stretch>
          </p:blipFill>
          <p:spPr>
            <a:xfrm>
              <a:off x="3556000" y="5562600"/>
              <a:ext cx="2489200" cy="546100"/>
            </a:xfrm>
            <a:prstGeom prst="rect">
              <a:avLst/>
            </a:prstGeom>
          </p:spPr>
        </p:pic>
        <p:pic>
          <p:nvPicPr>
            <p:cNvPr id="8" name="Obraz 7">
              <a:extLst>
                <a:ext uri="{FF2B5EF4-FFF2-40B4-BE49-F238E27FC236}">
                  <a16:creationId xmlns:a16="http://schemas.microsoft.com/office/drawing/2014/main" id="{0336A083-A46B-5F16-AFA6-B584103A91B1}"/>
                </a:ext>
              </a:extLst>
            </p:cNvPr>
            <p:cNvPicPr>
              <a:picLocks noChangeAspect="1"/>
            </p:cNvPicPr>
            <p:nvPr/>
          </p:nvPicPr>
          <p:blipFill>
            <a:blip r:embed="rId5"/>
            <a:stretch>
              <a:fillRect/>
            </a:stretch>
          </p:blipFill>
          <p:spPr>
            <a:xfrm>
              <a:off x="7772400" y="5511800"/>
              <a:ext cx="1676400" cy="685800"/>
            </a:xfrm>
            <a:prstGeom prst="rect">
              <a:avLst/>
            </a:prstGeom>
          </p:spPr>
        </p:pic>
        <p:pic>
          <p:nvPicPr>
            <p:cNvPr id="10" name="Grafika 9">
              <a:extLst>
                <a:ext uri="{FF2B5EF4-FFF2-40B4-BE49-F238E27FC236}">
                  <a16:creationId xmlns:a16="http://schemas.microsoft.com/office/drawing/2014/main" id="{0A15739E-A208-5641-6A8C-B43E3944DB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48400" y="1562100"/>
              <a:ext cx="4267200" cy="889000"/>
            </a:xfrm>
            <a:prstGeom prst="rect">
              <a:avLst/>
            </a:prstGeom>
          </p:spPr>
        </p:pic>
        <p:pic>
          <p:nvPicPr>
            <p:cNvPr id="18" name="Grafika 17">
              <a:extLst>
                <a:ext uri="{FF2B5EF4-FFF2-40B4-BE49-F238E27FC236}">
                  <a16:creationId xmlns:a16="http://schemas.microsoft.com/office/drawing/2014/main" id="{9033AEB1-6B3E-B56A-2356-BF52653A82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68400" y="1625600"/>
              <a:ext cx="3149600" cy="838200"/>
            </a:xfrm>
            <a:prstGeom prst="rect">
              <a:avLst/>
            </a:prstGeom>
          </p:spPr>
        </p:pic>
        <p:sp>
          <p:nvSpPr>
            <p:cNvPr id="19" name="pole tekstowe 18">
              <a:extLst>
                <a:ext uri="{FF2B5EF4-FFF2-40B4-BE49-F238E27FC236}">
                  <a16:creationId xmlns:a16="http://schemas.microsoft.com/office/drawing/2014/main" id="{CA0E56EB-39C5-FECF-E463-ABDC264F1FCC}"/>
                </a:ext>
              </a:extLst>
            </p:cNvPr>
            <p:cNvSpPr txBox="1"/>
            <p:nvPr/>
          </p:nvSpPr>
          <p:spPr>
            <a:xfrm>
              <a:off x="685800" y="431800"/>
              <a:ext cx="6604000" cy="431800"/>
            </a:xfrm>
            <a:prstGeom prst="rect">
              <a:avLst/>
            </a:prstGeom>
            <a:noFill/>
          </p:spPr>
          <p:txBody>
            <a:bodyPr wrap="square" rtlCol="0">
              <a:spAutoFit/>
            </a:bodyPr>
            <a:lstStyle/>
            <a:p>
              <a:pPr algn="l"/>
              <a:r>
                <a:rPr lang="en-US" sz="2400" b="1">
                  <a:solidFill>
                    <a:srgbClr val="0B2239"/>
                  </a:solidFill>
                  <a:latin typeface="Aptos Display"/>
                </a:rPr>
                <a:t>PARTNERS &amp; SPONSORS</a:t>
              </a:r>
            </a:p>
          </p:txBody>
        </p:sp>
        <p:sp>
          <p:nvSpPr>
            <p:cNvPr id="21" name="pole tekstowe 20">
              <a:extLst>
                <a:ext uri="{FF2B5EF4-FFF2-40B4-BE49-F238E27FC236}">
                  <a16:creationId xmlns:a16="http://schemas.microsoft.com/office/drawing/2014/main" id="{366A59E4-9424-DE13-C6DB-2DDB522FF43E}"/>
                </a:ext>
              </a:extLst>
            </p:cNvPr>
            <p:cNvSpPr txBox="1"/>
            <p:nvPr/>
          </p:nvSpPr>
          <p:spPr>
            <a:xfrm>
              <a:off x="685800" y="3073400"/>
              <a:ext cx="2286000" cy="228600"/>
            </a:xfrm>
            <a:prstGeom prst="rect">
              <a:avLst/>
            </a:prstGeom>
            <a:noFill/>
          </p:spPr>
          <p:txBody>
            <a:bodyPr wrap="square" rtlCol="0">
              <a:spAutoFit/>
            </a:bodyPr>
            <a:lstStyle/>
            <a:p>
              <a:pPr algn="l"/>
              <a:r>
                <a:rPr lang="en-US" sz="1100" b="1">
                  <a:solidFill>
                    <a:srgbClr val="E85D04"/>
                  </a:solidFill>
                  <a:latin typeface="Aptos"/>
                </a:rPr>
                <a:t>GOLD SPONSORS</a:t>
              </a:r>
            </a:p>
          </p:txBody>
        </p:sp>
        <p:sp>
          <p:nvSpPr>
            <p:cNvPr id="23" name="pole tekstowe 22">
              <a:extLst>
                <a:ext uri="{FF2B5EF4-FFF2-40B4-BE49-F238E27FC236}">
                  <a16:creationId xmlns:a16="http://schemas.microsoft.com/office/drawing/2014/main" id="{3377BE66-D5FE-8D9E-E9D6-DDD016F3E905}"/>
                </a:ext>
              </a:extLst>
            </p:cNvPr>
            <p:cNvSpPr txBox="1"/>
            <p:nvPr/>
          </p:nvSpPr>
          <p:spPr>
            <a:xfrm>
              <a:off x="685800" y="5105400"/>
              <a:ext cx="2286000" cy="228600"/>
            </a:xfrm>
            <a:prstGeom prst="rect">
              <a:avLst/>
            </a:prstGeom>
            <a:noFill/>
          </p:spPr>
          <p:txBody>
            <a:bodyPr wrap="square" rtlCol="0">
              <a:spAutoFit/>
            </a:bodyPr>
            <a:lstStyle/>
            <a:p>
              <a:pPr algn="l"/>
              <a:r>
                <a:rPr lang="en-US" sz="1100" b="1">
                  <a:solidFill>
                    <a:srgbClr val="E85D04"/>
                  </a:solidFill>
                  <a:latin typeface="Aptos"/>
                </a:rPr>
                <a:t>PATRONS</a:t>
              </a:r>
            </a:p>
          </p:txBody>
        </p:sp>
        <p:sp>
          <p:nvSpPr>
            <p:cNvPr id="24" name="Organizer Section Label">
              <a:extLst>
                <a:ext uri="{FF2B5EF4-FFF2-40B4-BE49-F238E27FC236}">
                  <a16:creationId xmlns:a16="http://schemas.microsoft.com/office/drawing/2014/main" id="{F647E6F6-5516-4F64-BDF0-880254706A14}"/>
                </a:ext>
              </a:extLst>
            </p:cNvPr>
            <p:cNvSpPr txBox="1"/>
            <p:nvPr/>
          </p:nvSpPr>
          <p:spPr>
            <a:xfrm>
              <a:off x="685800" y="1168400"/>
              <a:ext cx="2286000" cy="228600"/>
            </a:xfrm>
            <a:prstGeom prst="rect">
              <a:avLst/>
            </a:prstGeom>
            <a:noFill/>
          </p:spPr>
          <p:txBody>
            <a:bodyPr vertOverflow="overflow" vert="horz" wrap="square" rtlCol="0" anchor="t">
              <a:noAutofit/>
            </a:bodyPr>
            <a:lstStyle/>
            <a:p>
              <a:pPr algn="l"/>
              <a:r>
                <a:rPr lang="pl-PL" sz="1100" b="1">
                  <a:solidFill>
                    <a:srgbClr val="E85D04"/>
                  </a:solidFill>
                  <a:latin typeface="Aptos"/>
                </a:rPr>
                <a:t>ORGANIZERS</a:t>
              </a:r>
            </a:p>
          </p:txBody>
        </p:sp>
        <p:sp>
          <p:nvSpPr>
            <p:cNvPr id="27" name="Title Accent">
              <a:extLst>
                <a:ext uri="{FF2B5EF4-FFF2-40B4-BE49-F238E27FC236}">
                  <a16:creationId xmlns:a16="http://schemas.microsoft.com/office/drawing/2014/main" id="{5B583DAD-45A3-43CC-91BA-989A34E7DC4F}"/>
                </a:ext>
              </a:extLst>
            </p:cNvPr>
            <p:cNvSpPr/>
            <p:nvPr/>
          </p:nvSpPr>
          <p:spPr>
            <a:xfrm>
              <a:off x="685800" y="939800"/>
              <a:ext cx="584200" cy="38100"/>
            </a:xfrm>
            <a:prstGeom prst="rect">
              <a:avLst/>
            </a:prstGeom>
            <a:solidFill>
              <a:srgbClr val="E85D0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l-PL"/>
            </a:p>
          </p:txBody>
        </p:sp>
      </p:grpSp>
    </p:spTree>
    <p:extLst>
      <p:ext uri="{BB962C8B-B14F-4D97-AF65-F5344CB8AC3E}">
        <p14:creationId xmlns:p14="http://schemas.microsoft.com/office/powerpoint/2010/main" val="929359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27074-D10C-7E01-78C5-256692847A0E}"/>
              </a:ext>
            </a:extLst>
          </p:cNvPr>
          <p:cNvSpPr>
            <a:spLocks noGrp="1"/>
          </p:cNvSpPr>
          <p:nvPr>
            <p:ph type="title"/>
          </p:nvPr>
        </p:nvSpPr>
        <p:spPr/>
        <p:txBody>
          <a:bodyPr/>
          <a:lstStyle/>
          <a:p>
            <a:r>
              <a:rPr lang="en-US">
                <a:latin typeface="Oswald"/>
              </a:rPr>
              <a:t>About us</a:t>
            </a:r>
            <a:endParaRPr lang="en-US"/>
          </a:p>
        </p:txBody>
      </p:sp>
      <p:sp>
        <p:nvSpPr>
          <p:cNvPr id="5" name="pole tekstowe 10">
            <a:extLst>
              <a:ext uri="{FF2B5EF4-FFF2-40B4-BE49-F238E27FC236}">
                <a16:creationId xmlns:a16="http://schemas.microsoft.com/office/drawing/2014/main" id="{D5975D82-8D07-5817-A327-1540CEBC03C7}"/>
              </a:ext>
            </a:extLst>
          </p:cNvPr>
          <p:cNvSpPr txBox="1"/>
          <p:nvPr/>
        </p:nvSpPr>
        <p:spPr>
          <a:xfrm>
            <a:off x="2406761" y="1690687"/>
            <a:ext cx="6154490" cy="769441"/>
          </a:xfrm>
          <a:prstGeom prst="rect">
            <a:avLst/>
          </a:prstGeom>
          <a:noFill/>
        </p:spPr>
        <p:txBody>
          <a:bodyPr wrap="square" lIns="91440" tIns="45720" rIns="91440" bIns="45720" rtlCol="0" anchor="t">
            <a:spAutoFit/>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l-PL" sz="2400" b="1">
                <a:solidFill>
                  <a:srgbClr val="B48900"/>
                </a:solidFill>
                <a:latin typeface="Oswald"/>
                <a:ea typeface="Open Sans"/>
                <a:cs typeface="Open Sans"/>
              </a:rPr>
              <a:t>Piotr Balik</a:t>
            </a:r>
            <a:br>
              <a:rPr lang="pl-PL" sz="2000" b="1" kern="700" spc="-70">
                <a:latin typeface="Oswald" panose="00000500000000000000" pitchFamily="2" charset="-18"/>
                <a:ea typeface="Open Sans" panose="020B0606030504020204" pitchFamily="34" charset="0"/>
                <a:cs typeface="Open Sans" panose="020B0606030504020204" pitchFamily="34" charset="0"/>
              </a:rPr>
            </a:br>
            <a:r>
              <a:rPr lang="pl-PL" sz="2000" kern="700" spc="-70">
                <a:solidFill>
                  <a:srgbClr val="000000"/>
                </a:solidFill>
                <a:latin typeface="Oswald"/>
                <a:ea typeface="Open Sans"/>
                <a:cs typeface="Open Sans"/>
              </a:rPr>
              <a:t>Senior Data </a:t>
            </a:r>
            <a:r>
              <a:rPr lang="pl-PL" sz="2000" kern="700" spc="-70" err="1">
                <a:solidFill>
                  <a:srgbClr val="000000"/>
                </a:solidFill>
                <a:latin typeface="Oswald"/>
                <a:ea typeface="Open Sans"/>
                <a:cs typeface="Open Sans"/>
              </a:rPr>
              <a:t>Engineer</a:t>
            </a:r>
            <a:r>
              <a:rPr lang="pl-PL" sz="2000" kern="700" spc="-70">
                <a:solidFill>
                  <a:srgbClr val="000000"/>
                </a:solidFill>
                <a:latin typeface="Oswald"/>
                <a:ea typeface="Open Sans"/>
                <a:cs typeface="Open Sans"/>
              </a:rPr>
              <a:t> @ </a:t>
            </a:r>
            <a:r>
              <a:rPr lang="pl-PL" sz="2000" kern="700" spc="-70" err="1">
                <a:solidFill>
                  <a:srgbClr val="000000"/>
                </a:solidFill>
                <a:latin typeface="Oswald"/>
                <a:ea typeface="Open Sans"/>
                <a:cs typeface="Open Sans"/>
              </a:rPr>
              <a:t>Datumo</a:t>
            </a:r>
            <a:endParaRPr lang="pl-PL" sz="2000" kern="700" spc="-70">
              <a:latin typeface="Oswald" panose="00000500000000000000" pitchFamily="2" charset="-18"/>
              <a:ea typeface="Open Sans" panose="020B0606030504020204" pitchFamily="34" charset="0"/>
              <a:cs typeface="Open Sans" panose="020B0606030504020204" pitchFamily="34" charset="0"/>
            </a:endParaRPr>
          </a:p>
        </p:txBody>
      </p:sp>
      <p:sp>
        <p:nvSpPr>
          <p:cNvPr id="7" name="pole tekstowe 11">
            <a:extLst>
              <a:ext uri="{FF2B5EF4-FFF2-40B4-BE49-F238E27FC236}">
                <a16:creationId xmlns:a16="http://schemas.microsoft.com/office/drawing/2014/main" id="{DB085184-5F8A-09EE-1899-A9302C60183B}"/>
              </a:ext>
            </a:extLst>
          </p:cNvPr>
          <p:cNvSpPr txBox="1"/>
          <p:nvPr/>
        </p:nvSpPr>
        <p:spPr>
          <a:xfrm>
            <a:off x="252009" y="3674179"/>
            <a:ext cx="5827249" cy="1200329"/>
          </a:xfrm>
          <a:prstGeom prst="rect">
            <a:avLst/>
          </a:prstGeom>
          <a:noFill/>
        </p:spPr>
        <p:txBody>
          <a:bodyPr wrap="square" lIns="91440" tIns="45720" rIns="91440" bIns="45720" rtlCol="0" anchor="t">
            <a:spAutoFit/>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pl-PL" b="1">
                <a:solidFill>
                  <a:srgbClr val="B48900"/>
                </a:solidFill>
                <a:latin typeface="Oswald" panose="00000500000000000000" pitchFamily="2" charset="-18"/>
                <a:ea typeface="Open Sans" panose="020B0606030504020204" pitchFamily="34" charset="0"/>
                <a:cs typeface="Open Sans" panose="020B0606030504020204" pitchFamily="34" charset="0"/>
              </a:rPr>
              <a:t>LinkedIn</a:t>
            </a:r>
          </a:p>
          <a:p>
            <a:pPr>
              <a:lnSpc>
                <a:spcPct val="80000"/>
              </a:lnSpc>
            </a:pPr>
            <a:r>
              <a:rPr lang="pl-PL" kern="700" spc="-70">
                <a:latin typeface="Oswald"/>
                <a:ea typeface="Open Sans"/>
                <a:cs typeface="Open Sans"/>
              </a:rPr>
              <a:t>https://www.linkedin.com/in/piotrbalik</a:t>
            </a:r>
            <a:br>
              <a:rPr lang="pl-PL" b="1" kern="700" spc="-70">
                <a:latin typeface="Oswald" panose="00000500000000000000" pitchFamily="2" charset="-18"/>
                <a:ea typeface="Open Sans" panose="020B0606030504020204" pitchFamily="34" charset="0"/>
                <a:cs typeface="Open Sans" panose="020B0606030504020204" pitchFamily="34" charset="0"/>
              </a:rPr>
            </a:br>
            <a:r>
              <a:rPr lang="pl-PL" b="1" kern="700" spc="-70">
                <a:latin typeface="Oswald"/>
                <a:ea typeface="Open Sans"/>
                <a:cs typeface="Open Sans"/>
              </a:rPr>
              <a:t> </a:t>
            </a:r>
            <a:br>
              <a:rPr lang="pl-PL" sz="2400" b="1">
                <a:latin typeface="Oswald" panose="00000500000000000000" pitchFamily="2" charset="-18"/>
                <a:ea typeface="Open Sans" panose="020B0606030504020204" pitchFamily="34" charset="0"/>
                <a:cs typeface="Open Sans" panose="020B0606030504020204" pitchFamily="34" charset="0"/>
              </a:rPr>
            </a:br>
            <a:r>
              <a:rPr lang="pl-PL" b="1">
                <a:solidFill>
                  <a:srgbClr val="B48900"/>
                </a:solidFill>
                <a:latin typeface="Oswald"/>
                <a:ea typeface="Open Sans"/>
                <a:cs typeface="Open Sans"/>
              </a:rPr>
              <a:t>E-mai</a:t>
            </a:r>
            <a:r>
              <a:rPr lang="pl-PL">
                <a:solidFill>
                  <a:srgbClr val="B48900"/>
                </a:solidFill>
                <a:latin typeface="Oswald"/>
                <a:ea typeface="+mj-ea"/>
                <a:cs typeface="+mj-cs"/>
              </a:rPr>
              <a:t>l</a:t>
            </a:r>
            <a:endParaRPr lang="pl-PL">
              <a:ea typeface="+mj-ea"/>
              <a:cs typeface="+mj-cs"/>
            </a:endParaRPr>
          </a:p>
          <a:p>
            <a:pPr>
              <a:lnSpc>
                <a:spcPct val="80000"/>
              </a:lnSpc>
            </a:pPr>
            <a:r>
              <a:rPr lang="pl-PL" kern="700" spc="-70">
                <a:latin typeface="Oswald"/>
                <a:ea typeface="Open Sans"/>
                <a:cs typeface="Open Sans"/>
              </a:rPr>
              <a:t>piotr.balik@datacommunity.pl</a:t>
            </a:r>
          </a:p>
        </p:txBody>
      </p:sp>
      <p:sp>
        <p:nvSpPr>
          <p:cNvPr id="13" name="pole tekstowe 10">
            <a:extLst>
              <a:ext uri="{FF2B5EF4-FFF2-40B4-BE49-F238E27FC236}">
                <a16:creationId xmlns:a16="http://schemas.microsoft.com/office/drawing/2014/main" id="{608E688F-9B5B-865D-E8AF-5FA4522FA5A8}"/>
              </a:ext>
            </a:extLst>
          </p:cNvPr>
          <p:cNvSpPr txBox="1"/>
          <p:nvPr/>
        </p:nvSpPr>
        <p:spPr>
          <a:xfrm>
            <a:off x="3684030" y="4989863"/>
            <a:ext cx="6154490" cy="1077218"/>
          </a:xfrm>
          <a:prstGeom prst="rect">
            <a:avLst/>
          </a:prstGeom>
          <a:noFill/>
        </p:spPr>
        <p:txBody>
          <a:bodyPr wrap="square" lIns="91440" tIns="45720" rIns="91440" bIns="45720" rtlCol="0" anchor="t">
            <a:spAutoFit/>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pl-PL" sz="2400" b="1">
                <a:solidFill>
                  <a:srgbClr val="B48900"/>
                </a:solidFill>
                <a:latin typeface="Oswald"/>
                <a:ea typeface="Open Sans"/>
                <a:cs typeface="Open Sans"/>
              </a:rPr>
              <a:t>Maciej Kępa</a:t>
            </a:r>
            <a:br>
              <a:rPr lang="pl-PL" sz="2000" b="1" kern="700" spc="-70">
                <a:latin typeface="Oswald" panose="00000500000000000000" pitchFamily="2" charset="-18"/>
                <a:ea typeface="Open Sans" panose="020B0606030504020204" pitchFamily="34" charset="0"/>
                <a:cs typeface="Open Sans" panose="020B0606030504020204" pitchFamily="34" charset="0"/>
              </a:rPr>
            </a:br>
            <a:r>
              <a:rPr lang="pl-PL" sz="2000" kern="700" spc="-70">
                <a:latin typeface="Oswald"/>
                <a:ea typeface="Open Sans"/>
                <a:cs typeface="Open Sans"/>
              </a:rPr>
              <a:t>Data Architect @ </a:t>
            </a:r>
            <a:r>
              <a:rPr lang="pl-PL" sz="2000" kern="700" spc="-70" err="1">
                <a:latin typeface="Oswald"/>
                <a:ea typeface="Open Sans"/>
                <a:cs typeface="Open Sans"/>
              </a:rPr>
              <a:t>Datumo</a:t>
            </a:r>
            <a:endParaRPr lang="pl-PL" sz="2000" kern="700" spc="-70" err="1">
              <a:latin typeface="Oswald" panose="00000500000000000000" pitchFamily="2" charset="-18"/>
              <a:ea typeface="Open Sans" panose="020B0606030504020204" pitchFamily="34" charset="0"/>
              <a:cs typeface="Open Sans" panose="020B0606030504020204" pitchFamily="34" charset="0"/>
            </a:endParaRPr>
          </a:p>
          <a:p>
            <a:pPr algn="r"/>
            <a:r>
              <a:rPr lang="pl-PL" sz="2000" kern="700" spc="-70" err="1">
                <a:latin typeface="Oswald"/>
                <a:ea typeface="Open Sans"/>
                <a:cs typeface="Open Sans"/>
              </a:rPr>
              <a:t>Azure</a:t>
            </a:r>
            <a:r>
              <a:rPr lang="pl-PL" sz="2000" kern="700" spc="-70">
                <a:latin typeface="Oswald"/>
                <a:ea typeface="Open Sans"/>
                <a:cs typeface="Open Sans"/>
              </a:rPr>
              <a:t> &amp; </a:t>
            </a:r>
            <a:r>
              <a:rPr lang="pl-PL" sz="2000" kern="700" spc="-70" err="1">
                <a:latin typeface="Oswald"/>
                <a:ea typeface="Open Sans"/>
                <a:cs typeface="Open Sans"/>
              </a:rPr>
              <a:t>Production</a:t>
            </a:r>
            <a:r>
              <a:rPr lang="pl-PL" sz="2000" kern="700" spc="-70">
                <a:latin typeface="Oswald"/>
                <a:ea typeface="Open Sans"/>
                <a:cs typeface="Open Sans"/>
              </a:rPr>
              <a:t> AI Tech </a:t>
            </a:r>
            <a:r>
              <a:rPr lang="pl-PL" sz="2000" kern="700" spc="-70" err="1">
                <a:latin typeface="Oswald"/>
                <a:ea typeface="Open Sans"/>
                <a:cs typeface="Open Sans"/>
              </a:rPr>
              <a:t>Lead</a:t>
            </a:r>
            <a:endParaRPr lang="pl-PL" err="1"/>
          </a:p>
        </p:txBody>
      </p:sp>
      <p:sp>
        <p:nvSpPr>
          <p:cNvPr id="15" name="pole tekstowe 11">
            <a:extLst>
              <a:ext uri="{FF2B5EF4-FFF2-40B4-BE49-F238E27FC236}">
                <a16:creationId xmlns:a16="http://schemas.microsoft.com/office/drawing/2014/main" id="{75896169-5BB4-2453-8429-8AB0DB9621D2}"/>
              </a:ext>
            </a:extLst>
          </p:cNvPr>
          <p:cNvSpPr txBox="1"/>
          <p:nvPr/>
        </p:nvSpPr>
        <p:spPr>
          <a:xfrm>
            <a:off x="6112742" y="3115031"/>
            <a:ext cx="5827249" cy="1421928"/>
          </a:xfrm>
          <a:prstGeom prst="rect">
            <a:avLst/>
          </a:prstGeom>
          <a:noFill/>
        </p:spPr>
        <p:txBody>
          <a:bodyPr wrap="square" rtlCol="0">
            <a:spAutoFit/>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80000"/>
              </a:lnSpc>
            </a:pPr>
            <a:endParaRPr lang="pl-PL" b="1">
              <a:solidFill>
                <a:srgbClr val="FFC000"/>
              </a:solidFill>
              <a:latin typeface="Oswald" panose="00000500000000000000" pitchFamily="2" charset="-18"/>
              <a:ea typeface="Open Sans" panose="020B0606030504020204" pitchFamily="34" charset="0"/>
              <a:cs typeface="Open Sans" panose="020B0606030504020204" pitchFamily="34" charset="0"/>
            </a:endParaRPr>
          </a:p>
          <a:p>
            <a:pPr algn="r">
              <a:lnSpc>
                <a:spcPct val="80000"/>
              </a:lnSpc>
            </a:pPr>
            <a:r>
              <a:rPr lang="pl-PL" b="1">
                <a:solidFill>
                  <a:srgbClr val="B48900"/>
                </a:solidFill>
                <a:latin typeface="Oswald" panose="00000500000000000000" pitchFamily="2" charset="-18"/>
                <a:ea typeface="Open Sans" panose="020B0606030504020204" pitchFamily="34" charset="0"/>
                <a:cs typeface="Open Sans" panose="020B0606030504020204" pitchFamily="34" charset="0"/>
              </a:rPr>
              <a:t>E-mai</a:t>
            </a:r>
            <a:r>
              <a:rPr lang="pl-PL">
                <a:solidFill>
                  <a:srgbClr val="B48900"/>
                </a:solidFill>
                <a:latin typeface="Oswald" panose="00000500000000000000" pitchFamily="2" charset="-18"/>
                <a:ea typeface="+mj-ea"/>
                <a:cs typeface="+mj-cs"/>
              </a:rPr>
              <a:t>l</a:t>
            </a:r>
          </a:p>
          <a:p>
            <a:pPr algn="r">
              <a:lnSpc>
                <a:spcPct val="80000"/>
              </a:lnSpc>
            </a:pPr>
            <a:r>
              <a:rPr lang="pl-PL" kern="700" spc="-70">
                <a:latin typeface="Oswald" panose="00000500000000000000" pitchFamily="2" charset="-18"/>
                <a:ea typeface="Open Sans" panose="020B0606030504020204" pitchFamily="34" charset="0"/>
                <a:cs typeface="Open Sans" panose="020B0606030504020204" pitchFamily="34" charset="0"/>
              </a:rPr>
              <a:t>maciej.kepa@datumo.pl</a:t>
            </a:r>
          </a:p>
          <a:p>
            <a:pPr algn="r">
              <a:lnSpc>
                <a:spcPct val="80000"/>
              </a:lnSpc>
            </a:pPr>
            <a:endParaRPr lang="pl-PL" b="1">
              <a:solidFill>
                <a:srgbClr val="FFC000"/>
              </a:solidFill>
              <a:latin typeface="Oswald" panose="00000500000000000000" pitchFamily="2" charset="-18"/>
              <a:ea typeface="Open Sans" panose="020B0606030504020204" pitchFamily="34" charset="0"/>
              <a:cs typeface="Open Sans" panose="020B0606030504020204" pitchFamily="34" charset="0"/>
            </a:endParaRPr>
          </a:p>
          <a:p>
            <a:pPr algn="r">
              <a:lnSpc>
                <a:spcPct val="80000"/>
              </a:lnSpc>
            </a:pPr>
            <a:r>
              <a:rPr lang="pl-PL" b="1">
                <a:solidFill>
                  <a:srgbClr val="B48900"/>
                </a:solidFill>
                <a:latin typeface="Oswald" panose="00000500000000000000" pitchFamily="2" charset="-18"/>
                <a:ea typeface="Open Sans" panose="020B0606030504020204" pitchFamily="34" charset="0"/>
                <a:cs typeface="Open Sans" panose="020B0606030504020204" pitchFamily="34" charset="0"/>
              </a:rPr>
              <a:t>LinkedIn</a:t>
            </a:r>
          </a:p>
          <a:p>
            <a:pPr algn="r">
              <a:lnSpc>
                <a:spcPct val="80000"/>
              </a:lnSpc>
            </a:pPr>
            <a:r>
              <a:rPr lang="pl-PL" kern="700" spc="-70">
                <a:latin typeface="Oswald" panose="00000500000000000000" pitchFamily="2" charset="-18"/>
                <a:ea typeface="Open Sans" panose="020B0606030504020204" pitchFamily="34" charset="0"/>
                <a:cs typeface="Open Sans" panose="020B0606030504020204" pitchFamily="34" charset="0"/>
              </a:rPr>
              <a:t>https://www.linkedin.com/in/maciej-kepa</a:t>
            </a:r>
          </a:p>
        </p:txBody>
      </p:sp>
      <p:pic>
        <p:nvPicPr>
          <p:cNvPr id="17" name="Picture 16">
            <a:extLst>
              <a:ext uri="{FF2B5EF4-FFF2-40B4-BE49-F238E27FC236}">
                <a16:creationId xmlns:a16="http://schemas.microsoft.com/office/drawing/2014/main" id="{47DA20C0-B24D-3E8A-598B-DCEE7EB9CADC}"/>
              </a:ext>
            </a:extLst>
          </p:cNvPr>
          <p:cNvPicPr>
            <a:picLocks noChangeAspect="1"/>
          </p:cNvPicPr>
          <p:nvPr/>
        </p:nvPicPr>
        <p:blipFill>
          <a:blip r:embed="rId2"/>
          <a:stretch>
            <a:fillRect/>
          </a:stretch>
        </p:blipFill>
        <p:spPr>
          <a:xfrm>
            <a:off x="9989634" y="4658732"/>
            <a:ext cx="2050586" cy="2050585"/>
          </a:xfrm>
          <a:prstGeom prst="rect">
            <a:avLst/>
          </a:prstGeom>
        </p:spPr>
      </p:pic>
      <p:pic>
        <p:nvPicPr>
          <p:cNvPr id="20" name="Picture 19">
            <a:extLst>
              <a:ext uri="{FF2B5EF4-FFF2-40B4-BE49-F238E27FC236}">
                <a16:creationId xmlns:a16="http://schemas.microsoft.com/office/drawing/2014/main" id="{FDEF9AC8-A88A-0E0B-AAF0-154A476F7810}"/>
              </a:ext>
            </a:extLst>
          </p:cNvPr>
          <p:cNvPicPr>
            <a:picLocks noChangeAspect="1"/>
          </p:cNvPicPr>
          <p:nvPr/>
        </p:nvPicPr>
        <p:blipFill>
          <a:blip r:embed="rId3"/>
          <a:stretch>
            <a:fillRect/>
          </a:stretch>
        </p:blipFill>
        <p:spPr>
          <a:xfrm>
            <a:off x="250902" y="1499220"/>
            <a:ext cx="2069171" cy="2087757"/>
          </a:xfrm>
          <a:prstGeom prst="rect">
            <a:avLst/>
          </a:prstGeom>
        </p:spPr>
      </p:pic>
    </p:spTree>
    <p:extLst>
      <p:ext uri="{BB962C8B-B14F-4D97-AF65-F5344CB8AC3E}">
        <p14:creationId xmlns:p14="http://schemas.microsoft.com/office/powerpoint/2010/main" val="2587817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2FD2D-F365-C3D8-674F-9D19A235A075}"/>
              </a:ext>
            </a:extLst>
          </p:cNvPr>
          <p:cNvSpPr>
            <a:spLocks noGrp="1"/>
          </p:cNvSpPr>
          <p:nvPr>
            <p:ph type="title"/>
          </p:nvPr>
        </p:nvSpPr>
        <p:spPr/>
        <p:txBody>
          <a:bodyPr/>
          <a:lstStyle/>
          <a:p>
            <a:r>
              <a:rPr lang="en-US">
                <a:latin typeface="Oswald"/>
              </a:rPr>
              <a:t>Agenda</a:t>
            </a:r>
            <a:endParaRPr lang="en-US"/>
          </a:p>
        </p:txBody>
      </p:sp>
      <p:sp>
        <p:nvSpPr>
          <p:cNvPr id="3" name="Content Placeholder 2">
            <a:extLst>
              <a:ext uri="{FF2B5EF4-FFF2-40B4-BE49-F238E27FC236}">
                <a16:creationId xmlns:a16="http://schemas.microsoft.com/office/drawing/2014/main" id="{756A3338-5CDB-B50B-1EA4-A259446EC0CE}"/>
              </a:ext>
            </a:extLst>
          </p:cNvPr>
          <p:cNvSpPr>
            <a:spLocks noGrp="1"/>
          </p:cNvSpPr>
          <p:nvPr>
            <p:ph idx="1"/>
          </p:nvPr>
        </p:nvSpPr>
        <p:spPr>
          <a:xfrm>
            <a:off x="838200" y="1825625"/>
            <a:ext cx="10515600" cy="2446338"/>
          </a:xfrm>
        </p:spPr>
        <p:txBody>
          <a:bodyPr vert="horz" lIns="91440" tIns="45720" rIns="91440" bIns="45720" rtlCol="0" anchor="t">
            <a:normAutofit lnSpcReduction="10000"/>
          </a:bodyPr>
          <a:lstStyle/>
          <a:p>
            <a:r>
              <a:rPr lang="en-US">
                <a:latin typeface="Oswald"/>
              </a:rPr>
              <a:t>From LLMs to AI Agents</a:t>
            </a:r>
            <a:endParaRPr lang="en-US"/>
          </a:p>
          <a:p>
            <a:r>
              <a:rPr lang="en-US">
                <a:latin typeface="Oswald"/>
              </a:rPr>
              <a:t>Why Agents Need More Than Access</a:t>
            </a:r>
            <a:endParaRPr lang="en-US"/>
          </a:p>
          <a:p>
            <a:r>
              <a:rPr lang="en-US">
                <a:latin typeface="Oswald"/>
              </a:rPr>
              <a:t>MCP: The Contract Between Agents and Systems?</a:t>
            </a:r>
            <a:endParaRPr lang="en-US"/>
          </a:p>
          <a:p>
            <a:r>
              <a:rPr lang="en-US">
                <a:latin typeface="Oswald"/>
              </a:rPr>
              <a:t>Demo: Agent vs. Agent + MCP</a:t>
            </a:r>
            <a:endParaRPr lang="en-US"/>
          </a:p>
          <a:p>
            <a:r>
              <a:rPr lang="en-US">
                <a:latin typeface="Oswald"/>
              </a:rPr>
              <a:t>When Does MCP Make Sense?</a:t>
            </a:r>
            <a:endParaRPr lang="en-US"/>
          </a:p>
        </p:txBody>
      </p:sp>
    </p:spTree>
    <p:extLst>
      <p:ext uri="{BB962C8B-B14F-4D97-AF65-F5344CB8AC3E}">
        <p14:creationId xmlns:p14="http://schemas.microsoft.com/office/powerpoint/2010/main" val="2817763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C863F-11AA-9D06-3283-D9FA889C211E}"/>
            </a:ext>
          </a:extLst>
        </p:cNvPr>
        <p:cNvGrpSpPr/>
        <p:nvPr/>
      </p:nvGrpSpPr>
      <p:grpSpPr>
        <a:xfrm>
          <a:off x="0" y="0"/>
          <a:ext cx="0" cy="0"/>
          <a:chOff x="0" y="0"/>
          <a:chExt cx="0" cy="0"/>
        </a:xfrm>
      </p:grpSpPr>
      <p:sp>
        <p:nvSpPr>
          <p:cNvPr id="2" name="pole tekstowe 1">
            <a:extLst>
              <a:ext uri="{FF2B5EF4-FFF2-40B4-BE49-F238E27FC236}">
                <a16:creationId xmlns:a16="http://schemas.microsoft.com/office/drawing/2014/main" id="{5FA9E6A5-0FB6-A3F7-00F8-7F64E7FF0BFD}"/>
              </a:ext>
            </a:extLst>
          </p:cNvPr>
          <p:cNvSpPr txBox="1"/>
          <p:nvPr/>
        </p:nvSpPr>
        <p:spPr>
          <a:xfrm>
            <a:off x="1208049" y="1719146"/>
            <a:ext cx="9775902"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0" i="0" u="none" strike="noStrike">
                <a:latin typeface="Oswald"/>
                <a:ea typeface="Roboto"/>
                <a:cs typeface="Roboto"/>
              </a:rPr>
              <a:t>Powerful at language and reasoning </a:t>
            </a:r>
            <a:r>
              <a:rPr lang="en-US">
                <a:latin typeface="Oswald"/>
                <a:ea typeface="Roboto"/>
                <a:cs typeface="Roboto"/>
              </a:rPr>
              <a:t>- </a:t>
            </a:r>
            <a:r>
              <a:rPr lang="en-US" b="0" i="0" u="none" strike="noStrike">
                <a:latin typeface="Oswald"/>
                <a:ea typeface="Roboto"/>
                <a:cs typeface="Roboto"/>
              </a:rPr>
              <a:t>but</a:t>
            </a:r>
            <a:r>
              <a:rPr lang="en-US" b="0" i="0" u="none" strike="noStrike">
                <a:solidFill>
                  <a:srgbClr val="E5E0DF"/>
                </a:solidFill>
                <a:latin typeface="Oswald"/>
                <a:ea typeface="Roboto"/>
                <a:cs typeface="Roboto"/>
              </a:rPr>
              <a:t> </a:t>
            </a:r>
            <a:r>
              <a:rPr lang="en-US" b="0" i="0" u="none" strike="noStrike">
                <a:solidFill>
                  <a:srgbClr val="FFC000"/>
                </a:solidFill>
                <a:latin typeface="Oswald"/>
                <a:ea typeface="Roboto"/>
                <a:cs typeface="Roboto"/>
              </a:rPr>
              <a:t>not a trusted data platform by itself.</a:t>
            </a:r>
            <a:endParaRPr lang="pl-PL">
              <a:solidFill>
                <a:srgbClr val="FFC000"/>
              </a:solidFill>
              <a:latin typeface="Oswald"/>
            </a:endParaRPr>
          </a:p>
          <a:p>
            <a:br>
              <a:rPr lang="en-US" sz="3200" b="0">
                <a:latin typeface="Oswald"/>
              </a:rPr>
            </a:br>
            <a:endParaRPr lang="en-US" sz="2000" b="0" i="0" u="none" strike="noStrike">
              <a:solidFill>
                <a:srgbClr val="FFFFFF"/>
              </a:solidFill>
              <a:latin typeface="Oswald"/>
              <a:ea typeface="Saira"/>
              <a:cs typeface="Saira"/>
            </a:endParaRPr>
          </a:p>
          <a:p>
            <a:br>
              <a:rPr lang="en-US" sz="3200" b="0">
                <a:latin typeface="Oswald"/>
              </a:rPr>
            </a:br>
            <a:endParaRPr lang="en-US" sz="2000" b="0" i="0" u="none" strike="noStrike">
              <a:solidFill>
                <a:srgbClr val="FFFFFF"/>
              </a:solidFill>
              <a:latin typeface="Oswald"/>
              <a:ea typeface="Saira"/>
              <a:cs typeface="Saira"/>
            </a:endParaRPr>
          </a:p>
          <a:p>
            <a:endParaRPr lang="en-US" sz="3200" b="0"/>
          </a:p>
          <a:p>
            <a:pPr algn="ctr"/>
            <a:endParaRPr lang="pl-PL" sz="3200"/>
          </a:p>
        </p:txBody>
      </p:sp>
      <p:graphicFrame>
        <p:nvGraphicFramePr>
          <p:cNvPr id="12" name="Tabela 11">
            <a:extLst>
              <a:ext uri="{FF2B5EF4-FFF2-40B4-BE49-F238E27FC236}">
                <a16:creationId xmlns:a16="http://schemas.microsoft.com/office/drawing/2014/main" id="{17DAE24E-185C-ADA5-6A0B-C5FB97D4B590}"/>
              </a:ext>
            </a:extLst>
          </p:cNvPr>
          <p:cNvGraphicFramePr>
            <a:graphicFrameLocks noGrp="1"/>
          </p:cNvGraphicFramePr>
          <p:nvPr/>
        </p:nvGraphicFramePr>
        <p:xfrm>
          <a:off x="1853704" y="2497279"/>
          <a:ext cx="8168640" cy="1854200"/>
        </p:xfrm>
        <a:graphic>
          <a:graphicData uri="http://schemas.openxmlformats.org/drawingml/2006/table">
            <a:tbl>
              <a:tblPr firstRow="1" bandRow="1">
                <a:tableStyleId>{72833802-FEF1-4C79-8D5D-14CF1EAF98D9}</a:tableStyleId>
              </a:tblPr>
              <a:tblGrid>
                <a:gridCol w="4084320">
                  <a:extLst>
                    <a:ext uri="{9D8B030D-6E8A-4147-A177-3AD203B41FA5}">
                      <a16:colId xmlns:a16="http://schemas.microsoft.com/office/drawing/2014/main" val="1868144777"/>
                    </a:ext>
                  </a:extLst>
                </a:gridCol>
                <a:gridCol w="4084320">
                  <a:extLst>
                    <a:ext uri="{9D8B030D-6E8A-4147-A177-3AD203B41FA5}">
                      <a16:colId xmlns:a16="http://schemas.microsoft.com/office/drawing/2014/main" val="3120822009"/>
                    </a:ext>
                  </a:extLst>
                </a:gridCol>
              </a:tblGrid>
              <a:tr h="370840">
                <a:tc>
                  <a:txBody>
                    <a:bodyPr/>
                    <a:lstStyle/>
                    <a:p>
                      <a:pPr lvl="0" algn="ctr">
                        <a:buNone/>
                      </a:pPr>
                      <a:r>
                        <a:rPr lang="pl-PL" sz="1800" u="none" strike="noStrike" noProof="0">
                          <a:solidFill>
                            <a:schemeClr val="tx1"/>
                          </a:solidFill>
                        </a:rPr>
                        <a:t>Great at</a:t>
                      </a:r>
                      <a:endParaRPr lang="pl-PL">
                        <a:solidFill>
                          <a:schemeClr val="tx1"/>
                        </a:solidFill>
                      </a:endParaRPr>
                    </a:p>
                  </a:txBody>
                  <a:tcPr/>
                </a:tc>
                <a:tc>
                  <a:txBody>
                    <a:bodyPr/>
                    <a:lstStyle/>
                    <a:p>
                      <a:pPr lvl="0" algn="ctr">
                        <a:buNone/>
                      </a:pPr>
                      <a:r>
                        <a:rPr lang="pl-PL" sz="1800" u="none" strike="noStrike" noProof="0">
                          <a:solidFill>
                            <a:schemeClr val="tx1"/>
                          </a:solidFill>
                        </a:rPr>
                        <a:t>Weak by default at </a:t>
                      </a:r>
                      <a:endParaRPr lang="pl-PL">
                        <a:solidFill>
                          <a:schemeClr val="tx1"/>
                        </a:solidFill>
                      </a:endParaRPr>
                    </a:p>
                  </a:txBody>
                  <a:tcPr/>
                </a:tc>
                <a:extLst>
                  <a:ext uri="{0D108BD9-81ED-4DB2-BD59-A6C34878D82A}">
                    <a16:rowId xmlns:a16="http://schemas.microsoft.com/office/drawing/2014/main" val="836114838"/>
                  </a:ext>
                </a:extLst>
              </a:tr>
              <a:tr h="370840">
                <a:tc>
                  <a:txBody>
                    <a:bodyPr/>
                    <a:lstStyle/>
                    <a:p>
                      <a:pPr lvl="0" algn="ctr">
                        <a:buNone/>
                      </a:pPr>
                      <a:r>
                        <a:rPr lang="pl-PL" sz="1800" u="none" strike="noStrike" baseline="0" noProof="0">
                          <a:solidFill>
                            <a:schemeClr val="tx1"/>
                          </a:solidFill>
                        </a:rPr>
                        <a:t>Summarizing context</a:t>
                      </a:r>
                      <a:endParaRPr lang="pl-PL">
                        <a:solidFill>
                          <a:schemeClr val="tx1"/>
                        </a:solidFill>
                      </a:endParaRPr>
                    </a:p>
                  </a:txBody>
                  <a:tcPr/>
                </a:tc>
                <a:tc>
                  <a:txBody>
                    <a:bodyPr/>
                    <a:lstStyle/>
                    <a:p>
                      <a:pPr lvl="0" algn="ctr">
                        <a:buNone/>
                      </a:pPr>
                      <a:r>
                        <a:rPr lang="pl-PL" sz="1800" u="none" strike="noStrike" baseline="0" noProof="0">
                          <a:solidFill>
                            <a:schemeClr val="tx1"/>
                          </a:solidFill>
                        </a:rPr>
                        <a:t>Knowing your private data</a:t>
                      </a:r>
                      <a:endParaRPr lang="pl-PL">
                        <a:solidFill>
                          <a:schemeClr val="tx1"/>
                        </a:solidFill>
                      </a:endParaRPr>
                    </a:p>
                  </a:txBody>
                  <a:tcPr/>
                </a:tc>
                <a:extLst>
                  <a:ext uri="{0D108BD9-81ED-4DB2-BD59-A6C34878D82A}">
                    <a16:rowId xmlns:a16="http://schemas.microsoft.com/office/drawing/2014/main" val="1146692990"/>
                  </a:ext>
                </a:extLst>
              </a:tr>
              <a:tr h="370840">
                <a:tc>
                  <a:txBody>
                    <a:bodyPr/>
                    <a:lstStyle/>
                    <a:p>
                      <a:pPr lvl="0" algn="ctr">
                        <a:buNone/>
                      </a:pPr>
                      <a:r>
                        <a:rPr lang="pl-PL" sz="1800" u="none" strike="noStrike" baseline="0" noProof="0">
                          <a:solidFill>
                            <a:schemeClr val="tx1"/>
                          </a:solidFill>
                        </a:rPr>
                        <a:t>Drafting SQL or code</a:t>
                      </a:r>
                      <a:endParaRPr lang="pl-PL">
                        <a:solidFill>
                          <a:schemeClr val="tx1"/>
                        </a:solidFill>
                      </a:endParaRPr>
                    </a:p>
                  </a:txBody>
                  <a:tcPr/>
                </a:tc>
                <a:tc>
                  <a:txBody>
                    <a:bodyPr/>
                    <a:lstStyle/>
                    <a:p>
                      <a:pPr lvl="0" algn="ctr">
                        <a:buNone/>
                      </a:pPr>
                      <a:r>
                        <a:rPr lang="pl-PL" sz="1800" u="none" strike="noStrike" baseline="0" noProof="0">
                          <a:solidFill>
                            <a:schemeClr val="tx1"/>
                          </a:solidFill>
                        </a:rPr>
                        <a:t>Choosing authoritative sources</a:t>
                      </a:r>
                      <a:endParaRPr lang="pl-PL">
                        <a:solidFill>
                          <a:schemeClr val="tx1"/>
                        </a:solidFill>
                      </a:endParaRPr>
                    </a:p>
                  </a:txBody>
                  <a:tcPr/>
                </a:tc>
                <a:extLst>
                  <a:ext uri="{0D108BD9-81ED-4DB2-BD59-A6C34878D82A}">
                    <a16:rowId xmlns:a16="http://schemas.microsoft.com/office/drawing/2014/main" val="3446675851"/>
                  </a:ext>
                </a:extLst>
              </a:tr>
              <a:tr h="370840">
                <a:tc>
                  <a:txBody>
                    <a:bodyPr/>
                    <a:lstStyle/>
                    <a:p>
                      <a:pPr lvl="0" algn="ctr">
                        <a:buNone/>
                      </a:pPr>
                      <a:r>
                        <a:rPr lang="pl-PL" sz="1800" u="none" strike="noStrike" baseline="0" noProof="0">
                          <a:solidFill>
                            <a:schemeClr val="tx1"/>
                          </a:solidFill>
                        </a:rPr>
                        <a:t>Explaining concepts</a:t>
                      </a:r>
                      <a:endParaRPr lang="pl-PL">
                        <a:solidFill>
                          <a:schemeClr val="tx1"/>
                        </a:solidFill>
                      </a:endParaRPr>
                    </a:p>
                  </a:txBody>
                  <a:tcPr/>
                </a:tc>
                <a:tc>
                  <a:txBody>
                    <a:bodyPr/>
                    <a:lstStyle/>
                    <a:p>
                      <a:pPr lvl="0" algn="ctr">
                        <a:buNone/>
                      </a:pPr>
                      <a:r>
                        <a:rPr lang="pl-PL" sz="1800" u="none" strike="noStrike" baseline="0" noProof="0">
                          <a:solidFill>
                            <a:schemeClr val="tx1"/>
                          </a:solidFill>
                        </a:rPr>
                        <a:t>Applying hidden business rules</a:t>
                      </a:r>
                      <a:endParaRPr lang="pl-PL">
                        <a:solidFill>
                          <a:schemeClr val="tx1"/>
                        </a:solidFill>
                      </a:endParaRPr>
                    </a:p>
                  </a:txBody>
                  <a:tcPr/>
                </a:tc>
                <a:extLst>
                  <a:ext uri="{0D108BD9-81ED-4DB2-BD59-A6C34878D82A}">
                    <a16:rowId xmlns:a16="http://schemas.microsoft.com/office/drawing/2014/main" val="4176977333"/>
                  </a:ext>
                </a:extLst>
              </a:tr>
              <a:tr h="370840">
                <a:tc>
                  <a:txBody>
                    <a:bodyPr/>
                    <a:lstStyle/>
                    <a:p>
                      <a:pPr lvl="0" algn="ctr">
                        <a:buNone/>
                      </a:pPr>
                      <a:r>
                        <a:rPr lang="pl-PL" sz="1800" u="none" strike="noStrike" baseline="0" noProof="0">
                          <a:solidFill>
                            <a:schemeClr val="tx1"/>
                          </a:solidFill>
                        </a:rPr>
                        <a:t>Reasoning over provided evidence</a:t>
                      </a:r>
                      <a:endParaRPr lang="pl-PL">
                        <a:solidFill>
                          <a:schemeClr val="tx1"/>
                        </a:solidFill>
                      </a:endParaRPr>
                    </a:p>
                  </a:txBody>
                  <a:tcPr/>
                </a:tc>
                <a:tc>
                  <a:txBody>
                    <a:bodyPr/>
                    <a:lstStyle/>
                    <a:p>
                      <a:pPr lvl="0" algn="ctr">
                        <a:buNone/>
                      </a:pPr>
                      <a:r>
                        <a:rPr lang="pl-PL" sz="1800" u="none" strike="noStrike" noProof="0">
                          <a:solidFill>
                            <a:schemeClr val="tx1"/>
                          </a:solidFill>
                        </a:rPr>
                        <a:t>Proving that the answer is correct</a:t>
                      </a:r>
                      <a:endParaRPr lang="pl-PL">
                        <a:solidFill>
                          <a:schemeClr val="tx1"/>
                        </a:solidFill>
                      </a:endParaRPr>
                    </a:p>
                  </a:txBody>
                  <a:tcPr/>
                </a:tc>
                <a:extLst>
                  <a:ext uri="{0D108BD9-81ED-4DB2-BD59-A6C34878D82A}">
                    <a16:rowId xmlns:a16="http://schemas.microsoft.com/office/drawing/2014/main" val="3918706973"/>
                  </a:ext>
                </a:extLst>
              </a:tr>
            </a:tbl>
          </a:graphicData>
        </a:graphic>
      </p:graphicFrame>
      <p:sp>
        <p:nvSpPr>
          <p:cNvPr id="13" name="Shape 20">
            <a:extLst>
              <a:ext uri="{FF2B5EF4-FFF2-40B4-BE49-F238E27FC236}">
                <a16:creationId xmlns:a16="http://schemas.microsoft.com/office/drawing/2014/main" id="{C83DB85A-B831-27F4-6FA2-C27A3A6396B1}"/>
              </a:ext>
            </a:extLst>
          </p:cNvPr>
          <p:cNvSpPr/>
          <p:nvPr/>
        </p:nvSpPr>
        <p:spPr>
          <a:xfrm>
            <a:off x="1854587" y="4855459"/>
            <a:ext cx="8212123" cy="682625"/>
          </a:xfrm>
          <a:prstGeom prst="roundRect">
            <a:avLst>
              <a:gd name="adj" fmla="val 38355"/>
            </a:avLst>
          </a:prstGeom>
          <a:solidFill>
            <a:srgbClr val="4B3F02"/>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pl-PL"/>
          </a:p>
        </p:txBody>
      </p:sp>
      <p:pic>
        <p:nvPicPr>
          <p:cNvPr id="14" name="Image 0">
            <a:extLst>
              <a:ext uri="{FF2B5EF4-FFF2-40B4-BE49-F238E27FC236}">
                <a16:creationId xmlns:a16="http://schemas.microsoft.com/office/drawing/2014/main" id="{BC9A9290-C748-97E1-FC30-10D55772AC76}"/>
              </a:ext>
            </a:extLst>
          </p:cNvPr>
          <p:cNvPicPr>
            <a:picLocks noChangeAspect="1"/>
          </p:cNvPicPr>
          <p:nvPr/>
        </p:nvPicPr>
        <p:blipFill>
          <a:blip r:embed="rId2"/>
          <a:stretch>
            <a:fillRect/>
          </a:stretch>
        </p:blipFill>
        <p:spPr>
          <a:xfrm>
            <a:off x="2137121" y="5102105"/>
            <a:ext cx="218182" cy="174526"/>
          </a:xfrm>
          <a:prstGeom prst="rect">
            <a:avLst/>
          </a:prstGeom>
        </p:spPr>
      </p:pic>
      <p:sp>
        <p:nvSpPr>
          <p:cNvPr id="15" name="Text 21">
            <a:extLst>
              <a:ext uri="{FF2B5EF4-FFF2-40B4-BE49-F238E27FC236}">
                <a16:creationId xmlns:a16="http://schemas.microsoft.com/office/drawing/2014/main" id="{6C22BC62-50C2-F79E-D4D0-A3680609094E}"/>
              </a:ext>
            </a:extLst>
          </p:cNvPr>
          <p:cNvSpPr/>
          <p:nvPr/>
        </p:nvSpPr>
        <p:spPr>
          <a:xfrm>
            <a:off x="2520536" y="5098331"/>
            <a:ext cx="9559389" cy="178105"/>
          </a:xfrm>
          <a:prstGeom prst="rect">
            <a:avLst/>
          </a:prstGeom>
          <a:noFill/>
          <a:ln/>
        </p:spPr>
        <p:txBody>
          <a:bodyPr wrap="none" lIns="0" tIns="0" rIns="0" bIns="0" rtlCol="0" anchor="t"/>
          <a:lstStyle>
            <a:defPPr>
              <a:defRPr lang="pl-PL"/>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r>
              <a:rPr lang="en-US" sz="1300">
                <a:solidFill>
                  <a:srgbClr val="FFFFFF"/>
                </a:solidFill>
                <a:latin typeface="PT Sans"/>
                <a:ea typeface="Roboto"/>
                <a:cs typeface="Roboto"/>
              </a:rPr>
              <a:t>An LLM can sound confident without having the right data, the right tool, or the right business definition.</a:t>
            </a:r>
            <a:endParaRPr lang="pl-PL"/>
          </a:p>
          <a:p>
            <a:pPr>
              <a:lnSpc>
                <a:spcPts val="2042"/>
              </a:lnSpc>
            </a:pPr>
            <a:br>
              <a:rPr lang="en-US"/>
            </a:br>
            <a:endParaRPr lang="en-US"/>
          </a:p>
        </p:txBody>
      </p:sp>
      <p:sp>
        <p:nvSpPr>
          <p:cNvPr id="3" name="Title 2">
            <a:extLst>
              <a:ext uri="{FF2B5EF4-FFF2-40B4-BE49-F238E27FC236}">
                <a16:creationId xmlns:a16="http://schemas.microsoft.com/office/drawing/2014/main" id="{F7EFCC3B-450D-3ED5-02C6-9D56BBB2A87F}"/>
              </a:ext>
            </a:extLst>
          </p:cNvPr>
          <p:cNvSpPr>
            <a:spLocks noGrp="1"/>
          </p:cNvSpPr>
          <p:nvPr>
            <p:ph type="title"/>
          </p:nvPr>
        </p:nvSpPr>
        <p:spPr/>
        <p:txBody>
          <a:bodyPr/>
          <a:lstStyle/>
          <a:p>
            <a:r>
              <a:rPr lang="en-US"/>
              <a:t>LLM: The Language Engine </a:t>
            </a:r>
          </a:p>
        </p:txBody>
      </p:sp>
    </p:spTree>
    <p:extLst>
      <p:ext uri="{BB962C8B-B14F-4D97-AF65-F5344CB8AC3E}">
        <p14:creationId xmlns:p14="http://schemas.microsoft.com/office/powerpoint/2010/main" val="1297918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A2B70-DD85-8177-357C-E1D412734E58}"/>
              </a:ext>
            </a:extLst>
          </p:cNvPr>
          <p:cNvSpPr>
            <a:spLocks noGrp="1"/>
          </p:cNvSpPr>
          <p:nvPr>
            <p:ph type="title"/>
          </p:nvPr>
        </p:nvSpPr>
        <p:spPr/>
        <p:txBody>
          <a:bodyPr/>
          <a:lstStyle/>
          <a:p>
            <a:r>
              <a:rPr lang="en-US"/>
              <a:t>An agent is an LLM inside a work loop </a:t>
            </a:r>
          </a:p>
        </p:txBody>
      </p:sp>
      <p:sp>
        <p:nvSpPr>
          <p:cNvPr id="5" name="slide-subtitle">
            <a:extLst>
              <a:ext uri="{FF2B5EF4-FFF2-40B4-BE49-F238E27FC236}">
                <a16:creationId xmlns:a16="http://schemas.microsoft.com/office/drawing/2014/main" id="{9357C424-F2ED-EA31-25FD-ACD6E9D6AFBD}"/>
              </a:ext>
            </a:extLst>
          </p:cNvPr>
          <p:cNvSpPr>
            <a:spLocks noGrp="1"/>
          </p:cNvSpPr>
          <p:nvPr/>
        </p:nvSpPr>
        <p:spPr>
          <a:xfrm>
            <a:off x="1046821" y="1690959"/>
            <a:ext cx="10096500" cy="590550"/>
          </a:xfrm>
          <a:prstGeom prst="rect">
            <a:avLst/>
          </a:prstGeom>
          <a:noFill/>
          <a:ln w="0">
            <a:noFill/>
          </a:ln>
        </p:spPr>
        <p:txBody>
          <a:bodyPr lIns="91440" tIns="45720" rIns="91440" bIns="45720" anchor="t">
            <a:normAutofit/>
          </a:bodyPr>
          <a:lstStyle/>
          <a:p>
            <a:pPr algn="ctr">
              <a:defRPr sz="1200" b="0">
                <a:solidFill>
                  <a:srgbClr val="CED7D9"/>
                </a:solidFill>
                <a:latin typeface="Roboto"/>
                <a:ea typeface="Roboto"/>
                <a:cs typeface="Roboto"/>
              </a:defRPr>
            </a:pPr>
            <a:r>
              <a:rPr sz="1400" b="0">
                <a:solidFill>
                  <a:srgbClr val="000000"/>
                </a:solidFill>
                <a:latin typeface="Oswald"/>
                <a:ea typeface="Roboto"/>
                <a:cs typeface="Roboto"/>
              </a:rPr>
              <a:t>The model selects the next action. The surrounding system controls available actions, state, permissions, and stopping conditions.</a:t>
            </a:r>
            <a:endParaRPr lang="en-US" sz="1400" b="0">
              <a:solidFill>
                <a:srgbClr val="000000"/>
              </a:solidFill>
              <a:latin typeface="Oswald"/>
              <a:ea typeface="Roboto"/>
              <a:cs typeface="Roboto"/>
            </a:endParaRPr>
          </a:p>
        </p:txBody>
      </p:sp>
      <p:sp>
        <p:nvSpPr>
          <p:cNvPr id="7" name="step-1">
            <a:extLst>
              <a:ext uri="{FF2B5EF4-FFF2-40B4-BE49-F238E27FC236}">
                <a16:creationId xmlns:a16="http://schemas.microsoft.com/office/drawing/2014/main" id="{81683248-F05E-DEB6-14BB-03658C0EA632}"/>
              </a:ext>
            </a:extLst>
          </p:cNvPr>
          <p:cNvSpPr>
            <a:spLocks noGrp="1"/>
          </p:cNvSpPr>
          <p:nvPr/>
        </p:nvSpPr>
        <p:spPr>
          <a:xfrm>
            <a:off x="857250" y="2381250"/>
            <a:ext cx="1809750" cy="1600200"/>
          </a:xfrm>
          <a:prstGeom prst="roundRect">
            <a:avLst>
              <a:gd name="adj" fmla="val 7143"/>
            </a:avLst>
          </a:prstGeom>
          <a:solidFill>
            <a:srgbClr val="455A61"/>
          </a:solidFill>
          <a:ln w="13335">
            <a:solidFill>
              <a:srgbClr val="FF7A1A"/>
            </a:solidFill>
            <a:prstDash val="solid"/>
          </a:ln>
        </p:spPr>
        <p:txBody>
          <a:bodyPr/>
          <a:lstStyle/>
          <a:p>
            <a:endParaRPr lang="pl-PL" sz="4000">
              <a:latin typeface="Oswald"/>
            </a:endParaRPr>
          </a:p>
        </p:txBody>
      </p:sp>
      <p:sp>
        <p:nvSpPr>
          <p:cNvPr id="9" name="Prostokąt: zaokrąglone rogi 3">
            <a:extLst>
              <a:ext uri="{FF2B5EF4-FFF2-40B4-BE49-F238E27FC236}">
                <a16:creationId xmlns:a16="http://schemas.microsoft.com/office/drawing/2014/main" id="{DA8B0B8A-167C-D086-50FB-C41485DEFFA4}"/>
              </a:ext>
            </a:extLst>
          </p:cNvPr>
          <p:cNvSpPr>
            <a:spLocks noGrp="1"/>
          </p:cNvSpPr>
          <p:nvPr/>
        </p:nvSpPr>
        <p:spPr>
          <a:xfrm>
            <a:off x="990600" y="2533650"/>
            <a:ext cx="323850" cy="323850"/>
          </a:xfrm>
          <a:prstGeom prst="roundRect">
            <a:avLst>
              <a:gd name="adj" fmla="val 50000"/>
            </a:avLst>
          </a:prstGeom>
          <a:solidFill>
            <a:srgbClr val="FF7A1A"/>
          </a:solidFill>
          <a:ln w="0">
            <a:noFill/>
          </a:ln>
        </p:spPr>
        <p:txBody>
          <a:bodyPr anchor="ctr">
            <a:noAutofit/>
          </a:bodyPr>
          <a:lstStyle/>
          <a:p>
            <a:pPr algn="ctr">
              <a:defRPr sz="1050" b="1">
                <a:solidFill>
                  <a:srgbClr val="101618"/>
                </a:solidFill>
                <a:latin typeface="Roboto"/>
                <a:ea typeface="Roboto"/>
                <a:cs typeface="Roboto"/>
              </a:defRPr>
            </a:pPr>
            <a:r>
              <a:rPr sz="1600" b="1">
                <a:solidFill>
                  <a:srgbClr val="101618"/>
                </a:solidFill>
                <a:latin typeface="Oswald"/>
                <a:ea typeface="Roboto"/>
                <a:cs typeface="Roboto"/>
              </a:rPr>
              <a:t>1</a:t>
            </a:r>
          </a:p>
        </p:txBody>
      </p:sp>
      <p:sp>
        <p:nvSpPr>
          <p:cNvPr id="11" name="Prostokąt 4">
            <a:extLst>
              <a:ext uri="{FF2B5EF4-FFF2-40B4-BE49-F238E27FC236}">
                <a16:creationId xmlns:a16="http://schemas.microsoft.com/office/drawing/2014/main" id="{F64DFA0A-1FCB-2197-D6BA-17C1E6956256}"/>
              </a:ext>
            </a:extLst>
          </p:cNvPr>
          <p:cNvSpPr>
            <a:spLocks noGrp="1"/>
          </p:cNvSpPr>
          <p:nvPr/>
        </p:nvSpPr>
        <p:spPr>
          <a:xfrm>
            <a:off x="1409700" y="2505075"/>
            <a:ext cx="1066800" cy="400050"/>
          </a:xfrm>
          <a:prstGeom prst="rect">
            <a:avLst/>
          </a:prstGeom>
          <a:noFill/>
          <a:ln w="0">
            <a:noFill/>
          </a:ln>
        </p:spPr>
        <p:txBody>
          <a:bodyPr anchor="ctr">
            <a:normAutofit/>
          </a:bodyPr>
          <a:lstStyle/>
          <a:p>
            <a:pPr algn="l">
              <a:defRPr sz="1500" b="1">
                <a:solidFill>
                  <a:srgbClr val="FFC400"/>
                </a:solidFill>
                <a:latin typeface="Roboto"/>
                <a:ea typeface="Roboto"/>
                <a:cs typeface="Roboto"/>
              </a:defRPr>
            </a:pPr>
            <a:r>
              <a:rPr sz="1600" b="1">
                <a:solidFill>
                  <a:srgbClr val="FFC400"/>
                </a:solidFill>
                <a:latin typeface="Oswald"/>
                <a:ea typeface="Roboto"/>
                <a:cs typeface="Roboto"/>
              </a:rPr>
              <a:t>Plan</a:t>
            </a:r>
          </a:p>
        </p:txBody>
      </p:sp>
      <p:sp>
        <p:nvSpPr>
          <p:cNvPr id="13" name="Prostokąt 5">
            <a:extLst>
              <a:ext uri="{FF2B5EF4-FFF2-40B4-BE49-F238E27FC236}">
                <a16:creationId xmlns:a16="http://schemas.microsoft.com/office/drawing/2014/main" id="{FAC8BA13-6B44-CB1F-C6E8-D97F0FC27D43}"/>
              </a:ext>
            </a:extLst>
          </p:cNvPr>
          <p:cNvSpPr>
            <a:spLocks noGrp="1"/>
          </p:cNvSpPr>
          <p:nvPr/>
        </p:nvSpPr>
        <p:spPr>
          <a:xfrm>
            <a:off x="1028700" y="3048000"/>
            <a:ext cx="1466850" cy="647700"/>
          </a:xfrm>
          <a:prstGeom prst="rect">
            <a:avLst/>
          </a:prstGeom>
          <a:noFill/>
          <a:ln w="0">
            <a:noFill/>
          </a:ln>
        </p:spPr>
        <p:txBody>
          <a:bodyPr anchor="ctr">
            <a:normAutofit/>
          </a:bodyPr>
          <a:lstStyle/>
          <a:p>
            <a:pPr algn="ctr">
              <a:defRPr sz="975" b="0">
                <a:solidFill>
                  <a:srgbClr val="F7F5F1"/>
                </a:solidFill>
                <a:latin typeface="Roboto"/>
                <a:ea typeface="Roboto"/>
                <a:cs typeface="Roboto"/>
              </a:defRPr>
            </a:pPr>
            <a:r>
              <a:rPr sz="1600" b="0">
                <a:solidFill>
                  <a:srgbClr val="F7F5F1"/>
                </a:solidFill>
                <a:latin typeface="Oswald"/>
                <a:ea typeface="Roboto"/>
                <a:cs typeface="Roboto"/>
              </a:rPr>
              <a:t>Interpret the goal</a:t>
            </a:r>
          </a:p>
        </p:txBody>
      </p:sp>
      <p:sp>
        <p:nvSpPr>
          <p:cNvPr id="15" name="step-2">
            <a:extLst>
              <a:ext uri="{FF2B5EF4-FFF2-40B4-BE49-F238E27FC236}">
                <a16:creationId xmlns:a16="http://schemas.microsoft.com/office/drawing/2014/main" id="{D90ED4B5-19EE-FDF3-D371-CCB8B0A3A96E}"/>
              </a:ext>
            </a:extLst>
          </p:cNvPr>
          <p:cNvSpPr>
            <a:spLocks noGrp="1"/>
          </p:cNvSpPr>
          <p:nvPr/>
        </p:nvSpPr>
        <p:spPr>
          <a:xfrm>
            <a:off x="3067050" y="2381250"/>
            <a:ext cx="1809750" cy="1600200"/>
          </a:xfrm>
          <a:prstGeom prst="roundRect">
            <a:avLst>
              <a:gd name="adj" fmla="val 7143"/>
            </a:avLst>
          </a:prstGeom>
          <a:solidFill>
            <a:srgbClr val="455A61"/>
          </a:solidFill>
          <a:ln w="13335">
            <a:solidFill>
              <a:srgbClr val="FF7A1A"/>
            </a:solidFill>
            <a:prstDash val="solid"/>
          </a:ln>
        </p:spPr>
        <p:txBody>
          <a:bodyPr/>
          <a:lstStyle/>
          <a:p>
            <a:endParaRPr lang="pl-PL" sz="4000">
              <a:latin typeface="Oswald"/>
            </a:endParaRPr>
          </a:p>
        </p:txBody>
      </p:sp>
      <p:sp>
        <p:nvSpPr>
          <p:cNvPr id="17" name="Prostokąt: zaokrąglone rogi 7">
            <a:extLst>
              <a:ext uri="{FF2B5EF4-FFF2-40B4-BE49-F238E27FC236}">
                <a16:creationId xmlns:a16="http://schemas.microsoft.com/office/drawing/2014/main" id="{D787A447-BA00-4416-9B72-6DCC92542308}"/>
              </a:ext>
            </a:extLst>
          </p:cNvPr>
          <p:cNvSpPr>
            <a:spLocks noGrp="1"/>
          </p:cNvSpPr>
          <p:nvPr/>
        </p:nvSpPr>
        <p:spPr>
          <a:xfrm>
            <a:off x="3200400" y="2533650"/>
            <a:ext cx="323850" cy="323850"/>
          </a:xfrm>
          <a:prstGeom prst="roundRect">
            <a:avLst>
              <a:gd name="adj" fmla="val 50000"/>
            </a:avLst>
          </a:prstGeom>
          <a:solidFill>
            <a:srgbClr val="FF7A1A"/>
          </a:solidFill>
          <a:ln w="0">
            <a:noFill/>
          </a:ln>
        </p:spPr>
        <p:txBody>
          <a:bodyPr lIns="91440" tIns="45720" rIns="91440" bIns="45720" anchor="ctr">
            <a:noAutofit/>
          </a:bodyPr>
          <a:lstStyle/>
          <a:p>
            <a:pPr algn="ctr">
              <a:defRPr sz="1050" b="1">
                <a:solidFill>
                  <a:srgbClr val="101618"/>
                </a:solidFill>
                <a:latin typeface="Roboto"/>
                <a:ea typeface="Roboto"/>
                <a:cs typeface="Roboto"/>
              </a:defRPr>
            </a:pPr>
            <a:r>
              <a:rPr sz="1600" b="1">
                <a:solidFill>
                  <a:srgbClr val="101618"/>
                </a:solidFill>
                <a:latin typeface="Oswald"/>
                <a:ea typeface="Roboto"/>
                <a:cs typeface="Roboto"/>
              </a:rPr>
              <a:t>2</a:t>
            </a:r>
            <a:endParaRPr lang="en-US" sz="1600" b="1">
              <a:solidFill>
                <a:srgbClr val="101618"/>
              </a:solidFill>
              <a:latin typeface="Oswald"/>
              <a:ea typeface="Roboto"/>
              <a:cs typeface="Roboto"/>
            </a:endParaRPr>
          </a:p>
        </p:txBody>
      </p:sp>
      <p:sp>
        <p:nvSpPr>
          <p:cNvPr id="19" name="Prostokąt 8">
            <a:extLst>
              <a:ext uri="{FF2B5EF4-FFF2-40B4-BE49-F238E27FC236}">
                <a16:creationId xmlns:a16="http://schemas.microsoft.com/office/drawing/2014/main" id="{716DE0BC-DBCE-46D6-A017-96E5CD46AAEC}"/>
              </a:ext>
            </a:extLst>
          </p:cNvPr>
          <p:cNvSpPr>
            <a:spLocks noGrp="1"/>
          </p:cNvSpPr>
          <p:nvPr/>
        </p:nvSpPr>
        <p:spPr>
          <a:xfrm>
            <a:off x="3619500" y="2505075"/>
            <a:ext cx="1066800" cy="400050"/>
          </a:xfrm>
          <a:prstGeom prst="rect">
            <a:avLst/>
          </a:prstGeom>
          <a:noFill/>
          <a:ln w="0">
            <a:noFill/>
          </a:ln>
        </p:spPr>
        <p:txBody>
          <a:bodyPr anchor="ctr">
            <a:normAutofit/>
          </a:bodyPr>
          <a:lstStyle/>
          <a:p>
            <a:pPr algn="l">
              <a:defRPr sz="1500" b="1">
                <a:solidFill>
                  <a:srgbClr val="FFC400"/>
                </a:solidFill>
                <a:latin typeface="Roboto"/>
                <a:ea typeface="Roboto"/>
                <a:cs typeface="Roboto"/>
              </a:defRPr>
            </a:pPr>
            <a:r>
              <a:rPr sz="1600" b="1">
                <a:solidFill>
                  <a:srgbClr val="FFC400"/>
                </a:solidFill>
                <a:latin typeface="Oswald"/>
                <a:ea typeface="Roboto"/>
                <a:cs typeface="Roboto"/>
              </a:rPr>
              <a:t>Select</a:t>
            </a:r>
          </a:p>
        </p:txBody>
      </p:sp>
      <p:sp>
        <p:nvSpPr>
          <p:cNvPr id="21" name="Prostokąt 9">
            <a:extLst>
              <a:ext uri="{FF2B5EF4-FFF2-40B4-BE49-F238E27FC236}">
                <a16:creationId xmlns:a16="http://schemas.microsoft.com/office/drawing/2014/main" id="{1DC549FA-6681-81B7-84D3-A7792BDE91B9}"/>
              </a:ext>
            </a:extLst>
          </p:cNvPr>
          <p:cNvSpPr>
            <a:spLocks noGrp="1"/>
          </p:cNvSpPr>
          <p:nvPr/>
        </p:nvSpPr>
        <p:spPr>
          <a:xfrm>
            <a:off x="3238500" y="3048000"/>
            <a:ext cx="1466850" cy="647700"/>
          </a:xfrm>
          <a:prstGeom prst="rect">
            <a:avLst/>
          </a:prstGeom>
          <a:noFill/>
          <a:ln w="0">
            <a:noFill/>
          </a:ln>
        </p:spPr>
        <p:txBody>
          <a:bodyPr anchor="ctr">
            <a:normAutofit/>
          </a:bodyPr>
          <a:lstStyle/>
          <a:p>
            <a:pPr algn="ctr">
              <a:defRPr sz="975" b="0">
                <a:solidFill>
                  <a:srgbClr val="F7F5F1"/>
                </a:solidFill>
                <a:latin typeface="Roboto"/>
                <a:ea typeface="Roboto"/>
                <a:cs typeface="Roboto"/>
              </a:defRPr>
            </a:pPr>
            <a:r>
              <a:rPr sz="1600" b="0">
                <a:solidFill>
                  <a:srgbClr val="F7F5F1"/>
                </a:solidFill>
                <a:latin typeface="Oswald"/>
                <a:ea typeface="Roboto"/>
                <a:cs typeface="Roboto"/>
              </a:rPr>
              <a:t>Choose a tool</a:t>
            </a:r>
          </a:p>
        </p:txBody>
      </p:sp>
      <p:sp>
        <p:nvSpPr>
          <p:cNvPr id="23" name="Strzałka: w prawo 10">
            <a:extLst>
              <a:ext uri="{FF2B5EF4-FFF2-40B4-BE49-F238E27FC236}">
                <a16:creationId xmlns:a16="http://schemas.microsoft.com/office/drawing/2014/main" id="{6006CFD9-6FA9-50A3-8388-DC66FF1450A6}"/>
              </a:ext>
            </a:extLst>
          </p:cNvPr>
          <p:cNvSpPr>
            <a:spLocks noGrp="1"/>
          </p:cNvSpPr>
          <p:nvPr/>
        </p:nvSpPr>
        <p:spPr>
          <a:xfrm>
            <a:off x="2733675" y="3105150"/>
            <a:ext cx="266700" cy="152400"/>
          </a:xfrm>
          <a:prstGeom prst="rightArrow">
            <a:avLst/>
          </a:prstGeom>
          <a:solidFill>
            <a:srgbClr val="FF7A1A"/>
          </a:solidFill>
          <a:ln w="0">
            <a:noFill/>
          </a:ln>
        </p:spPr>
        <p:txBody>
          <a:bodyPr/>
          <a:lstStyle/>
          <a:p>
            <a:endParaRPr lang="pl-PL" sz="2000">
              <a:latin typeface="Oswald"/>
            </a:endParaRPr>
          </a:p>
        </p:txBody>
      </p:sp>
      <p:sp>
        <p:nvSpPr>
          <p:cNvPr id="25" name="step-3">
            <a:extLst>
              <a:ext uri="{FF2B5EF4-FFF2-40B4-BE49-F238E27FC236}">
                <a16:creationId xmlns:a16="http://schemas.microsoft.com/office/drawing/2014/main" id="{FD191777-C6FF-EBBC-105C-A8272F8F5F64}"/>
              </a:ext>
            </a:extLst>
          </p:cNvPr>
          <p:cNvSpPr>
            <a:spLocks noGrp="1"/>
          </p:cNvSpPr>
          <p:nvPr/>
        </p:nvSpPr>
        <p:spPr>
          <a:xfrm>
            <a:off x="5276850" y="2381250"/>
            <a:ext cx="1809750" cy="1600200"/>
          </a:xfrm>
          <a:prstGeom prst="roundRect">
            <a:avLst>
              <a:gd name="adj" fmla="val 7143"/>
            </a:avLst>
          </a:prstGeom>
          <a:solidFill>
            <a:srgbClr val="455A61"/>
          </a:solidFill>
          <a:ln w="13335">
            <a:solidFill>
              <a:srgbClr val="FF7A1A"/>
            </a:solidFill>
            <a:prstDash val="solid"/>
          </a:ln>
        </p:spPr>
        <p:txBody>
          <a:bodyPr/>
          <a:lstStyle/>
          <a:p>
            <a:endParaRPr lang="pl-PL" sz="4000">
              <a:latin typeface="Oswald"/>
            </a:endParaRPr>
          </a:p>
        </p:txBody>
      </p:sp>
      <p:sp>
        <p:nvSpPr>
          <p:cNvPr id="27" name="Prostokąt: zaokrąglone rogi 12">
            <a:extLst>
              <a:ext uri="{FF2B5EF4-FFF2-40B4-BE49-F238E27FC236}">
                <a16:creationId xmlns:a16="http://schemas.microsoft.com/office/drawing/2014/main" id="{26C34045-9BE2-694C-9D02-8E74358472AA}"/>
              </a:ext>
            </a:extLst>
          </p:cNvPr>
          <p:cNvSpPr>
            <a:spLocks noGrp="1"/>
          </p:cNvSpPr>
          <p:nvPr/>
        </p:nvSpPr>
        <p:spPr>
          <a:xfrm>
            <a:off x="5410200" y="2533650"/>
            <a:ext cx="323850" cy="323850"/>
          </a:xfrm>
          <a:prstGeom prst="roundRect">
            <a:avLst>
              <a:gd name="adj" fmla="val 50000"/>
            </a:avLst>
          </a:prstGeom>
          <a:solidFill>
            <a:srgbClr val="FF7A1A"/>
          </a:solidFill>
          <a:ln w="0">
            <a:noFill/>
          </a:ln>
        </p:spPr>
        <p:txBody>
          <a:bodyPr lIns="91440" tIns="45720" rIns="91440" bIns="45720" anchor="ctr">
            <a:noAutofit/>
          </a:bodyPr>
          <a:lstStyle/>
          <a:p>
            <a:pPr algn="ctr">
              <a:defRPr sz="1050" b="1">
                <a:solidFill>
                  <a:srgbClr val="101618"/>
                </a:solidFill>
                <a:latin typeface="Roboto"/>
                <a:ea typeface="Roboto"/>
                <a:cs typeface="Roboto"/>
              </a:defRPr>
            </a:pPr>
            <a:r>
              <a:rPr sz="1600" b="1">
                <a:solidFill>
                  <a:srgbClr val="101618"/>
                </a:solidFill>
                <a:latin typeface="Oswald"/>
                <a:ea typeface="Roboto"/>
                <a:cs typeface="Roboto"/>
              </a:rPr>
              <a:t>3</a:t>
            </a:r>
          </a:p>
        </p:txBody>
      </p:sp>
      <p:sp>
        <p:nvSpPr>
          <p:cNvPr id="29" name="Prostokąt 13">
            <a:extLst>
              <a:ext uri="{FF2B5EF4-FFF2-40B4-BE49-F238E27FC236}">
                <a16:creationId xmlns:a16="http://schemas.microsoft.com/office/drawing/2014/main" id="{BA6F781F-FAA0-D1B0-A17D-BC874B540B19}"/>
              </a:ext>
            </a:extLst>
          </p:cNvPr>
          <p:cNvSpPr>
            <a:spLocks noGrp="1"/>
          </p:cNvSpPr>
          <p:nvPr/>
        </p:nvSpPr>
        <p:spPr>
          <a:xfrm>
            <a:off x="5829300" y="2505075"/>
            <a:ext cx="1066800" cy="400050"/>
          </a:xfrm>
          <a:prstGeom prst="rect">
            <a:avLst/>
          </a:prstGeom>
          <a:noFill/>
          <a:ln w="0">
            <a:noFill/>
          </a:ln>
        </p:spPr>
        <p:txBody>
          <a:bodyPr anchor="ctr">
            <a:normAutofit/>
          </a:bodyPr>
          <a:lstStyle/>
          <a:p>
            <a:pPr algn="l">
              <a:defRPr sz="1500" b="1">
                <a:solidFill>
                  <a:srgbClr val="FFC400"/>
                </a:solidFill>
                <a:latin typeface="Roboto"/>
                <a:ea typeface="Roboto"/>
                <a:cs typeface="Roboto"/>
              </a:defRPr>
            </a:pPr>
            <a:r>
              <a:rPr sz="1600" b="1">
                <a:solidFill>
                  <a:srgbClr val="FFC400"/>
                </a:solidFill>
                <a:latin typeface="Oswald"/>
                <a:ea typeface="Roboto"/>
                <a:cs typeface="Roboto"/>
              </a:rPr>
              <a:t>Call</a:t>
            </a:r>
          </a:p>
        </p:txBody>
      </p:sp>
      <p:sp>
        <p:nvSpPr>
          <p:cNvPr id="31" name="Prostokąt 14">
            <a:extLst>
              <a:ext uri="{FF2B5EF4-FFF2-40B4-BE49-F238E27FC236}">
                <a16:creationId xmlns:a16="http://schemas.microsoft.com/office/drawing/2014/main" id="{D73DBD1F-B08A-B230-E4BF-F3D599356295}"/>
              </a:ext>
            </a:extLst>
          </p:cNvPr>
          <p:cNvSpPr>
            <a:spLocks noGrp="1"/>
          </p:cNvSpPr>
          <p:nvPr/>
        </p:nvSpPr>
        <p:spPr>
          <a:xfrm>
            <a:off x="5448300" y="3048000"/>
            <a:ext cx="1466850" cy="647700"/>
          </a:xfrm>
          <a:prstGeom prst="rect">
            <a:avLst/>
          </a:prstGeom>
          <a:noFill/>
          <a:ln w="0">
            <a:noFill/>
          </a:ln>
        </p:spPr>
        <p:txBody>
          <a:bodyPr anchor="ctr">
            <a:normAutofit/>
          </a:bodyPr>
          <a:lstStyle/>
          <a:p>
            <a:pPr algn="ctr">
              <a:defRPr sz="975" b="0">
                <a:solidFill>
                  <a:srgbClr val="F7F5F1"/>
                </a:solidFill>
                <a:latin typeface="Roboto"/>
                <a:ea typeface="Roboto"/>
                <a:cs typeface="Roboto"/>
              </a:defRPr>
            </a:pPr>
            <a:r>
              <a:rPr sz="1600" b="0">
                <a:solidFill>
                  <a:srgbClr val="F7F5F1"/>
                </a:solidFill>
                <a:latin typeface="Oswald"/>
                <a:ea typeface="Roboto"/>
                <a:cs typeface="Roboto"/>
              </a:rPr>
              <a:t>Send structured input</a:t>
            </a:r>
          </a:p>
        </p:txBody>
      </p:sp>
      <p:sp>
        <p:nvSpPr>
          <p:cNvPr id="33" name="Strzałka: w prawo 15">
            <a:extLst>
              <a:ext uri="{FF2B5EF4-FFF2-40B4-BE49-F238E27FC236}">
                <a16:creationId xmlns:a16="http://schemas.microsoft.com/office/drawing/2014/main" id="{4945D3A0-9203-AA49-7BFE-124994C74816}"/>
              </a:ext>
            </a:extLst>
          </p:cNvPr>
          <p:cNvSpPr>
            <a:spLocks noGrp="1"/>
          </p:cNvSpPr>
          <p:nvPr/>
        </p:nvSpPr>
        <p:spPr>
          <a:xfrm>
            <a:off x="4943475" y="3105150"/>
            <a:ext cx="266700" cy="152400"/>
          </a:xfrm>
          <a:prstGeom prst="rightArrow">
            <a:avLst/>
          </a:prstGeom>
          <a:solidFill>
            <a:srgbClr val="FF7A1A"/>
          </a:solidFill>
          <a:ln w="0">
            <a:noFill/>
          </a:ln>
        </p:spPr>
        <p:txBody>
          <a:bodyPr/>
          <a:lstStyle/>
          <a:p>
            <a:endParaRPr lang="pl-PL" sz="2000">
              <a:latin typeface="Oswald"/>
            </a:endParaRPr>
          </a:p>
        </p:txBody>
      </p:sp>
      <p:sp>
        <p:nvSpPr>
          <p:cNvPr id="35" name="step-4">
            <a:extLst>
              <a:ext uri="{FF2B5EF4-FFF2-40B4-BE49-F238E27FC236}">
                <a16:creationId xmlns:a16="http://schemas.microsoft.com/office/drawing/2014/main" id="{F959D962-9096-55D6-F091-7D0562F7A7B6}"/>
              </a:ext>
            </a:extLst>
          </p:cNvPr>
          <p:cNvSpPr>
            <a:spLocks noGrp="1"/>
          </p:cNvSpPr>
          <p:nvPr/>
        </p:nvSpPr>
        <p:spPr>
          <a:xfrm>
            <a:off x="7486650" y="2381250"/>
            <a:ext cx="1809750" cy="1600200"/>
          </a:xfrm>
          <a:prstGeom prst="roundRect">
            <a:avLst>
              <a:gd name="adj" fmla="val 7143"/>
            </a:avLst>
          </a:prstGeom>
          <a:solidFill>
            <a:srgbClr val="455A61"/>
          </a:solidFill>
          <a:ln w="13335">
            <a:solidFill>
              <a:srgbClr val="FF7A1A"/>
            </a:solidFill>
            <a:prstDash val="solid"/>
          </a:ln>
        </p:spPr>
        <p:txBody>
          <a:bodyPr/>
          <a:lstStyle/>
          <a:p>
            <a:endParaRPr lang="pl-PL" sz="4000">
              <a:latin typeface="Oswald"/>
            </a:endParaRPr>
          </a:p>
        </p:txBody>
      </p:sp>
      <p:sp>
        <p:nvSpPr>
          <p:cNvPr id="37" name="Prostokąt: zaokrąglone rogi 17">
            <a:extLst>
              <a:ext uri="{FF2B5EF4-FFF2-40B4-BE49-F238E27FC236}">
                <a16:creationId xmlns:a16="http://schemas.microsoft.com/office/drawing/2014/main" id="{8DB926C7-BE4E-D7C5-9246-C60F1F51F76B}"/>
              </a:ext>
            </a:extLst>
          </p:cNvPr>
          <p:cNvSpPr>
            <a:spLocks noGrp="1"/>
          </p:cNvSpPr>
          <p:nvPr/>
        </p:nvSpPr>
        <p:spPr>
          <a:xfrm>
            <a:off x="7620000" y="2533650"/>
            <a:ext cx="323850" cy="323850"/>
          </a:xfrm>
          <a:prstGeom prst="roundRect">
            <a:avLst>
              <a:gd name="adj" fmla="val 50000"/>
            </a:avLst>
          </a:prstGeom>
          <a:solidFill>
            <a:srgbClr val="FF7A1A"/>
          </a:solidFill>
          <a:ln w="0">
            <a:noFill/>
          </a:ln>
        </p:spPr>
        <p:txBody>
          <a:bodyPr anchor="ctr">
            <a:noAutofit/>
          </a:bodyPr>
          <a:lstStyle/>
          <a:p>
            <a:pPr algn="ctr">
              <a:defRPr sz="1050" b="1">
                <a:solidFill>
                  <a:srgbClr val="101618"/>
                </a:solidFill>
                <a:latin typeface="Roboto"/>
                <a:ea typeface="Roboto"/>
                <a:cs typeface="Roboto"/>
              </a:defRPr>
            </a:pPr>
            <a:r>
              <a:rPr sz="1600" b="1">
                <a:solidFill>
                  <a:srgbClr val="101618"/>
                </a:solidFill>
                <a:latin typeface="Oswald"/>
                <a:ea typeface="Roboto"/>
                <a:cs typeface="Roboto"/>
              </a:rPr>
              <a:t>4</a:t>
            </a:r>
          </a:p>
        </p:txBody>
      </p:sp>
      <p:sp>
        <p:nvSpPr>
          <p:cNvPr id="39" name="Prostokąt 18">
            <a:extLst>
              <a:ext uri="{FF2B5EF4-FFF2-40B4-BE49-F238E27FC236}">
                <a16:creationId xmlns:a16="http://schemas.microsoft.com/office/drawing/2014/main" id="{C93BED24-93A3-0073-3FC5-A568656DC171}"/>
              </a:ext>
            </a:extLst>
          </p:cNvPr>
          <p:cNvSpPr>
            <a:spLocks noGrp="1"/>
          </p:cNvSpPr>
          <p:nvPr/>
        </p:nvSpPr>
        <p:spPr>
          <a:xfrm>
            <a:off x="8039100" y="2505075"/>
            <a:ext cx="1066800" cy="400050"/>
          </a:xfrm>
          <a:prstGeom prst="rect">
            <a:avLst/>
          </a:prstGeom>
          <a:noFill/>
          <a:ln w="0">
            <a:noFill/>
          </a:ln>
        </p:spPr>
        <p:txBody>
          <a:bodyPr anchor="ctr">
            <a:normAutofit/>
          </a:bodyPr>
          <a:lstStyle/>
          <a:p>
            <a:pPr algn="l">
              <a:defRPr sz="1500" b="1">
                <a:solidFill>
                  <a:srgbClr val="FFC400"/>
                </a:solidFill>
                <a:latin typeface="Roboto"/>
                <a:ea typeface="Roboto"/>
                <a:cs typeface="Roboto"/>
              </a:defRPr>
            </a:pPr>
            <a:r>
              <a:rPr sz="1600" b="1">
                <a:solidFill>
                  <a:srgbClr val="FFC400"/>
                </a:solidFill>
                <a:latin typeface="Oswald"/>
                <a:ea typeface="Roboto"/>
                <a:cs typeface="Roboto"/>
              </a:rPr>
              <a:t>Observe</a:t>
            </a:r>
          </a:p>
        </p:txBody>
      </p:sp>
      <p:sp>
        <p:nvSpPr>
          <p:cNvPr id="41" name="Prostokąt 19">
            <a:extLst>
              <a:ext uri="{FF2B5EF4-FFF2-40B4-BE49-F238E27FC236}">
                <a16:creationId xmlns:a16="http://schemas.microsoft.com/office/drawing/2014/main" id="{03E7987F-F22D-272E-7DD4-6860BF269BFC}"/>
              </a:ext>
            </a:extLst>
          </p:cNvPr>
          <p:cNvSpPr>
            <a:spLocks noGrp="1"/>
          </p:cNvSpPr>
          <p:nvPr/>
        </p:nvSpPr>
        <p:spPr>
          <a:xfrm>
            <a:off x="7658100" y="3048000"/>
            <a:ext cx="1466850" cy="647700"/>
          </a:xfrm>
          <a:prstGeom prst="rect">
            <a:avLst/>
          </a:prstGeom>
          <a:noFill/>
          <a:ln w="0">
            <a:noFill/>
          </a:ln>
        </p:spPr>
        <p:txBody>
          <a:bodyPr anchor="ctr">
            <a:normAutofit/>
          </a:bodyPr>
          <a:lstStyle/>
          <a:p>
            <a:pPr algn="ctr">
              <a:defRPr sz="975" b="0">
                <a:solidFill>
                  <a:srgbClr val="F7F5F1"/>
                </a:solidFill>
                <a:latin typeface="Roboto"/>
                <a:ea typeface="Roboto"/>
                <a:cs typeface="Roboto"/>
              </a:defRPr>
            </a:pPr>
            <a:r>
              <a:rPr sz="1600" b="0">
                <a:solidFill>
                  <a:srgbClr val="F7F5F1"/>
                </a:solidFill>
                <a:latin typeface="Oswald"/>
                <a:ea typeface="Roboto"/>
                <a:cs typeface="Roboto"/>
              </a:rPr>
              <a:t>Read result and evidence</a:t>
            </a:r>
          </a:p>
        </p:txBody>
      </p:sp>
      <p:sp>
        <p:nvSpPr>
          <p:cNvPr id="43" name="Strzałka: w prawo 20">
            <a:extLst>
              <a:ext uri="{FF2B5EF4-FFF2-40B4-BE49-F238E27FC236}">
                <a16:creationId xmlns:a16="http://schemas.microsoft.com/office/drawing/2014/main" id="{A08C6B1E-49FA-9BC0-E05B-A7AEE214BF14}"/>
              </a:ext>
            </a:extLst>
          </p:cNvPr>
          <p:cNvSpPr>
            <a:spLocks noGrp="1"/>
          </p:cNvSpPr>
          <p:nvPr/>
        </p:nvSpPr>
        <p:spPr>
          <a:xfrm>
            <a:off x="7153275" y="3105150"/>
            <a:ext cx="266700" cy="152400"/>
          </a:xfrm>
          <a:prstGeom prst="rightArrow">
            <a:avLst/>
          </a:prstGeom>
          <a:solidFill>
            <a:srgbClr val="FF7A1A"/>
          </a:solidFill>
          <a:ln w="0">
            <a:noFill/>
          </a:ln>
        </p:spPr>
        <p:txBody>
          <a:bodyPr/>
          <a:lstStyle/>
          <a:p>
            <a:endParaRPr lang="pl-PL" sz="2000">
              <a:latin typeface="Oswald"/>
            </a:endParaRPr>
          </a:p>
        </p:txBody>
      </p:sp>
      <p:sp>
        <p:nvSpPr>
          <p:cNvPr id="45" name="step-5">
            <a:extLst>
              <a:ext uri="{FF2B5EF4-FFF2-40B4-BE49-F238E27FC236}">
                <a16:creationId xmlns:a16="http://schemas.microsoft.com/office/drawing/2014/main" id="{97DE1B61-DAB3-1AA7-6075-E580147CDBF1}"/>
              </a:ext>
            </a:extLst>
          </p:cNvPr>
          <p:cNvSpPr>
            <a:spLocks noGrp="1"/>
          </p:cNvSpPr>
          <p:nvPr/>
        </p:nvSpPr>
        <p:spPr>
          <a:xfrm>
            <a:off x="9696450" y="2381250"/>
            <a:ext cx="1809750" cy="1600200"/>
          </a:xfrm>
          <a:prstGeom prst="roundRect">
            <a:avLst>
              <a:gd name="adj" fmla="val 7143"/>
            </a:avLst>
          </a:prstGeom>
          <a:solidFill>
            <a:srgbClr val="455A61"/>
          </a:solidFill>
          <a:ln w="13335">
            <a:solidFill>
              <a:srgbClr val="FF7A1A"/>
            </a:solidFill>
            <a:prstDash val="solid"/>
          </a:ln>
        </p:spPr>
        <p:txBody>
          <a:bodyPr/>
          <a:lstStyle/>
          <a:p>
            <a:endParaRPr lang="pl-PL" sz="4000">
              <a:latin typeface="Oswald"/>
            </a:endParaRPr>
          </a:p>
        </p:txBody>
      </p:sp>
      <p:sp>
        <p:nvSpPr>
          <p:cNvPr id="47" name="Prostokąt: zaokrąglone rogi 22">
            <a:extLst>
              <a:ext uri="{FF2B5EF4-FFF2-40B4-BE49-F238E27FC236}">
                <a16:creationId xmlns:a16="http://schemas.microsoft.com/office/drawing/2014/main" id="{B90A2C99-9B4C-F3A2-F733-67CBF2E01683}"/>
              </a:ext>
            </a:extLst>
          </p:cNvPr>
          <p:cNvSpPr>
            <a:spLocks noGrp="1"/>
          </p:cNvSpPr>
          <p:nvPr/>
        </p:nvSpPr>
        <p:spPr>
          <a:xfrm>
            <a:off x="9829800" y="2533650"/>
            <a:ext cx="323850" cy="323850"/>
          </a:xfrm>
          <a:prstGeom prst="roundRect">
            <a:avLst>
              <a:gd name="adj" fmla="val 50000"/>
            </a:avLst>
          </a:prstGeom>
          <a:solidFill>
            <a:srgbClr val="FF7A1A"/>
          </a:solidFill>
          <a:ln w="0">
            <a:noFill/>
          </a:ln>
        </p:spPr>
        <p:txBody>
          <a:bodyPr lIns="91440" tIns="45720" rIns="91440" bIns="45720" anchor="ctr">
            <a:noAutofit/>
          </a:bodyPr>
          <a:lstStyle/>
          <a:p>
            <a:pPr algn="ctr">
              <a:defRPr sz="1050" b="1">
                <a:solidFill>
                  <a:srgbClr val="101618"/>
                </a:solidFill>
                <a:latin typeface="Roboto"/>
                <a:ea typeface="Roboto"/>
                <a:cs typeface="Roboto"/>
              </a:defRPr>
            </a:pPr>
            <a:r>
              <a:rPr sz="1600" b="1">
                <a:solidFill>
                  <a:srgbClr val="101618"/>
                </a:solidFill>
                <a:latin typeface="Oswald"/>
                <a:ea typeface="Roboto"/>
                <a:cs typeface="Roboto"/>
              </a:rPr>
              <a:t>5</a:t>
            </a:r>
            <a:endParaRPr lang="en-US" sz="1600" b="1">
              <a:solidFill>
                <a:srgbClr val="101618"/>
              </a:solidFill>
              <a:latin typeface="Oswald"/>
              <a:ea typeface="Roboto"/>
              <a:cs typeface="Roboto"/>
            </a:endParaRPr>
          </a:p>
        </p:txBody>
      </p:sp>
      <p:sp>
        <p:nvSpPr>
          <p:cNvPr id="49" name="Prostokąt 23">
            <a:extLst>
              <a:ext uri="{FF2B5EF4-FFF2-40B4-BE49-F238E27FC236}">
                <a16:creationId xmlns:a16="http://schemas.microsoft.com/office/drawing/2014/main" id="{2B453D53-523A-B7EE-A344-E0438C7E1AE3}"/>
              </a:ext>
            </a:extLst>
          </p:cNvPr>
          <p:cNvSpPr>
            <a:spLocks noGrp="1"/>
          </p:cNvSpPr>
          <p:nvPr/>
        </p:nvSpPr>
        <p:spPr>
          <a:xfrm>
            <a:off x="10248900" y="2505075"/>
            <a:ext cx="1066800" cy="400050"/>
          </a:xfrm>
          <a:prstGeom prst="rect">
            <a:avLst/>
          </a:prstGeom>
          <a:noFill/>
          <a:ln w="0">
            <a:noFill/>
          </a:ln>
        </p:spPr>
        <p:txBody>
          <a:bodyPr anchor="ctr">
            <a:normAutofit/>
          </a:bodyPr>
          <a:lstStyle/>
          <a:p>
            <a:pPr algn="l">
              <a:defRPr sz="1500" b="1">
                <a:solidFill>
                  <a:srgbClr val="FFC400"/>
                </a:solidFill>
                <a:latin typeface="Roboto"/>
                <a:ea typeface="Roboto"/>
                <a:cs typeface="Roboto"/>
              </a:defRPr>
            </a:pPr>
            <a:r>
              <a:rPr sz="1600" b="1">
                <a:solidFill>
                  <a:srgbClr val="FFC400"/>
                </a:solidFill>
                <a:latin typeface="Oswald"/>
                <a:ea typeface="Roboto"/>
                <a:cs typeface="Roboto"/>
              </a:rPr>
              <a:t>Decide</a:t>
            </a:r>
          </a:p>
        </p:txBody>
      </p:sp>
      <p:sp>
        <p:nvSpPr>
          <p:cNvPr id="51" name="Prostokąt 24">
            <a:extLst>
              <a:ext uri="{FF2B5EF4-FFF2-40B4-BE49-F238E27FC236}">
                <a16:creationId xmlns:a16="http://schemas.microsoft.com/office/drawing/2014/main" id="{DAD074E3-855F-B603-FD56-4EF5C79968A5}"/>
              </a:ext>
            </a:extLst>
          </p:cNvPr>
          <p:cNvSpPr>
            <a:spLocks noGrp="1"/>
          </p:cNvSpPr>
          <p:nvPr/>
        </p:nvSpPr>
        <p:spPr>
          <a:xfrm>
            <a:off x="9867900" y="3048000"/>
            <a:ext cx="1466850" cy="647700"/>
          </a:xfrm>
          <a:prstGeom prst="rect">
            <a:avLst/>
          </a:prstGeom>
          <a:noFill/>
          <a:ln w="0">
            <a:noFill/>
          </a:ln>
        </p:spPr>
        <p:txBody>
          <a:bodyPr anchor="ctr">
            <a:normAutofit/>
          </a:bodyPr>
          <a:lstStyle/>
          <a:p>
            <a:pPr algn="ctr">
              <a:defRPr sz="975" b="0">
                <a:solidFill>
                  <a:srgbClr val="F7F5F1"/>
                </a:solidFill>
                <a:latin typeface="Roboto"/>
                <a:ea typeface="Roboto"/>
                <a:cs typeface="Roboto"/>
              </a:defRPr>
            </a:pPr>
            <a:r>
              <a:rPr sz="1600" b="0">
                <a:solidFill>
                  <a:srgbClr val="F7F5F1"/>
                </a:solidFill>
                <a:latin typeface="Oswald"/>
                <a:ea typeface="Roboto"/>
                <a:cs typeface="Roboto"/>
              </a:rPr>
              <a:t>Finish or repeat</a:t>
            </a:r>
          </a:p>
        </p:txBody>
      </p:sp>
      <p:sp>
        <p:nvSpPr>
          <p:cNvPr id="53" name="Strzałka: w prawo 25">
            <a:extLst>
              <a:ext uri="{FF2B5EF4-FFF2-40B4-BE49-F238E27FC236}">
                <a16:creationId xmlns:a16="http://schemas.microsoft.com/office/drawing/2014/main" id="{B92E5D1A-22C5-1ACD-48CD-0DD1CE736C7F}"/>
              </a:ext>
            </a:extLst>
          </p:cNvPr>
          <p:cNvSpPr>
            <a:spLocks noGrp="1"/>
          </p:cNvSpPr>
          <p:nvPr/>
        </p:nvSpPr>
        <p:spPr>
          <a:xfrm>
            <a:off x="9363075" y="3105150"/>
            <a:ext cx="266700" cy="152400"/>
          </a:xfrm>
          <a:prstGeom prst="rightArrow">
            <a:avLst/>
          </a:prstGeom>
          <a:solidFill>
            <a:srgbClr val="FF7A1A"/>
          </a:solidFill>
          <a:ln w="0">
            <a:noFill/>
          </a:ln>
        </p:spPr>
        <p:txBody>
          <a:bodyPr/>
          <a:lstStyle/>
          <a:p>
            <a:endParaRPr lang="pl-PL" sz="2000">
              <a:latin typeface="Oswald"/>
            </a:endParaRPr>
          </a:p>
        </p:txBody>
      </p:sp>
      <p:sp>
        <p:nvSpPr>
          <p:cNvPr id="55" name="Prostokąt: zaokrąglone rogi 26">
            <a:extLst>
              <a:ext uri="{FF2B5EF4-FFF2-40B4-BE49-F238E27FC236}">
                <a16:creationId xmlns:a16="http://schemas.microsoft.com/office/drawing/2014/main" id="{AE8BA03C-563D-A6FC-D4CD-3B3629E22A41}"/>
              </a:ext>
            </a:extLst>
          </p:cNvPr>
          <p:cNvSpPr>
            <a:spLocks noGrp="1"/>
          </p:cNvSpPr>
          <p:nvPr/>
        </p:nvSpPr>
        <p:spPr>
          <a:xfrm>
            <a:off x="3048000" y="4762500"/>
            <a:ext cx="6096000" cy="609600"/>
          </a:xfrm>
          <a:prstGeom prst="roundRect">
            <a:avLst>
              <a:gd name="adj" fmla="val 21875"/>
            </a:avLst>
          </a:prstGeom>
          <a:solidFill>
            <a:srgbClr val="334C54"/>
          </a:solidFill>
          <a:ln w="13335">
            <a:solidFill>
              <a:srgbClr val="FFC400"/>
            </a:solidFill>
            <a:prstDash val="solid"/>
          </a:ln>
        </p:spPr>
        <p:txBody>
          <a:bodyPr lIns="91440" tIns="45720" rIns="91440" bIns="45720" anchor="ctr">
            <a:normAutofit/>
          </a:bodyPr>
          <a:lstStyle/>
          <a:p>
            <a:pPr algn="ctr">
              <a:defRPr sz="1650" b="1">
                <a:solidFill>
                  <a:srgbClr val="FFC400"/>
                </a:solidFill>
                <a:latin typeface="Roboto"/>
                <a:ea typeface="Roboto"/>
                <a:cs typeface="Roboto"/>
              </a:defRPr>
            </a:pPr>
            <a:r>
              <a:rPr b="1">
                <a:solidFill>
                  <a:srgbClr val="FFC400"/>
                </a:solidFill>
                <a:latin typeface="Oswald"/>
                <a:ea typeface="Roboto"/>
                <a:cs typeface="Roboto"/>
              </a:rPr>
              <a:t>Agent = model + tools + state + policy</a:t>
            </a:r>
            <a:endParaRPr lang="en-US" b="1">
              <a:solidFill>
                <a:srgbClr val="FFC400"/>
              </a:solidFill>
              <a:latin typeface="Oswald"/>
              <a:ea typeface="Roboto"/>
              <a:cs typeface="Roboto"/>
            </a:endParaRPr>
          </a:p>
        </p:txBody>
      </p:sp>
      <p:sp>
        <p:nvSpPr>
          <p:cNvPr id="57" name="Prostokąt 27">
            <a:extLst>
              <a:ext uri="{FF2B5EF4-FFF2-40B4-BE49-F238E27FC236}">
                <a16:creationId xmlns:a16="http://schemas.microsoft.com/office/drawing/2014/main" id="{0886B213-DA6B-7F64-338A-19189A65BFAE}"/>
              </a:ext>
            </a:extLst>
          </p:cNvPr>
          <p:cNvSpPr>
            <a:spLocks noGrp="1"/>
          </p:cNvSpPr>
          <p:nvPr/>
        </p:nvSpPr>
        <p:spPr>
          <a:xfrm>
            <a:off x="2990850" y="5543550"/>
            <a:ext cx="6210300" cy="361950"/>
          </a:xfrm>
          <a:prstGeom prst="rect">
            <a:avLst/>
          </a:prstGeom>
          <a:noFill/>
          <a:ln w="0">
            <a:noFill/>
          </a:ln>
        </p:spPr>
        <p:txBody>
          <a:bodyPr lIns="91440" tIns="45720" rIns="91440" bIns="45720" anchor="ctr">
            <a:normAutofit/>
          </a:bodyPr>
          <a:lstStyle/>
          <a:p>
            <a:pPr algn="ctr">
              <a:defRPr sz="1050" b="0">
                <a:solidFill>
                  <a:srgbClr val="CED7D9"/>
                </a:solidFill>
                <a:latin typeface="Roboto"/>
                <a:ea typeface="Roboto"/>
                <a:cs typeface="Roboto"/>
              </a:defRPr>
            </a:pPr>
            <a:r>
              <a:rPr sz="1400" b="0">
                <a:solidFill>
                  <a:srgbClr val="000000"/>
                </a:solidFill>
                <a:latin typeface="Oswald"/>
                <a:ea typeface="Roboto"/>
                <a:cs typeface="Roboto"/>
              </a:rPr>
              <a:t>The model proposes actions. The runtime enforces the boundary.</a:t>
            </a:r>
            <a:endParaRPr lang="en-US" sz="1400" b="0">
              <a:solidFill>
                <a:srgbClr val="000000"/>
              </a:solidFill>
              <a:latin typeface="Oswald"/>
              <a:ea typeface="Roboto"/>
              <a:cs typeface="Roboto"/>
            </a:endParaRPr>
          </a:p>
        </p:txBody>
      </p:sp>
    </p:spTree>
    <p:extLst>
      <p:ext uri="{BB962C8B-B14F-4D97-AF65-F5344CB8AC3E}">
        <p14:creationId xmlns:p14="http://schemas.microsoft.com/office/powerpoint/2010/main" val="711085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FC454-C1D2-CDCE-9DE5-0B9C75D0484E}"/>
              </a:ext>
            </a:extLst>
          </p:cNvPr>
          <p:cNvSpPr>
            <a:spLocks noGrp="1"/>
          </p:cNvSpPr>
          <p:nvPr>
            <p:ph type="title"/>
          </p:nvPr>
        </p:nvSpPr>
        <p:spPr/>
        <p:txBody>
          <a:bodyPr/>
          <a:lstStyle/>
          <a:p>
            <a:r>
              <a:rPr lang="en-US"/>
              <a:t>The agent needs more than access</a:t>
            </a:r>
          </a:p>
        </p:txBody>
      </p:sp>
      <p:sp>
        <p:nvSpPr>
          <p:cNvPr id="7" name="Prostokąt: zaokrąglone rogi 13">
            <a:extLst>
              <a:ext uri="{FF2B5EF4-FFF2-40B4-BE49-F238E27FC236}">
                <a16:creationId xmlns:a16="http://schemas.microsoft.com/office/drawing/2014/main" id="{C1FA5419-07E8-4A64-D6D3-9F8EDAF5A774}"/>
              </a:ext>
            </a:extLst>
          </p:cNvPr>
          <p:cNvSpPr>
            <a:spLocks noGrp="1"/>
          </p:cNvSpPr>
          <p:nvPr/>
        </p:nvSpPr>
        <p:spPr>
          <a:xfrm>
            <a:off x="1062076" y="2604429"/>
            <a:ext cx="3619500" cy="1695450"/>
          </a:xfrm>
          <a:prstGeom prst="roundRect">
            <a:avLst>
              <a:gd name="adj" fmla="val 5618"/>
            </a:avLst>
          </a:prstGeom>
          <a:solidFill>
            <a:srgbClr val="3A5058"/>
          </a:solidFill>
          <a:ln w="13335">
            <a:solidFill>
              <a:srgbClr val="FF7A1A"/>
            </a:solidFill>
            <a:prstDash val="solid"/>
          </a:ln>
        </p:spPr>
        <p:txBody>
          <a:bodyPr/>
          <a:lstStyle/>
          <a:p>
            <a:endParaRPr lang="pl-PL" sz="2000">
              <a:latin typeface="Oswald"/>
            </a:endParaRPr>
          </a:p>
        </p:txBody>
      </p:sp>
      <p:sp>
        <p:nvSpPr>
          <p:cNvPr id="9" name="Prostokąt 14">
            <a:extLst>
              <a:ext uri="{FF2B5EF4-FFF2-40B4-BE49-F238E27FC236}">
                <a16:creationId xmlns:a16="http://schemas.microsoft.com/office/drawing/2014/main" id="{76D487BB-AB86-9D2E-CF6E-C65EBE1EC335}"/>
              </a:ext>
            </a:extLst>
          </p:cNvPr>
          <p:cNvSpPr>
            <a:spLocks noGrp="1"/>
          </p:cNvSpPr>
          <p:nvPr/>
        </p:nvSpPr>
        <p:spPr>
          <a:xfrm>
            <a:off x="1233526" y="2718729"/>
            <a:ext cx="3276600" cy="333375"/>
          </a:xfrm>
          <a:prstGeom prst="rect">
            <a:avLst/>
          </a:prstGeom>
          <a:noFill/>
          <a:ln w="0">
            <a:noFill/>
          </a:ln>
        </p:spPr>
        <p:txBody>
          <a:bodyPr lIns="91440" tIns="45720" rIns="91440" bIns="45720" anchor="t">
            <a:normAutofit lnSpcReduction="10000"/>
          </a:bodyPr>
          <a:lstStyle/>
          <a:p>
            <a:pPr algn="l">
              <a:defRPr sz="1350" b="1">
                <a:solidFill>
                  <a:srgbClr val="FFC400"/>
                </a:solidFill>
                <a:latin typeface="Roboto"/>
                <a:ea typeface="Roboto"/>
                <a:cs typeface="Roboto"/>
              </a:defRPr>
            </a:pPr>
            <a:r>
              <a:rPr sz="1600" b="1">
                <a:solidFill>
                  <a:srgbClr val="FFC400"/>
                </a:solidFill>
                <a:latin typeface="Oswald"/>
                <a:ea typeface="Roboto"/>
                <a:cs typeface="Roboto"/>
              </a:rPr>
              <a:t>Business</a:t>
            </a:r>
            <a:r>
              <a:rPr sz="1400" b="1">
                <a:solidFill>
                  <a:srgbClr val="FFC400"/>
                </a:solidFill>
                <a:latin typeface="Oswald"/>
                <a:ea typeface="Roboto"/>
                <a:cs typeface="Roboto"/>
              </a:rPr>
              <a:t> question</a:t>
            </a:r>
          </a:p>
        </p:txBody>
      </p:sp>
      <p:sp>
        <p:nvSpPr>
          <p:cNvPr id="11" name="Prostokąt 15">
            <a:extLst>
              <a:ext uri="{FF2B5EF4-FFF2-40B4-BE49-F238E27FC236}">
                <a16:creationId xmlns:a16="http://schemas.microsoft.com/office/drawing/2014/main" id="{183BF3D1-4860-A92A-D1B0-46768EFFF32B}"/>
              </a:ext>
            </a:extLst>
          </p:cNvPr>
          <p:cNvSpPr>
            <a:spLocks noGrp="1"/>
          </p:cNvSpPr>
          <p:nvPr/>
        </p:nvSpPr>
        <p:spPr>
          <a:xfrm>
            <a:off x="1233526" y="3137829"/>
            <a:ext cx="3276600" cy="1047750"/>
          </a:xfrm>
          <a:prstGeom prst="rect">
            <a:avLst/>
          </a:prstGeom>
          <a:noFill/>
          <a:ln w="0">
            <a:noFill/>
          </a:ln>
        </p:spPr>
        <p:txBody>
          <a:bodyPr anchor="t">
            <a:normAutofit/>
          </a:bodyPr>
          <a:lstStyle/>
          <a:p>
            <a:pPr algn="l">
              <a:defRPr sz="1500" b="0">
                <a:solidFill>
                  <a:srgbClr val="F7F5F1"/>
                </a:solidFill>
                <a:latin typeface="Roboto"/>
                <a:ea typeface="Roboto"/>
                <a:cs typeface="Roboto"/>
              </a:defRPr>
            </a:pPr>
            <a:r>
              <a:rPr sz="1600" b="0">
                <a:solidFill>
                  <a:srgbClr val="F7F5F1"/>
                </a:solidFill>
                <a:latin typeface="Oswald"/>
                <a:ea typeface="Roboto"/>
                <a:cs typeface="Roboto"/>
              </a:rPr>
              <a:t>Which stores breached the availability SLA last week, and why?</a:t>
            </a:r>
          </a:p>
        </p:txBody>
      </p:sp>
      <p:sp>
        <p:nvSpPr>
          <p:cNvPr id="13" name="Prostokąt: zaokrąglone rogi 16">
            <a:extLst>
              <a:ext uri="{FF2B5EF4-FFF2-40B4-BE49-F238E27FC236}">
                <a16:creationId xmlns:a16="http://schemas.microsoft.com/office/drawing/2014/main" id="{E9205625-58B2-8AF4-E4BE-A78EAAD7782E}"/>
              </a:ext>
            </a:extLst>
          </p:cNvPr>
          <p:cNvSpPr>
            <a:spLocks noGrp="1"/>
          </p:cNvSpPr>
          <p:nvPr/>
        </p:nvSpPr>
        <p:spPr>
          <a:xfrm>
            <a:off x="1414501" y="4585629"/>
            <a:ext cx="2914650" cy="495300"/>
          </a:xfrm>
          <a:prstGeom prst="roundRect">
            <a:avLst>
              <a:gd name="adj" fmla="val 50000"/>
            </a:avLst>
          </a:prstGeom>
          <a:solidFill>
            <a:srgbClr val="624D08"/>
          </a:solidFill>
          <a:ln w="13335">
            <a:solidFill>
              <a:srgbClr val="FFC400"/>
            </a:solidFill>
            <a:prstDash val="solid"/>
          </a:ln>
        </p:spPr>
        <p:txBody>
          <a:bodyPr anchor="ctr">
            <a:normAutofit/>
          </a:bodyPr>
          <a:lstStyle/>
          <a:p>
            <a:pPr algn="ctr">
              <a:defRPr sz="1050" b="1">
                <a:solidFill>
                  <a:srgbClr val="FFC400"/>
                </a:solidFill>
                <a:latin typeface="Roboto"/>
                <a:ea typeface="Roboto"/>
                <a:cs typeface="Roboto"/>
              </a:defRPr>
            </a:pPr>
            <a:r>
              <a:rPr sz="1100" b="1">
                <a:solidFill>
                  <a:srgbClr val="FFC400"/>
                </a:solidFill>
                <a:latin typeface="Oswald"/>
                <a:ea typeface="Roboto"/>
                <a:cs typeface="Roboto"/>
              </a:rPr>
              <a:t>The model can draft SQL</a:t>
            </a:r>
          </a:p>
        </p:txBody>
      </p:sp>
      <p:sp>
        <p:nvSpPr>
          <p:cNvPr id="15" name="Prostokąt: zaokrąglone rogi 17">
            <a:extLst>
              <a:ext uri="{FF2B5EF4-FFF2-40B4-BE49-F238E27FC236}">
                <a16:creationId xmlns:a16="http://schemas.microsoft.com/office/drawing/2014/main" id="{84F546A5-A24C-6A36-00F2-28B796F62408}"/>
              </a:ext>
            </a:extLst>
          </p:cNvPr>
          <p:cNvSpPr>
            <a:spLocks noGrp="1"/>
          </p:cNvSpPr>
          <p:nvPr/>
        </p:nvSpPr>
        <p:spPr>
          <a:xfrm>
            <a:off x="5872201" y="2509179"/>
            <a:ext cx="2305050" cy="1123950"/>
          </a:xfrm>
          <a:prstGeom prst="roundRect">
            <a:avLst>
              <a:gd name="adj" fmla="val 8475"/>
            </a:avLst>
          </a:prstGeom>
          <a:solidFill>
            <a:srgbClr val="455A61"/>
          </a:solidFill>
          <a:ln w="13335">
            <a:solidFill>
              <a:srgbClr val="FF7A1A"/>
            </a:solidFill>
            <a:prstDash val="solid"/>
          </a:ln>
        </p:spPr>
        <p:txBody>
          <a:bodyPr/>
          <a:lstStyle/>
          <a:p>
            <a:endParaRPr lang="pl-PL" sz="2000">
              <a:latin typeface="Oswald"/>
            </a:endParaRPr>
          </a:p>
        </p:txBody>
      </p:sp>
      <p:sp>
        <p:nvSpPr>
          <p:cNvPr id="17" name="Prostokąt 18">
            <a:extLst>
              <a:ext uri="{FF2B5EF4-FFF2-40B4-BE49-F238E27FC236}">
                <a16:creationId xmlns:a16="http://schemas.microsoft.com/office/drawing/2014/main" id="{6CBA8CDA-8281-C60D-E7E2-0A9C0BC8417C}"/>
              </a:ext>
            </a:extLst>
          </p:cNvPr>
          <p:cNvSpPr>
            <a:spLocks noGrp="1"/>
          </p:cNvSpPr>
          <p:nvPr/>
        </p:nvSpPr>
        <p:spPr>
          <a:xfrm>
            <a:off x="6043651" y="2623479"/>
            <a:ext cx="1962150" cy="333375"/>
          </a:xfrm>
          <a:prstGeom prst="rect">
            <a:avLst/>
          </a:prstGeom>
          <a:noFill/>
          <a:ln w="0">
            <a:noFill/>
          </a:ln>
        </p:spPr>
        <p:txBody>
          <a:bodyPr anchor="ctr">
            <a:normAutofit lnSpcReduction="10000"/>
          </a:bodyPr>
          <a:lstStyle/>
          <a:p>
            <a:pPr algn="l">
              <a:defRPr sz="1275" b="1">
                <a:solidFill>
                  <a:srgbClr val="FFC400"/>
                </a:solidFill>
                <a:latin typeface="Roboto"/>
                <a:ea typeface="Roboto"/>
                <a:cs typeface="Roboto"/>
              </a:defRPr>
            </a:pPr>
            <a:r>
              <a:rPr sz="1600" b="1">
                <a:solidFill>
                  <a:srgbClr val="FFC400"/>
                </a:solidFill>
                <a:latin typeface="Oswald"/>
                <a:ea typeface="Roboto"/>
                <a:cs typeface="Roboto"/>
              </a:rPr>
              <a:t>Definition</a:t>
            </a:r>
          </a:p>
        </p:txBody>
      </p:sp>
      <p:sp>
        <p:nvSpPr>
          <p:cNvPr id="19" name="Prostokąt 19">
            <a:extLst>
              <a:ext uri="{FF2B5EF4-FFF2-40B4-BE49-F238E27FC236}">
                <a16:creationId xmlns:a16="http://schemas.microsoft.com/office/drawing/2014/main" id="{2960B9B1-5FD2-B12A-E697-E8B6B08B3392}"/>
              </a:ext>
            </a:extLst>
          </p:cNvPr>
          <p:cNvSpPr>
            <a:spLocks noGrp="1"/>
          </p:cNvSpPr>
          <p:nvPr/>
        </p:nvSpPr>
        <p:spPr>
          <a:xfrm>
            <a:off x="6043651" y="2994954"/>
            <a:ext cx="1962150" cy="400050"/>
          </a:xfrm>
          <a:prstGeom prst="rect">
            <a:avLst/>
          </a:prstGeom>
          <a:noFill/>
          <a:ln w="0">
            <a:noFill/>
          </a:ln>
        </p:spPr>
        <p:txBody>
          <a:bodyPr anchor="t">
            <a:normAutofit/>
          </a:bodyPr>
          <a:lstStyle/>
          <a:p>
            <a:pPr algn="l">
              <a:defRPr sz="975" b="0">
                <a:solidFill>
                  <a:srgbClr val="F7F5F1"/>
                </a:solidFill>
                <a:latin typeface="Roboto"/>
                <a:ea typeface="Roboto"/>
                <a:cs typeface="Roboto"/>
              </a:defRPr>
            </a:pPr>
            <a:r>
              <a:rPr sz="1400" b="0">
                <a:solidFill>
                  <a:srgbClr val="F7F5F1"/>
                </a:solidFill>
                <a:latin typeface="Oswald"/>
                <a:ea typeface="Roboto"/>
                <a:cs typeface="Roboto"/>
              </a:rPr>
              <a:t>Which SLA and timezone?</a:t>
            </a:r>
          </a:p>
        </p:txBody>
      </p:sp>
      <p:sp>
        <p:nvSpPr>
          <p:cNvPr id="21" name="Prostokąt: zaokrąglone rogi 20">
            <a:extLst>
              <a:ext uri="{FF2B5EF4-FFF2-40B4-BE49-F238E27FC236}">
                <a16:creationId xmlns:a16="http://schemas.microsoft.com/office/drawing/2014/main" id="{771A24A9-019A-2D80-41EB-26CD9E5E7BA8}"/>
              </a:ext>
            </a:extLst>
          </p:cNvPr>
          <p:cNvSpPr>
            <a:spLocks noGrp="1"/>
          </p:cNvSpPr>
          <p:nvPr/>
        </p:nvSpPr>
        <p:spPr>
          <a:xfrm>
            <a:off x="8443951" y="2509179"/>
            <a:ext cx="2305050" cy="1123950"/>
          </a:xfrm>
          <a:prstGeom prst="roundRect">
            <a:avLst>
              <a:gd name="adj" fmla="val 8475"/>
            </a:avLst>
          </a:prstGeom>
          <a:solidFill>
            <a:srgbClr val="455A61"/>
          </a:solidFill>
          <a:ln w="13335">
            <a:solidFill>
              <a:srgbClr val="FF7A1A"/>
            </a:solidFill>
            <a:prstDash val="solid"/>
          </a:ln>
        </p:spPr>
        <p:txBody>
          <a:bodyPr/>
          <a:lstStyle/>
          <a:p>
            <a:endParaRPr lang="pl-PL" sz="2000">
              <a:latin typeface="Oswald"/>
            </a:endParaRPr>
          </a:p>
        </p:txBody>
      </p:sp>
      <p:sp>
        <p:nvSpPr>
          <p:cNvPr id="23" name="Prostokąt 21">
            <a:extLst>
              <a:ext uri="{FF2B5EF4-FFF2-40B4-BE49-F238E27FC236}">
                <a16:creationId xmlns:a16="http://schemas.microsoft.com/office/drawing/2014/main" id="{5A212D71-A6B4-77AB-762D-3DA83D9C092B}"/>
              </a:ext>
            </a:extLst>
          </p:cNvPr>
          <p:cNvSpPr>
            <a:spLocks noGrp="1"/>
          </p:cNvSpPr>
          <p:nvPr/>
        </p:nvSpPr>
        <p:spPr>
          <a:xfrm>
            <a:off x="8615401" y="2623479"/>
            <a:ext cx="1962150" cy="333375"/>
          </a:xfrm>
          <a:prstGeom prst="rect">
            <a:avLst/>
          </a:prstGeom>
          <a:noFill/>
          <a:ln w="0">
            <a:noFill/>
          </a:ln>
        </p:spPr>
        <p:txBody>
          <a:bodyPr anchor="ctr">
            <a:normAutofit lnSpcReduction="10000"/>
          </a:bodyPr>
          <a:lstStyle/>
          <a:p>
            <a:pPr algn="l">
              <a:defRPr sz="1275" b="1">
                <a:solidFill>
                  <a:srgbClr val="FFC400"/>
                </a:solidFill>
                <a:latin typeface="Roboto"/>
                <a:ea typeface="Roboto"/>
                <a:cs typeface="Roboto"/>
              </a:defRPr>
            </a:pPr>
            <a:r>
              <a:rPr sz="1600" b="1">
                <a:solidFill>
                  <a:srgbClr val="FFC400"/>
                </a:solidFill>
                <a:latin typeface="Oswald"/>
                <a:ea typeface="Roboto"/>
                <a:cs typeface="Roboto"/>
              </a:rPr>
              <a:t>Authority</a:t>
            </a:r>
          </a:p>
        </p:txBody>
      </p:sp>
      <p:sp>
        <p:nvSpPr>
          <p:cNvPr id="25" name="Prostokąt 22">
            <a:extLst>
              <a:ext uri="{FF2B5EF4-FFF2-40B4-BE49-F238E27FC236}">
                <a16:creationId xmlns:a16="http://schemas.microsoft.com/office/drawing/2014/main" id="{4085C42B-6060-3792-FD2A-DF121E5A32FB}"/>
              </a:ext>
            </a:extLst>
          </p:cNvPr>
          <p:cNvSpPr>
            <a:spLocks noGrp="1"/>
          </p:cNvSpPr>
          <p:nvPr/>
        </p:nvSpPr>
        <p:spPr>
          <a:xfrm>
            <a:off x="8615401" y="2994954"/>
            <a:ext cx="1962150" cy="400050"/>
          </a:xfrm>
          <a:prstGeom prst="rect">
            <a:avLst/>
          </a:prstGeom>
          <a:noFill/>
          <a:ln w="0">
            <a:noFill/>
          </a:ln>
        </p:spPr>
        <p:txBody>
          <a:bodyPr anchor="t">
            <a:normAutofit/>
          </a:bodyPr>
          <a:lstStyle/>
          <a:p>
            <a:pPr algn="l">
              <a:defRPr sz="975" b="0">
                <a:solidFill>
                  <a:srgbClr val="F7F5F1"/>
                </a:solidFill>
                <a:latin typeface="Roboto"/>
                <a:ea typeface="Roboto"/>
                <a:cs typeface="Roboto"/>
              </a:defRPr>
            </a:pPr>
            <a:r>
              <a:rPr sz="1400" b="0">
                <a:solidFill>
                  <a:srgbClr val="F7F5F1"/>
                </a:solidFill>
                <a:latin typeface="Oswald"/>
                <a:ea typeface="Roboto"/>
                <a:cs typeface="Roboto"/>
              </a:rPr>
              <a:t>Which source is trusted?</a:t>
            </a:r>
          </a:p>
        </p:txBody>
      </p:sp>
      <p:sp>
        <p:nvSpPr>
          <p:cNvPr id="27" name="Prostokąt: zaokrąglone rogi 23">
            <a:extLst>
              <a:ext uri="{FF2B5EF4-FFF2-40B4-BE49-F238E27FC236}">
                <a16:creationId xmlns:a16="http://schemas.microsoft.com/office/drawing/2014/main" id="{996C3E8D-8191-7285-7255-199E5762F7C0}"/>
              </a:ext>
            </a:extLst>
          </p:cNvPr>
          <p:cNvSpPr>
            <a:spLocks noGrp="1"/>
          </p:cNvSpPr>
          <p:nvPr/>
        </p:nvSpPr>
        <p:spPr>
          <a:xfrm>
            <a:off x="5872201" y="3918879"/>
            <a:ext cx="2305050" cy="1123950"/>
          </a:xfrm>
          <a:prstGeom prst="roundRect">
            <a:avLst>
              <a:gd name="adj" fmla="val 8475"/>
            </a:avLst>
          </a:prstGeom>
          <a:solidFill>
            <a:srgbClr val="455A61"/>
          </a:solidFill>
          <a:ln w="13335">
            <a:solidFill>
              <a:srgbClr val="FF7A1A"/>
            </a:solidFill>
            <a:prstDash val="solid"/>
          </a:ln>
        </p:spPr>
        <p:txBody>
          <a:bodyPr/>
          <a:lstStyle/>
          <a:p>
            <a:endParaRPr lang="pl-PL" sz="2000">
              <a:latin typeface="Oswald"/>
            </a:endParaRPr>
          </a:p>
        </p:txBody>
      </p:sp>
      <p:sp>
        <p:nvSpPr>
          <p:cNvPr id="29" name="Prostokąt 24">
            <a:extLst>
              <a:ext uri="{FF2B5EF4-FFF2-40B4-BE49-F238E27FC236}">
                <a16:creationId xmlns:a16="http://schemas.microsoft.com/office/drawing/2014/main" id="{FD1185E1-3B4A-C987-A9F2-914FCB54FBFC}"/>
              </a:ext>
            </a:extLst>
          </p:cNvPr>
          <p:cNvSpPr>
            <a:spLocks noGrp="1"/>
          </p:cNvSpPr>
          <p:nvPr/>
        </p:nvSpPr>
        <p:spPr>
          <a:xfrm>
            <a:off x="6043651" y="4033179"/>
            <a:ext cx="1962150" cy="333375"/>
          </a:xfrm>
          <a:prstGeom prst="rect">
            <a:avLst/>
          </a:prstGeom>
          <a:noFill/>
          <a:ln w="0">
            <a:noFill/>
          </a:ln>
        </p:spPr>
        <p:txBody>
          <a:bodyPr anchor="ctr">
            <a:normAutofit lnSpcReduction="10000"/>
          </a:bodyPr>
          <a:lstStyle/>
          <a:p>
            <a:pPr algn="l">
              <a:defRPr sz="1275" b="1">
                <a:solidFill>
                  <a:srgbClr val="FFC400"/>
                </a:solidFill>
                <a:latin typeface="Roboto"/>
                <a:ea typeface="Roboto"/>
                <a:cs typeface="Roboto"/>
              </a:defRPr>
            </a:pPr>
            <a:r>
              <a:rPr sz="1600" b="1">
                <a:solidFill>
                  <a:srgbClr val="FFC400"/>
                </a:solidFill>
                <a:latin typeface="Oswald"/>
                <a:ea typeface="Roboto"/>
                <a:cs typeface="Roboto"/>
              </a:rPr>
              <a:t>Scope</a:t>
            </a:r>
          </a:p>
        </p:txBody>
      </p:sp>
      <p:sp>
        <p:nvSpPr>
          <p:cNvPr id="31" name="Prostokąt 25">
            <a:extLst>
              <a:ext uri="{FF2B5EF4-FFF2-40B4-BE49-F238E27FC236}">
                <a16:creationId xmlns:a16="http://schemas.microsoft.com/office/drawing/2014/main" id="{AC7DD977-6432-4110-9CFD-B9AF3228E475}"/>
              </a:ext>
            </a:extLst>
          </p:cNvPr>
          <p:cNvSpPr>
            <a:spLocks noGrp="1"/>
          </p:cNvSpPr>
          <p:nvPr/>
        </p:nvSpPr>
        <p:spPr>
          <a:xfrm>
            <a:off x="6073729" y="4384602"/>
            <a:ext cx="1932072" cy="700838"/>
          </a:xfrm>
          <a:prstGeom prst="rect">
            <a:avLst/>
          </a:prstGeom>
          <a:noFill/>
          <a:ln w="0">
            <a:noFill/>
          </a:ln>
        </p:spPr>
        <p:txBody>
          <a:bodyPr lIns="91440" tIns="45720" rIns="91440" bIns="45720" anchor="t">
            <a:noAutofit/>
          </a:bodyPr>
          <a:lstStyle/>
          <a:p>
            <a:pPr>
              <a:defRPr sz="975" b="0">
                <a:solidFill>
                  <a:srgbClr val="F7F5F1"/>
                </a:solidFill>
                <a:latin typeface="Roboto"/>
                <a:ea typeface="Roboto"/>
                <a:cs typeface="Roboto"/>
              </a:defRPr>
            </a:pPr>
            <a:r>
              <a:rPr sz="1400" b="0">
                <a:solidFill>
                  <a:srgbClr val="F7F5F1"/>
                </a:solidFill>
                <a:latin typeface="Oswald"/>
                <a:ea typeface="Roboto"/>
                <a:cs typeface="Roboto"/>
              </a:rPr>
              <a:t>Which stores may this </a:t>
            </a:r>
            <a:r>
              <a:rPr lang="pl-PL" sz="1400" err="1">
                <a:solidFill>
                  <a:srgbClr val="F7F5F1"/>
                </a:solidFill>
                <a:latin typeface="Oswald"/>
                <a:ea typeface="Roboto"/>
                <a:cs typeface="Roboto"/>
              </a:rPr>
              <a:t>user</a:t>
            </a:r>
            <a:r>
              <a:rPr lang="pl-PL" sz="1400">
                <a:solidFill>
                  <a:srgbClr val="F7F5F1"/>
                </a:solidFill>
                <a:latin typeface="Oswald"/>
                <a:ea typeface="Roboto"/>
                <a:cs typeface="Roboto"/>
              </a:rPr>
              <a:t> </a:t>
            </a:r>
            <a:r>
              <a:rPr lang="pl-PL" sz="1400" err="1">
                <a:solidFill>
                  <a:srgbClr val="F7F5F1"/>
                </a:solidFill>
                <a:latin typeface="Oswald"/>
                <a:ea typeface="Roboto"/>
                <a:cs typeface="Roboto"/>
              </a:rPr>
              <a:t>see</a:t>
            </a:r>
            <a:r>
              <a:rPr sz="1400" b="0">
                <a:solidFill>
                  <a:srgbClr val="F7F5F1"/>
                </a:solidFill>
                <a:latin typeface="Oswald"/>
                <a:ea typeface="Roboto"/>
                <a:cs typeface="Roboto"/>
              </a:rPr>
              <a:t>?</a:t>
            </a:r>
          </a:p>
        </p:txBody>
      </p:sp>
      <p:sp>
        <p:nvSpPr>
          <p:cNvPr id="33" name="Prostokąt: zaokrąglone rogi 26">
            <a:extLst>
              <a:ext uri="{FF2B5EF4-FFF2-40B4-BE49-F238E27FC236}">
                <a16:creationId xmlns:a16="http://schemas.microsoft.com/office/drawing/2014/main" id="{E88D414B-9D99-4A18-D450-53138DA90A82}"/>
              </a:ext>
            </a:extLst>
          </p:cNvPr>
          <p:cNvSpPr>
            <a:spLocks noGrp="1"/>
          </p:cNvSpPr>
          <p:nvPr/>
        </p:nvSpPr>
        <p:spPr>
          <a:xfrm>
            <a:off x="8443951" y="3918879"/>
            <a:ext cx="2305050" cy="1123950"/>
          </a:xfrm>
          <a:prstGeom prst="roundRect">
            <a:avLst>
              <a:gd name="adj" fmla="val 8475"/>
            </a:avLst>
          </a:prstGeom>
          <a:solidFill>
            <a:srgbClr val="455A61"/>
          </a:solidFill>
          <a:ln w="13335">
            <a:solidFill>
              <a:srgbClr val="FF7A1A"/>
            </a:solidFill>
            <a:prstDash val="solid"/>
          </a:ln>
        </p:spPr>
        <p:txBody>
          <a:bodyPr/>
          <a:lstStyle/>
          <a:p>
            <a:endParaRPr lang="pl-PL" sz="2000">
              <a:latin typeface="Oswald"/>
            </a:endParaRPr>
          </a:p>
        </p:txBody>
      </p:sp>
      <p:sp>
        <p:nvSpPr>
          <p:cNvPr id="35" name="Prostokąt 27">
            <a:extLst>
              <a:ext uri="{FF2B5EF4-FFF2-40B4-BE49-F238E27FC236}">
                <a16:creationId xmlns:a16="http://schemas.microsoft.com/office/drawing/2014/main" id="{3AB16038-CE12-148B-2B2D-DAA678A54A0C}"/>
              </a:ext>
            </a:extLst>
          </p:cNvPr>
          <p:cNvSpPr>
            <a:spLocks noGrp="1"/>
          </p:cNvSpPr>
          <p:nvPr/>
        </p:nvSpPr>
        <p:spPr>
          <a:xfrm>
            <a:off x="8615401" y="4033179"/>
            <a:ext cx="1962150" cy="333375"/>
          </a:xfrm>
          <a:prstGeom prst="rect">
            <a:avLst/>
          </a:prstGeom>
          <a:noFill/>
          <a:ln w="0">
            <a:noFill/>
          </a:ln>
        </p:spPr>
        <p:txBody>
          <a:bodyPr anchor="ctr">
            <a:normAutofit lnSpcReduction="10000"/>
          </a:bodyPr>
          <a:lstStyle/>
          <a:p>
            <a:pPr algn="l">
              <a:defRPr sz="1275" b="1">
                <a:solidFill>
                  <a:srgbClr val="FFC400"/>
                </a:solidFill>
                <a:latin typeface="Roboto"/>
                <a:ea typeface="Roboto"/>
                <a:cs typeface="Roboto"/>
              </a:defRPr>
            </a:pPr>
            <a:r>
              <a:rPr sz="1600" b="1">
                <a:solidFill>
                  <a:srgbClr val="FFC400"/>
                </a:solidFill>
                <a:latin typeface="Oswald"/>
                <a:ea typeface="Roboto"/>
                <a:cs typeface="Roboto"/>
              </a:rPr>
              <a:t>Evidence</a:t>
            </a:r>
          </a:p>
        </p:txBody>
      </p:sp>
      <p:sp>
        <p:nvSpPr>
          <p:cNvPr id="37" name="Prostokąt 28">
            <a:extLst>
              <a:ext uri="{FF2B5EF4-FFF2-40B4-BE49-F238E27FC236}">
                <a16:creationId xmlns:a16="http://schemas.microsoft.com/office/drawing/2014/main" id="{3850B35C-076E-5DA5-6896-98ECF63D27F6}"/>
              </a:ext>
            </a:extLst>
          </p:cNvPr>
          <p:cNvSpPr>
            <a:spLocks noGrp="1"/>
          </p:cNvSpPr>
          <p:nvPr/>
        </p:nvSpPr>
        <p:spPr>
          <a:xfrm>
            <a:off x="8615401" y="4404654"/>
            <a:ext cx="1962150" cy="400050"/>
          </a:xfrm>
          <a:prstGeom prst="rect">
            <a:avLst/>
          </a:prstGeom>
          <a:noFill/>
          <a:ln w="0">
            <a:noFill/>
          </a:ln>
        </p:spPr>
        <p:txBody>
          <a:bodyPr anchor="t">
            <a:normAutofit fontScale="85000" lnSpcReduction="10000"/>
          </a:bodyPr>
          <a:lstStyle/>
          <a:p>
            <a:pPr algn="l">
              <a:defRPr sz="975" b="0">
                <a:solidFill>
                  <a:srgbClr val="F7F5F1"/>
                </a:solidFill>
                <a:latin typeface="Roboto"/>
                <a:ea typeface="Roboto"/>
                <a:cs typeface="Roboto"/>
              </a:defRPr>
            </a:pPr>
            <a:r>
              <a:rPr sz="1400" b="0">
                <a:solidFill>
                  <a:srgbClr val="F7F5F1"/>
                </a:solidFill>
                <a:latin typeface="Oswald"/>
                <a:ea typeface="Roboto"/>
                <a:cs typeface="Roboto"/>
              </a:rPr>
              <a:t>How can we verify the answer?</a:t>
            </a:r>
          </a:p>
        </p:txBody>
      </p:sp>
      <p:sp>
        <p:nvSpPr>
          <p:cNvPr id="39" name="Strzałka: w prawo 29">
            <a:extLst>
              <a:ext uri="{FF2B5EF4-FFF2-40B4-BE49-F238E27FC236}">
                <a16:creationId xmlns:a16="http://schemas.microsoft.com/office/drawing/2014/main" id="{B4DF5790-9BA5-5BCF-AEA3-285A0655FB5F}"/>
              </a:ext>
            </a:extLst>
          </p:cNvPr>
          <p:cNvSpPr>
            <a:spLocks noGrp="1"/>
          </p:cNvSpPr>
          <p:nvPr/>
        </p:nvSpPr>
        <p:spPr>
          <a:xfrm>
            <a:off x="4748251" y="3185454"/>
            <a:ext cx="1057275" cy="152400"/>
          </a:xfrm>
          <a:prstGeom prst="rightArrow">
            <a:avLst/>
          </a:prstGeom>
          <a:solidFill>
            <a:srgbClr val="FF7A1A"/>
          </a:solidFill>
          <a:ln w="0">
            <a:noFill/>
          </a:ln>
        </p:spPr>
        <p:txBody>
          <a:bodyPr/>
          <a:lstStyle/>
          <a:p>
            <a:endParaRPr lang="pl-PL" sz="2000">
              <a:latin typeface="Oswald"/>
            </a:endParaRPr>
          </a:p>
        </p:txBody>
      </p:sp>
      <p:sp>
        <p:nvSpPr>
          <p:cNvPr id="41" name="Prostokąt: zaokrąglone rogi 30">
            <a:extLst>
              <a:ext uri="{FF2B5EF4-FFF2-40B4-BE49-F238E27FC236}">
                <a16:creationId xmlns:a16="http://schemas.microsoft.com/office/drawing/2014/main" id="{5A890FFE-5E2B-50BC-6C8C-0C30478DD650}"/>
              </a:ext>
            </a:extLst>
          </p:cNvPr>
          <p:cNvSpPr>
            <a:spLocks noGrp="1"/>
          </p:cNvSpPr>
          <p:nvPr/>
        </p:nvSpPr>
        <p:spPr>
          <a:xfrm>
            <a:off x="1947901" y="5861979"/>
            <a:ext cx="8420100" cy="552450"/>
          </a:xfrm>
          <a:prstGeom prst="roundRect">
            <a:avLst>
              <a:gd name="adj" fmla="val 24138"/>
            </a:avLst>
          </a:prstGeom>
          <a:solidFill>
            <a:srgbClr val="624D08"/>
          </a:solidFill>
          <a:ln w="13335">
            <a:solidFill>
              <a:srgbClr val="FFC400"/>
            </a:solidFill>
            <a:prstDash val="solid"/>
          </a:ln>
        </p:spPr>
        <p:txBody>
          <a:bodyPr anchor="ctr">
            <a:normAutofit/>
          </a:bodyPr>
          <a:lstStyle/>
          <a:p>
            <a:pPr algn="ctr">
              <a:defRPr sz="1275" b="1">
                <a:solidFill>
                  <a:srgbClr val="F7F5F1"/>
                </a:solidFill>
                <a:latin typeface="Roboto"/>
                <a:ea typeface="Roboto"/>
                <a:cs typeface="Roboto"/>
              </a:defRPr>
            </a:pPr>
            <a:r>
              <a:rPr sz="1400" b="1">
                <a:solidFill>
                  <a:srgbClr val="F7F5F1"/>
                </a:solidFill>
                <a:latin typeface="Oswald"/>
                <a:ea typeface="Roboto"/>
                <a:cs typeface="Roboto"/>
              </a:rPr>
              <a:t>Raw access gives the agent flexibility. A reliable answer needs an engineered interface.</a:t>
            </a:r>
          </a:p>
        </p:txBody>
      </p:sp>
      <p:sp>
        <p:nvSpPr>
          <p:cNvPr id="43" name="TextBox 42">
            <a:extLst>
              <a:ext uri="{FF2B5EF4-FFF2-40B4-BE49-F238E27FC236}">
                <a16:creationId xmlns:a16="http://schemas.microsoft.com/office/drawing/2014/main" id="{D22E410F-1EC2-C63D-3BE5-AA45E5842788}"/>
              </a:ext>
            </a:extLst>
          </p:cNvPr>
          <p:cNvSpPr txBox="1"/>
          <p:nvPr/>
        </p:nvSpPr>
        <p:spPr>
          <a:xfrm>
            <a:off x="548022" y="1719310"/>
            <a:ext cx="1046413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Oswald"/>
                <a:ea typeface="Roboto"/>
                <a:cs typeface="Roboto"/>
              </a:rPr>
              <a:t>A database connection can answer a syntactic question. The business question still depends on definitions, authority, scope, and proof.</a:t>
            </a:r>
          </a:p>
          <a:p>
            <a:pPr algn="l"/>
            <a:endParaRPr lang="en-US" sz="2000">
              <a:latin typeface="Oswald"/>
            </a:endParaRPr>
          </a:p>
        </p:txBody>
      </p:sp>
    </p:spTree>
    <p:extLst>
      <p:ext uri="{BB962C8B-B14F-4D97-AF65-F5344CB8AC3E}">
        <p14:creationId xmlns:p14="http://schemas.microsoft.com/office/powerpoint/2010/main" val="2993040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E8F4B-64C2-EB36-74C1-FD0B96D07C69}"/>
              </a:ext>
            </a:extLst>
          </p:cNvPr>
          <p:cNvSpPr>
            <a:spLocks noGrp="1"/>
          </p:cNvSpPr>
          <p:nvPr>
            <p:ph type="title"/>
          </p:nvPr>
        </p:nvSpPr>
        <p:spPr/>
        <p:txBody>
          <a:bodyPr/>
          <a:lstStyle/>
          <a:p>
            <a:r>
              <a:rPr lang="en-US">
                <a:latin typeface="Oswald"/>
              </a:rPr>
              <a:t>Enterprise systems don't speak "agentic" </a:t>
            </a:r>
          </a:p>
        </p:txBody>
      </p:sp>
      <p:sp>
        <p:nvSpPr>
          <p:cNvPr id="5" name="pole tekstowe 3">
            <a:extLst>
              <a:ext uri="{FF2B5EF4-FFF2-40B4-BE49-F238E27FC236}">
                <a16:creationId xmlns:a16="http://schemas.microsoft.com/office/drawing/2014/main" id="{597550FE-1CDA-8A22-68AA-58C0E67B5986}"/>
              </a:ext>
            </a:extLst>
          </p:cNvPr>
          <p:cNvSpPr txBox="1"/>
          <p:nvPr/>
        </p:nvSpPr>
        <p:spPr>
          <a:xfrm>
            <a:off x="1033037" y="1713848"/>
            <a:ext cx="10143941" cy="18566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u="none" strike="noStrike">
                <a:latin typeface="Oswald"/>
                <a:ea typeface="Roboto"/>
                <a:cs typeface="Roboto"/>
              </a:rPr>
              <a:t>Without a standard interface, every source becomes a custom integration and every agent needs bespoke context.</a:t>
            </a:r>
          </a:p>
          <a:p>
            <a:endParaRPr lang="en-US" sz="4800">
              <a:latin typeface="Oswald"/>
            </a:endParaRPr>
          </a:p>
          <a:p>
            <a:pPr algn="ctr"/>
            <a:endParaRPr lang="pl-PL" sz="4800">
              <a:latin typeface="Oswald"/>
            </a:endParaRPr>
          </a:p>
        </p:txBody>
      </p:sp>
      <p:sp>
        <p:nvSpPr>
          <p:cNvPr id="7" name="Shape 4">
            <a:extLst>
              <a:ext uri="{FF2B5EF4-FFF2-40B4-BE49-F238E27FC236}">
                <a16:creationId xmlns:a16="http://schemas.microsoft.com/office/drawing/2014/main" id="{CB3B5294-3872-42F3-6B04-B99760287C9C}"/>
              </a:ext>
            </a:extLst>
          </p:cNvPr>
          <p:cNvSpPr/>
          <p:nvPr/>
        </p:nvSpPr>
        <p:spPr>
          <a:xfrm>
            <a:off x="2099902" y="2439397"/>
            <a:ext cx="7407617" cy="629618"/>
          </a:xfrm>
          <a:prstGeom prst="roundRect">
            <a:avLst>
              <a:gd name="adj" fmla="val 7467"/>
            </a:avLst>
          </a:prstGeom>
          <a:solidFill>
            <a:srgbClr val="475C66"/>
          </a:solidFill>
          <a:ln w="30480">
            <a:solidFill>
              <a:srgbClr val="975C1B"/>
            </a:solidFill>
            <a:prstDash val="solid"/>
          </a:ln>
        </p:spPr>
        <p:txBody>
          <a:bodyPr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l-PL" sz="2000" err="1">
                <a:solidFill>
                  <a:srgbClr val="FFFFFF"/>
                </a:solidFill>
                <a:latin typeface="Oswald"/>
                <a:ea typeface="+mn-lt"/>
                <a:cs typeface="+mn-lt"/>
              </a:rPr>
              <a:t>Sees</a:t>
            </a:r>
            <a:r>
              <a:rPr lang="pl-PL" sz="2000">
                <a:solidFill>
                  <a:srgbClr val="FFFFFF"/>
                </a:solidFill>
                <a:latin typeface="Oswald"/>
                <a:ea typeface="+mn-lt"/>
                <a:cs typeface="+mn-lt"/>
              </a:rPr>
              <a:t> </a:t>
            </a:r>
            <a:r>
              <a:rPr lang="pl-PL" sz="2000" err="1">
                <a:solidFill>
                  <a:srgbClr val="FFFFFF"/>
                </a:solidFill>
                <a:latin typeface="Oswald"/>
                <a:ea typeface="+mn-lt"/>
                <a:cs typeface="+mn-lt"/>
              </a:rPr>
              <a:t>tables</a:t>
            </a:r>
            <a:r>
              <a:rPr lang="pl-PL" sz="2000">
                <a:solidFill>
                  <a:srgbClr val="FFFFFF"/>
                </a:solidFill>
                <a:latin typeface="Oswald"/>
                <a:ea typeface="+mn-lt"/>
                <a:cs typeface="+mn-lt"/>
              </a:rPr>
              <a:t>, not </a:t>
            </a:r>
            <a:r>
              <a:rPr lang="pl-PL" sz="2000" err="1">
                <a:solidFill>
                  <a:srgbClr val="FFFFFF"/>
                </a:solidFill>
                <a:latin typeface="Oswald"/>
                <a:ea typeface="+mn-lt"/>
                <a:cs typeface="+mn-lt"/>
              </a:rPr>
              <a:t>definitions</a:t>
            </a:r>
            <a:endParaRPr lang="pl-PL" sz="2000"/>
          </a:p>
          <a:p>
            <a:pPr algn="ctr"/>
            <a:r>
              <a:rPr lang="pl-PL" sz="1400">
                <a:solidFill>
                  <a:srgbClr val="FFFFFF"/>
                </a:solidFill>
                <a:latin typeface="Oswald"/>
                <a:ea typeface="Roboto"/>
                <a:cs typeface="Roboto"/>
              </a:rPr>
              <a:t>The agent </a:t>
            </a:r>
            <a:r>
              <a:rPr lang="pl-PL" sz="1400" err="1">
                <a:solidFill>
                  <a:srgbClr val="FFFFFF"/>
                </a:solidFill>
                <a:latin typeface="Oswald"/>
                <a:ea typeface="Roboto"/>
                <a:cs typeface="Roboto"/>
              </a:rPr>
              <a:t>lacks</a:t>
            </a:r>
            <a:r>
              <a:rPr lang="pl-PL" sz="1400">
                <a:solidFill>
                  <a:srgbClr val="FFFFFF"/>
                </a:solidFill>
                <a:latin typeface="Oswald"/>
                <a:ea typeface="Roboto"/>
                <a:cs typeface="Roboto"/>
              </a:rPr>
              <a:t> </a:t>
            </a:r>
            <a:r>
              <a:rPr lang="pl-PL" sz="1400" err="1">
                <a:solidFill>
                  <a:srgbClr val="FFFFFF"/>
                </a:solidFill>
                <a:latin typeface="Oswald"/>
                <a:ea typeface="Roboto"/>
                <a:cs typeface="Roboto"/>
              </a:rPr>
              <a:t>metric</a:t>
            </a:r>
            <a:r>
              <a:rPr lang="pl-PL" sz="1400">
                <a:solidFill>
                  <a:srgbClr val="FFFFFF"/>
                </a:solidFill>
                <a:latin typeface="Oswald"/>
                <a:ea typeface="Roboto"/>
                <a:cs typeface="Roboto"/>
              </a:rPr>
              <a:t> </a:t>
            </a:r>
            <a:r>
              <a:rPr lang="pl-PL" sz="1400" err="1">
                <a:solidFill>
                  <a:srgbClr val="FFFFFF"/>
                </a:solidFill>
                <a:latin typeface="Oswald"/>
                <a:ea typeface="Roboto"/>
                <a:cs typeface="Roboto"/>
              </a:rPr>
              <a:t>definitions</a:t>
            </a:r>
            <a:endParaRPr lang="en-US" sz="1400"/>
          </a:p>
        </p:txBody>
      </p:sp>
      <p:sp>
        <p:nvSpPr>
          <p:cNvPr id="9" name="Shape 4">
            <a:extLst>
              <a:ext uri="{FF2B5EF4-FFF2-40B4-BE49-F238E27FC236}">
                <a16:creationId xmlns:a16="http://schemas.microsoft.com/office/drawing/2014/main" id="{E5B0DD68-12F6-6C36-3274-5B0003AB2176}"/>
              </a:ext>
            </a:extLst>
          </p:cNvPr>
          <p:cNvSpPr/>
          <p:nvPr/>
        </p:nvSpPr>
        <p:spPr>
          <a:xfrm>
            <a:off x="2099902" y="3257154"/>
            <a:ext cx="7407617" cy="629618"/>
          </a:xfrm>
          <a:prstGeom prst="roundRect">
            <a:avLst>
              <a:gd name="adj" fmla="val 7467"/>
            </a:avLst>
          </a:prstGeom>
          <a:solidFill>
            <a:srgbClr val="475C66"/>
          </a:solidFill>
          <a:ln w="30480">
            <a:solidFill>
              <a:srgbClr val="975C1B"/>
            </a:solidFill>
            <a:prstDash val="solid"/>
          </a:ln>
        </p:spPr>
        <p:txBody>
          <a:bodyPr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l-PL" sz="2000" err="1">
                <a:solidFill>
                  <a:srgbClr val="FFFFFF"/>
                </a:solidFill>
                <a:latin typeface="Oswald"/>
                <a:ea typeface="+mn-lt"/>
                <a:cs typeface="+mn-lt"/>
              </a:rPr>
              <a:t>Wrong</a:t>
            </a:r>
            <a:r>
              <a:rPr lang="pl-PL" sz="2000">
                <a:solidFill>
                  <a:srgbClr val="FFFFFF"/>
                </a:solidFill>
                <a:latin typeface="Oswald"/>
                <a:ea typeface="+mn-lt"/>
                <a:cs typeface="+mn-lt"/>
              </a:rPr>
              <a:t> </a:t>
            </a:r>
            <a:r>
              <a:rPr lang="pl-PL" sz="2000" err="1">
                <a:solidFill>
                  <a:srgbClr val="FFFFFF"/>
                </a:solidFill>
                <a:latin typeface="Oswald"/>
                <a:ea typeface="+mn-lt"/>
                <a:cs typeface="+mn-lt"/>
              </a:rPr>
              <a:t>source</a:t>
            </a:r>
            <a:endParaRPr lang="pl-PL" err="1"/>
          </a:p>
          <a:p>
            <a:pPr algn="ctr"/>
            <a:r>
              <a:rPr lang="pl-PL" sz="1400" err="1">
                <a:solidFill>
                  <a:srgbClr val="FFFFFF"/>
                </a:solidFill>
                <a:latin typeface="Oswald"/>
                <a:ea typeface="Roboto"/>
                <a:cs typeface="Roboto"/>
              </a:rPr>
              <a:t>Chooses</a:t>
            </a:r>
            <a:r>
              <a:rPr lang="pl-PL" sz="1400">
                <a:solidFill>
                  <a:srgbClr val="FFFFFF"/>
                </a:solidFill>
                <a:latin typeface="Oswald"/>
                <a:ea typeface="Roboto"/>
                <a:cs typeface="Roboto"/>
              </a:rPr>
              <a:t> </a:t>
            </a:r>
            <a:r>
              <a:rPr lang="pl-PL" sz="1400" err="1">
                <a:solidFill>
                  <a:srgbClr val="FFFFFF"/>
                </a:solidFill>
                <a:latin typeface="Oswald"/>
                <a:ea typeface="Roboto"/>
                <a:cs typeface="Roboto"/>
              </a:rPr>
              <a:t>convenience</a:t>
            </a:r>
            <a:r>
              <a:rPr lang="pl-PL" sz="1400">
                <a:solidFill>
                  <a:srgbClr val="FFFFFF"/>
                </a:solidFill>
                <a:latin typeface="Oswald"/>
                <a:ea typeface="Roboto"/>
                <a:cs typeface="Roboto"/>
              </a:rPr>
              <a:t> </a:t>
            </a:r>
            <a:r>
              <a:rPr lang="pl-PL" sz="1400" err="1">
                <a:solidFill>
                  <a:srgbClr val="FFFFFF"/>
                </a:solidFill>
                <a:latin typeface="Oswald"/>
                <a:ea typeface="Roboto"/>
                <a:cs typeface="Roboto"/>
              </a:rPr>
              <a:t>over</a:t>
            </a:r>
            <a:r>
              <a:rPr lang="pl-PL" sz="1400">
                <a:solidFill>
                  <a:srgbClr val="FFFFFF"/>
                </a:solidFill>
                <a:latin typeface="Oswald"/>
                <a:ea typeface="Roboto"/>
                <a:cs typeface="Roboto"/>
              </a:rPr>
              <a:t> authority</a:t>
            </a:r>
            <a:endParaRPr lang="en-US"/>
          </a:p>
        </p:txBody>
      </p:sp>
      <p:sp>
        <p:nvSpPr>
          <p:cNvPr id="11" name="Shape 4">
            <a:extLst>
              <a:ext uri="{FF2B5EF4-FFF2-40B4-BE49-F238E27FC236}">
                <a16:creationId xmlns:a16="http://schemas.microsoft.com/office/drawing/2014/main" id="{B74BC7BE-D2F4-2A9F-7A48-DD4CCEFEE531}"/>
              </a:ext>
            </a:extLst>
          </p:cNvPr>
          <p:cNvSpPr/>
          <p:nvPr/>
        </p:nvSpPr>
        <p:spPr>
          <a:xfrm>
            <a:off x="2099902" y="4074909"/>
            <a:ext cx="7407617" cy="629618"/>
          </a:xfrm>
          <a:prstGeom prst="roundRect">
            <a:avLst>
              <a:gd name="adj" fmla="val 7467"/>
            </a:avLst>
          </a:prstGeom>
          <a:solidFill>
            <a:srgbClr val="475C66"/>
          </a:solidFill>
          <a:ln w="30480">
            <a:solidFill>
              <a:srgbClr val="975C1B"/>
            </a:solidFill>
            <a:prstDash val="solid"/>
          </a:ln>
        </p:spPr>
        <p:txBody>
          <a:bodyPr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l-PL" sz="2000" err="1">
                <a:solidFill>
                  <a:srgbClr val="FFFFFF"/>
                </a:solidFill>
                <a:latin typeface="Oswald"/>
                <a:ea typeface="Roboto"/>
                <a:cs typeface="Roboto"/>
              </a:rPr>
              <a:t>Permissions</a:t>
            </a:r>
            <a:r>
              <a:rPr lang="pl-PL" sz="2000">
                <a:solidFill>
                  <a:srgbClr val="FFFFFF"/>
                </a:solidFill>
                <a:latin typeface="Oswald"/>
                <a:ea typeface="Roboto"/>
                <a:cs typeface="Roboto"/>
              </a:rPr>
              <a:t> </a:t>
            </a:r>
            <a:r>
              <a:rPr lang="pl-PL" sz="2000" err="1">
                <a:solidFill>
                  <a:srgbClr val="FFFFFF"/>
                </a:solidFill>
                <a:latin typeface="Oswald"/>
                <a:ea typeface="Roboto"/>
                <a:cs typeface="Roboto"/>
              </a:rPr>
              <a:t>outside</a:t>
            </a:r>
            <a:r>
              <a:rPr lang="pl-PL" sz="2000">
                <a:solidFill>
                  <a:srgbClr val="FFFFFF"/>
                </a:solidFill>
                <a:latin typeface="Oswald"/>
                <a:ea typeface="Roboto"/>
                <a:cs typeface="Roboto"/>
              </a:rPr>
              <a:t> the model</a:t>
            </a:r>
            <a:endParaRPr lang="pl-PL"/>
          </a:p>
          <a:p>
            <a:pPr algn="ctr"/>
            <a:r>
              <a:rPr lang="pl-PL" sz="1400" err="1">
                <a:solidFill>
                  <a:srgbClr val="FFFFFF"/>
                </a:solidFill>
                <a:latin typeface="Oswald"/>
                <a:ea typeface="Roboto"/>
                <a:cs typeface="Roboto"/>
              </a:rPr>
              <a:t>Approvals</a:t>
            </a:r>
            <a:r>
              <a:rPr lang="pl-PL" sz="1400">
                <a:solidFill>
                  <a:srgbClr val="FFFFFF"/>
                </a:solidFill>
                <a:latin typeface="Oswald"/>
                <a:ea typeface="Roboto"/>
                <a:cs typeface="Roboto"/>
              </a:rPr>
              <a:t> live </a:t>
            </a:r>
            <a:r>
              <a:rPr lang="pl-PL" sz="1400" err="1">
                <a:solidFill>
                  <a:srgbClr val="FFFFFF"/>
                </a:solidFill>
                <a:latin typeface="Oswald"/>
                <a:ea typeface="Roboto"/>
                <a:cs typeface="Roboto"/>
              </a:rPr>
              <a:t>elsewhere</a:t>
            </a:r>
            <a:endParaRPr lang="en-US" err="1"/>
          </a:p>
        </p:txBody>
      </p:sp>
      <p:sp>
        <p:nvSpPr>
          <p:cNvPr id="13" name="Shape 4">
            <a:extLst>
              <a:ext uri="{FF2B5EF4-FFF2-40B4-BE49-F238E27FC236}">
                <a16:creationId xmlns:a16="http://schemas.microsoft.com/office/drawing/2014/main" id="{3DD5808A-2B4D-F49C-2370-D365550AE25E}"/>
              </a:ext>
            </a:extLst>
          </p:cNvPr>
          <p:cNvSpPr/>
          <p:nvPr/>
        </p:nvSpPr>
        <p:spPr>
          <a:xfrm>
            <a:off x="2099902" y="4892665"/>
            <a:ext cx="7407617" cy="629618"/>
          </a:xfrm>
          <a:prstGeom prst="roundRect">
            <a:avLst>
              <a:gd name="adj" fmla="val 7467"/>
            </a:avLst>
          </a:prstGeom>
          <a:solidFill>
            <a:srgbClr val="475C66"/>
          </a:solidFill>
          <a:ln w="30480">
            <a:solidFill>
              <a:srgbClr val="975C1B"/>
            </a:solidFill>
            <a:prstDash val="solid"/>
          </a:ln>
        </p:spPr>
        <p:txBody>
          <a:bodyPr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l-PL" sz="2000" err="1">
                <a:solidFill>
                  <a:srgbClr val="FFFFFF"/>
                </a:solidFill>
                <a:latin typeface="Oswald"/>
                <a:ea typeface="+mn-lt"/>
                <a:cs typeface="+mn-lt"/>
              </a:rPr>
              <a:t>Repeated</a:t>
            </a:r>
            <a:r>
              <a:rPr lang="pl-PL" sz="2000">
                <a:solidFill>
                  <a:srgbClr val="FFFFFF"/>
                </a:solidFill>
                <a:latin typeface="Oswald"/>
                <a:ea typeface="+mn-lt"/>
                <a:cs typeface="+mn-lt"/>
              </a:rPr>
              <a:t> </a:t>
            </a:r>
            <a:r>
              <a:rPr lang="pl-PL" sz="2000" err="1">
                <a:solidFill>
                  <a:srgbClr val="FFFFFF"/>
                </a:solidFill>
                <a:latin typeface="Oswald"/>
                <a:ea typeface="+mn-lt"/>
                <a:cs typeface="+mn-lt"/>
              </a:rPr>
              <a:t>plumbing</a:t>
            </a:r>
            <a:endParaRPr lang="pl-PL" err="1"/>
          </a:p>
          <a:p>
            <a:pPr algn="ctr"/>
            <a:r>
              <a:rPr lang="pl-PL" sz="1400">
                <a:solidFill>
                  <a:srgbClr val="FFFFFF"/>
                </a:solidFill>
                <a:latin typeface="Oswald"/>
                <a:ea typeface="Roboto"/>
                <a:cs typeface="Roboto"/>
              </a:rPr>
              <a:t>The same </a:t>
            </a:r>
            <a:r>
              <a:rPr lang="pl-PL" sz="1400" err="1">
                <a:solidFill>
                  <a:srgbClr val="FFFFFF"/>
                </a:solidFill>
                <a:latin typeface="Oswald"/>
                <a:ea typeface="Roboto"/>
                <a:cs typeface="Roboto"/>
              </a:rPr>
              <a:t>risk</a:t>
            </a:r>
            <a:r>
              <a:rPr lang="pl-PL" sz="1400">
                <a:solidFill>
                  <a:srgbClr val="FFFFFF"/>
                </a:solidFill>
                <a:latin typeface="Oswald"/>
                <a:ea typeface="Roboto"/>
                <a:cs typeface="Roboto"/>
              </a:rPr>
              <a:t> </a:t>
            </a:r>
            <a:r>
              <a:rPr lang="pl-PL" sz="1400" err="1">
                <a:solidFill>
                  <a:srgbClr val="FFFFFF"/>
                </a:solidFill>
                <a:latin typeface="Oswald"/>
                <a:ea typeface="Roboto"/>
                <a:cs typeface="Roboto"/>
              </a:rPr>
              <a:t>analysis</a:t>
            </a:r>
            <a:r>
              <a:rPr lang="pl-PL" sz="1400">
                <a:solidFill>
                  <a:srgbClr val="FFFFFF"/>
                </a:solidFill>
                <a:latin typeface="Oswald"/>
                <a:ea typeface="Roboto"/>
                <a:cs typeface="Roboto"/>
              </a:rPr>
              <a:t> </a:t>
            </a:r>
            <a:r>
              <a:rPr lang="pl-PL" sz="1400" err="1">
                <a:solidFill>
                  <a:srgbClr val="FFFFFF"/>
                </a:solidFill>
                <a:latin typeface="Oswald"/>
                <a:ea typeface="Roboto"/>
                <a:cs typeface="Roboto"/>
              </a:rPr>
              <a:t>is</a:t>
            </a:r>
            <a:r>
              <a:rPr lang="pl-PL" sz="1400">
                <a:solidFill>
                  <a:srgbClr val="FFFFFF"/>
                </a:solidFill>
                <a:latin typeface="Oswald"/>
                <a:ea typeface="Roboto"/>
                <a:cs typeface="Roboto"/>
              </a:rPr>
              <a:t> </a:t>
            </a:r>
            <a:r>
              <a:rPr lang="pl-PL" sz="1400" err="1">
                <a:solidFill>
                  <a:srgbClr val="FFFFFF"/>
                </a:solidFill>
                <a:latin typeface="Oswald"/>
                <a:ea typeface="Roboto"/>
                <a:cs typeface="Roboto"/>
              </a:rPr>
              <a:t>repeated</a:t>
            </a:r>
            <a:r>
              <a:rPr lang="pl-PL" sz="1400">
                <a:solidFill>
                  <a:srgbClr val="FFFFFF"/>
                </a:solidFill>
                <a:latin typeface="Oswald"/>
                <a:ea typeface="Roboto"/>
                <a:cs typeface="Roboto"/>
              </a:rPr>
              <a:t> for </a:t>
            </a:r>
            <a:r>
              <a:rPr lang="pl-PL" sz="1400" err="1">
                <a:solidFill>
                  <a:srgbClr val="FFFFFF"/>
                </a:solidFill>
                <a:latin typeface="Oswald"/>
                <a:ea typeface="Roboto"/>
                <a:cs typeface="Roboto"/>
              </a:rPr>
              <a:t>each</a:t>
            </a:r>
            <a:r>
              <a:rPr lang="pl-PL" sz="1400">
                <a:solidFill>
                  <a:srgbClr val="FFFFFF"/>
                </a:solidFill>
                <a:latin typeface="Oswald"/>
                <a:ea typeface="Roboto"/>
                <a:cs typeface="Roboto"/>
              </a:rPr>
              <a:t> </a:t>
            </a:r>
            <a:r>
              <a:rPr lang="pl-PL" sz="1400" err="1">
                <a:solidFill>
                  <a:srgbClr val="FFFFFF"/>
                </a:solidFill>
                <a:latin typeface="Oswald"/>
                <a:ea typeface="Roboto"/>
                <a:cs typeface="Roboto"/>
              </a:rPr>
              <a:t>integration</a:t>
            </a:r>
            <a:endParaRPr lang="en-US" err="1"/>
          </a:p>
        </p:txBody>
      </p:sp>
      <p:sp>
        <p:nvSpPr>
          <p:cNvPr id="15" name="Shape 22">
            <a:extLst>
              <a:ext uri="{FF2B5EF4-FFF2-40B4-BE49-F238E27FC236}">
                <a16:creationId xmlns:a16="http://schemas.microsoft.com/office/drawing/2014/main" id="{BA6873B7-E759-1A2B-EF22-AD9FFE4F6B60}"/>
              </a:ext>
            </a:extLst>
          </p:cNvPr>
          <p:cNvSpPr/>
          <p:nvPr/>
        </p:nvSpPr>
        <p:spPr>
          <a:xfrm>
            <a:off x="3517260" y="5702646"/>
            <a:ext cx="4902287" cy="745956"/>
          </a:xfrm>
          <a:prstGeom prst="roundRect">
            <a:avLst>
              <a:gd name="adj" fmla="val 35660"/>
            </a:avLst>
          </a:prstGeom>
          <a:solidFill>
            <a:srgbClr val="483304"/>
          </a:solidFill>
          <a:ln/>
        </p:spPr>
        <p:txBody>
          <a:bodyPr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l-PL" sz="1200" b="1" i="0" u="none" strike="noStrike">
                <a:solidFill>
                  <a:srgbClr val="FFFFFF"/>
                </a:solidFill>
                <a:latin typeface="Oswald"/>
                <a:ea typeface="Roboto"/>
                <a:cs typeface="Roboto"/>
              </a:rPr>
              <a:t>We </a:t>
            </a:r>
            <a:r>
              <a:rPr lang="pl-PL" sz="1200" b="1" i="0" u="none" strike="noStrike" err="1">
                <a:solidFill>
                  <a:srgbClr val="FFFFFF"/>
                </a:solidFill>
                <a:latin typeface="Oswald"/>
                <a:ea typeface="Roboto"/>
                <a:cs typeface="Roboto"/>
              </a:rPr>
              <a:t>need</a:t>
            </a:r>
            <a:r>
              <a:rPr lang="pl-PL" sz="1200" b="1" i="0" u="none" strike="noStrike">
                <a:solidFill>
                  <a:srgbClr val="FFFFFF"/>
                </a:solidFill>
                <a:latin typeface="Oswald"/>
                <a:ea typeface="Roboto"/>
                <a:cs typeface="Roboto"/>
              </a:rPr>
              <a:t> a </a:t>
            </a:r>
            <a:r>
              <a:rPr lang="pl-PL" sz="1200" b="1" i="0" u="none" strike="noStrike" err="1">
                <a:solidFill>
                  <a:srgbClr val="FFFFFF"/>
                </a:solidFill>
                <a:latin typeface="Oswald"/>
                <a:ea typeface="Roboto"/>
                <a:cs typeface="Roboto"/>
              </a:rPr>
              <a:t>controlled</a:t>
            </a:r>
            <a:r>
              <a:rPr lang="pl-PL" sz="1200" b="1" i="0" u="none" strike="noStrike">
                <a:solidFill>
                  <a:srgbClr val="FFFFFF"/>
                </a:solidFill>
                <a:latin typeface="Oswald"/>
                <a:ea typeface="Roboto"/>
                <a:cs typeface="Roboto"/>
              </a:rPr>
              <a:t> </a:t>
            </a:r>
            <a:r>
              <a:rPr lang="pl-PL" sz="1200" b="1" i="0" u="none" strike="noStrike" err="1">
                <a:solidFill>
                  <a:srgbClr val="FFFFFF"/>
                </a:solidFill>
                <a:latin typeface="Oswald"/>
                <a:ea typeface="Roboto"/>
                <a:cs typeface="Roboto"/>
              </a:rPr>
              <a:t>contract</a:t>
            </a:r>
            <a:r>
              <a:rPr lang="pl-PL" sz="1200" b="1" i="0" u="none" strike="noStrike">
                <a:solidFill>
                  <a:srgbClr val="FFFFFF"/>
                </a:solidFill>
                <a:latin typeface="Oswald"/>
                <a:ea typeface="Roboto"/>
                <a:cs typeface="Roboto"/>
              </a:rPr>
              <a:t>, not </a:t>
            </a:r>
            <a:r>
              <a:rPr lang="pl-PL" sz="1200" b="1" i="0" u="none" strike="noStrike" err="1">
                <a:solidFill>
                  <a:srgbClr val="FFFFFF"/>
                </a:solidFill>
                <a:latin typeface="Oswald"/>
                <a:ea typeface="Roboto"/>
                <a:cs typeface="Roboto"/>
              </a:rPr>
              <a:t>more</a:t>
            </a:r>
            <a:r>
              <a:rPr lang="pl-PL" sz="1200" b="1" i="0" u="none" strike="noStrike">
                <a:solidFill>
                  <a:srgbClr val="FFFFFF"/>
                </a:solidFill>
                <a:latin typeface="Oswald"/>
                <a:ea typeface="Roboto"/>
                <a:cs typeface="Roboto"/>
              </a:rPr>
              <a:t> </a:t>
            </a:r>
            <a:r>
              <a:rPr lang="pl-PL" sz="1200" b="1" i="0" u="none" strike="noStrike" err="1">
                <a:solidFill>
                  <a:srgbClr val="FFFFFF"/>
                </a:solidFill>
                <a:latin typeface="Oswald"/>
                <a:ea typeface="Roboto"/>
                <a:cs typeface="Roboto"/>
              </a:rPr>
              <a:t>prompt</a:t>
            </a:r>
            <a:r>
              <a:rPr lang="pl-PL" sz="1200" b="1" i="0" u="none" strike="noStrike">
                <a:solidFill>
                  <a:srgbClr val="FFFFFF"/>
                </a:solidFill>
                <a:latin typeface="Oswald"/>
                <a:ea typeface="Roboto"/>
                <a:cs typeface="Roboto"/>
              </a:rPr>
              <a:t> </a:t>
            </a:r>
            <a:r>
              <a:rPr lang="pl-PL" sz="1200" b="1" i="0" u="none" strike="noStrike" err="1">
                <a:solidFill>
                  <a:srgbClr val="FFFFFF"/>
                </a:solidFill>
                <a:latin typeface="Oswald"/>
                <a:ea typeface="Roboto"/>
                <a:cs typeface="Roboto"/>
              </a:rPr>
              <a:t>magic</a:t>
            </a:r>
            <a:r>
              <a:rPr lang="pl-PL" sz="1200" b="1" i="0" u="none" strike="noStrike">
                <a:solidFill>
                  <a:srgbClr val="FFFFFF"/>
                </a:solidFill>
                <a:latin typeface="Oswald"/>
                <a:ea typeface="Roboto"/>
                <a:cs typeface="Roboto"/>
              </a:rPr>
              <a:t>.</a:t>
            </a:r>
            <a:endParaRPr lang="pl-PL" sz="2400"/>
          </a:p>
        </p:txBody>
      </p:sp>
      <p:pic>
        <p:nvPicPr>
          <p:cNvPr id="17" name="Image 0" descr="Obraz zawierający logo, symbol, design&#10;&#10;Zawartość wygenerowana przez AI może być niepoprawna.">
            <a:extLst>
              <a:ext uri="{FF2B5EF4-FFF2-40B4-BE49-F238E27FC236}">
                <a16:creationId xmlns:a16="http://schemas.microsoft.com/office/drawing/2014/main" id="{5B1241F0-D29F-267F-E2B6-F1D7C42A64A0}"/>
              </a:ext>
            </a:extLst>
          </p:cNvPr>
          <p:cNvPicPr>
            <a:picLocks noChangeAspect="1"/>
          </p:cNvPicPr>
          <p:nvPr/>
        </p:nvPicPr>
        <p:blipFill>
          <a:blip r:embed="rId2"/>
          <a:stretch>
            <a:fillRect/>
          </a:stretch>
        </p:blipFill>
        <p:spPr>
          <a:xfrm>
            <a:off x="3751654" y="5973636"/>
            <a:ext cx="245368" cy="196354"/>
          </a:xfrm>
          <a:prstGeom prst="rect">
            <a:avLst/>
          </a:prstGeom>
        </p:spPr>
      </p:pic>
    </p:spTree>
    <p:extLst>
      <p:ext uri="{BB962C8B-B14F-4D97-AF65-F5344CB8AC3E}">
        <p14:creationId xmlns:p14="http://schemas.microsoft.com/office/powerpoint/2010/main" val="173725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subtitle">
            <a:extLst>
              <a:ext uri="{FF2B5EF4-FFF2-40B4-BE49-F238E27FC236}">
                <a16:creationId xmlns:a16="http://schemas.microsoft.com/office/drawing/2014/main" id="{2090BD0F-5E79-4F8C-8133-5B82E4A9D650}"/>
              </a:ext>
            </a:extLst>
          </p:cNvPr>
          <p:cNvSpPr>
            <a:spLocks noGrp="1"/>
          </p:cNvSpPr>
          <p:nvPr/>
        </p:nvSpPr>
        <p:spPr>
          <a:xfrm>
            <a:off x="676501" y="1710957"/>
            <a:ext cx="10386692" cy="602940"/>
          </a:xfrm>
          <a:prstGeom prst="rect">
            <a:avLst/>
          </a:prstGeom>
          <a:noFill/>
          <a:ln w="0">
            <a:noFill/>
          </a:ln>
        </p:spPr>
        <p:txBody>
          <a:bodyPr lIns="91440" tIns="45720" rIns="91440" bIns="45720" anchor="t">
            <a:normAutofit/>
          </a:bodyPr>
          <a:lstStyle/>
          <a:p>
            <a:pPr algn="ctr">
              <a:defRPr sz="1200" b="0">
                <a:solidFill>
                  <a:srgbClr val="CED7D9"/>
                </a:solidFill>
                <a:latin typeface="Roboto"/>
                <a:ea typeface="Roboto"/>
                <a:cs typeface="Roboto"/>
              </a:defRPr>
            </a:pPr>
            <a:r>
              <a:rPr sz="1600" b="0">
                <a:solidFill>
                  <a:srgbClr val="000000"/>
                </a:solidFill>
                <a:latin typeface="Oswald"/>
                <a:ea typeface="Roboto"/>
                <a:cs typeface="Roboto"/>
              </a:rPr>
              <a:t>Each integration must rediscover capabilities, describe inputs, handle authentication, translate errors, and format results.</a:t>
            </a:r>
            <a:endParaRPr lang="en-US" sz="1600"/>
          </a:p>
        </p:txBody>
      </p:sp>
      <p:sp>
        <p:nvSpPr>
          <p:cNvPr id="18" name="Prostokąt 17">
            <a:extLst>
              <a:ext uri="{FF2B5EF4-FFF2-40B4-BE49-F238E27FC236}">
                <a16:creationId xmlns:a16="http://schemas.microsoft.com/office/drawing/2014/main" id="{BC48E38A-19CB-4104-B542-69E43314CA79}"/>
              </a:ext>
            </a:extLst>
          </p:cNvPr>
          <p:cNvSpPr>
            <a:spLocks noGrp="1"/>
          </p:cNvSpPr>
          <p:nvPr/>
        </p:nvSpPr>
        <p:spPr>
          <a:xfrm>
            <a:off x="1100254" y="2308437"/>
            <a:ext cx="2667000" cy="400050"/>
          </a:xfrm>
          <a:prstGeom prst="rect">
            <a:avLst/>
          </a:prstGeom>
          <a:noFill/>
          <a:ln w="0">
            <a:noFill/>
          </a:ln>
        </p:spPr>
        <p:txBody>
          <a:bodyPr anchor="ctr">
            <a:normAutofit/>
          </a:bodyPr>
          <a:lstStyle/>
          <a:p>
            <a:pPr algn="ctr">
              <a:defRPr sz="1350" b="1">
                <a:solidFill>
                  <a:srgbClr val="FFC400"/>
                </a:solidFill>
                <a:latin typeface="Roboto"/>
                <a:ea typeface="Roboto"/>
                <a:cs typeface="Roboto"/>
              </a:defRPr>
            </a:pPr>
            <a:r>
              <a:rPr sz="1400" b="1">
                <a:solidFill>
                  <a:srgbClr val="000000"/>
                </a:solidFill>
                <a:latin typeface="Oswald"/>
                <a:ea typeface="Roboto"/>
                <a:cs typeface="Roboto"/>
              </a:rPr>
              <a:t>Enterprise systems</a:t>
            </a:r>
          </a:p>
        </p:txBody>
      </p:sp>
      <p:sp>
        <p:nvSpPr>
          <p:cNvPr id="19" name="Prostokąt 18">
            <a:extLst>
              <a:ext uri="{FF2B5EF4-FFF2-40B4-BE49-F238E27FC236}">
                <a16:creationId xmlns:a16="http://schemas.microsoft.com/office/drawing/2014/main" id="{8ED6314A-B3B3-4488-B996-BEE3C3519515}"/>
              </a:ext>
            </a:extLst>
          </p:cNvPr>
          <p:cNvSpPr>
            <a:spLocks noGrp="1"/>
          </p:cNvSpPr>
          <p:nvPr/>
        </p:nvSpPr>
        <p:spPr>
          <a:xfrm>
            <a:off x="4853104" y="2308437"/>
            <a:ext cx="2667000" cy="400050"/>
          </a:xfrm>
          <a:prstGeom prst="rect">
            <a:avLst/>
          </a:prstGeom>
          <a:noFill/>
          <a:ln w="0">
            <a:noFill/>
          </a:ln>
        </p:spPr>
        <p:txBody>
          <a:bodyPr anchor="ctr">
            <a:normAutofit/>
          </a:bodyPr>
          <a:lstStyle/>
          <a:p>
            <a:pPr algn="ctr">
              <a:defRPr sz="1350" b="1">
                <a:solidFill>
                  <a:srgbClr val="FFC400"/>
                </a:solidFill>
                <a:latin typeface="Roboto"/>
                <a:ea typeface="Roboto"/>
                <a:cs typeface="Roboto"/>
              </a:defRPr>
            </a:pPr>
            <a:r>
              <a:rPr sz="1400" b="1">
                <a:solidFill>
                  <a:srgbClr val="000000"/>
                </a:solidFill>
                <a:latin typeface="Oswald"/>
                <a:ea typeface="Roboto"/>
                <a:cs typeface="Roboto"/>
              </a:rPr>
              <a:t>Custom glue</a:t>
            </a:r>
          </a:p>
        </p:txBody>
      </p:sp>
      <p:sp>
        <p:nvSpPr>
          <p:cNvPr id="20" name="Prostokąt 19">
            <a:extLst>
              <a:ext uri="{FF2B5EF4-FFF2-40B4-BE49-F238E27FC236}">
                <a16:creationId xmlns:a16="http://schemas.microsoft.com/office/drawing/2014/main" id="{8F9CA3D6-5908-4AEA-B9FA-F9F7742BF0F6}"/>
              </a:ext>
            </a:extLst>
          </p:cNvPr>
          <p:cNvSpPr>
            <a:spLocks noGrp="1"/>
          </p:cNvSpPr>
          <p:nvPr/>
        </p:nvSpPr>
        <p:spPr>
          <a:xfrm>
            <a:off x="8644054" y="2308437"/>
            <a:ext cx="2667000" cy="400050"/>
          </a:xfrm>
          <a:prstGeom prst="rect">
            <a:avLst/>
          </a:prstGeom>
          <a:noFill/>
          <a:ln w="0">
            <a:noFill/>
          </a:ln>
        </p:spPr>
        <p:txBody>
          <a:bodyPr anchor="ctr">
            <a:normAutofit/>
          </a:bodyPr>
          <a:lstStyle/>
          <a:p>
            <a:pPr algn="ctr">
              <a:defRPr sz="1350" b="1">
                <a:solidFill>
                  <a:srgbClr val="FFC400"/>
                </a:solidFill>
                <a:latin typeface="Roboto"/>
                <a:ea typeface="Roboto"/>
                <a:cs typeface="Roboto"/>
              </a:defRPr>
            </a:pPr>
            <a:r>
              <a:rPr sz="1400" b="1">
                <a:solidFill>
                  <a:srgbClr val="000000"/>
                </a:solidFill>
                <a:latin typeface="Oswald"/>
                <a:ea typeface="Roboto"/>
                <a:cs typeface="Roboto"/>
              </a:rPr>
              <a:t>AI clients</a:t>
            </a:r>
          </a:p>
        </p:txBody>
      </p:sp>
      <p:sp>
        <p:nvSpPr>
          <p:cNvPr id="21" name="Prostokąt: zaokrąglone rogi 20">
            <a:extLst>
              <a:ext uri="{FF2B5EF4-FFF2-40B4-BE49-F238E27FC236}">
                <a16:creationId xmlns:a16="http://schemas.microsoft.com/office/drawing/2014/main" id="{C4710854-FE18-40E2-8C66-726FE6967A0B}"/>
              </a:ext>
            </a:extLst>
          </p:cNvPr>
          <p:cNvSpPr>
            <a:spLocks noGrp="1"/>
          </p:cNvSpPr>
          <p:nvPr/>
        </p:nvSpPr>
        <p:spPr>
          <a:xfrm>
            <a:off x="1138354" y="2841837"/>
            <a:ext cx="2571750" cy="2381250"/>
          </a:xfrm>
          <a:prstGeom prst="roundRect">
            <a:avLst>
              <a:gd name="adj" fmla="val 4000"/>
            </a:avLst>
          </a:prstGeom>
          <a:solidFill>
            <a:srgbClr val="455A61"/>
          </a:solidFill>
          <a:ln w="13335">
            <a:solidFill>
              <a:srgbClr val="FF7A1A"/>
            </a:solidFill>
            <a:prstDash val="solid"/>
          </a:ln>
        </p:spPr>
        <p:txBody>
          <a:bodyPr/>
          <a:lstStyle/>
          <a:p>
            <a:endParaRPr lang="pl-PL" sz="2000">
              <a:latin typeface="Oswald"/>
            </a:endParaRPr>
          </a:p>
        </p:txBody>
      </p:sp>
      <p:sp>
        <p:nvSpPr>
          <p:cNvPr id="22" name="Prostokąt 21">
            <a:extLst>
              <a:ext uri="{FF2B5EF4-FFF2-40B4-BE49-F238E27FC236}">
                <a16:creationId xmlns:a16="http://schemas.microsoft.com/office/drawing/2014/main" id="{95A609E7-F2B3-4706-B86B-9DCD34E3FCE5}"/>
              </a:ext>
            </a:extLst>
          </p:cNvPr>
          <p:cNvSpPr>
            <a:spLocks noGrp="1"/>
          </p:cNvSpPr>
          <p:nvPr/>
        </p:nvSpPr>
        <p:spPr>
          <a:xfrm>
            <a:off x="1309804" y="2956137"/>
            <a:ext cx="2228850" cy="333375"/>
          </a:xfrm>
          <a:prstGeom prst="rect">
            <a:avLst/>
          </a:prstGeom>
          <a:noFill/>
          <a:ln w="0">
            <a:noFill/>
          </a:ln>
        </p:spPr>
        <p:txBody>
          <a:bodyPr anchor="t">
            <a:normAutofit/>
          </a:bodyPr>
          <a:lstStyle/>
          <a:p>
            <a:pPr algn="l">
              <a:defRPr sz="1275" b="1">
                <a:solidFill>
                  <a:srgbClr val="FFC400"/>
                </a:solidFill>
                <a:latin typeface="Roboto"/>
                <a:ea typeface="Roboto"/>
                <a:cs typeface="Roboto"/>
              </a:defRPr>
            </a:pPr>
            <a:r>
              <a:rPr sz="1400" b="1">
                <a:solidFill>
                  <a:srgbClr val="FFC400"/>
                </a:solidFill>
                <a:latin typeface="Oswald"/>
                <a:ea typeface="Roboto"/>
                <a:cs typeface="Roboto"/>
              </a:rPr>
              <a:t>Sources</a:t>
            </a:r>
          </a:p>
        </p:txBody>
      </p:sp>
      <p:sp>
        <p:nvSpPr>
          <p:cNvPr id="23" name="Prostokąt 22">
            <a:extLst>
              <a:ext uri="{FF2B5EF4-FFF2-40B4-BE49-F238E27FC236}">
                <a16:creationId xmlns:a16="http://schemas.microsoft.com/office/drawing/2014/main" id="{67627ADF-7B3C-42A5-B53A-016A13585B40}"/>
              </a:ext>
            </a:extLst>
          </p:cNvPr>
          <p:cNvSpPr>
            <a:spLocks noGrp="1"/>
          </p:cNvSpPr>
          <p:nvPr/>
        </p:nvSpPr>
        <p:spPr>
          <a:xfrm>
            <a:off x="1309804" y="3394287"/>
            <a:ext cx="2228850" cy="1714500"/>
          </a:xfrm>
          <a:prstGeom prst="rect">
            <a:avLst/>
          </a:prstGeom>
          <a:noFill/>
          <a:ln w="0">
            <a:noFill/>
          </a:ln>
        </p:spPr>
        <p:txBody>
          <a:bodyPr anchor="t">
            <a:normAutofit/>
          </a:bodyPr>
          <a:lstStyle/>
          <a:p>
            <a:pPr algn="l">
              <a:defRPr sz="1200" b="0">
                <a:solidFill>
                  <a:srgbClr val="F7F5F1"/>
                </a:solidFill>
                <a:latin typeface="Roboto"/>
                <a:ea typeface="Roboto"/>
                <a:cs typeface="Roboto"/>
              </a:defRPr>
            </a:pPr>
            <a:r>
              <a:rPr sz="1400" b="0">
                <a:solidFill>
                  <a:srgbClr val="F7F5F1"/>
                </a:solidFill>
                <a:latin typeface="Oswald"/>
                <a:ea typeface="Roboto"/>
                <a:cs typeface="Roboto"/>
              </a:rPr>
              <a:t>SQL and lakehouse</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Internal APIs</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Search and documents</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Business workflows</a:t>
            </a:r>
          </a:p>
        </p:txBody>
      </p:sp>
      <p:sp>
        <p:nvSpPr>
          <p:cNvPr id="24" name="Prostokąt: zaokrąglone rogi 23">
            <a:extLst>
              <a:ext uri="{FF2B5EF4-FFF2-40B4-BE49-F238E27FC236}">
                <a16:creationId xmlns:a16="http://schemas.microsoft.com/office/drawing/2014/main" id="{75534D93-4113-4DE7-8C2A-5F389D41B669}"/>
              </a:ext>
            </a:extLst>
          </p:cNvPr>
          <p:cNvSpPr>
            <a:spLocks noGrp="1"/>
          </p:cNvSpPr>
          <p:nvPr/>
        </p:nvSpPr>
        <p:spPr>
          <a:xfrm>
            <a:off x="4900729" y="2841837"/>
            <a:ext cx="2571750" cy="2381250"/>
          </a:xfrm>
          <a:prstGeom prst="roundRect">
            <a:avLst>
              <a:gd name="adj" fmla="val 4000"/>
            </a:avLst>
          </a:prstGeom>
          <a:solidFill>
            <a:srgbClr val="624D08"/>
          </a:solidFill>
          <a:ln w="13335">
            <a:solidFill>
              <a:srgbClr val="FFC400"/>
            </a:solidFill>
            <a:prstDash val="solid"/>
          </a:ln>
        </p:spPr>
        <p:txBody>
          <a:bodyPr/>
          <a:lstStyle/>
          <a:p>
            <a:endParaRPr lang="pl-PL" sz="2000">
              <a:latin typeface="Oswald"/>
            </a:endParaRPr>
          </a:p>
        </p:txBody>
      </p:sp>
      <p:sp>
        <p:nvSpPr>
          <p:cNvPr id="25" name="Prostokąt 24">
            <a:extLst>
              <a:ext uri="{FF2B5EF4-FFF2-40B4-BE49-F238E27FC236}">
                <a16:creationId xmlns:a16="http://schemas.microsoft.com/office/drawing/2014/main" id="{85F73862-6A4C-4684-859C-77247A32B7F2}"/>
              </a:ext>
            </a:extLst>
          </p:cNvPr>
          <p:cNvSpPr>
            <a:spLocks noGrp="1"/>
          </p:cNvSpPr>
          <p:nvPr/>
        </p:nvSpPr>
        <p:spPr>
          <a:xfrm>
            <a:off x="5072179" y="2956137"/>
            <a:ext cx="2228850" cy="333375"/>
          </a:xfrm>
          <a:prstGeom prst="rect">
            <a:avLst/>
          </a:prstGeom>
          <a:noFill/>
          <a:ln w="0">
            <a:noFill/>
          </a:ln>
        </p:spPr>
        <p:txBody>
          <a:bodyPr anchor="t">
            <a:normAutofit/>
          </a:bodyPr>
          <a:lstStyle/>
          <a:p>
            <a:pPr algn="l">
              <a:defRPr sz="1275" b="1">
                <a:solidFill>
                  <a:srgbClr val="FFC400"/>
                </a:solidFill>
                <a:latin typeface="Roboto"/>
                <a:ea typeface="Roboto"/>
                <a:cs typeface="Roboto"/>
              </a:defRPr>
            </a:pPr>
            <a:r>
              <a:rPr sz="1400" b="1">
                <a:solidFill>
                  <a:srgbClr val="FFC400"/>
                </a:solidFill>
                <a:latin typeface="Oswald"/>
                <a:ea typeface="Roboto"/>
                <a:cs typeface="Roboto"/>
              </a:rPr>
              <a:t>Repeated work</a:t>
            </a:r>
          </a:p>
        </p:txBody>
      </p:sp>
      <p:sp>
        <p:nvSpPr>
          <p:cNvPr id="26" name="Prostokąt 25">
            <a:extLst>
              <a:ext uri="{FF2B5EF4-FFF2-40B4-BE49-F238E27FC236}">
                <a16:creationId xmlns:a16="http://schemas.microsoft.com/office/drawing/2014/main" id="{C4351EFA-52E7-415A-8F8E-5C95D8065BA3}"/>
              </a:ext>
            </a:extLst>
          </p:cNvPr>
          <p:cNvSpPr>
            <a:spLocks noGrp="1"/>
          </p:cNvSpPr>
          <p:nvPr/>
        </p:nvSpPr>
        <p:spPr>
          <a:xfrm>
            <a:off x="5072179" y="3394287"/>
            <a:ext cx="2228850" cy="1714500"/>
          </a:xfrm>
          <a:prstGeom prst="rect">
            <a:avLst/>
          </a:prstGeom>
          <a:noFill/>
          <a:ln w="0">
            <a:noFill/>
          </a:ln>
        </p:spPr>
        <p:txBody>
          <a:bodyPr anchor="t">
            <a:normAutofit/>
          </a:bodyPr>
          <a:lstStyle/>
          <a:p>
            <a:pPr algn="l">
              <a:defRPr sz="1200" b="0">
                <a:solidFill>
                  <a:srgbClr val="F7F5F1"/>
                </a:solidFill>
                <a:latin typeface="Roboto"/>
                <a:ea typeface="Roboto"/>
                <a:cs typeface="Roboto"/>
              </a:defRPr>
            </a:pPr>
            <a:r>
              <a:rPr sz="1400" b="0">
                <a:solidFill>
                  <a:srgbClr val="F7F5F1"/>
                </a:solidFill>
                <a:latin typeface="Oswald"/>
                <a:ea typeface="Roboto"/>
                <a:cs typeface="Roboto"/>
              </a:rPr>
              <a:t>Capability discovery</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Input schemas</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Authentication</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Errors and result format</a:t>
            </a:r>
          </a:p>
        </p:txBody>
      </p:sp>
      <p:sp>
        <p:nvSpPr>
          <p:cNvPr id="27" name="Prostokąt: zaokrąglone rogi 26">
            <a:extLst>
              <a:ext uri="{FF2B5EF4-FFF2-40B4-BE49-F238E27FC236}">
                <a16:creationId xmlns:a16="http://schemas.microsoft.com/office/drawing/2014/main" id="{E51A99F2-1918-4E90-8F08-5933D405DA5C}"/>
              </a:ext>
            </a:extLst>
          </p:cNvPr>
          <p:cNvSpPr>
            <a:spLocks noGrp="1"/>
          </p:cNvSpPr>
          <p:nvPr/>
        </p:nvSpPr>
        <p:spPr>
          <a:xfrm>
            <a:off x="8663104" y="2841837"/>
            <a:ext cx="2571750" cy="2381250"/>
          </a:xfrm>
          <a:prstGeom prst="roundRect">
            <a:avLst>
              <a:gd name="adj" fmla="val 4000"/>
            </a:avLst>
          </a:prstGeom>
          <a:solidFill>
            <a:srgbClr val="455A61"/>
          </a:solidFill>
          <a:ln w="13335">
            <a:solidFill>
              <a:srgbClr val="FF7A1A"/>
            </a:solidFill>
            <a:prstDash val="solid"/>
          </a:ln>
        </p:spPr>
        <p:txBody>
          <a:bodyPr/>
          <a:lstStyle/>
          <a:p>
            <a:endParaRPr lang="pl-PL" sz="2000">
              <a:latin typeface="Oswald"/>
            </a:endParaRPr>
          </a:p>
        </p:txBody>
      </p:sp>
      <p:sp>
        <p:nvSpPr>
          <p:cNvPr id="28" name="Prostokąt 27">
            <a:extLst>
              <a:ext uri="{FF2B5EF4-FFF2-40B4-BE49-F238E27FC236}">
                <a16:creationId xmlns:a16="http://schemas.microsoft.com/office/drawing/2014/main" id="{D7CA09AD-38FF-414D-AF8F-9A45F64E86FC}"/>
              </a:ext>
            </a:extLst>
          </p:cNvPr>
          <p:cNvSpPr>
            <a:spLocks noGrp="1"/>
          </p:cNvSpPr>
          <p:nvPr/>
        </p:nvSpPr>
        <p:spPr>
          <a:xfrm>
            <a:off x="8834554" y="2956137"/>
            <a:ext cx="2228850" cy="333375"/>
          </a:xfrm>
          <a:prstGeom prst="rect">
            <a:avLst/>
          </a:prstGeom>
          <a:noFill/>
          <a:ln w="0">
            <a:noFill/>
          </a:ln>
        </p:spPr>
        <p:txBody>
          <a:bodyPr anchor="t">
            <a:normAutofit/>
          </a:bodyPr>
          <a:lstStyle/>
          <a:p>
            <a:pPr algn="l">
              <a:defRPr sz="1275" b="1">
                <a:solidFill>
                  <a:srgbClr val="FFC400"/>
                </a:solidFill>
                <a:latin typeface="Roboto"/>
                <a:ea typeface="Roboto"/>
                <a:cs typeface="Roboto"/>
              </a:defRPr>
            </a:pPr>
            <a:r>
              <a:rPr sz="1400" b="1">
                <a:solidFill>
                  <a:srgbClr val="FFC400"/>
                </a:solidFill>
                <a:latin typeface="Oswald"/>
                <a:ea typeface="Roboto"/>
                <a:cs typeface="Roboto"/>
              </a:rPr>
              <a:t>Consumers</a:t>
            </a:r>
          </a:p>
        </p:txBody>
      </p:sp>
      <p:sp>
        <p:nvSpPr>
          <p:cNvPr id="29" name="Prostokąt 28">
            <a:extLst>
              <a:ext uri="{FF2B5EF4-FFF2-40B4-BE49-F238E27FC236}">
                <a16:creationId xmlns:a16="http://schemas.microsoft.com/office/drawing/2014/main" id="{BCC0D413-5AFA-4ED3-B679-13557B4FC210}"/>
              </a:ext>
            </a:extLst>
          </p:cNvPr>
          <p:cNvSpPr>
            <a:spLocks noGrp="1"/>
          </p:cNvSpPr>
          <p:nvPr/>
        </p:nvSpPr>
        <p:spPr>
          <a:xfrm>
            <a:off x="8834554" y="3394287"/>
            <a:ext cx="2228850" cy="1714500"/>
          </a:xfrm>
          <a:prstGeom prst="rect">
            <a:avLst/>
          </a:prstGeom>
          <a:noFill/>
          <a:ln w="0">
            <a:noFill/>
          </a:ln>
        </p:spPr>
        <p:txBody>
          <a:bodyPr anchor="t">
            <a:normAutofit/>
          </a:bodyPr>
          <a:lstStyle/>
          <a:p>
            <a:pPr algn="l">
              <a:defRPr sz="1200" b="0">
                <a:solidFill>
                  <a:srgbClr val="F7F5F1"/>
                </a:solidFill>
                <a:latin typeface="Roboto"/>
                <a:ea typeface="Roboto"/>
                <a:cs typeface="Roboto"/>
              </a:defRPr>
            </a:pPr>
            <a:r>
              <a:rPr sz="1400" b="0">
                <a:solidFill>
                  <a:srgbClr val="F7F5F1"/>
                </a:solidFill>
                <a:latin typeface="Oswald"/>
                <a:ea typeface="Roboto"/>
                <a:cs typeface="Roboto"/>
              </a:rPr>
              <a:t>Developer tools</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Chat assistants</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Custom agents</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Automation</a:t>
            </a:r>
          </a:p>
        </p:txBody>
      </p:sp>
      <p:sp>
        <p:nvSpPr>
          <p:cNvPr id="30" name="Strzałka: w prawo 29">
            <a:extLst>
              <a:ext uri="{FF2B5EF4-FFF2-40B4-BE49-F238E27FC236}">
                <a16:creationId xmlns:a16="http://schemas.microsoft.com/office/drawing/2014/main" id="{D74DF629-FF05-444A-B37A-7D5ADADB725F}"/>
              </a:ext>
            </a:extLst>
          </p:cNvPr>
          <p:cNvSpPr>
            <a:spLocks noGrp="1"/>
          </p:cNvSpPr>
          <p:nvPr/>
        </p:nvSpPr>
        <p:spPr>
          <a:xfrm>
            <a:off x="3776779" y="3956262"/>
            <a:ext cx="1057275" cy="152400"/>
          </a:xfrm>
          <a:prstGeom prst="rightArrow">
            <a:avLst/>
          </a:prstGeom>
          <a:solidFill>
            <a:srgbClr val="FF7A1A"/>
          </a:solidFill>
          <a:ln w="0">
            <a:noFill/>
          </a:ln>
        </p:spPr>
        <p:txBody>
          <a:bodyPr/>
          <a:lstStyle/>
          <a:p>
            <a:endParaRPr lang="pl-PL" sz="2000">
              <a:latin typeface="Oswald"/>
            </a:endParaRPr>
          </a:p>
        </p:txBody>
      </p:sp>
      <p:sp>
        <p:nvSpPr>
          <p:cNvPr id="31" name="Strzałka: w prawo 30">
            <a:extLst>
              <a:ext uri="{FF2B5EF4-FFF2-40B4-BE49-F238E27FC236}">
                <a16:creationId xmlns:a16="http://schemas.microsoft.com/office/drawing/2014/main" id="{C4CBD866-E7BE-44B6-B2B7-43E519368AB1}"/>
              </a:ext>
            </a:extLst>
          </p:cNvPr>
          <p:cNvSpPr>
            <a:spLocks noGrp="1"/>
          </p:cNvSpPr>
          <p:nvPr/>
        </p:nvSpPr>
        <p:spPr>
          <a:xfrm>
            <a:off x="7539154" y="3956262"/>
            <a:ext cx="1057275" cy="152400"/>
          </a:xfrm>
          <a:prstGeom prst="rightArrow">
            <a:avLst/>
          </a:prstGeom>
          <a:solidFill>
            <a:srgbClr val="FF7A1A"/>
          </a:solidFill>
          <a:ln w="0">
            <a:noFill/>
          </a:ln>
        </p:spPr>
        <p:txBody>
          <a:bodyPr/>
          <a:lstStyle/>
          <a:p>
            <a:endParaRPr lang="pl-PL" sz="2000">
              <a:latin typeface="Oswald"/>
            </a:endParaRPr>
          </a:p>
        </p:txBody>
      </p:sp>
      <p:sp>
        <p:nvSpPr>
          <p:cNvPr id="32" name="Prostokąt: zaokrąglone rogi 31">
            <a:extLst>
              <a:ext uri="{FF2B5EF4-FFF2-40B4-BE49-F238E27FC236}">
                <a16:creationId xmlns:a16="http://schemas.microsoft.com/office/drawing/2014/main" id="{F5918D25-65CC-4D80-B086-F21A1E72BB46}"/>
              </a:ext>
            </a:extLst>
          </p:cNvPr>
          <p:cNvSpPr>
            <a:spLocks noGrp="1"/>
          </p:cNvSpPr>
          <p:nvPr/>
        </p:nvSpPr>
        <p:spPr>
          <a:xfrm>
            <a:off x="2243254" y="5767254"/>
            <a:ext cx="8077200" cy="552450"/>
          </a:xfrm>
          <a:prstGeom prst="roundRect">
            <a:avLst>
              <a:gd name="adj" fmla="val 22414"/>
            </a:avLst>
          </a:prstGeom>
          <a:solidFill>
            <a:srgbClr val="334C54"/>
          </a:solidFill>
          <a:ln w="13335">
            <a:solidFill>
              <a:srgbClr val="FF7A1A"/>
            </a:solidFill>
            <a:prstDash val="solid"/>
          </a:ln>
        </p:spPr>
        <p:txBody>
          <a:bodyPr anchor="ctr">
            <a:normAutofit/>
          </a:bodyPr>
          <a:lstStyle/>
          <a:p>
            <a:pPr algn="ctr">
              <a:defRPr sz="1350" b="1">
                <a:solidFill>
                  <a:srgbClr val="F7F5F1"/>
                </a:solidFill>
                <a:latin typeface="Roboto"/>
                <a:ea typeface="Roboto"/>
                <a:cs typeface="Roboto"/>
              </a:defRPr>
            </a:pPr>
            <a:r>
              <a:rPr sz="1400" b="1">
                <a:solidFill>
                  <a:srgbClr val="F7F5F1"/>
                </a:solidFill>
                <a:latin typeface="Oswald"/>
                <a:ea typeface="Roboto"/>
                <a:cs typeface="Roboto"/>
              </a:rPr>
              <a:t>MCP standardizes the interaction. Your server still owns the business logic.</a:t>
            </a:r>
          </a:p>
        </p:txBody>
      </p:sp>
      <p:sp>
        <p:nvSpPr>
          <p:cNvPr id="2" name="Title 1">
            <a:extLst>
              <a:ext uri="{FF2B5EF4-FFF2-40B4-BE49-F238E27FC236}">
                <a16:creationId xmlns:a16="http://schemas.microsoft.com/office/drawing/2014/main" id="{0821DD5E-A77F-D71E-F48C-D7CC8AC0AA1B}"/>
              </a:ext>
            </a:extLst>
          </p:cNvPr>
          <p:cNvSpPr>
            <a:spLocks noGrp="1"/>
          </p:cNvSpPr>
          <p:nvPr>
            <p:ph type="title"/>
          </p:nvPr>
        </p:nvSpPr>
        <p:spPr/>
        <p:txBody>
          <a:bodyPr/>
          <a:lstStyle/>
          <a:p>
            <a:r>
              <a:rPr lang="en-US">
                <a:latin typeface="Oswald"/>
              </a:rPr>
              <a:t>The enterprise adapter</a:t>
            </a:r>
          </a:p>
        </p:txBody>
      </p:sp>
    </p:spTree>
    <p:extLst>
      <p:ext uri="{BB962C8B-B14F-4D97-AF65-F5344CB8AC3E}">
        <p14:creationId xmlns:p14="http://schemas.microsoft.com/office/powerpoint/2010/main" val="1933327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subtitle">
            <a:extLst>
              <a:ext uri="{FF2B5EF4-FFF2-40B4-BE49-F238E27FC236}">
                <a16:creationId xmlns:a16="http://schemas.microsoft.com/office/drawing/2014/main" id="{5A7F1612-C2E4-40F0-BAF4-5B704B8F61F2}"/>
              </a:ext>
            </a:extLst>
          </p:cNvPr>
          <p:cNvSpPr>
            <a:spLocks noGrp="1"/>
          </p:cNvSpPr>
          <p:nvPr/>
        </p:nvSpPr>
        <p:spPr>
          <a:xfrm>
            <a:off x="799016" y="1678568"/>
            <a:ext cx="10096500" cy="590550"/>
          </a:xfrm>
          <a:prstGeom prst="rect">
            <a:avLst/>
          </a:prstGeom>
          <a:noFill/>
          <a:ln w="0">
            <a:noFill/>
          </a:ln>
        </p:spPr>
        <p:txBody>
          <a:bodyPr lIns="91440" tIns="45720" rIns="91440" bIns="45720" anchor="t">
            <a:normAutofit/>
          </a:bodyPr>
          <a:lstStyle/>
          <a:p>
            <a:pPr algn="ctr">
              <a:defRPr sz="1200" b="0">
                <a:solidFill>
                  <a:srgbClr val="CED7D9"/>
                </a:solidFill>
                <a:latin typeface="Roboto"/>
                <a:ea typeface="Roboto"/>
                <a:cs typeface="Roboto"/>
              </a:defRPr>
            </a:pPr>
            <a:r>
              <a:rPr sz="1400" b="0">
                <a:solidFill>
                  <a:srgbClr val="000000"/>
                </a:solidFill>
                <a:latin typeface="Oswald"/>
                <a:ea typeface="Roboto"/>
                <a:cs typeface="Roboto"/>
              </a:rPr>
              <a:t>The host runs the experience. The MCP client speaks the protocol. The server publishes capabilities and connects them to real systems.</a:t>
            </a:r>
            <a:endParaRPr lang="en-US" sz="1400" b="0">
              <a:solidFill>
                <a:srgbClr val="000000"/>
              </a:solidFill>
              <a:latin typeface="Oswald"/>
              <a:ea typeface="Roboto"/>
              <a:cs typeface="Roboto"/>
            </a:endParaRPr>
          </a:p>
        </p:txBody>
      </p:sp>
      <p:sp>
        <p:nvSpPr>
          <p:cNvPr id="3" name="Prostokąt: zaokrąglone rogi 2">
            <a:extLst>
              <a:ext uri="{FF2B5EF4-FFF2-40B4-BE49-F238E27FC236}">
                <a16:creationId xmlns:a16="http://schemas.microsoft.com/office/drawing/2014/main" id="{31E4B645-DDE8-457B-8D06-157654D2E97A}"/>
              </a:ext>
            </a:extLst>
          </p:cNvPr>
          <p:cNvSpPr>
            <a:spLocks noGrp="1"/>
          </p:cNvSpPr>
          <p:nvPr/>
        </p:nvSpPr>
        <p:spPr>
          <a:xfrm>
            <a:off x="551366" y="2650118"/>
            <a:ext cx="2286000" cy="1466850"/>
          </a:xfrm>
          <a:prstGeom prst="roundRect">
            <a:avLst>
              <a:gd name="adj" fmla="val 6494"/>
            </a:avLst>
          </a:prstGeom>
          <a:solidFill>
            <a:srgbClr val="455A61"/>
          </a:solidFill>
          <a:ln w="13335">
            <a:solidFill>
              <a:srgbClr val="FF7A1A"/>
            </a:solidFill>
            <a:prstDash val="solid"/>
          </a:ln>
        </p:spPr>
        <p:txBody>
          <a:bodyPr/>
          <a:lstStyle/>
          <a:p>
            <a:endParaRPr lang="pl-PL">
              <a:latin typeface="Oswald"/>
            </a:endParaRPr>
          </a:p>
        </p:txBody>
      </p:sp>
      <p:sp>
        <p:nvSpPr>
          <p:cNvPr id="4" name="Prostokąt 3">
            <a:extLst>
              <a:ext uri="{FF2B5EF4-FFF2-40B4-BE49-F238E27FC236}">
                <a16:creationId xmlns:a16="http://schemas.microsoft.com/office/drawing/2014/main" id="{5E40BB57-337D-4350-AFD0-44B294A9FE0C}"/>
              </a:ext>
            </a:extLst>
          </p:cNvPr>
          <p:cNvSpPr>
            <a:spLocks noGrp="1"/>
          </p:cNvSpPr>
          <p:nvPr/>
        </p:nvSpPr>
        <p:spPr>
          <a:xfrm>
            <a:off x="722816" y="2764418"/>
            <a:ext cx="1943100" cy="333375"/>
          </a:xfrm>
          <a:prstGeom prst="rect">
            <a:avLst/>
          </a:prstGeom>
          <a:noFill/>
          <a:ln w="0">
            <a:noFill/>
          </a:ln>
        </p:spPr>
        <p:txBody>
          <a:bodyPr anchor="t">
            <a:noAutofit/>
          </a:bodyPr>
          <a:lstStyle/>
          <a:p>
            <a:pPr algn="l">
              <a:defRPr sz="1425" b="1">
                <a:solidFill>
                  <a:srgbClr val="FFC400"/>
                </a:solidFill>
                <a:latin typeface="Roboto"/>
                <a:ea typeface="Roboto"/>
                <a:cs typeface="Roboto"/>
              </a:defRPr>
            </a:pPr>
            <a:r>
              <a:rPr sz="1600" b="1">
                <a:solidFill>
                  <a:srgbClr val="FFC400"/>
                </a:solidFill>
                <a:latin typeface="Oswald"/>
                <a:ea typeface="Roboto"/>
                <a:cs typeface="Roboto"/>
              </a:rPr>
              <a:t>MCP host</a:t>
            </a:r>
          </a:p>
        </p:txBody>
      </p:sp>
      <p:sp>
        <p:nvSpPr>
          <p:cNvPr id="5" name="Prostokąt 4">
            <a:extLst>
              <a:ext uri="{FF2B5EF4-FFF2-40B4-BE49-F238E27FC236}">
                <a16:creationId xmlns:a16="http://schemas.microsoft.com/office/drawing/2014/main" id="{43A3482B-B7BA-4506-9EC5-9A342C55E859}"/>
              </a:ext>
            </a:extLst>
          </p:cNvPr>
          <p:cNvSpPr>
            <a:spLocks noGrp="1"/>
          </p:cNvSpPr>
          <p:nvPr/>
        </p:nvSpPr>
        <p:spPr>
          <a:xfrm>
            <a:off x="722816" y="3202568"/>
            <a:ext cx="1943100" cy="800100"/>
          </a:xfrm>
          <a:prstGeom prst="rect">
            <a:avLst/>
          </a:prstGeom>
          <a:noFill/>
          <a:ln w="0">
            <a:noFill/>
          </a:ln>
        </p:spPr>
        <p:txBody>
          <a:bodyPr anchor="t">
            <a:normAutofit/>
          </a:bodyPr>
          <a:lstStyle/>
          <a:p>
            <a:pPr algn="l">
              <a:defRPr sz="1125" b="0">
                <a:solidFill>
                  <a:srgbClr val="F7F5F1"/>
                </a:solidFill>
                <a:latin typeface="Roboto"/>
                <a:ea typeface="Roboto"/>
                <a:cs typeface="Roboto"/>
              </a:defRPr>
            </a:pPr>
            <a:r>
              <a:rPr sz="1400" b="0">
                <a:solidFill>
                  <a:srgbClr val="F7F5F1"/>
                </a:solidFill>
                <a:latin typeface="Oswald"/>
                <a:ea typeface="Roboto"/>
                <a:cs typeface="Roboto"/>
              </a:rPr>
              <a:t>VS Code, ChatGPT,</a:t>
            </a:r>
          </a:p>
          <a:p>
            <a:pPr algn="l">
              <a:defRPr sz="1125" b="0">
                <a:solidFill>
                  <a:srgbClr val="F7F5F1"/>
                </a:solidFill>
                <a:latin typeface="Roboto"/>
                <a:ea typeface="Roboto"/>
                <a:cs typeface="Roboto"/>
              </a:defRPr>
            </a:pPr>
            <a:r>
              <a:rPr sz="1400" b="0">
                <a:solidFill>
                  <a:srgbClr val="F7F5F1"/>
                </a:solidFill>
                <a:latin typeface="Oswald"/>
                <a:ea typeface="Roboto"/>
                <a:cs typeface="Roboto"/>
              </a:rPr>
              <a:t>custom agent</a:t>
            </a:r>
          </a:p>
        </p:txBody>
      </p:sp>
      <p:sp>
        <p:nvSpPr>
          <p:cNvPr id="6" name="Prostokąt: zaokrąglone rogi 5">
            <a:extLst>
              <a:ext uri="{FF2B5EF4-FFF2-40B4-BE49-F238E27FC236}">
                <a16:creationId xmlns:a16="http://schemas.microsoft.com/office/drawing/2014/main" id="{72BCB3EA-14D8-4CF1-9527-9DCBE13E42A0}"/>
              </a:ext>
            </a:extLst>
          </p:cNvPr>
          <p:cNvSpPr>
            <a:spLocks noGrp="1"/>
          </p:cNvSpPr>
          <p:nvPr/>
        </p:nvSpPr>
        <p:spPr>
          <a:xfrm>
            <a:off x="3456491" y="2650118"/>
            <a:ext cx="2286000" cy="1466850"/>
          </a:xfrm>
          <a:prstGeom prst="roundRect">
            <a:avLst>
              <a:gd name="adj" fmla="val 6494"/>
            </a:avLst>
          </a:prstGeom>
          <a:solidFill>
            <a:srgbClr val="455A61"/>
          </a:solidFill>
          <a:ln w="13335">
            <a:solidFill>
              <a:srgbClr val="FF7A1A"/>
            </a:solidFill>
            <a:prstDash val="solid"/>
          </a:ln>
        </p:spPr>
        <p:txBody>
          <a:bodyPr/>
          <a:lstStyle/>
          <a:p>
            <a:endParaRPr lang="pl-PL">
              <a:latin typeface="Oswald"/>
            </a:endParaRPr>
          </a:p>
        </p:txBody>
      </p:sp>
      <p:sp>
        <p:nvSpPr>
          <p:cNvPr id="7" name="Prostokąt 6">
            <a:extLst>
              <a:ext uri="{FF2B5EF4-FFF2-40B4-BE49-F238E27FC236}">
                <a16:creationId xmlns:a16="http://schemas.microsoft.com/office/drawing/2014/main" id="{5A184EFF-975B-445B-9F3B-F9EF4F051C45}"/>
              </a:ext>
            </a:extLst>
          </p:cNvPr>
          <p:cNvSpPr>
            <a:spLocks noGrp="1"/>
          </p:cNvSpPr>
          <p:nvPr/>
        </p:nvSpPr>
        <p:spPr>
          <a:xfrm>
            <a:off x="3627941" y="2764418"/>
            <a:ext cx="1943100" cy="333375"/>
          </a:xfrm>
          <a:prstGeom prst="rect">
            <a:avLst/>
          </a:prstGeom>
          <a:noFill/>
          <a:ln w="0">
            <a:noFill/>
          </a:ln>
        </p:spPr>
        <p:txBody>
          <a:bodyPr anchor="t">
            <a:noAutofit/>
          </a:bodyPr>
          <a:lstStyle/>
          <a:p>
            <a:pPr algn="l">
              <a:defRPr sz="1425" b="1">
                <a:solidFill>
                  <a:srgbClr val="FFC400"/>
                </a:solidFill>
                <a:latin typeface="Roboto"/>
                <a:ea typeface="Roboto"/>
                <a:cs typeface="Roboto"/>
              </a:defRPr>
            </a:pPr>
            <a:r>
              <a:rPr sz="1600" b="1">
                <a:solidFill>
                  <a:srgbClr val="FFC400"/>
                </a:solidFill>
                <a:latin typeface="Oswald"/>
                <a:ea typeface="Roboto"/>
                <a:cs typeface="Roboto"/>
              </a:rPr>
              <a:t>MCP client</a:t>
            </a:r>
          </a:p>
        </p:txBody>
      </p:sp>
      <p:sp>
        <p:nvSpPr>
          <p:cNvPr id="8" name="Prostokąt 7">
            <a:extLst>
              <a:ext uri="{FF2B5EF4-FFF2-40B4-BE49-F238E27FC236}">
                <a16:creationId xmlns:a16="http://schemas.microsoft.com/office/drawing/2014/main" id="{84E4B532-6BC2-422A-94D8-789494D17793}"/>
              </a:ext>
            </a:extLst>
          </p:cNvPr>
          <p:cNvSpPr>
            <a:spLocks noGrp="1"/>
          </p:cNvSpPr>
          <p:nvPr/>
        </p:nvSpPr>
        <p:spPr>
          <a:xfrm>
            <a:off x="3627941" y="3202568"/>
            <a:ext cx="1943100" cy="800100"/>
          </a:xfrm>
          <a:prstGeom prst="rect">
            <a:avLst/>
          </a:prstGeom>
          <a:noFill/>
          <a:ln w="0">
            <a:noFill/>
          </a:ln>
        </p:spPr>
        <p:txBody>
          <a:bodyPr anchor="t">
            <a:normAutofit/>
          </a:bodyPr>
          <a:lstStyle/>
          <a:p>
            <a:pPr algn="l">
              <a:defRPr sz="1125" b="0">
                <a:solidFill>
                  <a:srgbClr val="F7F5F1"/>
                </a:solidFill>
                <a:latin typeface="Roboto"/>
                <a:ea typeface="Roboto"/>
                <a:cs typeface="Roboto"/>
              </a:defRPr>
            </a:pPr>
            <a:r>
              <a:rPr sz="1400" b="0">
                <a:solidFill>
                  <a:srgbClr val="F7F5F1"/>
                </a:solidFill>
                <a:latin typeface="Oswald"/>
                <a:ea typeface="Roboto"/>
                <a:cs typeface="Roboto"/>
              </a:rPr>
              <a:t>Discovery, sessions,</a:t>
            </a:r>
          </a:p>
          <a:p>
            <a:pPr algn="l">
              <a:defRPr sz="1125" b="0">
                <a:solidFill>
                  <a:srgbClr val="F7F5F1"/>
                </a:solidFill>
                <a:latin typeface="Roboto"/>
                <a:ea typeface="Roboto"/>
                <a:cs typeface="Roboto"/>
              </a:defRPr>
            </a:pPr>
            <a:r>
              <a:rPr sz="1400" b="0">
                <a:solidFill>
                  <a:srgbClr val="F7F5F1"/>
                </a:solidFill>
                <a:latin typeface="Oswald"/>
                <a:ea typeface="Roboto"/>
                <a:cs typeface="Roboto"/>
              </a:rPr>
              <a:t>protocol messages</a:t>
            </a:r>
          </a:p>
        </p:txBody>
      </p:sp>
      <p:sp>
        <p:nvSpPr>
          <p:cNvPr id="9" name="Prostokąt: zaokrąglone rogi 8">
            <a:extLst>
              <a:ext uri="{FF2B5EF4-FFF2-40B4-BE49-F238E27FC236}">
                <a16:creationId xmlns:a16="http://schemas.microsoft.com/office/drawing/2014/main" id="{357C7447-42CE-4177-9381-34AA8286B305}"/>
              </a:ext>
            </a:extLst>
          </p:cNvPr>
          <p:cNvSpPr>
            <a:spLocks noGrp="1"/>
          </p:cNvSpPr>
          <p:nvPr/>
        </p:nvSpPr>
        <p:spPr>
          <a:xfrm>
            <a:off x="6361616" y="2650118"/>
            <a:ext cx="2286000" cy="1466850"/>
          </a:xfrm>
          <a:prstGeom prst="roundRect">
            <a:avLst>
              <a:gd name="adj" fmla="val 6494"/>
            </a:avLst>
          </a:prstGeom>
          <a:solidFill>
            <a:srgbClr val="455A61"/>
          </a:solidFill>
          <a:ln w="13335">
            <a:solidFill>
              <a:srgbClr val="FF7A1A"/>
            </a:solidFill>
            <a:prstDash val="solid"/>
          </a:ln>
        </p:spPr>
        <p:txBody>
          <a:bodyPr/>
          <a:lstStyle/>
          <a:p>
            <a:endParaRPr lang="pl-PL">
              <a:latin typeface="Oswald"/>
            </a:endParaRPr>
          </a:p>
        </p:txBody>
      </p:sp>
      <p:sp>
        <p:nvSpPr>
          <p:cNvPr id="10" name="Prostokąt 9">
            <a:extLst>
              <a:ext uri="{FF2B5EF4-FFF2-40B4-BE49-F238E27FC236}">
                <a16:creationId xmlns:a16="http://schemas.microsoft.com/office/drawing/2014/main" id="{118EB923-3316-41A4-92F4-880735425983}"/>
              </a:ext>
            </a:extLst>
          </p:cNvPr>
          <p:cNvSpPr>
            <a:spLocks noGrp="1"/>
          </p:cNvSpPr>
          <p:nvPr/>
        </p:nvSpPr>
        <p:spPr>
          <a:xfrm>
            <a:off x="6533066" y="2764418"/>
            <a:ext cx="1943100" cy="333375"/>
          </a:xfrm>
          <a:prstGeom prst="rect">
            <a:avLst/>
          </a:prstGeom>
          <a:noFill/>
          <a:ln w="0">
            <a:noFill/>
          </a:ln>
        </p:spPr>
        <p:txBody>
          <a:bodyPr anchor="t">
            <a:noAutofit/>
          </a:bodyPr>
          <a:lstStyle/>
          <a:p>
            <a:pPr algn="l">
              <a:defRPr sz="1425" b="1">
                <a:solidFill>
                  <a:srgbClr val="FFC400"/>
                </a:solidFill>
                <a:latin typeface="Roboto"/>
                <a:ea typeface="Roboto"/>
                <a:cs typeface="Roboto"/>
              </a:defRPr>
            </a:pPr>
            <a:r>
              <a:rPr sz="1600" b="1">
                <a:solidFill>
                  <a:srgbClr val="FFC400"/>
                </a:solidFill>
                <a:latin typeface="Oswald"/>
                <a:ea typeface="Roboto"/>
                <a:cs typeface="Roboto"/>
              </a:rPr>
              <a:t>MCP server</a:t>
            </a:r>
          </a:p>
        </p:txBody>
      </p:sp>
      <p:sp>
        <p:nvSpPr>
          <p:cNvPr id="11" name="Prostokąt 10">
            <a:extLst>
              <a:ext uri="{FF2B5EF4-FFF2-40B4-BE49-F238E27FC236}">
                <a16:creationId xmlns:a16="http://schemas.microsoft.com/office/drawing/2014/main" id="{6BB1B3A4-EACC-4C21-BEF5-3131A74A72F2}"/>
              </a:ext>
            </a:extLst>
          </p:cNvPr>
          <p:cNvSpPr>
            <a:spLocks noGrp="1"/>
          </p:cNvSpPr>
          <p:nvPr/>
        </p:nvSpPr>
        <p:spPr>
          <a:xfrm>
            <a:off x="6533066" y="3202568"/>
            <a:ext cx="1943100" cy="800100"/>
          </a:xfrm>
          <a:prstGeom prst="rect">
            <a:avLst/>
          </a:prstGeom>
          <a:noFill/>
          <a:ln w="0">
            <a:noFill/>
          </a:ln>
        </p:spPr>
        <p:txBody>
          <a:bodyPr anchor="t">
            <a:normAutofit/>
          </a:bodyPr>
          <a:lstStyle/>
          <a:p>
            <a:pPr algn="l">
              <a:defRPr sz="1125" b="0">
                <a:solidFill>
                  <a:srgbClr val="F7F5F1"/>
                </a:solidFill>
                <a:latin typeface="Roboto"/>
                <a:ea typeface="Roboto"/>
                <a:cs typeface="Roboto"/>
              </a:defRPr>
            </a:pPr>
            <a:r>
              <a:rPr sz="1400" b="0">
                <a:solidFill>
                  <a:srgbClr val="F7F5F1"/>
                </a:solidFill>
                <a:latin typeface="Oswald"/>
                <a:ea typeface="Roboto"/>
                <a:cs typeface="Roboto"/>
              </a:rPr>
              <a:t>Tools, resources,</a:t>
            </a:r>
          </a:p>
          <a:p>
            <a:pPr algn="l">
              <a:defRPr sz="1125" b="0">
                <a:solidFill>
                  <a:srgbClr val="F7F5F1"/>
                </a:solidFill>
                <a:latin typeface="Roboto"/>
                <a:ea typeface="Roboto"/>
                <a:cs typeface="Roboto"/>
              </a:defRPr>
            </a:pPr>
            <a:r>
              <a:rPr sz="1400" b="0">
                <a:solidFill>
                  <a:srgbClr val="F7F5F1"/>
                </a:solidFill>
                <a:latin typeface="Oswald"/>
                <a:ea typeface="Roboto"/>
                <a:cs typeface="Roboto"/>
              </a:rPr>
              <a:t>prompts</a:t>
            </a:r>
          </a:p>
        </p:txBody>
      </p:sp>
      <p:sp>
        <p:nvSpPr>
          <p:cNvPr id="12" name="Prostokąt: zaokrąglone rogi 11">
            <a:extLst>
              <a:ext uri="{FF2B5EF4-FFF2-40B4-BE49-F238E27FC236}">
                <a16:creationId xmlns:a16="http://schemas.microsoft.com/office/drawing/2014/main" id="{87DDCC7A-19C0-4FD0-B462-154131C35E24}"/>
              </a:ext>
            </a:extLst>
          </p:cNvPr>
          <p:cNvSpPr>
            <a:spLocks noGrp="1"/>
          </p:cNvSpPr>
          <p:nvPr/>
        </p:nvSpPr>
        <p:spPr>
          <a:xfrm>
            <a:off x="9266741" y="2650118"/>
            <a:ext cx="1952625" cy="1466850"/>
          </a:xfrm>
          <a:prstGeom prst="roundRect">
            <a:avLst>
              <a:gd name="adj" fmla="val 6494"/>
            </a:avLst>
          </a:prstGeom>
          <a:solidFill>
            <a:srgbClr val="455A61"/>
          </a:solidFill>
          <a:ln w="13335">
            <a:solidFill>
              <a:srgbClr val="FF7A1A"/>
            </a:solidFill>
            <a:prstDash val="solid"/>
          </a:ln>
        </p:spPr>
        <p:txBody>
          <a:bodyPr/>
          <a:lstStyle/>
          <a:p>
            <a:endParaRPr lang="pl-PL">
              <a:latin typeface="Oswald"/>
            </a:endParaRPr>
          </a:p>
        </p:txBody>
      </p:sp>
      <p:sp>
        <p:nvSpPr>
          <p:cNvPr id="13" name="Prostokąt 12">
            <a:extLst>
              <a:ext uri="{FF2B5EF4-FFF2-40B4-BE49-F238E27FC236}">
                <a16:creationId xmlns:a16="http://schemas.microsoft.com/office/drawing/2014/main" id="{3EC75A86-B2F7-46E9-93CF-71790260A7C3}"/>
              </a:ext>
            </a:extLst>
          </p:cNvPr>
          <p:cNvSpPr>
            <a:spLocks noGrp="1"/>
          </p:cNvSpPr>
          <p:nvPr/>
        </p:nvSpPr>
        <p:spPr>
          <a:xfrm>
            <a:off x="9438191" y="2764418"/>
            <a:ext cx="1609725" cy="333375"/>
          </a:xfrm>
          <a:prstGeom prst="rect">
            <a:avLst/>
          </a:prstGeom>
          <a:noFill/>
          <a:ln w="0">
            <a:noFill/>
          </a:ln>
        </p:spPr>
        <p:txBody>
          <a:bodyPr anchor="t">
            <a:noAutofit/>
          </a:bodyPr>
          <a:lstStyle/>
          <a:p>
            <a:pPr algn="l">
              <a:defRPr sz="1425" b="1">
                <a:solidFill>
                  <a:srgbClr val="FFC400"/>
                </a:solidFill>
                <a:latin typeface="Roboto"/>
                <a:ea typeface="Roboto"/>
                <a:cs typeface="Roboto"/>
              </a:defRPr>
            </a:pPr>
            <a:r>
              <a:rPr sz="1600" b="1">
                <a:solidFill>
                  <a:srgbClr val="FFC400"/>
                </a:solidFill>
                <a:latin typeface="Oswald"/>
                <a:ea typeface="Roboto"/>
                <a:cs typeface="Roboto"/>
              </a:rPr>
              <a:t>Systems</a:t>
            </a:r>
          </a:p>
        </p:txBody>
      </p:sp>
      <p:sp>
        <p:nvSpPr>
          <p:cNvPr id="14" name="Prostokąt 13">
            <a:extLst>
              <a:ext uri="{FF2B5EF4-FFF2-40B4-BE49-F238E27FC236}">
                <a16:creationId xmlns:a16="http://schemas.microsoft.com/office/drawing/2014/main" id="{F5E55C24-E4A2-4B11-A109-E55E2D0992EB}"/>
              </a:ext>
            </a:extLst>
          </p:cNvPr>
          <p:cNvSpPr>
            <a:spLocks noGrp="1"/>
          </p:cNvSpPr>
          <p:nvPr/>
        </p:nvSpPr>
        <p:spPr>
          <a:xfrm>
            <a:off x="9438191" y="3202568"/>
            <a:ext cx="1609725" cy="800100"/>
          </a:xfrm>
          <a:prstGeom prst="rect">
            <a:avLst/>
          </a:prstGeom>
          <a:noFill/>
          <a:ln w="0">
            <a:noFill/>
          </a:ln>
        </p:spPr>
        <p:txBody>
          <a:bodyPr anchor="t">
            <a:normAutofit/>
          </a:bodyPr>
          <a:lstStyle/>
          <a:p>
            <a:pPr algn="l">
              <a:defRPr sz="1125" b="0">
                <a:solidFill>
                  <a:srgbClr val="F7F5F1"/>
                </a:solidFill>
                <a:latin typeface="Roboto"/>
                <a:ea typeface="Roboto"/>
                <a:cs typeface="Roboto"/>
              </a:defRPr>
            </a:pPr>
            <a:r>
              <a:rPr sz="1400" b="0">
                <a:solidFill>
                  <a:srgbClr val="F7F5F1"/>
                </a:solidFill>
                <a:latin typeface="Oswald"/>
                <a:ea typeface="Roboto"/>
                <a:cs typeface="Roboto"/>
              </a:rPr>
              <a:t>SQL, APIs,</a:t>
            </a:r>
          </a:p>
          <a:p>
            <a:pPr algn="l">
              <a:defRPr sz="1125" b="0">
                <a:solidFill>
                  <a:srgbClr val="F7F5F1"/>
                </a:solidFill>
                <a:latin typeface="Roboto"/>
                <a:ea typeface="Roboto"/>
                <a:cs typeface="Roboto"/>
              </a:defRPr>
            </a:pPr>
            <a:r>
              <a:rPr sz="1400" b="0">
                <a:solidFill>
                  <a:srgbClr val="F7F5F1"/>
                </a:solidFill>
                <a:latin typeface="Oswald"/>
                <a:ea typeface="Roboto"/>
                <a:cs typeface="Roboto"/>
              </a:rPr>
              <a:t>files, workflows</a:t>
            </a:r>
          </a:p>
        </p:txBody>
      </p:sp>
      <p:sp>
        <p:nvSpPr>
          <p:cNvPr id="15" name="Strzałka: w prawo 14">
            <a:extLst>
              <a:ext uri="{FF2B5EF4-FFF2-40B4-BE49-F238E27FC236}">
                <a16:creationId xmlns:a16="http://schemas.microsoft.com/office/drawing/2014/main" id="{3C7D2491-AFC8-477D-9B86-BE856CF50E02}"/>
              </a:ext>
            </a:extLst>
          </p:cNvPr>
          <p:cNvSpPr>
            <a:spLocks noGrp="1"/>
          </p:cNvSpPr>
          <p:nvPr/>
        </p:nvSpPr>
        <p:spPr>
          <a:xfrm>
            <a:off x="2904041" y="3307343"/>
            <a:ext cx="485775" cy="152400"/>
          </a:xfrm>
          <a:prstGeom prst="rightArrow">
            <a:avLst/>
          </a:prstGeom>
          <a:solidFill>
            <a:srgbClr val="FF7A1A"/>
          </a:solidFill>
          <a:ln w="0">
            <a:noFill/>
          </a:ln>
        </p:spPr>
        <p:txBody>
          <a:bodyPr/>
          <a:lstStyle/>
          <a:p>
            <a:endParaRPr lang="pl-PL">
              <a:latin typeface="Oswald"/>
            </a:endParaRPr>
          </a:p>
        </p:txBody>
      </p:sp>
      <p:sp>
        <p:nvSpPr>
          <p:cNvPr id="16" name="Strzałka: w prawo 15">
            <a:extLst>
              <a:ext uri="{FF2B5EF4-FFF2-40B4-BE49-F238E27FC236}">
                <a16:creationId xmlns:a16="http://schemas.microsoft.com/office/drawing/2014/main" id="{5EB1E962-D963-4E8F-B29B-3C9C6B29F213}"/>
              </a:ext>
            </a:extLst>
          </p:cNvPr>
          <p:cNvSpPr>
            <a:spLocks noGrp="1"/>
          </p:cNvSpPr>
          <p:nvPr/>
        </p:nvSpPr>
        <p:spPr>
          <a:xfrm>
            <a:off x="5809166" y="3307343"/>
            <a:ext cx="485775" cy="152400"/>
          </a:xfrm>
          <a:prstGeom prst="rightArrow">
            <a:avLst/>
          </a:prstGeom>
          <a:solidFill>
            <a:srgbClr val="FF7A1A"/>
          </a:solidFill>
          <a:ln w="0">
            <a:noFill/>
          </a:ln>
        </p:spPr>
        <p:txBody>
          <a:bodyPr/>
          <a:lstStyle/>
          <a:p>
            <a:endParaRPr lang="pl-PL">
              <a:latin typeface="Oswald"/>
            </a:endParaRPr>
          </a:p>
        </p:txBody>
      </p:sp>
      <p:sp>
        <p:nvSpPr>
          <p:cNvPr id="17" name="Strzałka: w prawo 16">
            <a:extLst>
              <a:ext uri="{FF2B5EF4-FFF2-40B4-BE49-F238E27FC236}">
                <a16:creationId xmlns:a16="http://schemas.microsoft.com/office/drawing/2014/main" id="{FCAA1B2D-AC39-4023-A032-C208DBD9E7E5}"/>
              </a:ext>
            </a:extLst>
          </p:cNvPr>
          <p:cNvSpPr>
            <a:spLocks noGrp="1"/>
          </p:cNvSpPr>
          <p:nvPr/>
        </p:nvSpPr>
        <p:spPr>
          <a:xfrm>
            <a:off x="8714291" y="3307343"/>
            <a:ext cx="485775" cy="152400"/>
          </a:xfrm>
          <a:prstGeom prst="rightArrow">
            <a:avLst/>
          </a:prstGeom>
          <a:solidFill>
            <a:srgbClr val="FF7A1A"/>
          </a:solidFill>
          <a:ln w="0">
            <a:noFill/>
          </a:ln>
        </p:spPr>
        <p:txBody>
          <a:bodyPr/>
          <a:lstStyle/>
          <a:p>
            <a:endParaRPr lang="pl-PL">
              <a:latin typeface="Oswald"/>
            </a:endParaRPr>
          </a:p>
        </p:txBody>
      </p:sp>
      <p:sp>
        <p:nvSpPr>
          <p:cNvPr id="18" name="Prostokąt 17">
            <a:extLst>
              <a:ext uri="{FF2B5EF4-FFF2-40B4-BE49-F238E27FC236}">
                <a16:creationId xmlns:a16="http://schemas.microsoft.com/office/drawing/2014/main" id="{9C402E8C-6F68-483C-A989-F7E0D384FB48}"/>
              </a:ext>
            </a:extLst>
          </p:cNvPr>
          <p:cNvSpPr>
            <a:spLocks noGrp="1"/>
          </p:cNvSpPr>
          <p:nvPr/>
        </p:nvSpPr>
        <p:spPr>
          <a:xfrm>
            <a:off x="2731349" y="4637116"/>
            <a:ext cx="1714500" cy="342900"/>
          </a:xfrm>
          <a:prstGeom prst="rect">
            <a:avLst/>
          </a:prstGeom>
          <a:noFill/>
          <a:ln w="0">
            <a:noFill/>
          </a:ln>
        </p:spPr>
        <p:txBody>
          <a:bodyPr anchor="ctr">
            <a:normAutofit/>
          </a:bodyPr>
          <a:lstStyle/>
          <a:p>
            <a:pPr algn="ctr">
              <a:defRPr sz="1050" b="1">
                <a:solidFill>
                  <a:srgbClr val="FFC400"/>
                </a:solidFill>
                <a:latin typeface="Roboto"/>
                <a:ea typeface="Roboto"/>
                <a:cs typeface="Roboto"/>
              </a:defRPr>
            </a:pPr>
            <a:r>
              <a:rPr sz="1600" b="1">
                <a:solidFill>
                  <a:srgbClr val="FFC400"/>
                </a:solidFill>
                <a:latin typeface="Oswald"/>
                <a:ea typeface="Roboto"/>
                <a:cs typeface="Roboto"/>
              </a:rPr>
              <a:t>Capabilities</a:t>
            </a:r>
          </a:p>
        </p:txBody>
      </p:sp>
      <p:sp>
        <p:nvSpPr>
          <p:cNvPr id="19" name="Prostokąt: zaokrąglone rogi 18">
            <a:extLst>
              <a:ext uri="{FF2B5EF4-FFF2-40B4-BE49-F238E27FC236}">
                <a16:creationId xmlns:a16="http://schemas.microsoft.com/office/drawing/2014/main" id="{C48F474E-ABBA-43AD-8BB0-E5AADA1720E2}"/>
              </a:ext>
            </a:extLst>
          </p:cNvPr>
          <p:cNvSpPr>
            <a:spLocks noGrp="1"/>
          </p:cNvSpPr>
          <p:nvPr/>
        </p:nvSpPr>
        <p:spPr>
          <a:xfrm>
            <a:off x="490903" y="5113366"/>
            <a:ext cx="1905000" cy="457200"/>
          </a:xfrm>
          <a:prstGeom prst="roundRect">
            <a:avLst>
              <a:gd name="adj" fmla="val 50000"/>
            </a:avLst>
          </a:prstGeom>
          <a:solidFill>
            <a:srgbClr val="334C54"/>
          </a:solidFill>
          <a:ln w="13335">
            <a:solidFill>
              <a:srgbClr val="FF7A1A"/>
            </a:solidFill>
            <a:prstDash val="solid"/>
          </a:ln>
        </p:spPr>
        <p:txBody>
          <a:bodyPr anchor="ctr">
            <a:normAutofit/>
          </a:bodyPr>
          <a:lstStyle/>
          <a:p>
            <a:pPr algn="ctr">
              <a:defRPr sz="1050" b="1">
                <a:solidFill>
                  <a:srgbClr val="F7F5F1"/>
                </a:solidFill>
                <a:latin typeface="Roboto"/>
                <a:ea typeface="Roboto"/>
                <a:cs typeface="Roboto"/>
              </a:defRPr>
            </a:pPr>
            <a:r>
              <a:rPr sz="1050" b="1">
                <a:solidFill>
                  <a:srgbClr val="F7F5F1"/>
                </a:solidFill>
                <a:latin typeface="Oswald"/>
                <a:ea typeface="Roboto"/>
                <a:cs typeface="Roboto"/>
              </a:rPr>
              <a:t>Tools: actions</a:t>
            </a:r>
          </a:p>
        </p:txBody>
      </p:sp>
      <p:sp>
        <p:nvSpPr>
          <p:cNvPr id="20" name="Prostokąt: zaokrąglone rogi 19">
            <a:extLst>
              <a:ext uri="{FF2B5EF4-FFF2-40B4-BE49-F238E27FC236}">
                <a16:creationId xmlns:a16="http://schemas.microsoft.com/office/drawing/2014/main" id="{DEA8276C-A770-452E-9FAB-8C5B3794162E}"/>
              </a:ext>
            </a:extLst>
          </p:cNvPr>
          <p:cNvSpPr>
            <a:spLocks noGrp="1"/>
          </p:cNvSpPr>
          <p:nvPr/>
        </p:nvSpPr>
        <p:spPr>
          <a:xfrm>
            <a:off x="2548303" y="5113366"/>
            <a:ext cx="2095500" cy="457200"/>
          </a:xfrm>
          <a:prstGeom prst="roundRect">
            <a:avLst>
              <a:gd name="adj" fmla="val 50000"/>
            </a:avLst>
          </a:prstGeom>
          <a:solidFill>
            <a:srgbClr val="334C54"/>
          </a:solidFill>
          <a:ln w="13335">
            <a:solidFill>
              <a:srgbClr val="FF7A1A"/>
            </a:solidFill>
            <a:prstDash val="solid"/>
          </a:ln>
        </p:spPr>
        <p:txBody>
          <a:bodyPr anchor="ctr">
            <a:normAutofit/>
          </a:bodyPr>
          <a:lstStyle/>
          <a:p>
            <a:pPr algn="ctr">
              <a:defRPr sz="1050" b="1">
                <a:solidFill>
                  <a:srgbClr val="F7F5F1"/>
                </a:solidFill>
                <a:latin typeface="Roboto"/>
                <a:ea typeface="Roboto"/>
                <a:cs typeface="Roboto"/>
              </a:defRPr>
            </a:pPr>
            <a:r>
              <a:rPr sz="1050" b="1">
                <a:solidFill>
                  <a:srgbClr val="F7F5F1"/>
                </a:solidFill>
                <a:latin typeface="Oswald"/>
                <a:ea typeface="Roboto"/>
                <a:cs typeface="Roboto"/>
              </a:rPr>
              <a:t>Resources: context</a:t>
            </a:r>
          </a:p>
        </p:txBody>
      </p:sp>
      <p:sp>
        <p:nvSpPr>
          <p:cNvPr id="21" name="Prostokąt: zaokrąglone rogi 20">
            <a:extLst>
              <a:ext uri="{FF2B5EF4-FFF2-40B4-BE49-F238E27FC236}">
                <a16:creationId xmlns:a16="http://schemas.microsoft.com/office/drawing/2014/main" id="{BF812550-7564-4AE3-A3FD-8006805E60A8}"/>
              </a:ext>
            </a:extLst>
          </p:cNvPr>
          <p:cNvSpPr>
            <a:spLocks noGrp="1"/>
          </p:cNvSpPr>
          <p:nvPr/>
        </p:nvSpPr>
        <p:spPr>
          <a:xfrm>
            <a:off x="4796203" y="5113366"/>
            <a:ext cx="2095500" cy="457200"/>
          </a:xfrm>
          <a:prstGeom prst="roundRect">
            <a:avLst>
              <a:gd name="adj" fmla="val 50000"/>
            </a:avLst>
          </a:prstGeom>
          <a:solidFill>
            <a:srgbClr val="334C54"/>
          </a:solidFill>
          <a:ln w="13335">
            <a:solidFill>
              <a:srgbClr val="FF7A1A"/>
            </a:solidFill>
            <a:prstDash val="solid"/>
          </a:ln>
        </p:spPr>
        <p:txBody>
          <a:bodyPr anchor="ctr">
            <a:normAutofit/>
          </a:bodyPr>
          <a:lstStyle/>
          <a:p>
            <a:pPr algn="ctr">
              <a:defRPr sz="1050" b="1">
                <a:solidFill>
                  <a:srgbClr val="F7F5F1"/>
                </a:solidFill>
                <a:latin typeface="Roboto"/>
                <a:ea typeface="Roboto"/>
                <a:cs typeface="Roboto"/>
              </a:defRPr>
            </a:pPr>
            <a:r>
              <a:rPr sz="1050" b="1">
                <a:solidFill>
                  <a:srgbClr val="F7F5F1"/>
                </a:solidFill>
                <a:latin typeface="Oswald"/>
                <a:ea typeface="Roboto"/>
                <a:cs typeface="Roboto"/>
              </a:rPr>
              <a:t>Prompts: workflows</a:t>
            </a:r>
          </a:p>
        </p:txBody>
      </p:sp>
      <p:sp>
        <p:nvSpPr>
          <p:cNvPr id="22" name="Prostokąt 21">
            <a:extLst>
              <a:ext uri="{FF2B5EF4-FFF2-40B4-BE49-F238E27FC236}">
                <a16:creationId xmlns:a16="http://schemas.microsoft.com/office/drawing/2014/main" id="{28F964C9-EECC-4F73-AA6A-61177B7064D1}"/>
              </a:ext>
            </a:extLst>
          </p:cNvPr>
          <p:cNvSpPr>
            <a:spLocks noGrp="1"/>
          </p:cNvSpPr>
          <p:nvPr/>
        </p:nvSpPr>
        <p:spPr>
          <a:xfrm>
            <a:off x="8569759" y="4637116"/>
            <a:ext cx="1714500" cy="342900"/>
          </a:xfrm>
          <a:prstGeom prst="rect">
            <a:avLst/>
          </a:prstGeom>
          <a:noFill/>
          <a:ln w="0">
            <a:noFill/>
          </a:ln>
        </p:spPr>
        <p:txBody>
          <a:bodyPr anchor="ctr">
            <a:normAutofit/>
          </a:bodyPr>
          <a:lstStyle/>
          <a:p>
            <a:pPr algn="ctr">
              <a:defRPr sz="1050" b="1">
                <a:solidFill>
                  <a:srgbClr val="FFC400"/>
                </a:solidFill>
                <a:latin typeface="Roboto"/>
                <a:ea typeface="Roboto"/>
                <a:cs typeface="Roboto"/>
              </a:defRPr>
            </a:pPr>
            <a:r>
              <a:rPr sz="1600" b="1">
                <a:solidFill>
                  <a:srgbClr val="FFC400"/>
                </a:solidFill>
                <a:latin typeface="Oswald"/>
                <a:ea typeface="Roboto"/>
                <a:cs typeface="Roboto"/>
              </a:rPr>
              <a:t>Transport</a:t>
            </a:r>
          </a:p>
        </p:txBody>
      </p:sp>
      <p:sp>
        <p:nvSpPr>
          <p:cNvPr id="23" name="Prostokąt: zaokrąglone rogi 22">
            <a:extLst>
              <a:ext uri="{FF2B5EF4-FFF2-40B4-BE49-F238E27FC236}">
                <a16:creationId xmlns:a16="http://schemas.microsoft.com/office/drawing/2014/main" id="{590053E7-9ADB-4A15-A845-B7437DF5D70E}"/>
              </a:ext>
            </a:extLst>
          </p:cNvPr>
          <p:cNvSpPr>
            <a:spLocks noGrp="1"/>
          </p:cNvSpPr>
          <p:nvPr/>
        </p:nvSpPr>
        <p:spPr>
          <a:xfrm>
            <a:off x="7558453" y="5113366"/>
            <a:ext cx="1714500" cy="457200"/>
          </a:xfrm>
          <a:prstGeom prst="roundRect">
            <a:avLst>
              <a:gd name="adj" fmla="val 50000"/>
            </a:avLst>
          </a:prstGeom>
          <a:solidFill>
            <a:srgbClr val="334C54"/>
          </a:solidFill>
          <a:ln w="13335">
            <a:solidFill>
              <a:srgbClr val="FF7A1A"/>
            </a:solidFill>
            <a:prstDash val="solid"/>
          </a:ln>
        </p:spPr>
        <p:txBody>
          <a:bodyPr anchor="ctr">
            <a:normAutofit/>
          </a:bodyPr>
          <a:lstStyle/>
          <a:p>
            <a:pPr algn="ctr">
              <a:defRPr sz="1050" b="1">
                <a:solidFill>
                  <a:srgbClr val="F7F5F1"/>
                </a:solidFill>
                <a:latin typeface="Roboto"/>
                <a:ea typeface="Roboto"/>
                <a:cs typeface="Roboto"/>
              </a:defRPr>
            </a:pPr>
            <a:r>
              <a:rPr sz="1050" b="1">
                <a:solidFill>
                  <a:srgbClr val="F7F5F1"/>
                </a:solidFill>
                <a:latin typeface="Oswald"/>
                <a:ea typeface="Roboto"/>
                <a:cs typeface="Roboto"/>
              </a:rPr>
              <a:t>stdio: local</a:t>
            </a:r>
          </a:p>
        </p:txBody>
      </p:sp>
      <p:sp>
        <p:nvSpPr>
          <p:cNvPr id="24" name="Prostokąt: zaokrąglone rogi 23">
            <a:extLst>
              <a:ext uri="{FF2B5EF4-FFF2-40B4-BE49-F238E27FC236}">
                <a16:creationId xmlns:a16="http://schemas.microsoft.com/office/drawing/2014/main" id="{7FD151F3-E1AD-4011-A9E7-538926EA47C7}"/>
              </a:ext>
            </a:extLst>
          </p:cNvPr>
          <p:cNvSpPr>
            <a:spLocks noGrp="1"/>
          </p:cNvSpPr>
          <p:nvPr/>
        </p:nvSpPr>
        <p:spPr>
          <a:xfrm>
            <a:off x="9425353" y="5113366"/>
            <a:ext cx="2171700" cy="457200"/>
          </a:xfrm>
          <a:prstGeom prst="roundRect">
            <a:avLst>
              <a:gd name="adj" fmla="val 50000"/>
            </a:avLst>
          </a:prstGeom>
          <a:solidFill>
            <a:srgbClr val="334C54"/>
          </a:solidFill>
          <a:ln w="13335">
            <a:solidFill>
              <a:srgbClr val="FF7A1A"/>
            </a:solidFill>
            <a:prstDash val="solid"/>
          </a:ln>
        </p:spPr>
        <p:txBody>
          <a:bodyPr anchor="ctr">
            <a:normAutofit/>
          </a:bodyPr>
          <a:lstStyle/>
          <a:p>
            <a:pPr algn="ctr">
              <a:defRPr sz="1050" b="1">
                <a:solidFill>
                  <a:srgbClr val="F7F5F1"/>
                </a:solidFill>
                <a:latin typeface="Roboto"/>
                <a:ea typeface="Roboto"/>
                <a:cs typeface="Roboto"/>
              </a:defRPr>
            </a:pPr>
            <a:r>
              <a:rPr sz="1050" b="1">
                <a:solidFill>
                  <a:srgbClr val="F7F5F1"/>
                </a:solidFill>
                <a:latin typeface="Oswald"/>
                <a:ea typeface="Roboto"/>
                <a:cs typeface="Roboto"/>
              </a:rPr>
              <a:t>Streamable HTTP: remote</a:t>
            </a:r>
          </a:p>
        </p:txBody>
      </p:sp>
      <p:sp>
        <p:nvSpPr>
          <p:cNvPr id="27" name="Title 26">
            <a:extLst>
              <a:ext uri="{FF2B5EF4-FFF2-40B4-BE49-F238E27FC236}">
                <a16:creationId xmlns:a16="http://schemas.microsoft.com/office/drawing/2014/main" id="{9BF9E050-D24D-FFEC-3B97-AD7B1860EF4D}"/>
              </a:ext>
            </a:extLst>
          </p:cNvPr>
          <p:cNvSpPr>
            <a:spLocks noGrp="1"/>
          </p:cNvSpPr>
          <p:nvPr>
            <p:ph type="title"/>
          </p:nvPr>
        </p:nvSpPr>
        <p:spPr/>
        <p:txBody>
          <a:bodyPr/>
          <a:lstStyle/>
          <a:p>
            <a:r>
              <a:rPr lang="en-US">
                <a:latin typeface="Oswald"/>
              </a:rPr>
              <a:t>MCP architecture</a:t>
            </a:r>
            <a:endParaRPr lang="en-US"/>
          </a:p>
        </p:txBody>
      </p:sp>
    </p:spTree>
    <p:extLst>
      <p:ext uri="{BB962C8B-B14F-4D97-AF65-F5344CB8AC3E}">
        <p14:creationId xmlns:p14="http://schemas.microsoft.com/office/powerpoint/2010/main" val="1888176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subtitle">
            <a:extLst>
              <a:ext uri="{FF2B5EF4-FFF2-40B4-BE49-F238E27FC236}">
                <a16:creationId xmlns:a16="http://schemas.microsoft.com/office/drawing/2014/main" id="{55C2FE25-849F-456E-B0B9-A311B12D0E71}"/>
              </a:ext>
            </a:extLst>
          </p:cNvPr>
          <p:cNvSpPr>
            <a:spLocks noGrp="1"/>
          </p:cNvSpPr>
          <p:nvPr/>
        </p:nvSpPr>
        <p:spPr>
          <a:xfrm>
            <a:off x="935107" y="1591972"/>
            <a:ext cx="10096500" cy="590550"/>
          </a:xfrm>
          <a:prstGeom prst="rect">
            <a:avLst/>
          </a:prstGeom>
          <a:noFill/>
          <a:ln w="0">
            <a:noFill/>
          </a:ln>
        </p:spPr>
        <p:txBody>
          <a:bodyPr lIns="91440" tIns="45720" rIns="91440" bIns="45720" anchor="t">
            <a:normAutofit/>
          </a:bodyPr>
          <a:lstStyle/>
          <a:p>
            <a:pPr algn="ctr">
              <a:defRPr sz="1200" b="0">
                <a:solidFill>
                  <a:srgbClr val="CED7D9"/>
                </a:solidFill>
                <a:latin typeface="Roboto"/>
                <a:ea typeface="Roboto"/>
                <a:cs typeface="Roboto"/>
              </a:defRPr>
            </a:pPr>
            <a:r>
              <a:rPr sz="1400" b="0">
                <a:solidFill>
                  <a:srgbClr val="000000"/>
                </a:solidFill>
                <a:latin typeface="Oswald"/>
                <a:ea typeface="Roboto"/>
                <a:cs typeface="Roboto"/>
              </a:rPr>
              <a:t>Start with one business decision and expose the smallest useful capability. </a:t>
            </a:r>
            <a:r>
              <a:rPr sz="1400" b="1">
                <a:solidFill>
                  <a:srgbClr val="000000"/>
                </a:solidFill>
                <a:latin typeface="Oswald"/>
                <a:ea typeface="Roboto"/>
                <a:cs typeface="Roboto"/>
              </a:rPr>
              <a:t>The tool description is part of the runtime contract.</a:t>
            </a:r>
            <a:endParaRPr lang="en-US" sz="1400" b="1">
              <a:solidFill>
                <a:srgbClr val="000000"/>
              </a:solidFill>
              <a:latin typeface="Oswald"/>
              <a:ea typeface="Roboto"/>
              <a:cs typeface="Roboto"/>
            </a:endParaRPr>
          </a:p>
        </p:txBody>
      </p:sp>
      <p:sp>
        <p:nvSpPr>
          <p:cNvPr id="3" name="Prostokąt: zaokrąglone rogi 2">
            <a:extLst>
              <a:ext uri="{FF2B5EF4-FFF2-40B4-BE49-F238E27FC236}">
                <a16:creationId xmlns:a16="http://schemas.microsoft.com/office/drawing/2014/main" id="{5CBF8E1A-A549-4C27-B6AB-1863BAEDDEA0}"/>
              </a:ext>
            </a:extLst>
          </p:cNvPr>
          <p:cNvSpPr>
            <a:spLocks noGrp="1"/>
          </p:cNvSpPr>
          <p:nvPr/>
        </p:nvSpPr>
        <p:spPr>
          <a:xfrm>
            <a:off x="914400" y="2209026"/>
            <a:ext cx="400050" cy="400050"/>
          </a:xfrm>
          <a:prstGeom prst="roundRect">
            <a:avLst>
              <a:gd name="adj" fmla="val 50000"/>
            </a:avLst>
          </a:prstGeom>
          <a:solidFill>
            <a:srgbClr val="FF7A1A"/>
          </a:solidFill>
          <a:ln w="0">
            <a:noFill/>
          </a:ln>
        </p:spPr>
        <p:txBody>
          <a:bodyPr anchor="ctr">
            <a:normAutofit/>
          </a:bodyPr>
          <a:lstStyle/>
          <a:p>
            <a:pPr algn="ctr">
              <a:defRPr sz="1125" b="1">
                <a:solidFill>
                  <a:srgbClr val="101618"/>
                </a:solidFill>
                <a:latin typeface="Roboto"/>
                <a:ea typeface="Roboto"/>
                <a:cs typeface="Roboto"/>
              </a:defRPr>
            </a:pPr>
            <a:r>
              <a:rPr sz="1125" b="1">
                <a:solidFill>
                  <a:srgbClr val="101618"/>
                </a:solidFill>
                <a:latin typeface="Oswald"/>
                <a:ea typeface="Roboto"/>
                <a:cs typeface="Roboto"/>
              </a:rPr>
              <a:t>1</a:t>
            </a:r>
          </a:p>
        </p:txBody>
      </p:sp>
      <p:sp>
        <p:nvSpPr>
          <p:cNvPr id="4" name="Prostokąt 3">
            <a:extLst>
              <a:ext uri="{FF2B5EF4-FFF2-40B4-BE49-F238E27FC236}">
                <a16:creationId xmlns:a16="http://schemas.microsoft.com/office/drawing/2014/main" id="{890FB4F4-9F5E-427B-BD4E-6F67A83B5825}"/>
              </a:ext>
            </a:extLst>
          </p:cNvPr>
          <p:cNvSpPr>
            <a:spLocks noGrp="1"/>
          </p:cNvSpPr>
          <p:nvPr/>
        </p:nvSpPr>
        <p:spPr>
          <a:xfrm>
            <a:off x="1466850" y="2189976"/>
            <a:ext cx="2800350" cy="285750"/>
          </a:xfrm>
          <a:prstGeom prst="rect">
            <a:avLst/>
          </a:prstGeom>
          <a:noFill/>
          <a:ln w="0">
            <a:noFill/>
          </a:ln>
        </p:spPr>
        <p:txBody>
          <a:bodyPr anchor="ctr">
            <a:noAutofit/>
          </a:bodyPr>
          <a:lstStyle/>
          <a:p>
            <a:pPr algn="l">
              <a:defRPr sz="1275" b="1">
                <a:solidFill>
                  <a:srgbClr val="FFC400"/>
                </a:solidFill>
                <a:latin typeface="Roboto"/>
                <a:ea typeface="Roboto"/>
                <a:cs typeface="Roboto"/>
              </a:defRPr>
            </a:pPr>
            <a:r>
              <a:rPr sz="1400" b="1">
                <a:solidFill>
                  <a:srgbClr val="FFC000"/>
                </a:solidFill>
                <a:latin typeface="Oswald"/>
                <a:ea typeface="Roboto"/>
                <a:cs typeface="Roboto"/>
              </a:rPr>
              <a:t>Choose one question</a:t>
            </a:r>
          </a:p>
        </p:txBody>
      </p:sp>
      <p:sp>
        <p:nvSpPr>
          <p:cNvPr id="5" name="Prostokąt 4">
            <a:extLst>
              <a:ext uri="{FF2B5EF4-FFF2-40B4-BE49-F238E27FC236}">
                <a16:creationId xmlns:a16="http://schemas.microsoft.com/office/drawing/2014/main" id="{EDFF29B1-3BC2-43FE-9071-31E2D370CC76}"/>
              </a:ext>
            </a:extLst>
          </p:cNvPr>
          <p:cNvSpPr>
            <a:spLocks noGrp="1"/>
          </p:cNvSpPr>
          <p:nvPr/>
        </p:nvSpPr>
        <p:spPr>
          <a:xfrm>
            <a:off x="1466850" y="2466201"/>
            <a:ext cx="3571875" cy="400050"/>
          </a:xfrm>
          <a:prstGeom prst="rect">
            <a:avLst/>
          </a:prstGeom>
          <a:noFill/>
          <a:ln w="0">
            <a:noFill/>
          </a:ln>
        </p:spPr>
        <p:txBody>
          <a:bodyPr anchor="t">
            <a:normAutofit/>
          </a:bodyPr>
          <a:lstStyle/>
          <a:p>
            <a:pPr algn="l">
              <a:defRPr sz="938" b="0">
                <a:solidFill>
                  <a:srgbClr val="CED7D9"/>
                </a:solidFill>
                <a:latin typeface="Roboto"/>
                <a:ea typeface="Roboto"/>
                <a:cs typeface="Roboto"/>
              </a:defRPr>
            </a:pPr>
            <a:r>
              <a:rPr sz="1200" b="0">
                <a:solidFill>
                  <a:srgbClr val="000000"/>
                </a:solidFill>
                <a:latin typeface="Oswald"/>
                <a:ea typeface="Roboto"/>
                <a:cs typeface="Roboto"/>
              </a:rPr>
              <a:t>A repeatable decision with a known owner.</a:t>
            </a:r>
          </a:p>
        </p:txBody>
      </p:sp>
      <p:sp>
        <p:nvSpPr>
          <p:cNvPr id="6" name="Prostokąt: zaokrąglone rogi 5">
            <a:extLst>
              <a:ext uri="{FF2B5EF4-FFF2-40B4-BE49-F238E27FC236}">
                <a16:creationId xmlns:a16="http://schemas.microsoft.com/office/drawing/2014/main" id="{3C0C232F-542F-4812-8684-F0DDED61666E}"/>
              </a:ext>
            </a:extLst>
          </p:cNvPr>
          <p:cNvSpPr>
            <a:spLocks noGrp="1"/>
          </p:cNvSpPr>
          <p:nvPr/>
        </p:nvSpPr>
        <p:spPr>
          <a:xfrm>
            <a:off x="914400" y="3009126"/>
            <a:ext cx="400050" cy="400050"/>
          </a:xfrm>
          <a:prstGeom prst="roundRect">
            <a:avLst>
              <a:gd name="adj" fmla="val 50000"/>
            </a:avLst>
          </a:prstGeom>
          <a:solidFill>
            <a:srgbClr val="FF7A1A"/>
          </a:solidFill>
          <a:ln w="0">
            <a:noFill/>
          </a:ln>
        </p:spPr>
        <p:txBody>
          <a:bodyPr anchor="ctr">
            <a:normAutofit/>
          </a:bodyPr>
          <a:lstStyle/>
          <a:p>
            <a:pPr algn="ctr">
              <a:defRPr sz="1125" b="1">
                <a:solidFill>
                  <a:srgbClr val="101618"/>
                </a:solidFill>
                <a:latin typeface="Roboto"/>
                <a:ea typeface="Roboto"/>
                <a:cs typeface="Roboto"/>
              </a:defRPr>
            </a:pPr>
            <a:r>
              <a:rPr sz="1125" b="1">
                <a:solidFill>
                  <a:srgbClr val="101618"/>
                </a:solidFill>
                <a:latin typeface="Oswald"/>
                <a:ea typeface="Roboto"/>
                <a:cs typeface="Roboto"/>
              </a:rPr>
              <a:t>2</a:t>
            </a:r>
          </a:p>
        </p:txBody>
      </p:sp>
      <p:sp>
        <p:nvSpPr>
          <p:cNvPr id="7" name="Prostokąt 6">
            <a:extLst>
              <a:ext uri="{FF2B5EF4-FFF2-40B4-BE49-F238E27FC236}">
                <a16:creationId xmlns:a16="http://schemas.microsoft.com/office/drawing/2014/main" id="{D79AF0DB-3C8D-48C7-A1A8-6014DE5636B0}"/>
              </a:ext>
            </a:extLst>
          </p:cNvPr>
          <p:cNvSpPr>
            <a:spLocks noGrp="1"/>
          </p:cNvSpPr>
          <p:nvPr/>
        </p:nvSpPr>
        <p:spPr>
          <a:xfrm>
            <a:off x="1466850" y="2990076"/>
            <a:ext cx="2800350" cy="285750"/>
          </a:xfrm>
          <a:prstGeom prst="rect">
            <a:avLst/>
          </a:prstGeom>
          <a:noFill/>
          <a:ln w="0">
            <a:noFill/>
          </a:ln>
        </p:spPr>
        <p:txBody>
          <a:bodyPr anchor="ctr">
            <a:noAutofit/>
          </a:bodyPr>
          <a:lstStyle/>
          <a:p>
            <a:pPr algn="l">
              <a:defRPr sz="1275" b="1">
                <a:solidFill>
                  <a:srgbClr val="FFC400"/>
                </a:solidFill>
                <a:latin typeface="Roboto"/>
                <a:ea typeface="Roboto"/>
                <a:cs typeface="Roboto"/>
              </a:defRPr>
            </a:pPr>
            <a:r>
              <a:rPr sz="1400" b="1">
                <a:solidFill>
                  <a:srgbClr val="FFC000"/>
                </a:solidFill>
                <a:latin typeface="Oswald"/>
                <a:ea typeface="Roboto"/>
                <a:cs typeface="Roboto"/>
              </a:rPr>
              <a:t>Define the tool</a:t>
            </a:r>
          </a:p>
        </p:txBody>
      </p:sp>
      <p:sp>
        <p:nvSpPr>
          <p:cNvPr id="8" name="Prostokąt 7">
            <a:extLst>
              <a:ext uri="{FF2B5EF4-FFF2-40B4-BE49-F238E27FC236}">
                <a16:creationId xmlns:a16="http://schemas.microsoft.com/office/drawing/2014/main" id="{BD9532F3-5856-4A60-9864-A7105F041368}"/>
              </a:ext>
            </a:extLst>
          </p:cNvPr>
          <p:cNvSpPr>
            <a:spLocks noGrp="1"/>
          </p:cNvSpPr>
          <p:nvPr/>
        </p:nvSpPr>
        <p:spPr>
          <a:xfrm>
            <a:off x="1466850" y="3266301"/>
            <a:ext cx="3571875" cy="400050"/>
          </a:xfrm>
          <a:prstGeom prst="rect">
            <a:avLst/>
          </a:prstGeom>
          <a:noFill/>
          <a:ln w="0">
            <a:noFill/>
          </a:ln>
        </p:spPr>
        <p:txBody>
          <a:bodyPr anchor="t">
            <a:normAutofit/>
          </a:bodyPr>
          <a:lstStyle/>
          <a:p>
            <a:pPr algn="l">
              <a:defRPr sz="938" b="0">
                <a:solidFill>
                  <a:srgbClr val="CED7D9"/>
                </a:solidFill>
                <a:latin typeface="Roboto"/>
                <a:ea typeface="Roboto"/>
                <a:cs typeface="Roboto"/>
              </a:defRPr>
            </a:pPr>
            <a:r>
              <a:rPr sz="1200" b="0">
                <a:solidFill>
                  <a:srgbClr val="000000"/>
                </a:solidFill>
                <a:latin typeface="Oswald"/>
                <a:ea typeface="Roboto"/>
                <a:cs typeface="Roboto"/>
              </a:rPr>
              <a:t>Name, description, inputs, output, and errors.</a:t>
            </a:r>
          </a:p>
        </p:txBody>
      </p:sp>
      <p:sp>
        <p:nvSpPr>
          <p:cNvPr id="9" name="Prostokąt: zaokrąglone rogi 8">
            <a:extLst>
              <a:ext uri="{FF2B5EF4-FFF2-40B4-BE49-F238E27FC236}">
                <a16:creationId xmlns:a16="http://schemas.microsoft.com/office/drawing/2014/main" id="{B02B040E-2DD6-4C58-B7F7-9D50BE969EEE}"/>
              </a:ext>
            </a:extLst>
          </p:cNvPr>
          <p:cNvSpPr>
            <a:spLocks noGrp="1"/>
          </p:cNvSpPr>
          <p:nvPr/>
        </p:nvSpPr>
        <p:spPr>
          <a:xfrm>
            <a:off x="914400" y="3809226"/>
            <a:ext cx="400050" cy="400050"/>
          </a:xfrm>
          <a:prstGeom prst="roundRect">
            <a:avLst>
              <a:gd name="adj" fmla="val 50000"/>
            </a:avLst>
          </a:prstGeom>
          <a:solidFill>
            <a:srgbClr val="FF7A1A"/>
          </a:solidFill>
          <a:ln w="0">
            <a:noFill/>
          </a:ln>
        </p:spPr>
        <p:txBody>
          <a:bodyPr anchor="ctr">
            <a:normAutofit/>
          </a:bodyPr>
          <a:lstStyle/>
          <a:p>
            <a:pPr algn="ctr">
              <a:defRPr sz="1125" b="1">
                <a:solidFill>
                  <a:srgbClr val="101618"/>
                </a:solidFill>
                <a:latin typeface="Roboto"/>
                <a:ea typeface="Roboto"/>
                <a:cs typeface="Roboto"/>
              </a:defRPr>
            </a:pPr>
            <a:r>
              <a:rPr sz="1125" b="1">
                <a:solidFill>
                  <a:srgbClr val="101618"/>
                </a:solidFill>
                <a:latin typeface="Oswald"/>
                <a:ea typeface="Roboto"/>
                <a:cs typeface="Roboto"/>
              </a:rPr>
              <a:t>3</a:t>
            </a:r>
          </a:p>
        </p:txBody>
      </p:sp>
      <p:sp>
        <p:nvSpPr>
          <p:cNvPr id="10" name="Prostokąt 9">
            <a:extLst>
              <a:ext uri="{FF2B5EF4-FFF2-40B4-BE49-F238E27FC236}">
                <a16:creationId xmlns:a16="http://schemas.microsoft.com/office/drawing/2014/main" id="{9F25C49C-F561-4845-B422-3BCF6CC582E0}"/>
              </a:ext>
            </a:extLst>
          </p:cNvPr>
          <p:cNvSpPr>
            <a:spLocks noGrp="1"/>
          </p:cNvSpPr>
          <p:nvPr/>
        </p:nvSpPr>
        <p:spPr>
          <a:xfrm>
            <a:off x="1466850" y="3790176"/>
            <a:ext cx="2800350" cy="285750"/>
          </a:xfrm>
          <a:prstGeom prst="rect">
            <a:avLst/>
          </a:prstGeom>
          <a:noFill/>
          <a:ln w="0">
            <a:noFill/>
          </a:ln>
        </p:spPr>
        <p:txBody>
          <a:bodyPr anchor="ctr">
            <a:noAutofit/>
          </a:bodyPr>
          <a:lstStyle/>
          <a:p>
            <a:pPr algn="l">
              <a:defRPr sz="1275" b="1">
                <a:solidFill>
                  <a:srgbClr val="FFC400"/>
                </a:solidFill>
                <a:latin typeface="Roboto"/>
                <a:ea typeface="Roboto"/>
                <a:cs typeface="Roboto"/>
              </a:defRPr>
            </a:pPr>
            <a:r>
              <a:rPr sz="1400" b="1">
                <a:solidFill>
                  <a:srgbClr val="FFC000"/>
                </a:solidFill>
                <a:latin typeface="Oswald"/>
                <a:ea typeface="Roboto"/>
                <a:cs typeface="Roboto"/>
              </a:rPr>
              <a:t>Implement the handler</a:t>
            </a:r>
          </a:p>
        </p:txBody>
      </p:sp>
      <p:sp>
        <p:nvSpPr>
          <p:cNvPr id="11" name="Prostokąt 10">
            <a:extLst>
              <a:ext uri="{FF2B5EF4-FFF2-40B4-BE49-F238E27FC236}">
                <a16:creationId xmlns:a16="http://schemas.microsoft.com/office/drawing/2014/main" id="{23896537-CE83-49BD-8E5D-0FF743F2B36D}"/>
              </a:ext>
            </a:extLst>
          </p:cNvPr>
          <p:cNvSpPr>
            <a:spLocks noGrp="1"/>
          </p:cNvSpPr>
          <p:nvPr/>
        </p:nvSpPr>
        <p:spPr>
          <a:xfrm>
            <a:off x="1466850" y="4066401"/>
            <a:ext cx="3571875" cy="400050"/>
          </a:xfrm>
          <a:prstGeom prst="rect">
            <a:avLst/>
          </a:prstGeom>
          <a:noFill/>
          <a:ln w="0">
            <a:noFill/>
          </a:ln>
        </p:spPr>
        <p:txBody>
          <a:bodyPr anchor="t">
            <a:normAutofit/>
          </a:bodyPr>
          <a:lstStyle/>
          <a:p>
            <a:pPr algn="l">
              <a:defRPr sz="938" b="0">
                <a:solidFill>
                  <a:srgbClr val="CED7D9"/>
                </a:solidFill>
                <a:latin typeface="Roboto"/>
                <a:ea typeface="Roboto"/>
                <a:cs typeface="Roboto"/>
              </a:defRPr>
            </a:pPr>
            <a:r>
              <a:rPr sz="1200" b="0">
                <a:solidFill>
                  <a:srgbClr val="000000"/>
                </a:solidFill>
                <a:latin typeface="Oswald"/>
                <a:ea typeface="Roboto"/>
                <a:cs typeface="Roboto"/>
              </a:rPr>
              <a:t>Call SQL or an API through a controlled adapter.</a:t>
            </a:r>
          </a:p>
        </p:txBody>
      </p:sp>
      <p:sp>
        <p:nvSpPr>
          <p:cNvPr id="12" name="Prostokąt: zaokrąglone rogi 11">
            <a:extLst>
              <a:ext uri="{FF2B5EF4-FFF2-40B4-BE49-F238E27FC236}">
                <a16:creationId xmlns:a16="http://schemas.microsoft.com/office/drawing/2014/main" id="{D1D22963-45DC-4ACB-B023-FF30B382DF93}"/>
              </a:ext>
            </a:extLst>
          </p:cNvPr>
          <p:cNvSpPr>
            <a:spLocks noGrp="1"/>
          </p:cNvSpPr>
          <p:nvPr/>
        </p:nvSpPr>
        <p:spPr>
          <a:xfrm>
            <a:off x="914400" y="4609326"/>
            <a:ext cx="400050" cy="400050"/>
          </a:xfrm>
          <a:prstGeom prst="roundRect">
            <a:avLst>
              <a:gd name="adj" fmla="val 50000"/>
            </a:avLst>
          </a:prstGeom>
          <a:solidFill>
            <a:srgbClr val="FF7A1A"/>
          </a:solidFill>
          <a:ln w="0">
            <a:noFill/>
          </a:ln>
        </p:spPr>
        <p:txBody>
          <a:bodyPr anchor="ctr">
            <a:normAutofit/>
          </a:bodyPr>
          <a:lstStyle/>
          <a:p>
            <a:pPr algn="ctr">
              <a:defRPr sz="1125" b="1">
                <a:solidFill>
                  <a:srgbClr val="101618"/>
                </a:solidFill>
                <a:latin typeface="Roboto"/>
                <a:ea typeface="Roboto"/>
                <a:cs typeface="Roboto"/>
              </a:defRPr>
            </a:pPr>
            <a:r>
              <a:rPr sz="1125" b="1">
                <a:solidFill>
                  <a:srgbClr val="101618"/>
                </a:solidFill>
                <a:latin typeface="Oswald"/>
                <a:ea typeface="Roboto"/>
                <a:cs typeface="Roboto"/>
              </a:rPr>
              <a:t>4</a:t>
            </a:r>
          </a:p>
        </p:txBody>
      </p:sp>
      <p:sp>
        <p:nvSpPr>
          <p:cNvPr id="13" name="Prostokąt 12">
            <a:extLst>
              <a:ext uri="{FF2B5EF4-FFF2-40B4-BE49-F238E27FC236}">
                <a16:creationId xmlns:a16="http://schemas.microsoft.com/office/drawing/2014/main" id="{BD0B1F5A-7639-4136-A1D1-A423A951350E}"/>
              </a:ext>
            </a:extLst>
          </p:cNvPr>
          <p:cNvSpPr>
            <a:spLocks noGrp="1"/>
          </p:cNvSpPr>
          <p:nvPr/>
        </p:nvSpPr>
        <p:spPr>
          <a:xfrm>
            <a:off x="1466850" y="4590276"/>
            <a:ext cx="2800350" cy="285750"/>
          </a:xfrm>
          <a:prstGeom prst="rect">
            <a:avLst/>
          </a:prstGeom>
          <a:noFill/>
          <a:ln w="0">
            <a:noFill/>
          </a:ln>
        </p:spPr>
        <p:txBody>
          <a:bodyPr anchor="ctr">
            <a:noAutofit/>
          </a:bodyPr>
          <a:lstStyle/>
          <a:p>
            <a:pPr algn="l">
              <a:defRPr sz="1275" b="1">
                <a:solidFill>
                  <a:srgbClr val="FFC400"/>
                </a:solidFill>
                <a:latin typeface="Roboto"/>
                <a:ea typeface="Roboto"/>
                <a:cs typeface="Roboto"/>
              </a:defRPr>
            </a:pPr>
            <a:r>
              <a:rPr sz="1400" b="1">
                <a:solidFill>
                  <a:srgbClr val="FFC000"/>
                </a:solidFill>
                <a:latin typeface="Oswald"/>
                <a:ea typeface="Roboto"/>
                <a:cs typeface="Roboto"/>
              </a:rPr>
              <a:t>Add controls</a:t>
            </a:r>
          </a:p>
        </p:txBody>
      </p:sp>
      <p:sp>
        <p:nvSpPr>
          <p:cNvPr id="14" name="Prostokąt 13">
            <a:extLst>
              <a:ext uri="{FF2B5EF4-FFF2-40B4-BE49-F238E27FC236}">
                <a16:creationId xmlns:a16="http://schemas.microsoft.com/office/drawing/2014/main" id="{60485A98-C48A-4A49-86A0-5560810B486C}"/>
              </a:ext>
            </a:extLst>
          </p:cNvPr>
          <p:cNvSpPr>
            <a:spLocks noGrp="1"/>
          </p:cNvSpPr>
          <p:nvPr/>
        </p:nvSpPr>
        <p:spPr>
          <a:xfrm>
            <a:off x="1466850" y="4866501"/>
            <a:ext cx="3571875" cy="400050"/>
          </a:xfrm>
          <a:prstGeom prst="rect">
            <a:avLst/>
          </a:prstGeom>
          <a:noFill/>
          <a:ln w="0">
            <a:noFill/>
          </a:ln>
        </p:spPr>
        <p:txBody>
          <a:bodyPr anchor="t">
            <a:normAutofit/>
          </a:bodyPr>
          <a:lstStyle/>
          <a:p>
            <a:pPr algn="l">
              <a:defRPr sz="938" b="0">
                <a:solidFill>
                  <a:srgbClr val="CED7D9"/>
                </a:solidFill>
                <a:latin typeface="Roboto"/>
                <a:ea typeface="Roboto"/>
                <a:cs typeface="Roboto"/>
              </a:defRPr>
            </a:pPr>
            <a:r>
              <a:rPr sz="1200" b="0">
                <a:solidFill>
                  <a:srgbClr val="000000"/>
                </a:solidFill>
                <a:latin typeface="Oswald"/>
                <a:ea typeface="Roboto"/>
                <a:cs typeface="Roboto"/>
              </a:rPr>
              <a:t>Identity, scope, validation, timeout, and audit.</a:t>
            </a:r>
          </a:p>
        </p:txBody>
      </p:sp>
      <p:sp>
        <p:nvSpPr>
          <p:cNvPr id="15" name="Prostokąt: zaokrąglone rogi 14">
            <a:extLst>
              <a:ext uri="{FF2B5EF4-FFF2-40B4-BE49-F238E27FC236}">
                <a16:creationId xmlns:a16="http://schemas.microsoft.com/office/drawing/2014/main" id="{3B898C90-8422-4D43-A135-51D9FE0356BA}"/>
              </a:ext>
            </a:extLst>
          </p:cNvPr>
          <p:cNvSpPr>
            <a:spLocks noGrp="1"/>
          </p:cNvSpPr>
          <p:nvPr/>
        </p:nvSpPr>
        <p:spPr>
          <a:xfrm>
            <a:off x="914400" y="5409426"/>
            <a:ext cx="400050" cy="400050"/>
          </a:xfrm>
          <a:prstGeom prst="roundRect">
            <a:avLst>
              <a:gd name="adj" fmla="val 50000"/>
            </a:avLst>
          </a:prstGeom>
          <a:solidFill>
            <a:srgbClr val="FF7A1A"/>
          </a:solidFill>
          <a:ln w="0">
            <a:noFill/>
          </a:ln>
        </p:spPr>
        <p:txBody>
          <a:bodyPr anchor="ctr">
            <a:normAutofit/>
          </a:bodyPr>
          <a:lstStyle/>
          <a:p>
            <a:pPr algn="ctr">
              <a:defRPr sz="1125" b="1">
                <a:solidFill>
                  <a:srgbClr val="101618"/>
                </a:solidFill>
                <a:latin typeface="Roboto"/>
                <a:ea typeface="Roboto"/>
                <a:cs typeface="Roboto"/>
              </a:defRPr>
            </a:pPr>
            <a:r>
              <a:rPr sz="1125" b="1">
                <a:solidFill>
                  <a:srgbClr val="101618"/>
                </a:solidFill>
                <a:latin typeface="Oswald"/>
                <a:ea typeface="Roboto"/>
                <a:cs typeface="Roboto"/>
              </a:rPr>
              <a:t>5</a:t>
            </a:r>
          </a:p>
        </p:txBody>
      </p:sp>
      <p:sp>
        <p:nvSpPr>
          <p:cNvPr id="16" name="Prostokąt 15">
            <a:extLst>
              <a:ext uri="{FF2B5EF4-FFF2-40B4-BE49-F238E27FC236}">
                <a16:creationId xmlns:a16="http://schemas.microsoft.com/office/drawing/2014/main" id="{2E101CFC-19D1-49D7-8ED2-DA6D127644AD}"/>
              </a:ext>
            </a:extLst>
          </p:cNvPr>
          <p:cNvSpPr>
            <a:spLocks noGrp="1"/>
          </p:cNvSpPr>
          <p:nvPr/>
        </p:nvSpPr>
        <p:spPr>
          <a:xfrm>
            <a:off x="1466850" y="5390376"/>
            <a:ext cx="2800350" cy="285750"/>
          </a:xfrm>
          <a:prstGeom prst="rect">
            <a:avLst/>
          </a:prstGeom>
          <a:noFill/>
          <a:ln w="0">
            <a:noFill/>
          </a:ln>
        </p:spPr>
        <p:txBody>
          <a:bodyPr anchor="ctr">
            <a:noAutofit/>
          </a:bodyPr>
          <a:lstStyle/>
          <a:p>
            <a:pPr algn="l">
              <a:defRPr sz="1275" b="1">
                <a:solidFill>
                  <a:srgbClr val="FFC400"/>
                </a:solidFill>
                <a:latin typeface="Roboto"/>
                <a:ea typeface="Roboto"/>
                <a:cs typeface="Roboto"/>
              </a:defRPr>
            </a:pPr>
            <a:r>
              <a:rPr sz="1400" b="1">
                <a:solidFill>
                  <a:srgbClr val="FFC000"/>
                </a:solidFill>
                <a:latin typeface="Oswald"/>
                <a:ea typeface="Roboto"/>
                <a:cs typeface="Roboto"/>
              </a:rPr>
              <a:t>Test and register</a:t>
            </a:r>
          </a:p>
        </p:txBody>
      </p:sp>
      <p:sp>
        <p:nvSpPr>
          <p:cNvPr id="17" name="Prostokąt 16">
            <a:extLst>
              <a:ext uri="{FF2B5EF4-FFF2-40B4-BE49-F238E27FC236}">
                <a16:creationId xmlns:a16="http://schemas.microsoft.com/office/drawing/2014/main" id="{03A1BD5A-4EEB-411E-8C21-3A5224261A2D}"/>
              </a:ext>
            </a:extLst>
          </p:cNvPr>
          <p:cNvSpPr>
            <a:spLocks noGrp="1"/>
          </p:cNvSpPr>
          <p:nvPr/>
        </p:nvSpPr>
        <p:spPr>
          <a:xfrm>
            <a:off x="1466850" y="5666601"/>
            <a:ext cx="3571875" cy="400050"/>
          </a:xfrm>
          <a:prstGeom prst="rect">
            <a:avLst/>
          </a:prstGeom>
          <a:noFill/>
          <a:ln w="0">
            <a:noFill/>
          </a:ln>
        </p:spPr>
        <p:txBody>
          <a:bodyPr anchor="t">
            <a:normAutofit/>
          </a:bodyPr>
          <a:lstStyle/>
          <a:p>
            <a:pPr algn="l">
              <a:defRPr sz="938" b="0">
                <a:solidFill>
                  <a:srgbClr val="CED7D9"/>
                </a:solidFill>
                <a:latin typeface="Roboto"/>
                <a:ea typeface="Roboto"/>
                <a:cs typeface="Roboto"/>
              </a:defRPr>
            </a:pPr>
            <a:r>
              <a:rPr sz="1200" b="0">
                <a:solidFill>
                  <a:srgbClr val="000000"/>
                </a:solidFill>
                <a:latin typeface="Oswald"/>
                <a:ea typeface="Roboto"/>
                <a:cs typeface="Roboto"/>
              </a:rPr>
              <a:t>Inspector first, then the target MCP client.</a:t>
            </a:r>
          </a:p>
        </p:txBody>
      </p:sp>
      <p:sp>
        <p:nvSpPr>
          <p:cNvPr id="18" name="Prostokąt: zaokrąglone rogi 17">
            <a:extLst>
              <a:ext uri="{FF2B5EF4-FFF2-40B4-BE49-F238E27FC236}">
                <a16:creationId xmlns:a16="http://schemas.microsoft.com/office/drawing/2014/main" id="{A4EAC4FB-5F26-4674-83F5-0F0A8B787F47}"/>
              </a:ext>
            </a:extLst>
          </p:cNvPr>
          <p:cNvSpPr>
            <a:spLocks noGrp="1"/>
          </p:cNvSpPr>
          <p:nvPr/>
        </p:nvSpPr>
        <p:spPr>
          <a:xfrm>
            <a:off x="5810250" y="2237601"/>
            <a:ext cx="5334000" cy="3524250"/>
          </a:xfrm>
          <a:prstGeom prst="roundRect">
            <a:avLst>
              <a:gd name="adj" fmla="val 2703"/>
            </a:avLst>
          </a:prstGeom>
          <a:solidFill>
            <a:srgbClr val="304A52"/>
          </a:solidFill>
          <a:ln w="13335">
            <a:solidFill>
              <a:srgbClr val="FF7A1A"/>
            </a:solidFill>
            <a:prstDash val="solid"/>
          </a:ln>
        </p:spPr>
        <p:txBody>
          <a:bodyPr/>
          <a:lstStyle/>
          <a:p>
            <a:endParaRPr lang="pl-PL">
              <a:latin typeface="Oswald"/>
            </a:endParaRPr>
          </a:p>
        </p:txBody>
      </p:sp>
      <p:sp>
        <p:nvSpPr>
          <p:cNvPr id="19" name="Prostokąt 18">
            <a:extLst>
              <a:ext uri="{FF2B5EF4-FFF2-40B4-BE49-F238E27FC236}">
                <a16:creationId xmlns:a16="http://schemas.microsoft.com/office/drawing/2014/main" id="{FD997E0C-A08E-4D0D-B4FA-C88C5392BF78}"/>
              </a:ext>
            </a:extLst>
          </p:cNvPr>
          <p:cNvSpPr>
            <a:spLocks noGrp="1"/>
          </p:cNvSpPr>
          <p:nvPr/>
        </p:nvSpPr>
        <p:spPr>
          <a:xfrm>
            <a:off x="5981700" y="2351901"/>
            <a:ext cx="4991100" cy="333375"/>
          </a:xfrm>
          <a:prstGeom prst="rect">
            <a:avLst/>
          </a:prstGeom>
          <a:noFill/>
          <a:ln w="0">
            <a:noFill/>
          </a:ln>
        </p:spPr>
        <p:txBody>
          <a:bodyPr anchor="t">
            <a:normAutofit/>
          </a:bodyPr>
          <a:lstStyle/>
          <a:p>
            <a:pPr algn="l">
              <a:defRPr sz="1575" b="1">
                <a:solidFill>
                  <a:srgbClr val="FFC400"/>
                </a:solidFill>
                <a:latin typeface="Roboto"/>
                <a:ea typeface="Roboto"/>
                <a:cs typeface="Roboto"/>
              </a:defRPr>
            </a:pPr>
            <a:r>
              <a:rPr sz="1575" b="1">
                <a:solidFill>
                  <a:srgbClr val="FFC400"/>
                </a:solidFill>
                <a:latin typeface="Oswald"/>
                <a:ea typeface="Roboto"/>
                <a:cs typeface="Roboto"/>
              </a:rPr>
              <a:t>Example tool contract</a:t>
            </a:r>
          </a:p>
        </p:txBody>
      </p:sp>
      <p:sp>
        <p:nvSpPr>
          <p:cNvPr id="20" name="Prostokąt 19">
            <a:extLst>
              <a:ext uri="{FF2B5EF4-FFF2-40B4-BE49-F238E27FC236}">
                <a16:creationId xmlns:a16="http://schemas.microsoft.com/office/drawing/2014/main" id="{589ABF66-B081-4954-9E13-4A098C6BFC63}"/>
              </a:ext>
            </a:extLst>
          </p:cNvPr>
          <p:cNvSpPr>
            <a:spLocks noGrp="1"/>
          </p:cNvSpPr>
          <p:nvPr/>
        </p:nvSpPr>
        <p:spPr>
          <a:xfrm>
            <a:off x="6115050" y="2894826"/>
            <a:ext cx="4762500" cy="381000"/>
          </a:xfrm>
          <a:prstGeom prst="rect">
            <a:avLst/>
          </a:prstGeom>
          <a:noFill/>
          <a:ln w="0">
            <a:noFill/>
          </a:ln>
        </p:spPr>
        <p:txBody>
          <a:bodyPr anchor="ctr">
            <a:normAutofit/>
          </a:bodyPr>
          <a:lstStyle/>
          <a:p>
            <a:pPr algn="l">
              <a:defRPr sz="1425" b="1">
                <a:solidFill>
                  <a:srgbClr val="FF7A1A"/>
                </a:solidFill>
                <a:latin typeface="Roboto"/>
                <a:ea typeface="Roboto"/>
                <a:cs typeface="Roboto"/>
              </a:defRPr>
            </a:pPr>
            <a:r>
              <a:rPr sz="1425" b="1">
                <a:solidFill>
                  <a:srgbClr val="FF7A1A"/>
                </a:solidFill>
                <a:latin typeface="Oswald"/>
                <a:ea typeface="Roboto"/>
                <a:cs typeface="Roboto"/>
              </a:rPr>
              <a:t>get_availability_breaches</a:t>
            </a:r>
          </a:p>
        </p:txBody>
      </p:sp>
      <p:sp>
        <p:nvSpPr>
          <p:cNvPr id="21" name="Prostokąt 20">
            <a:extLst>
              <a:ext uri="{FF2B5EF4-FFF2-40B4-BE49-F238E27FC236}">
                <a16:creationId xmlns:a16="http://schemas.microsoft.com/office/drawing/2014/main" id="{0CF005F1-8684-4970-9ECB-DBD749421906}"/>
              </a:ext>
            </a:extLst>
          </p:cNvPr>
          <p:cNvSpPr>
            <a:spLocks noGrp="1"/>
          </p:cNvSpPr>
          <p:nvPr/>
        </p:nvSpPr>
        <p:spPr>
          <a:xfrm>
            <a:off x="6115050" y="3428226"/>
            <a:ext cx="952500" cy="266700"/>
          </a:xfrm>
          <a:prstGeom prst="rect">
            <a:avLst/>
          </a:prstGeom>
          <a:noFill/>
          <a:ln w="0">
            <a:noFill/>
          </a:ln>
        </p:spPr>
        <p:txBody>
          <a:bodyPr anchor="ctr">
            <a:normAutofit/>
          </a:bodyPr>
          <a:lstStyle/>
          <a:p>
            <a:pPr algn="l">
              <a:defRPr sz="975" b="1">
                <a:solidFill>
                  <a:srgbClr val="FFC400"/>
                </a:solidFill>
                <a:latin typeface="Roboto"/>
                <a:ea typeface="Roboto"/>
                <a:cs typeface="Roboto"/>
              </a:defRPr>
            </a:pPr>
            <a:r>
              <a:rPr sz="975" b="1">
                <a:solidFill>
                  <a:srgbClr val="FFC400"/>
                </a:solidFill>
                <a:latin typeface="Oswald"/>
                <a:ea typeface="Roboto"/>
                <a:cs typeface="Roboto"/>
              </a:rPr>
              <a:t>Input</a:t>
            </a:r>
          </a:p>
        </p:txBody>
      </p:sp>
      <p:sp>
        <p:nvSpPr>
          <p:cNvPr id="22" name="Prostokąt 21">
            <a:extLst>
              <a:ext uri="{FF2B5EF4-FFF2-40B4-BE49-F238E27FC236}">
                <a16:creationId xmlns:a16="http://schemas.microsoft.com/office/drawing/2014/main" id="{3E422BF6-FF54-4C30-9C1B-26AB396B94F0}"/>
              </a:ext>
            </a:extLst>
          </p:cNvPr>
          <p:cNvSpPr>
            <a:spLocks noGrp="1"/>
          </p:cNvSpPr>
          <p:nvPr/>
        </p:nvSpPr>
        <p:spPr>
          <a:xfrm>
            <a:off x="7143750" y="3472952"/>
            <a:ext cx="3448050" cy="552450"/>
          </a:xfrm>
          <a:prstGeom prst="rect">
            <a:avLst/>
          </a:prstGeom>
          <a:noFill/>
          <a:ln w="0">
            <a:noFill/>
          </a:ln>
        </p:spPr>
        <p:txBody>
          <a:bodyPr anchor="t">
            <a:normAutofit/>
          </a:bodyPr>
          <a:lstStyle/>
          <a:p>
            <a:pPr algn="l">
              <a:defRPr sz="1050" b="0">
                <a:solidFill>
                  <a:srgbClr val="F7F5F1"/>
                </a:solidFill>
                <a:latin typeface="Roboto"/>
                <a:ea typeface="Roboto"/>
                <a:cs typeface="Roboto"/>
              </a:defRPr>
            </a:pPr>
            <a:r>
              <a:rPr sz="1050" b="0">
                <a:solidFill>
                  <a:srgbClr val="F7F5F1"/>
                </a:solidFill>
                <a:latin typeface="Oswald"/>
                <a:ea typeface="Roboto"/>
                <a:cs typeface="Roboto"/>
              </a:rPr>
              <a:t>week_start: date</a:t>
            </a:r>
          </a:p>
          <a:p>
            <a:pPr algn="l">
              <a:defRPr sz="1050" b="0">
                <a:solidFill>
                  <a:srgbClr val="F7F5F1"/>
                </a:solidFill>
                <a:latin typeface="Roboto"/>
                <a:ea typeface="Roboto"/>
                <a:cs typeface="Roboto"/>
              </a:defRPr>
            </a:pPr>
            <a:r>
              <a:rPr sz="1050" b="0">
                <a:solidFill>
                  <a:srgbClr val="F7F5F1"/>
                </a:solidFill>
                <a:latin typeface="Oswald"/>
                <a:ea typeface="Roboto"/>
                <a:cs typeface="Roboto"/>
              </a:rPr>
              <a:t>region: approved enum</a:t>
            </a:r>
          </a:p>
        </p:txBody>
      </p:sp>
      <p:sp>
        <p:nvSpPr>
          <p:cNvPr id="23" name="Prostokąt 22">
            <a:extLst>
              <a:ext uri="{FF2B5EF4-FFF2-40B4-BE49-F238E27FC236}">
                <a16:creationId xmlns:a16="http://schemas.microsoft.com/office/drawing/2014/main" id="{1CF6768F-DB52-4EDF-97B3-56A719C31E24}"/>
              </a:ext>
            </a:extLst>
          </p:cNvPr>
          <p:cNvSpPr>
            <a:spLocks noGrp="1"/>
          </p:cNvSpPr>
          <p:nvPr/>
        </p:nvSpPr>
        <p:spPr>
          <a:xfrm>
            <a:off x="6115050" y="4152126"/>
            <a:ext cx="1143000" cy="266700"/>
          </a:xfrm>
          <a:prstGeom prst="rect">
            <a:avLst/>
          </a:prstGeom>
          <a:noFill/>
          <a:ln w="0">
            <a:noFill/>
          </a:ln>
        </p:spPr>
        <p:txBody>
          <a:bodyPr anchor="ctr">
            <a:normAutofit/>
          </a:bodyPr>
          <a:lstStyle/>
          <a:p>
            <a:pPr algn="l">
              <a:defRPr sz="975" b="1">
                <a:solidFill>
                  <a:srgbClr val="FFC400"/>
                </a:solidFill>
                <a:latin typeface="Roboto"/>
                <a:ea typeface="Roboto"/>
                <a:cs typeface="Roboto"/>
              </a:defRPr>
            </a:pPr>
            <a:r>
              <a:rPr sz="975" b="1">
                <a:solidFill>
                  <a:srgbClr val="FFC400"/>
                </a:solidFill>
                <a:latin typeface="Oswald"/>
                <a:ea typeface="Roboto"/>
                <a:cs typeface="Roboto"/>
              </a:rPr>
              <a:t>Server rules</a:t>
            </a:r>
          </a:p>
        </p:txBody>
      </p:sp>
      <p:sp>
        <p:nvSpPr>
          <p:cNvPr id="24" name="Prostokąt 23">
            <a:extLst>
              <a:ext uri="{FF2B5EF4-FFF2-40B4-BE49-F238E27FC236}">
                <a16:creationId xmlns:a16="http://schemas.microsoft.com/office/drawing/2014/main" id="{B5D0E4F2-6050-404D-A8CF-E346130C8828}"/>
              </a:ext>
            </a:extLst>
          </p:cNvPr>
          <p:cNvSpPr>
            <a:spLocks noGrp="1"/>
          </p:cNvSpPr>
          <p:nvPr/>
        </p:nvSpPr>
        <p:spPr>
          <a:xfrm>
            <a:off x="7147891" y="4154197"/>
            <a:ext cx="3162300" cy="781050"/>
          </a:xfrm>
          <a:prstGeom prst="rect">
            <a:avLst/>
          </a:prstGeom>
          <a:noFill/>
          <a:ln w="0">
            <a:noFill/>
          </a:ln>
        </p:spPr>
        <p:txBody>
          <a:bodyPr anchor="t">
            <a:normAutofit/>
          </a:bodyPr>
          <a:lstStyle/>
          <a:p>
            <a:pPr algn="l">
              <a:defRPr sz="1050" b="0">
                <a:solidFill>
                  <a:srgbClr val="F7F5F1"/>
                </a:solidFill>
                <a:latin typeface="Roboto"/>
                <a:ea typeface="Roboto"/>
                <a:cs typeface="Roboto"/>
              </a:defRPr>
            </a:pPr>
            <a:r>
              <a:rPr sz="1050" b="0">
                <a:solidFill>
                  <a:srgbClr val="F7F5F1"/>
                </a:solidFill>
                <a:latin typeface="Oswald"/>
                <a:ea typeface="Roboto"/>
                <a:cs typeface="Roboto"/>
              </a:rPr>
              <a:t>Use certified SLA definition</a:t>
            </a:r>
          </a:p>
          <a:p>
            <a:pPr algn="l">
              <a:defRPr sz="1050" b="0">
                <a:solidFill>
                  <a:srgbClr val="F7F5F1"/>
                </a:solidFill>
                <a:latin typeface="Roboto"/>
                <a:ea typeface="Roboto"/>
                <a:cs typeface="Roboto"/>
              </a:defRPr>
            </a:pPr>
            <a:r>
              <a:rPr sz="1050" b="0">
                <a:solidFill>
                  <a:srgbClr val="F7F5F1"/>
                </a:solidFill>
                <a:latin typeface="Oswald"/>
                <a:ea typeface="Roboto"/>
                <a:cs typeface="Roboto"/>
              </a:rPr>
              <a:t>Apply user scope</a:t>
            </a:r>
          </a:p>
          <a:p>
            <a:pPr algn="l">
              <a:defRPr sz="1050" b="0">
                <a:solidFill>
                  <a:srgbClr val="F7F5F1"/>
                </a:solidFill>
                <a:latin typeface="Roboto"/>
                <a:ea typeface="Roboto"/>
                <a:cs typeface="Roboto"/>
              </a:defRPr>
            </a:pPr>
            <a:r>
              <a:rPr sz="1050" b="0">
                <a:solidFill>
                  <a:srgbClr val="F7F5F1"/>
                </a:solidFill>
                <a:latin typeface="Oswald"/>
                <a:ea typeface="Roboto"/>
                <a:cs typeface="Roboto"/>
              </a:rPr>
              <a:t>Reject incomplete periods</a:t>
            </a:r>
          </a:p>
        </p:txBody>
      </p:sp>
      <p:sp>
        <p:nvSpPr>
          <p:cNvPr id="25" name="Prostokąt 24">
            <a:extLst>
              <a:ext uri="{FF2B5EF4-FFF2-40B4-BE49-F238E27FC236}">
                <a16:creationId xmlns:a16="http://schemas.microsoft.com/office/drawing/2014/main" id="{E4C782AE-FCAA-410B-9B1C-432F4403DD6E}"/>
              </a:ext>
            </a:extLst>
          </p:cNvPr>
          <p:cNvSpPr>
            <a:spLocks noGrp="1"/>
          </p:cNvSpPr>
          <p:nvPr/>
        </p:nvSpPr>
        <p:spPr>
          <a:xfrm>
            <a:off x="6115050" y="5047476"/>
            <a:ext cx="952500" cy="266700"/>
          </a:xfrm>
          <a:prstGeom prst="rect">
            <a:avLst/>
          </a:prstGeom>
          <a:noFill/>
          <a:ln w="0">
            <a:noFill/>
          </a:ln>
        </p:spPr>
        <p:txBody>
          <a:bodyPr anchor="ctr">
            <a:normAutofit/>
          </a:bodyPr>
          <a:lstStyle/>
          <a:p>
            <a:pPr algn="l">
              <a:defRPr sz="975" b="1">
                <a:solidFill>
                  <a:srgbClr val="FFC400"/>
                </a:solidFill>
                <a:latin typeface="Roboto"/>
                <a:ea typeface="Roboto"/>
                <a:cs typeface="Roboto"/>
              </a:defRPr>
            </a:pPr>
            <a:r>
              <a:rPr sz="975" b="1">
                <a:solidFill>
                  <a:srgbClr val="FFC400"/>
                </a:solidFill>
                <a:latin typeface="Oswald"/>
                <a:ea typeface="Roboto"/>
                <a:cs typeface="Roboto"/>
              </a:rPr>
              <a:t>Returns</a:t>
            </a:r>
          </a:p>
        </p:txBody>
      </p:sp>
      <p:sp>
        <p:nvSpPr>
          <p:cNvPr id="26" name="Prostokąt 25">
            <a:extLst>
              <a:ext uri="{FF2B5EF4-FFF2-40B4-BE49-F238E27FC236}">
                <a16:creationId xmlns:a16="http://schemas.microsoft.com/office/drawing/2014/main" id="{2C2D3628-4BBD-4021-874E-C08751FEE9A2}"/>
              </a:ext>
            </a:extLst>
          </p:cNvPr>
          <p:cNvSpPr>
            <a:spLocks noGrp="1"/>
          </p:cNvSpPr>
          <p:nvPr/>
        </p:nvSpPr>
        <p:spPr>
          <a:xfrm>
            <a:off x="7143750" y="5050789"/>
            <a:ext cx="3448050" cy="514350"/>
          </a:xfrm>
          <a:prstGeom prst="rect">
            <a:avLst/>
          </a:prstGeom>
          <a:noFill/>
          <a:ln w="0">
            <a:noFill/>
          </a:ln>
        </p:spPr>
        <p:txBody>
          <a:bodyPr anchor="t">
            <a:normAutofit/>
          </a:bodyPr>
          <a:lstStyle/>
          <a:p>
            <a:pPr algn="l">
              <a:defRPr sz="1050" b="0">
                <a:solidFill>
                  <a:srgbClr val="F7F5F1"/>
                </a:solidFill>
                <a:latin typeface="Roboto"/>
                <a:ea typeface="Roboto"/>
                <a:cs typeface="Roboto"/>
              </a:defRPr>
            </a:pPr>
            <a:r>
              <a:rPr sz="1050" b="0">
                <a:solidFill>
                  <a:srgbClr val="F7F5F1"/>
                </a:solidFill>
                <a:latin typeface="Oswald"/>
                <a:ea typeface="Roboto"/>
                <a:cs typeface="Roboto"/>
              </a:rPr>
              <a:t>result + source + assumptions + validation</a:t>
            </a:r>
          </a:p>
        </p:txBody>
      </p:sp>
      <p:sp>
        <p:nvSpPr>
          <p:cNvPr id="27" name="Prostokąt 26">
            <a:extLst>
              <a:ext uri="{FF2B5EF4-FFF2-40B4-BE49-F238E27FC236}">
                <a16:creationId xmlns:a16="http://schemas.microsoft.com/office/drawing/2014/main" id="{24A6145A-DD35-407F-99DF-82A80F66C224}"/>
              </a:ext>
            </a:extLst>
          </p:cNvPr>
          <p:cNvSpPr>
            <a:spLocks noGrp="1"/>
          </p:cNvSpPr>
          <p:nvPr/>
        </p:nvSpPr>
        <p:spPr>
          <a:xfrm>
            <a:off x="5419725" y="5893959"/>
            <a:ext cx="6096000" cy="342900"/>
          </a:xfrm>
          <a:prstGeom prst="rect">
            <a:avLst/>
          </a:prstGeom>
          <a:noFill/>
          <a:ln w="0">
            <a:noFill/>
          </a:ln>
        </p:spPr>
        <p:txBody>
          <a:bodyPr lIns="91440" tIns="45720" rIns="91440" bIns="45720" anchor="ctr">
            <a:normAutofit/>
          </a:bodyPr>
          <a:lstStyle/>
          <a:p>
            <a:pPr algn="ctr">
              <a:defRPr sz="1050" b="0">
                <a:solidFill>
                  <a:srgbClr val="CED7D9"/>
                </a:solidFill>
                <a:latin typeface="Roboto"/>
                <a:ea typeface="Roboto"/>
                <a:cs typeface="Roboto"/>
              </a:defRPr>
            </a:pPr>
            <a:r>
              <a:rPr sz="1200" b="0">
                <a:solidFill>
                  <a:srgbClr val="000000"/>
                </a:solidFill>
                <a:latin typeface="Oswald"/>
                <a:ea typeface="Roboto"/>
                <a:cs typeface="Roboto"/>
              </a:rPr>
              <a:t>A good tool narrows the agent's choices and makes the result easier to verify.</a:t>
            </a:r>
            <a:endParaRPr lang="en-US" sz="1200" b="0">
              <a:solidFill>
                <a:srgbClr val="000000"/>
              </a:solidFill>
              <a:latin typeface="Oswald"/>
              <a:ea typeface="Roboto"/>
              <a:cs typeface="Roboto"/>
            </a:endParaRPr>
          </a:p>
        </p:txBody>
      </p:sp>
      <p:sp>
        <p:nvSpPr>
          <p:cNvPr id="29" name="Title 28">
            <a:extLst>
              <a:ext uri="{FF2B5EF4-FFF2-40B4-BE49-F238E27FC236}">
                <a16:creationId xmlns:a16="http://schemas.microsoft.com/office/drawing/2014/main" id="{D5609424-A20B-1A9E-2723-3834C2D100CA}"/>
              </a:ext>
            </a:extLst>
          </p:cNvPr>
          <p:cNvSpPr>
            <a:spLocks noGrp="1"/>
          </p:cNvSpPr>
          <p:nvPr>
            <p:ph type="title"/>
          </p:nvPr>
        </p:nvSpPr>
        <p:spPr/>
        <p:txBody>
          <a:bodyPr/>
          <a:lstStyle/>
          <a:p>
            <a:r>
              <a:rPr lang="en-US">
                <a:latin typeface="Oswald"/>
              </a:rPr>
              <a:t>Building the contract</a:t>
            </a:r>
            <a:endParaRPr lang="en-US"/>
          </a:p>
        </p:txBody>
      </p:sp>
    </p:spTree>
    <p:extLst>
      <p:ext uri="{BB962C8B-B14F-4D97-AF65-F5344CB8AC3E}">
        <p14:creationId xmlns:p14="http://schemas.microsoft.com/office/powerpoint/2010/main" val="1031811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subtitle">
            <a:extLst>
              <a:ext uri="{FF2B5EF4-FFF2-40B4-BE49-F238E27FC236}">
                <a16:creationId xmlns:a16="http://schemas.microsoft.com/office/drawing/2014/main" id="{C8D7B36C-0B8D-4BB4-9BD0-6EE6E2409F50}"/>
              </a:ext>
            </a:extLst>
          </p:cNvPr>
          <p:cNvSpPr>
            <a:spLocks noGrp="1"/>
          </p:cNvSpPr>
          <p:nvPr/>
        </p:nvSpPr>
        <p:spPr>
          <a:xfrm>
            <a:off x="1022040" y="1603958"/>
            <a:ext cx="10096500" cy="590550"/>
          </a:xfrm>
          <a:prstGeom prst="rect">
            <a:avLst/>
          </a:prstGeom>
          <a:noFill/>
          <a:ln w="0">
            <a:noFill/>
          </a:ln>
        </p:spPr>
        <p:txBody>
          <a:bodyPr lIns="91440" tIns="45720" rIns="91440" bIns="45720" anchor="t">
            <a:normAutofit/>
          </a:bodyPr>
          <a:lstStyle/>
          <a:p>
            <a:pPr algn="ctr">
              <a:defRPr sz="1200" b="0">
                <a:solidFill>
                  <a:srgbClr val="CED7D9"/>
                </a:solidFill>
                <a:latin typeface="Roboto"/>
                <a:ea typeface="Roboto"/>
                <a:cs typeface="Roboto"/>
              </a:defRPr>
            </a:pPr>
            <a:r>
              <a:rPr sz="1400" b="0">
                <a:solidFill>
                  <a:srgbClr val="000000"/>
                </a:solidFill>
                <a:latin typeface="Oswald"/>
                <a:ea typeface="Roboto"/>
                <a:cs typeface="Roboto"/>
              </a:rPr>
              <a:t>For a typical remote server, start with Azure Container Apps. Put API Management in front when you need central policy, quotas, discovery, or an existing REST API exposed as tools.</a:t>
            </a:r>
            <a:endParaRPr lang="en-US" sz="1400" b="0">
              <a:solidFill>
                <a:srgbClr val="000000"/>
              </a:solidFill>
              <a:latin typeface="Oswald"/>
              <a:ea typeface="Roboto"/>
              <a:cs typeface="Roboto"/>
            </a:endParaRPr>
          </a:p>
        </p:txBody>
      </p:sp>
      <p:sp>
        <p:nvSpPr>
          <p:cNvPr id="3" name="Prostokąt: zaokrąglone rogi 2">
            <a:extLst>
              <a:ext uri="{FF2B5EF4-FFF2-40B4-BE49-F238E27FC236}">
                <a16:creationId xmlns:a16="http://schemas.microsoft.com/office/drawing/2014/main" id="{72ED3DB2-A899-40D0-912E-639BDDE3730B}"/>
              </a:ext>
            </a:extLst>
          </p:cNvPr>
          <p:cNvSpPr>
            <a:spLocks noGrp="1"/>
          </p:cNvSpPr>
          <p:nvPr/>
        </p:nvSpPr>
        <p:spPr>
          <a:xfrm>
            <a:off x="896973" y="2786714"/>
            <a:ext cx="1866900" cy="1219200"/>
          </a:xfrm>
          <a:prstGeom prst="roundRect">
            <a:avLst>
              <a:gd name="adj" fmla="val 7813"/>
            </a:avLst>
          </a:prstGeom>
          <a:solidFill>
            <a:srgbClr val="455A61"/>
          </a:solidFill>
          <a:ln w="13335">
            <a:solidFill>
              <a:srgbClr val="FF7A1A"/>
            </a:solidFill>
            <a:prstDash val="solid"/>
          </a:ln>
        </p:spPr>
        <p:txBody>
          <a:bodyPr/>
          <a:lstStyle/>
          <a:p>
            <a:endParaRPr lang="pl-PL">
              <a:latin typeface="Oswald"/>
            </a:endParaRPr>
          </a:p>
        </p:txBody>
      </p:sp>
      <p:sp>
        <p:nvSpPr>
          <p:cNvPr id="4" name="Prostokąt 3">
            <a:extLst>
              <a:ext uri="{FF2B5EF4-FFF2-40B4-BE49-F238E27FC236}">
                <a16:creationId xmlns:a16="http://schemas.microsoft.com/office/drawing/2014/main" id="{A5E75E29-B492-429B-BAFD-C5CDCBA37741}"/>
              </a:ext>
            </a:extLst>
          </p:cNvPr>
          <p:cNvSpPr>
            <a:spLocks noGrp="1"/>
          </p:cNvSpPr>
          <p:nvPr/>
        </p:nvSpPr>
        <p:spPr>
          <a:xfrm>
            <a:off x="1068423" y="2901014"/>
            <a:ext cx="1524000" cy="333375"/>
          </a:xfrm>
          <a:prstGeom prst="rect">
            <a:avLst/>
          </a:prstGeom>
          <a:noFill/>
          <a:ln w="0">
            <a:noFill/>
          </a:ln>
        </p:spPr>
        <p:txBody>
          <a:bodyPr anchor="t">
            <a:normAutofit/>
          </a:bodyPr>
          <a:lstStyle/>
          <a:p>
            <a:pPr algn="l">
              <a:defRPr sz="1275" b="1">
                <a:solidFill>
                  <a:srgbClr val="FFC400"/>
                </a:solidFill>
                <a:latin typeface="Roboto"/>
                <a:ea typeface="Roboto"/>
                <a:cs typeface="Roboto"/>
              </a:defRPr>
            </a:pPr>
            <a:r>
              <a:rPr sz="1400" b="1">
                <a:solidFill>
                  <a:srgbClr val="FFC400"/>
                </a:solidFill>
                <a:latin typeface="Oswald"/>
                <a:ea typeface="Roboto"/>
                <a:cs typeface="Roboto"/>
              </a:rPr>
              <a:t>MCP clients</a:t>
            </a:r>
          </a:p>
        </p:txBody>
      </p:sp>
      <p:sp>
        <p:nvSpPr>
          <p:cNvPr id="5" name="Prostokąt 4">
            <a:extLst>
              <a:ext uri="{FF2B5EF4-FFF2-40B4-BE49-F238E27FC236}">
                <a16:creationId xmlns:a16="http://schemas.microsoft.com/office/drawing/2014/main" id="{D75685EF-A207-4B41-8AB3-57CCB5F3BDE0}"/>
              </a:ext>
            </a:extLst>
          </p:cNvPr>
          <p:cNvSpPr>
            <a:spLocks noGrp="1"/>
          </p:cNvSpPr>
          <p:nvPr/>
        </p:nvSpPr>
        <p:spPr>
          <a:xfrm>
            <a:off x="1068423" y="3282014"/>
            <a:ext cx="1524000" cy="609600"/>
          </a:xfrm>
          <a:prstGeom prst="rect">
            <a:avLst/>
          </a:prstGeom>
          <a:noFill/>
          <a:ln w="0">
            <a:noFill/>
          </a:ln>
        </p:spPr>
        <p:txBody>
          <a:bodyPr lIns="91440" tIns="45720" rIns="91440" bIns="45720" anchor="t">
            <a:noAutofit/>
          </a:bodyPr>
          <a:lstStyle/>
          <a:p>
            <a:pPr algn="l">
              <a:defRPr sz="975" b="0">
                <a:solidFill>
                  <a:srgbClr val="F7F5F1"/>
                </a:solidFill>
                <a:latin typeface="Roboto"/>
                <a:ea typeface="Roboto"/>
                <a:cs typeface="Roboto"/>
              </a:defRPr>
            </a:pPr>
            <a:r>
              <a:rPr sz="1200" b="0">
                <a:solidFill>
                  <a:srgbClr val="F7F5F1"/>
                </a:solidFill>
                <a:latin typeface="Oswald"/>
                <a:ea typeface="Roboto"/>
                <a:cs typeface="Roboto"/>
              </a:rPr>
              <a:t>VS Code</a:t>
            </a:r>
          </a:p>
          <a:p>
            <a:pPr algn="l">
              <a:defRPr sz="975" b="0">
                <a:solidFill>
                  <a:srgbClr val="F7F5F1"/>
                </a:solidFill>
                <a:latin typeface="Roboto"/>
                <a:ea typeface="Roboto"/>
                <a:cs typeface="Roboto"/>
              </a:defRPr>
            </a:pPr>
            <a:r>
              <a:rPr sz="1200" b="0">
                <a:solidFill>
                  <a:srgbClr val="F7F5F1"/>
                </a:solidFill>
                <a:latin typeface="Oswald"/>
                <a:ea typeface="Roboto"/>
                <a:cs typeface="Roboto"/>
              </a:rPr>
              <a:t>Foundry</a:t>
            </a:r>
          </a:p>
          <a:p>
            <a:pPr algn="l">
              <a:defRPr sz="975" b="0">
                <a:solidFill>
                  <a:srgbClr val="F7F5F1"/>
                </a:solidFill>
                <a:latin typeface="Roboto"/>
                <a:ea typeface="Roboto"/>
                <a:cs typeface="Roboto"/>
              </a:defRPr>
            </a:pPr>
            <a:r>
              <a:rPr lang="en-US" sz="1200">
                <a:solidFill>
                  <a:srgbClr val="F7F5F1"/>
                </a:solidFill>
                <a:latin typeface="Oswald"/>
                <a:ea typeface="Roboto"/>
                <a:cs typeface="Roboto"/>
              </a:rPr>
              <a:t>Custom</a:t>
            </a:r>
            <a:r>
              <a:rPr sz="1200" b="0">
                <a:solidFill>
                  <a:srgbClr val="F7F5F1"/>
                </a:solidFill>
                <a:latin typeface="Oswald"/>
                <a:ea typeface="Roboto"/>
                <a:cs typeface="Roboto"/>
              </a:rPr>
              <a:t> agents</a:t>
            </a:r>
          </a:p>
        </p:txBody>
      </p:sp>
      <p:sp>
        <p:nvSpPr>
          <p:cNvPr id="6" name="Prostokąt: zaokrąglone rogi 5">
            <a:extLst>
              <a:ext uri="{FF2B5EF4-FFF2-40B4-BE49-F238E27FC236}">
                <a16:creationId xmlns:a16="http://schemas.microsoft.com/office/drawing/2014/main" id="{DE78761A-55F4-467F-8EC7-985670D9E3D7}"/>
              </a:ext>
            </a:extLst>
          </p:cNvPr>
          <p:cNvSpPr>
            <a:spLocks noGrp="1"/>
          </p:cNvSpPr>
          <p:nvPr/>
        </p:nvSpPr>
        <p:spPr>
          <a:xfrm>
            <a:off x="3306798" y="2786714"/>
            <a:ext cx="2095500" cy="1219200"/>
          </a:xfrm>
          <a:prstGeom prst="roundRect">
            <a:avLst>
              <a:gd name="adj" fmla="val 7813"/>
            </a:avLst>
          </a:prstGeom>
          <a:solidFill>
            <a:srgbClr val="624D08"/>
          </a:solidFill>
          <a:ln w="13335">
            <a:solidFill>
              <a:srgbClr val="FFC400"/>
            </a:solidFill>
            <a:prstDash val="solid"/>
          </a:ln>
        </p:spPr>
        <p:txBody>
          <a:bodyPr/>
          <a:lstStyle/>
          <a:p>
            <a:endParaRPr lang="pl-PL">
              <a:latin typeface="Oswald"/>
            </a:endParaRPr>
          </a:p>
        </p:txBody>
      </p:sp>
      <p:sp>
        <p:nvSpPr>
          <p:cNvPr id="7" name="Prostokąt 6">
            <a:extLst>
              <a:ext uri="{FF2B5EF4-FFF2-40B4-BE49-F238E27FC236}">
                <a16:creationId xmlns:a16="http://schemas.microsoft.com/office/drawing/2014/main" id="{968B03CA-AD51-406C-924A-D778026A6222}"/>
              </a:ext>
            </a:extLst>
          </p:cNvPr>
          <p:cNvSpPr>
            <a:spLocks noGrp="1"/>
          </p:cNvSpPr>
          <p:nvPr/>
        </p:nvSpPr>
        <p:spPr>
          <a:xfrm>
            <a:off x="3478248" y="2901014"/>
            <a:ext cx="1752600" cy="333375"/>
          </a:xfrm>
          <a:prstGeom prst="rect">
            <a:avLst/>
          </a:prstGeom>
          <a:noFill/>
          <a:ln w="0">
            <a:noFill/>
          </a:ln>
        </p:spPr>
        <p:txBody>
          <a:bodyPr anchor="t">
            <a:normAutofit/>
          </a:bodyPr>
          <a:lstStyle/>
          <a:p>
            <a:pPr algn="l">
              <a:defRPr sz="1275" b="1">
                <a:solidFill>
                  <a:srgbClr val="FFC400"/>
                </a:solidFill>
                <a:latin typeface="Roboto"/>
                <a:ea typeface="Roboto"/>
                <a:cs typeface="Roboto"/>
              </a:defRPr>
            </a:pPr>
            <a:r>
              <a:rPr sz="1400" b="1">
                <a:solidFill>
                  <a:srgbClr val="FFC400"/>
                </a:solidFill>
                <a:latin typeface="Oswald"/>
                <a:ea typeface="Roboto"/>
                <a:cs typeface="Roboto"/>
              </a:rPr>
              <a:t>Entra ID + APIM</a:t>
            </a:r>
          </a:p>
        </p:txBody>
      </p:sp>
      <p:sp>
        <p:nvSpPr>
          <p:cNvPr id="8" name="Prostokąt 7">
            <a:extLst>
              <a:ext uri="{FF2B5EF4-FFF2-40B4-BE49-F238E27FC236}">
                <a16:creationId xmlns:a16="http://schemas.microsoft.com/office/drawing/2014/main" id="{96748291-554F-4F40-9811-02B29D9F225D}"/>
              </a:ext>
            </a:extLst>
          </p:cNvPr>
          <p:cNvSpPr>
            <a:spLocks noGrp="1"/>
          </p:cNvSpPr>
          <p:nvPr/>
        </p:nvSpPr>
        <p:spPr>
          <a:xfrm>
            <a:off x="3478248" y="3282014"/>
            <a:ext cx="1752600" cy="609600"/>
          </a:xfrm>
          <a:prstGeom prst="rect">
            <a:avLst/>
          </a:prstGeom>
          <a:noFill/>
          <a:ln w="0">
            <a:noFill/>
          </a:ln>
        </p:spPr>
        <p:txBody>
          <a:bodyPr anchor="t">
            <a:normAutofit/>
          </a:bodyPr>
          <a:lstStyle/>
          <a:p>
            <a:pPr algn="l">
              <a:defRPr sz="975" b="0">
                <a:solidFill>
                  <a:srgbClr val="F7F5F1"/>
                </a:solidFill>
                <a:latin typeface="Roboto"/>
                <a:ea typeface="Roboto"/>
                <a:cs typeface="Roboto"/>
              </a:defRPr>
            </a:pPr>
            <a:r>
              <a:rPr sz="1200" b="0">
                <a:solidFill>
                  <a:srgbClr val="F7F5F1"/>
                </a:solidFill>
                <a:latin typeface="Oswald"/>
                <a:ea typeface="Roboto"/>
                <a:cs typeface="Roboto"/>
              </a:rPr>
              <a:t>OAuth, rate limits,</a:t>
            </a:r>
          </a:p>
          <a:p>
            <a:pPr algn="l">
              <a:defRPr sz="975" b="0">
                <a:solidFill>
                  <a:srgbClr val="F7F5F1"/>
                </a:solidFill>
                <a:latin typeface="Roboto"/>
                <a:ea typeface="Roboto"/>
                <a:cs typeface="Roboto"/>
              </a:defRPr>
            </a:pPr>
            <a:r>
              <a:rPr sz="1200" b="0">
                <a:solidFill>
                  <a:srgbClr val="F7F5F1"/>
                </a:solidFill>
                <a:latin typeface="Oswald"/>
                <a:ea typeface="Roboto"/>
                <a:cs typeface="Roboto"/>
              </a:rPr>
              <a:t>policies, telemetry</a:t>
            </a:r>
          </a:p>
        </p:txBody>
      </p:sp>
      <p:sp>
        <p:nvSpPr>
          <p:cNvPr id="9" name="Prostokąt: zaokrąglone rogi 8">
            <a:extLst>
              <a:ext uri="{FF2B5EF4-FFF2-40B4-BE49-F238E27FC236}">
                <a16:creationId xmlns:a16="http://schemas.microsoft.com/office/drawing/2014/main" id="{A8B97D2E-4030-4153-A3A9-F1C4262E6A5D}"/>
              </a:ext>
            </a:extLst>
          </p:cNvPr>
          <p:cNvSpPr>
            <a:spLocks noGrp="1"/>
          </p:cNvSpPr>
          <p:nvPr/>
        </p:nvSpPr>
        <p:spPr>
          <a:xfrm>
            <a:off x="5945223" y="2596214"/>
            <a:ext cx="2381250" cy="1600200"/>
          </a:xfrm>
          <a:prstGeom prst="roundRect">
            <a:avLst>
              <a:gd name="adj" fmla="val 5952"/>
            </a:avLst>
          </a:prstGeom>
          <a:solidFill>
            <a:srgbClr val="365B65"/>
          </a:solidFill>
          <a:ln w="13335">
            <a:solidFill>
              <a:srgbClr val="FF7A1A"/>
            </a:solidFill>
            <a:prstDash val="solid"/>
          </a:ln>
        </p:spPr>
        <p:txBody>
          <a:bodyPr/>
          <a:lstStyle/>
          <a:p>
            <a:endParaRPr lang="pl-PL">
              <a:latin typeface="Oswald"/>
            </a:endParaRPr>
          </a:p>
        </p:txBody>
      </p:sp>
      <p:sp>
        <p:nvSpPr>
          <p:cNvPr id="10" name="Prostokąt 9">
            <a:extLst>
              <a:ext uri="{FF2B5EF4-FFF2-40B4-BE49-F238E27FC236}">
                <a16:creationId xmlns:a16="http://schemas.microsoft.com/office/drawing/2014/main" id="{7FD61580-6452-4B77-B41A-0FC61D4BD9D1}"/>
              </a:ext>
            </a:extLst>
          </p:cNvPr>
          <p:cNvSpPr>
            <a:spLocks noGrp="1"/>
          </p:cNvSpPr>
          <p:nvPr/>
        </p:nvSpPr>
        <p:spPr>
          <a:xfrm>
            <a:off x="6116673" y="2710514"/>
            <a:ext cx="2038350" cy="333375"/>
          </a:xfrm>
          <a:prstGeom prst="rect">
            <a:avLst/>
          </a:prstGeom>
          <a:noFill/>
          <a:ln w="0">
            <a:noFill/>
          </a:ln>
        </p:spPr>
        <p:txBody>
          <a:bodyPr anchor="t">
            <a:normAutofit/>
          </a:bodyPr>
          <a:lstStyle/>
          <a:p>
            <a:pPr algn="l">
              <a:defRPr sz="1500" b="1">
                <a:solidFill>
                  <a:srgbClr val="FFC400"/>
                </a:solidFill>
                <a:latin typeface="Roboto"/>
                <a:ea typeface="Roboto"/>
                <a:cs typeface="Roboto"/>
              </a:defRPr>
            </a:pPr>
            <a:r>
              <a:rPr sz="1400" b="1">
                <a:solidFill>
                  <a:srgbClr val="FFC400"/>
                </a:solidFill>
                <a:latin typeface="Oswald"/>
                <a:ea typeface="Roboto"/>
                <a:cs typeface="Roboto"/>
              </a:rPr>
              <a:t>Container Apps</a:t>
            </a:r>
          </a:p>
        </p:txBody>
      </p:sp>
      <p:sp>
        <p:nvSpPr>
          <p:cNvPr id="11" name="Prostokąt 10">
            <a:extLst>
              <a:ext uri="{FF2B5EF4-FFF2-40B4-BE49-F238E27FC236}">
                <a16:creationId xmlns:a16="http://schemas.microsoft.com/office/drawing/2014/main" id="{CEB52006-1F12-4F0C-BAEE-BAE5938264FC}"/>
              </a:ext>
            </a:extLst>
          </p:cNvPr>
          <p:cNvSpPr>
            <a:spLocks noGrp="1"/>
          </p:cNvSpPr>
          <p:nvPr/>
        </p:nvSpPr>
        <p:spPr>
          <a:xfrm>
            <a:off x="6116673" y="3186764"/>
            <a:ext cx="2038350" cy="895350"/>
          </a:xfrm>
          <a:prstGeom prst="rect">
            <a:avLst/>
          </a:prstGeom>
          <a:noFill/>
          <a:ln w="0">
            <a:noFill/>
          </a:ln>
        </p:spPr>
        <p:txBody>
          <a:bodyPr lIns="91440" tIns="45720" rIns="91440" bIns="45720" anchor="t">
            <a:normAutofit/>
          </a:bodyPr>
          <a:lstStyle/>
          <a:p>
            <a:pPr algn="l">
              <a:defRPr sz="1050" b="0">
                <a:solidFill>
                  <a:srgbClr val="F7F5F1"/>
                </a:solidFill>
                <a:latin typeface="Roboto"/>
                <a:ea typeface="Roboto"/>
                <a:cs typeface="Roboto"/>
              </a:defRPr>
            </a:pPr>
            <a:r>
              <a:rPr sz="1200" b="0">
                <a:solidFill>
                  <a:srgbClr val="F7F5F1"/>
                </a:solidFill>
                <a:latin typeface="Oswald"/>
                <a:ea typeface="Roboto"/>
                <a:cs typeface="Roboto"/>
              </a:rPr>
              <a:t>Remote MCP endpoint</a:t>
            </a:r>
          </a:p>
          <a:p>
            <a:pPr algn="l">
              <a:defRPr sz="1050" b="0">
                <a:solidFill>
                  <a:srgbClr val="F7F5F1"/>
                </a:solidFill>
                <a:latin typeface="Roboto"/>
                <a:ea typeface="Roboto"/>
                <a:cs typeface="Roboto"/>
              </a:defRPr>
            </a:pPr>
            <a:r>
              <a:rPr sz="1200" b="0" err="1">
                <a:solidFill>
                  <a:srgbClr val="F7F5F1"/>
                </a:solidFill>
                <a:latin typeface="Oswald"/>
                <a:ea typeface="Roboto"/>
                <a:cs typeface="Roboto"/>
              </a:rPr>
              <a:t>Streamable</a:t>
            </a:r>
            <a:r>
              <a:rPr sz="1200" b="0">
                <a:solidFill>
                  <a:srgbClr val="F7F5F1"/>
                </a:solidFill>
                <a:latin typeface="Oswald"/>
                <a:ea typeface="Roboto"/>
                <a:cs typeface="Roboto"/>
              </a:rPr>
              <a:t> HTTP</a:t>
            </a:r>
          </a:p>
          <a:p>
            <a:pPr algn="l">
              <a:defRPr sz="1050" b="0">
                <a:solidFill>
                  <a:srgbClr val="F7F5F1"/>
                </a:solidFill>
                <a:latin typeface="Roboto"/>
                <a:ea typeface="Roboto"/>
                <a:cs typeface="Roboto"/>
              </a:defRPr>
            </a:pPr>
            <a:r>
              <a:rPr lang="en-US" sz="1200">
                <a:solidFill>
                  <a:srgbClr val="F7F5F1"/>
                </a:solidFill>
                <a:latin typeface="Oswald"/>
                <a:ea typeface="Roboto"/>
                <a:cs typeface="Roboto"/>
              </a:rPr>
              <a:t>Managed</a:t>
            </a:r>
            <a:r>
              <a:rPr sz="1200" b="0">
                <a:solidFill>
                  <a:srgbClr val="F7F5F1"/>
                </a:solidFill>
                <a:latin typeface="Oswald"/>
                <a:ea typeface="Roboto"/>
                <a:cs typeface="Roboto"/>
              </a:rPr>
              <a:t> scaling</a:t>
            </a:r>
          </a:p>
        </p:txBody>
      </p:sp>
      <p:sp>
        <p:nvSpPr>
          <p:cNvPr id="12" name="Prostokąt: zaokrąglone rogi 11">
            <a:extLst>
              <a:ext uri="{FF2B5EF4-FFF2-40B4-BE49-F238E27FC236}">
                <a16:creationId xmlns:a16="http://schemas.microsoft.com/office/drawing/2014/main" id="{760E817D-1204-455C-9262-02683FBB0784}"/>
              </a:ext>
            </a:extLst>
          </p:cNvPr>
          <p:cNvSpPr>
            <a:spLocks noGrp="1"/>
          </p:cNvSpPr>
          <p:nvPr/>
        </p:nvSpPr>
        <p:spPr>
          <a:xfrm>
            <a:off x="8878923" y="2786714"/>
            <a:ext cx="2571750" cy="1219200"/>
          </a:xfrm>
          <a:prstGeom prst="roundRect">
            <a:avLst>
              <a:gd name="adj" fmla="val 7813"/>
            </a:avLst>
          </a:prstGeom>
          <a:solidFill>
            <a:srgbClr val="455A61"/>
          </a:solidFill>
          <a:ln w="13335">
            <a:solidFill>
              <a:srgbClr val="FF7A1A"/>
            </a:solidFill>
            <a:prstDash val="solid"/>
          </a:ln>
        </p:spPr>
        <p:txBody>
          <a:bodyPr/>
          <a:lstStyle/>
          <a:p>
            <a:endParaRPr lang="pl-PL">
              <a:latin typeface="Oswald"/>
            </a:endParaRPr>
          </a:p>
        </p:txBody>
      </p:sp>
      <p:sp>
        <p:nvSpPr>
          <p:cNvPr id="13" name="Prostokąt 12">
            <a:extLst>
              <a:ext uri="{FF2B5EF4-FFF2-40B4-BE49-F238E27FC236}">
                <a16:creationId xmlns:a16="http://schemas.microsoft.com/office/drawing/2014/main" id="{849B020F-5C8A-429F-96EE-B7DF86A8207A}"/>
              </a:ext>
            </a:extLst>
          </p:cNvPr>
          <p:cNvSpPr>
            <a:spLocks noGrp="1"/>
          </p:cNvSpPr>
          <p:nvPr/>
        </p:nvSpPr>
        <p:spPr>
          <a:xfrm>
            <a:off x="9050373" y="2901014"/>
            <a:ext cx="2228850" cy="333375"/>
          </a:xfrm>
          <a:prstGeom prst="rect">
            <a:avLst/>
          </a:prstGeom>
          <a:noFill/>
          <a:ln w="0">
            <a:noFill/>
          </a:ln>
        </p:spPr>
        <p:txBody>
          <a:bodyPr anchor="t">
            <a:normAutofit/>
          </a:bodyPr>
          <a:lstStyle/>
          <a:p>
            <a:pPr algn="l">
              <a:defRPr sz="1275" b="1">
                <a:solidFill>
                  <a:srgbClr val="FFC400"/>
                </a:solidFill>
                <a:latin typeface="Roboto"/>
                <a:ea typeface="Roboto"/>
                <a:cs typeface="Roboto"/>
              </a:defRPr>
            </a:pPr>
            <a:r>
              <a:rPr sz="1400" b="1">
                <a:solidFill>
                  <a:srgbClr val="FFC400"/>
                </a:solidFill>
                <a:latin typeface="Oswald"/>
                <a:ea typeface="Roboto"/>
                <a:cs typeface="Roboto"/>
              </a:rPr>
              <a:t>Internal systems</a:t>
            </a:r>
          </a:p>
        </p:txBody>
      </p:sp>
      <p:sp>
        <p:nvSpPr>
          <p:cNvPr id="14" name="Prostokąt 13">
            <a:extLst>
              <a:ext uri="{FF2B5EF4-FFF2-40B4-BE49-F238E27FC236}">
                <a16:creationId xmlns:a16="http://schemas.microsoft.com/office/drawing/2014/main" id="{297FCBF3-5057-40A8-8119-0167939F1178}"/>
              </a:ext>
            </a:extLst>
          </p:cNvPr>
          <p:cNvSpPr>
            <a:spLocks noGrp="1"/>
          </p:cNvSpPr>
          <p:nvPr/>
        </p:nvSpPr>
        <p:spPr>
          <a:xfrm>
            <a:off x="9050373" y="3282014"/>
            <a:ext cx="2228850" cy="609600"/>
          </a:xfrm>
          <a:prstGeom prst="rect">
            <a:avLst/>
          </a:prstGeom>
          <a:noFill/>
          <a:ln w="0">
            <a:noFill/>
          </a:ln>
        </p:spPr>
        <p:txBody>
          <a:bodyPr anchor="t">
            <a:noAutofit/>
          </a:bodyPr>
          <a:lstStyle/>
          <a:p>
            <a:pPr algn="l">
              <a:defRPr sz="975" b="0">
                <a:solidFill>
                  <a:srgbClr val="F7F5F1"/>
                </a:solidFill>
                <a:latin typeface="Roboto"/>
                <a:ea typeface="Roboto"/>
                <a:cs typeface="Roboto"/>
              </a:defRPr>
            </a:pPr>
            <a:r>
              <a:rPr sz="1200" b="0">
                <a:solidFill>
                  <a:srgbClr val="F7F5F1"/>
                </a:solidFill>
                <a:latin typeface="Oswald"/>
                <a:ea typeface="Roboto"/>
                <a:cs typeface="Roboto"/>
              </a:rPr>
              <a:t>Managed Identity</a:t>
            </a:r>
          </a:p>
          <a:p>
            <a:pPr algn="l">
              <a:defRPr sz="975" b="0">
                <a:solidFill>
                  <a:srgbClr val="F7F5F1"/>
                </a:solidFill>
                <a:latin typeface="Roboto"/>
                <a:ea typeface="Roboto"/>
                <a:cs typeface="Roboto"/>
              </a:defRPr>
            </a:pPr>
            <a:r>
              <a:rPr sz="1200" b="0">
                <a:solidFill>
                  <a:srgbClr val="F7F5F1"/>
                </a:solidFill>
                <a:latin typeface="Oswald"/>
                <a:ea typeface="Roboto"/>
                <a:cs typeface="Roboto"/>
              </a:rPr>
              <a:t>Key Vault</a:t>
            </a:r>
          </a:p>
          <a:p>
            <a:pPr algn="l">
              <a:defRPr sz="975" b="0">
                <a:solidFill>
                  <a:srgbClr val="F7F5F1"/>
                </a:solidFill>
                <a:latin typeface="Roboto"/>
                <a:ea typeface="Roboto"/>
                <a:cs typeface="Roboto"/>
              </a:defRPr>
            </a:pPr>
            <a:r>
              <a:rPr sz="1200" b="0">
                <a:solidFill>
                  <a:srgbClr val="F7F5F1"/>
                </a:solidFill>
                <a:latin typeface="Oswald"/>
                <a:ea typeface="Roboto"/>
                <a:cs typeface="Roboto"/>
              </a:rPr>
              <a:t>private endpoints</a:t>
            </a:r>
          </a:p>
        </p:txBody>
      </p:sp>
      <p:sp>
        <p:nvSpPr>
          <p:cNvPr id="15" name="Strzałka: w prawo 14">
            <a:extLst>
              <a:ext uri="{FF2B5EF4-FFF2-40B4-BE49-F238E27FC236}">
                <a16:creationId xmlns:a16="http://schemas.microsoft.com/office/drawing/2014/main" id="{96FB9B17-2C53-4EC1-A81A-99B558BD5866}"/>
              </a:ext>
            </a:extLst>
          </p:cNvPr>
          <p:cNvSpPr>
            <a:spLocks noGrp="1"/>
          </p:cNvSpPr>
          <p:nvPr/>
        </p:nvSpPr>
        <p:spPr>
          <a:xfrm>
            <a:off x="2830548" y="3320114"/>
            <a:ext cx="409575" cy="152400"/>
          </a:xfrm>
          <a:prstGeom prst="rightArrow">
            <a:avLst/>
          </a:prstGeom>
          <a:solidFill>
            <a:srgbClr val="FF7A1A"/>
          </a:solidFill>
          <a:ln w="0">
            <a:noFill/>
          </a:ln>
        </p:spPr>
        <p:txBody>
          <a:bodyPr/>
          <a:lstStyle/>
          <a:p>
            <a:endParaRPr lang="pl-PL">
              <a:latin typeface="Oswald"/>
            </a:endParaRPr>
          </a:p>
        </p:txBody>
      </p:sp>
      <p:sp>
        <p:nvSpPr>
          <p:cNvPr id="16" name="Strzałka: w prawo 15">
            <a:extLst>
              <a:ext uri="{FF2B5EF4-FFF2-40B4-BE49-F238E27FC236}">
                <a16:creationId xmlns:a16="http://schemas.microsoft.com/office/drawing/2014/main" id="{9088F97B-1AFF-448E-8B28-2CE49D9A4DB3}"/>
              </a:ext>
            </a:extLst>
          </p:cNvPr>
          <p:cNvSpPr>
            <a:spLocks noGrp="1"/>
          </p:cNvSpPr>
          <p:nvPr/>
        </p:nvSpPr>
        <p:spPr>
          <a:xfrm>
            <a:off x="5468973" y="3320114"/>
            <a:ext cx="409575" cy="152400"/>
          </a:xfrm>
          <a:prstGeom prst="rightArrow">
            <a:avLst/>
          </a:prstGeom>
          <a:solidFill>
            <a:srgbClr val="FF7A1A"/>
          </a:solidFill>
          <a:ln w="0">
            <a:noFill/>
          </a:ln>
        </p:spPr>
        <p:txBody>
          <a:bodyPr/>
          <a:lstStyle/>
          <a:p>
            <a:endParaRPr lang="pl-PL">
              <a:latin typeface="Oswald"/>
            </a:endParaRPr>
          </a:p>
        </p:txBody>
      </p:sp>
      <p:sp>
        <p:nvSpPr>
          <p:cNvPr id="17" name="Strzałka: w prawo 16">
            <a:extLst>
              <a:ext uri="{FF2B5EF4-FFF2-40B4-BE49-F238E27FC236}">
                <a16:creationId xmlns:a16="http://schemas.microsoft.com/office/drawing/2014/main" id="{48D5D259-C119-44D2-8FBA-850209783454}"/>
              </a:ext>
            </a:extLst>
          </p:cNvPr>
          <p:cNvSpPr>
            <a:spLocks noGrp="1"/>
          </p:cNvSpPr>
          <p:nvPr/>
        </p:nvSpPr>
        <p:spPr>
          <a:xfrm>
            <a:off x="8393148" y="3320114"/>
            <a:ext cx="419100" cy="152400"/>
          </a:xfrm>
          <a:prstGeom prst="rightArrow">
            <a:avLst/>
          </a:prstGeom>
          <a:solidFill>
            <a:srgbClr val="FF7A1A"/>
          </a:solidFill>
          <a:ln w="0">
            <a:noFill/>
          </a:ln>
        </p:spPr>
        <p:txBody>
          <a:bodyPr/>
          <a:lstStyle/>
          <a:p>
            <a:endParaRPr lang="pl-PL">
              <a:latin typeface="Oswald"/>
            </a:endParaRPr>
          </a:p>
        </p:txBody>
      </p:sp>
      <p:sp>
        <p:nvSpPr>
          <p:cNvPr id="18" name="Prostokąt 17">
            <a:extLst>
              <a:ext uri="{FF2B5EF4-FFF2-40B4-BE49-F238E27FC236}">
                <a16:creationId xmlns:a16="http://schemas.microsoft.com/office/drawing/2014/main" id="{4F3C4B4D-579F-4C32-9290-F644D9C7FB5C}"/>
              </a:ext>
            </a:extLst>
          </p:cNvPr>
          <p:cNvSpPr>
            <a:spLocks noGrp="1"/>
          </p:cNvSpPr>
          <p:nvPr/>
        </p:nvSpPr>
        <p:spPr>
          <a:xfrm>
            <a:off x="696948" y="4434125"/>
            <a:ext cx="10382250" cy="361950"/>
          </a:xfrm>
          <a:prstGeom prst="rect">
            <a:avLst/>
          </a:prstGeom>
          <a:noFill/>
          <a:ln w="0">
            <a:noFill/>
          </a:ln>
        </p:spPr>
        <p:txBody>
          <a:bodyPr lIns="91440" tIns="45720" rIns="91440" bIns="45720" anchor="ctr">
            <a:normAutofit/>
          </a:bodyPr>
          <a:lstStyle/>
          <a:p>
            <a:pPr algn="ctr">
              <a:defRPr sz="1275" b="1">
                <a:solidFill>
                  <a:srgbClr val="FFC400"/>
                </a:solidFill>
                <a:latin typeface="Roboto"/>
                <a:ea typeface="Roboto"/>
                <a:cs typeface="Roboto"/>
              </a:defRPr>
            </a:pPr>
            <a:r>
              <a:rPr sz="1400" b="1">
                <a:solidFill>
                  <a:srgbClr val="FFC400"/>
                </a:solidFill>
                <a:latin typeface="Oswald"/>
                <a:ea typeface="Roboto"/>
                <a:cs typeface="Roboto"/>
              </a:rPr>
              <a:t>Choose the runtime that matches the operating model</a:t>
            </a:r>
            <a:endParaRPr lang="en-US" sz="1400" b="1">
              <a:solidFill>
                <a:srgbClr val="FFC400"/>
              </a:solidFill>
              <a:latin typeface="Oswald"/>
              <a:ea typeface="Roboto"/>
              <a:cs typeface="Roboto"/>
            </a:endParaRPr>
          </a:p>
        </p:txBody>
      </p:sp>
      <p:sp>
        <p:nvSpPr>
          <p:cNvPr id="19" name="Prostokąt: zaokrąglone rogi 18">
            <a:extLst>
              <a:ext uri="{FF2B5EF4-FFF2-40B4-BE49-F238E27FC236}">
                <a16:creationId xmlns:a16="http://schemas.microsoft.com/office/drawing/2014/main" id="{5D14015C-476D-46F3-942C-C6052CDE71A4}"/>
              </a:ext>
            </a:extLst>
          </p:cNvPr>
          <p:cNvSpPr>
            <a:spLocks noGrp="1"/>
          </p:cNvSpPr>
          <p:nvPr/>
        </p:nvSpPr>
        <p:spPr>
          <a:xfrm>
            <a:off x="496923" y="4986575"/>
            <a:ext cx="2609850" cy="1314450"/>
          </a:xfrm>
          <a:prstGeom prst="roundRect">
            <a:avLst>
              <a:gd name="adj" fmla="val 7246"/>
            </a:avLst>
          </a:prstGeom>
          <a:solidFill>
            <a:srgbClr val="455A61"/>
          </a:solidFill>
          <a:ln w="13335">
            <a:solidFill>
              <a:srgbClr val="FFC400"/>
            </a:solidFill>
            <a:prstDash val="solid"/>
          </a:ln>
        </p:spPr>
        <p:txBody>
          <a:bodyPr/>
          <a:lstStyle/>
          <a:p>
            <a:endParaRPr lang="pl-PL">
              <a:latin typeface="Oswald"/>
            </a:endParaRPr>
          </a:p>
        </p:txBody>
      </p:sp>
      <p:sp>
        <p:nvSpPr>
          <p:cNvPr id="20" name="Prostokąt 19">
            <a:extLst>
              <a:ext uri="{FF2B5EF4-FFF2-40B4-BE49-F238E27FC236}">
                <a16:creationId xmlns:a16="http://schemas.microsoft.com/office/drawing/2014/main" id="{19E0337F-77F2-4DE9-80EC-68B49AC5195A}"/>
              </a:ext>
            </a:extLst>
          </p:cNvPr>
          <p:cNvSpPr>
            <a:spLocks noGrp="1"/>
          </p:cNvSpPr>
          <p:nvPr/>
        </p:nvSpPr>
        <p:spPr>
          <a:xfrm>
            <a:off x="630273" y="5100875"/>
            <a:ext cx="2343150" cy="219075"/>
          </a:xfrm>
          <a:prstGeom prst="rect">
            <a:avLst/>
          </a:prstGeom>
          <a:noFill/>
          <a:ln w="0">
            <a:noFill/>
          </a:ln>
        </p:spPr>
        <p:txBody>
          <a:bodyPr lIns="91440" tIns="45720" rIns="91440" bIns="45720" anchor="ctr">
            <a:noAutofit/>
          </a:bodyPr>
          <a:lstStyle/>
          <a:p>
            <a:pPr algn="l">
              <a:defRPr sz="788" b="1">
                <a:solidFill>
                  <a:srgbClr val="FFC400"/>
                </a:solidFill>
                <a:latin typeface="Roboto"/>
                <a:ea typeface="Roboto"/>
                <a:cs typeface="Roboto"/>
              </a:defRPr>
            </a:pPr>
            <a:r>
              <a:rPr lang="en-US" sz="900" b="1">
                <a:solidFill>
                  <a:srgbClr val="FFC400"/>
                </a:solidFill>
                <a:latin typeface="Oswald"/>
                <a:ea typeface="Roboto"/>
                <a:cs typeface="Roboto"/>
              </a:rPr>
              <a:t>LIGHTWEIGHT</a:t>
            </a:r>
            <a:endParaRPr sz="900" b="1">
              <a:solidFill>
                <a:srgbClr val="FFC400"/>
              </a:solidFill>
              <a:latin typeface="Oswald"/>
              <a:ea typeface="Roboto"/>
              <a:cs typeface="Roboto"/>
            </a:endParaRPr>
          </a:p>
        </p:txBody>
      </p:sp>
      <p:sp>
        <p:nvSpPr>
          <p:cNvPr id="21" name="Prostokąt 20">
            <a:extLst>
              <a:ext uri="{FF2B5EF4-FFF2-40B4-BE49-F238E27FC236}">
                <a16:creationId xmlns:a16="http://schemas.microsoft.com/office/drawing/2014/main" id="{A81C88FA-65F0-42B8-8024-DAE0AB6439A1}"/>
              </a:ext>
            </a:extLst>
          </p:cNvPr>
          <p:cNvSpPr>
            <a:spLocks noGrp="1"/>
          </p:cNvSpPr>
          <p:nvPr/>
        </p:nvSpPr>
        <p:spPr>
          <a:xfrm>
            <a:off x="630273" y="5377100"/>
            <a:ext cx="2343150" cy="285750"/>
          </a:xfrm>
          <a:prstGeom prst="rect">
            <a:avLst/>
          </a:prstGeom>
          <a:noFill/>
          <a:ln w="0">
            <a:noFill/>
          </a:ln>
        </p:spPr>
        <p:txBody>
          <a:bodyPr anchor="ctr">
            <a:noAutofit/>
          </a:bodyPr>
          <a:lstStyle/>
          <a:p>
            <a:pPr algn="l">
              <a:defRPr sz="1275" b="1">
                <a:solidFill>
                  <a:srgbClr val="F7F5F1"/>
                </a:solidFill>
                <a:latin typeface="Roboto"/>
                <a:ea typeface="Roboto"/>
                <a:cs typeface="Roboto"/>
              </a:defRPr>
            </a:pPr>
            <a:r>
              <a:rPr sz="1400" b="1">
                <a:solidFill>
                  <a:srgbClr val="F7F5F1"/>
                </a:solidFill>
                <a:latin typeface="Oswald"/>
                <a:ea typeface="Roboto"/>
                <a:cs typeface="Roboto"/>
              </a:rPr>
              <a:t>Container Apps</a:t>
            </a:r>
          </a:p>
        </p:txBody>
      </p:sp>
      <p:sp>
        <p:nvSpPr>
          <p:cNvPr id="22" name="Prostokąt 21">
            <a:extLst>
              <a:ext uri="{FF2B5EF4-FFF2-40B4-BE49-F238E27FC236}">
                <a16:creationId xmlns:a16="http://schemas.microsoft.com/office/drawing/2014/main" id="{3C0F3150-5943-409F-B4E6-312F7B3A4E06}"/>
              </a:ext>
            </a:extLst>
          </p:cNvPr>
          <p:cNvSpPr>
            <a:spLocks noGrp="1"/>
          </p:cNvSpPr>
          <p:nvPr/>
        </p:nvSpPr>
        <p:spPr>
          <a:xfrm>
            <a:off x="630273" y="5710475"/>
            <a:ext cx="2343150" cy="438150"/>
          </a:xfrm>
          <a:prstGeom prst="rect">
            <a:avLst/>
          </a:prstGeom>
          <a:noFill/>
          <a:ln w="0">
            <a:noFill/>
          </a:ln>
        </p:spPr>
        <p:txBody>
          <a:bodyPr anchor="t">
            <a:noAutofit/>
          </a:bodyPr>
          <a:lstStyle/>
          <a:p>
            <a:pPr algn="l">
              <a:defRPr sz="863" b="0">
                <a:solidFill>
                  <a:srgbClr val="CED7D9"/>
                </a:solidFill>
                <a:latin typeface="Roboto"/>
                <a:ea typeface="Roboto"/>
                <a:cs typeface="Roboto"/>
              </a:defRPr>
            </a:pPr>
            <a:r>
              <a:rPr sz="1100" b="0">
                <a:solidFill>
                  <a:srgbClr val="CED7D9"/>
                </a:solidFill>
                <a:latin typeface="Oswald"/>
                <a:ea typeface="Roboto"/>
                <a:cs typeface="Roboto"/>
              </a:rPr>
              <a:t>Default for a containerized remote MCP server</a:t>
            </a:r>
          </a:p>
        </p:txBody>
      </p:sp>
      <p:sp>
        <p:nvSpPr>
          <p:cNvPr id="23" name="Prostokąt: zaokrąglone rogi 22">
            <a:extLst>
              <a:ext uri="{FF2B5EF4-FFF2-40B4-BE49-F238E27FC236}">
                <a16:creationId xmlns:a16="http://schemas.microsoft.com/office/drawing/2014/main" id="{9E4DE39A-7E83-4955-9C47-31F4184637F7}"/>
              </a:ext>
            </a:extLst>
          </p:cNvPr>
          <p:cNvSpPr>
            <a:spLocks noGrp="1"/>
          </p:cNvSpPr>
          <p:nvPr/>
        </p:nvSpPr>
        <p:spPr>
          <a:xfrm>
            <a:off x="3354423" y="4986575"/>
            <a:ext cx="2609850" cy="1314450"/>
          </a:xfrm>
          <a:prstGeom prst="roundRect">
            <a:avLst>
              <a:gd name="adj" fmla="val 7246"/>
            </a:avLst>
          </a:prstGeom>
          <a:solidFill>
            <a:srgbClr val="455A61"/>
          </a:solidFill>
          <a:ln w="13335">
            <a:solidFill>
              <a:srgbClr val="FF7A1A"/>
            </a:solidFill>
            <a:prstDash val="solid"/>
          </a:ln>
        </p:spPr>
        <p:txBody>
          <a:bodyPr/>
          <a:lstStyle/>
          <a:p>
            <a:endParaRPr lang="pl-PL">
              <a:latin typeface="Oswald"/>
            </a:endParaRPr>
          </a:p>
        </p:txBody>
      </p:sp>
      <p:sp>
        <p:nvSpPr>
          <p:cNvPr id="24" name="Prostokąt 23">
            <a:extLst>
              <a:ext uri="{FF2B5EF4-FFF2-40B4-BE49-F238E27FC236}">
                <a16:creationId xmlns:a16="http://schemas.microsoft.com/office/drawing/2014/main" id="{A0361F52-2081-4C3C-A31A-CFC2D5953C04}"/>
              </a:ext>
            </a:extLst>
          </p:cNvPr>
          <p:cNvSpPr>
            <a:spLocks noGrp="1"/>
          </p:cNvSpPr>
          <p:nvPr/>
        </p:nvSpPr>
        <p:spPr>
          <a:xfrm>
            <a:off x="3487773" y="5100875"/>
            <a:ext cx="2343150" cy="219075"/>
          </a:xfrm>
          <a:prstGeom prst="rect">
            <a:avLst/>
          </a:prstGeom>
          <a:noFill/>
          <a:ln w="0">
            <a:noFill/>
          </a:ln>
        </p:spPr>
        <p:txBody>
          <a:bodyPr anchor="ctr">
            <a:noAutofit/>
          </a:bodyPr>
          <a:lstStyle/>
          <a:p>
            <a:pPr algn="l">
              <a:defRPr sz="788" b="1">
                <a:solidFill>
                  <a:srgbClr val="FF7A1A"/>
                </a:solidFill>
                <a:latin typeface="Roboto"/>
                <a:ea typeface="Roboto"/>
                <a:cs typeface="Roboto"/>
              </a:defRPr>
            </a:pPr>
            <a:r>
              <a:rPr sz="900" b="1">
                <a:solidFill>
                  <a:srgbClr val="FF7A1A"/>
                </a:solidFill>
                <a:latin typeface="Oswald"/>
                <a:ea typeface="Roboto"/>
                <a:cs typeface="Roboto"/>
              </a:rPr>
              <a:t>SERVERLESS</a:t>
            </a:r>
          </a:p>
        </p:txBody>
      </p:sp>
      <p:sp>
        <p:nvSpPr>
          <p:cNvPr id="25" name="Prostokąt 24">
            <a:extLst>
              <a:ext uri="{FF2B5EF4-FFF2-40B4-BE49-F238E27FC236}">
                <a16:creationId xmlns:a16="http://schemas.microsoft.com/office/drawing/2014/main" id="{BD230CD0-3502-4DE1-B837-E6E4078458D8}"/>
              </a:ext>
            </a:extLst>
          </p:cNvPr>
          <p:cNvSpPr>
            <a:spLocks noGrp="1"/>
          </p:cNvSpPr>
          <p:nvPr/>
        </p:nvSpPr>
        <p:spPr>
          <a:xfrm>
            <a:off x="3487773" y="5377100"/>
            <a:ext cx="2343150" cy="285750"/>
          </a:xfrm>
          <a:prstGeom prst="rect">
            <a:avLst/>
          </a:prstGeom>
          <a:noFill/>
          <a:ln w="0">
            <a:noFill/>
          </a:ln>
        </p:spPr>
        <p:txBody>
          <a:bodyPr anchor="ctr">
            <a:noAutofit/>
          </a:bodyPr>
          <a:lstStyle/>
          <a:p>
            <a:pPr algn="l">
              <a:defRPr sz="1275" b="1">
                <a:solidFill>
                  <a:srgbClr val="F7F5F1"/>
                </a:solidFill>
                <a:latin typeface="Roboto"/>
                <a:ea typeface="Roboto"/>
                <a:cs typeface="Roboto"/>
              </a:defRPr>
            </a:pPr>
            <a:r>
              <a:rPr sz="1400" b="1">
                <a:solidFill>
                  <a:srgbClr val="F7F5F1"/>
                </a:solidFill>
                <a:latin typeface="Oswald"/>
                <a:ea typeface="Roboto"/>
                <a:cs typeface="Roboto"/>
              </a:rPr>
              <a:t>Functions</a:t>
            </a:r>
          </a:p>
        </p:txBody>
      </p:sp>
      <p:sp>
        <p:nvSpPr>
          <p:cNvPr id="26" name="Prostokąt 25">
            <a:extLst>
              <a:ext uri="{FF2B5EF4-FFF2-40B4-BE49-F238E27FC236}">
                <a16:creationId xmlns:a16="http://schemas.microsoft.com/office/drawing/2014/main" id="{F52C89DE-AB4C-4EFD-8C0B-60CF5CCDEE88}"/>
              </a:ext>
            </a:extLst>
          </p:cNvPr>
          <p:cNvSpPr>
            <a:spLocks noGrp="1"/>
          </p:cNvSpPr>
          <p:nvPr/>
        </p:nvSpPr>
        <p:spPr>
          <a:xfrm>
            <a:off x="3487773" y="5710475"/>
            <a:ext cx="2343150" cy="438150"/>
          </a:xfrm>
          <a:prstGeom prst="rect">
            <a:avLst/>
          </a:prstGeom>
          <a:noFill/>
          <a:ln w="0">
            <a:noFill/>
          </a:ln>
        </p:spPr>
        <p:txBody>
          <a:bodyPr anchor="t">
            <a:noAutofit/>
          </a:bodyPr>
          <a:lstStyle/>
          <a:p>
            <a:pPr algn="l">
              <a:defRPr sz="863" b="0">
                <a:solidFill>
                  <a:srgbClr val="CED7D9"/>
                </a:solidFill>
                <a:latin typeface="Roboto"/>
                <a:ea typeface="Roboto"/>
                <a:cs typeface="Roboto"/>
              </a:defRPr>
            </a:pPr>
            <a:r>
              <a:rPr sz="1100" b="0">
                <a:solidFill>
                  <a:srgbClr val="CED7D9"/>
                </a:solidFill>
                <a:latin typeface="Oswald"/>
                <a:ea typeface="Roboto"/>
                <a:cs typeface="Roboto"/>
              </a:rPr>
              <a:t>Small stateless tools and event-driven workloads</a:t>
            </a:r>
          </a:p>
        </p:txBody>
      </p:sp>
      <p:sp>
        <p:nvSpPr>
          <p:cNvPr id="27" name="Prostokąt: zaokrąglone rogi 26">
            <a:extLst>
              <a:ext uri="{FF2B5EF4-FFF2-40B4-BE49-F238E27FC236}">
                <a16:creationId xmlns:a16="http://schemas.microsoft.com/office/drawing/2014/main" id="{5C663E05-B1EA-4641-AD5D-3168E55E31EF}"/>
              </a:ext>
            </a:extLst>
          </p:cNvPr>
          <p:cNvSpPr>
            <a:spLocks noGrp="1"/>
          </p:cNvSpPr>
          <p:nvPr/>
        </p:nvSpPr>
        <p:spPr>
          <a:xfrm>
            <a:off x="6211923" y="4986575"/>
            <a:ext cx="2609850" cy="1314450"/>
          </a:xfrm>
          <a:prstGeom prst="roundRect">
            <a:avLst>
              <a:gd name="adj" fmla="val 7246"/>
            </a:avLst>
          </a:prstGeom>
          <a:solidFill>
            <a:srgbClr val="455A61"/>
          </a:solidFill>
          <a:ln w="13335">
            <a:solidFill>
              <a:srgbClr val="FF7A1A"/>
            </a:solidFill>
            <a:prstDash val="solid"/>
          </a:ln>
        </p:spPr>
        <p:txBody>
          <a:bodyPr/>
          <a:lstStyle/>
          <a:p>
            <a:endParaRPr lang="pl-PL">
              <a:latin typeface="Oswald"/>
            </a:endParaRPr>
          </a:p>
        </p:txBody>
      </p:sp>
      <p:sp>
        <p:nvSpPr>
          <p:cNvPr id="28" name="Prostokąt 27">
            <a:extLst>
              <a:ext uri="{FF2B5EF4-FFF2-40B4-BE49-F238E27FC236}">
                <a16:creationId xmlns:a16="http://schemas.microsoft.com/office/drawing/2014/main" id="{4C7C8E53-F80C-46ED-B712-8517A144BE6A}"/>
              </a:ext>
            </a:extLst>
          </p:cNvPr>
          <p:cNvSpPr>
            <a:spLocks noGrp="1"/>
          </p:cNvSpPr>
          <p:nvPr/>
        </p:nvSpPr>
        <p:spPr>
          <a:xfrm>
            <a:off x="6345273" y="5100875"/>
            <a:ext cx="2343150" cy="219075"/>
          </a:xfrm>
          <a:prstGeom prst="rect">
            <a:avLst/>
          </a:prstGeom>
          <a:noFill/>
          <a:ln w="0">
            <a:noFill/>
          </a:ln>
        </p:spPr>
        <p:txBody>
          <a:bodyPr anchor="ctr">
            <a:noAutofit/>
          </a:bodyPr>
          <a:lstStyle/>
          <a:p>
            <a:pPr algn="l">
              <a:defRPr sz="788" b="1">
                <a:solidFill>
                  <a:srgbClr val="FF7A1A"/>
                </a:solidFill>
                <a:latin typeface="Roboto"/>
                <a:ea typeface="Roboto"/>
                <a:cs typeface="Roboto"/>
              </a:defRPr>
            </a:pPr>
            <a:r>
              <a:rPr sz="900" b="1">
                <a:solidFill>
                  <a:srgbClr val="FF7A1A"/>
                </a:solidFill>
                <a:latin typeface="Oswald"/>
                <a:ea typeface="Roboto"/>
                <a:cs typeface="Roboto"/>
              </a:rPr>
              <a:t>FAMILIAR</a:t>
            </a:r>
          </a:p>
        </p:txBody>
      </p:sp>
      <p:sp>
        <p:nvSpPr>
          <p:cNvPr id="29" name="Prostokąt 28">
            <a:extLst>
              <a:ext uri="{FF2B5EF4-FFF2-40B4-BE49-F238E27FC236}">
                <a16:creationId xmlns:a16="http://schemas.microsoft.com/office/drawing/2014/main" id="{7F3A5E95-A45C-4E7D-AD21-0EF39E4FF44A}"/>
              </a:ext>
            </a:extLst>
          </p:cNvPr>
          <p:cNvSpPr>
            <a:spLocks noGrp="1"/>
          </p:cNvSpPr>
          <p:nvPr/>
        </p:nvSpPr>
        <p:spPr>
          <a:xfrm>
            <a:off x="6345273" y="5377100"/>
            <a:ext cx="2343150" cy="285750"/>
          </a:xfrm>
          <a:prstGeom prst="rect">
            <a:avLst/>
          </a:prstGeom>
          <a:noFill/>
          <a:ln w="0">
            <a:noFill/>
          </a:ln>
        </p:spPr>
        <p:txBody>
          <a:bodyPr anchor="ctr">
            <a:noAutofit/>
          </a:bodyPr>
          <a:lstStyle/>
          <a:p>
            <a:pPr algn="l">
              <a:defRPr sz="1275" b="1">
                <a:solidFill>
                  <a:srgbClr val="F7F5F1"/>
                </a:solidFill>
                <a:latin typeface="Roboto"/>
                <a:ea typeface="Roboto"/>
                <a:cs typeface="Roboto"/>
              </a:defRPr>
            </a:pPr>
            <a:r>
              <a:rPr sz="1400" b="1">
                <a:solidFill>
                  <a:srgbClr val="F7F5F1"/>
                </a:solidFill>
                <a:latin typeface="Oswald"/>
                <a:ea typeface="Roboto"/>
                <a:cs typeface="Roboto"/>
              </a:rPr>
              <a:t>App Service</a:t>
            </a:r>
          </a:p>
        </p:txBody>
      </p:sp>
      <p:sp>
        <p:nvSpPr>
          <p:cNvPr id="30" name="Prostokąt 29">
            <a:extLst>
              <a:ext uri="{FF2B5EF4-FFF2-40B4-BE49-F238E27FC236}">
                <a16:creationId xmlns:a16="http://schemas.microsoft.com/office/drawing/2014/main" id="{84E071A3-B346-442F-8B9B-68CDDC0002BE}"/>
              </a:ext>
            </a:extLst>
          </p:cNvPr>
          <p:cNvSpPr>
            <a:spLocks noGrp="1"/>
          </p:cNvSpPr>
          <p:nvPr/>
        </p:nvSpPr>
        <p:spPr>
          <a:xfrm>
            <a:off x="6345273" y="5710475"/>
            <a:ext cx="2343150" cy="438150"/>
          </a:xfrm>
          <a:prstGeom prst="rect">
            <a:avLst/>
          </a:prstGeom>
          <a:noFill/>
          <a:ln w="0">
            <a:noFill/>
          </a:ln>
        </p:spPr>
        <p:txBody>
          <a:bodyPr anchor="t">
            <a:noAutofit/>
          </a:bodyPr>
          <a:lstStyle/>
          <a:p>
            <a:pPr algn="l">
              <a:defRPr sz="863" b="0">
                <a:solidFill>
                  <a:srgbClr val="CED7D9"/>
                </a:solidFill>
                <a:latin typeface="Roboto"/>
                <a:ea typeface="Roboto"/>
                <a:cs typeface="Roboto"/>
              </a:defRPr>
            </a:pPr>
            <a:r>
              <a:rPr sz="1100" b="0">
                <a:solidFill>
                  <a:srgbClr val="CED7D9"/>
                </a:solidFill>
                <a:latin typeface="Oswald"/>
                <a:ea typeface="Roboto"/>
                <a:cs typeface="Roboto"/>
              </a:rPr>
              <a:t>Existing web application and platform conventions</a:t>
            </a:r>
          </a:p>
        </p:txBody>
      </p:sp>
      <p:sp>
        <p:nvSpPr>
          <p:cNvPr id="31" name="Prostokąt: zaokrąglone rogi 30">
            <a:extLst>
              <a:ext uri="{FF2B5EF4-FFF2-40B4-BE49-F238E27FC236}">
                <a16:creationId xmlns:a16="http://schemas.microsoft.com/office/drawing/2014/main" id="{C2CDD3D9-5D2C-4920-B3CE-48DC27942A09}"/>
              </a:ext>
            </a:extLst>
          </p:cNvPr>
          <p:cNvSpPr>
            <a:spLocks noGrp="1"/>
          </p:cNvSpPr>
          <p:nvPr/>
        </p:nvSpPr>
        <p:spPr>
          <a:xfrm>
            <a:off x="9069423" y="4986575"/>
            <a:ext cx="2609850" cy="1314450"/>
          </a:xfrm>
          <a:prstGeom prst="roundRect">
            <a:avLst>
              <a:gd name="adj" fmla="val 7246"/>
            </a:avLst>
          </a:prstGeom>
          <a:solidFill>
            <a:srgbClr val="455A61"/>
          </a:solidFill>
          <a:ln w="13335">
            <a:solidFill>
              <a:srgbClr val="FF7A1A"/>
            </a:solidFill>
            <a:prstDash val="solid"/>
          </a:ln>
        </p:spPr>
        <p:txBody>
          <a:bodyPr/>
          <a:lstStyle/>
          <a:p>
            <a:endParaRPr lang="pl-PL">
              <a:latin typeface="Oswald"/>
            </a:endParaRPr>
          </a:p>
        </p:txBody>
      </p:sp>
      <p:sp>
        <p:nvSpPr>
          <p:cNvPr id="32" name="Prostokąt 31">
            <a:extLst>
              <a:ext uri="{FF2B5EF4-FFF2-40B4-BE49-F238E27FC236}">
                <a16:creationId xmlns:a16="http://schemas.microsoft.com/office/drawing/2014/main" id="{DCFC0D1E-BEDA-477F-957D-19D37E0E2402}"/>
              </a:ext>
            </a:extLst>
          </p:cNvPr>
          <p:cNvSpPr>
            <a:spLocks noGrp="1"/>
          </p:cNvSpPr>
          <p:nvPr/>
        </p:nvSpPr>
        <p:spPr>
          <a:xfrm>
            <a:off x="9202773" y="5100875"/>
            <a:ext cx="2343150" cy="219075"/>
          </a:xfrm>
          <a:prstGeom prst="rect">
            <a:avLst/>
          </a:prstGeom>
          <a:noFill/>
          <a:ln w="0">
            <a:noFill/>
          </a:ln>
        </p:spPr>
        <p:txBody>
          <a:bodyPr anchor="ctr">
            <a:noAutofit/>
          </a:bodyPr>
          <a:lstStyle/>
          <a:p>
            <a:pPr algn="l">
              <a:defRPr sz="788" b="1">
                <a:solidFill>
                  <a:srgbClr val="FF7A1A"/>
                </a:solidFill>
                <a:latin typeface="Roboto"/>
                <a:ea typeface="Roboto"/>
                <a:cs typeface="Roboto"/>
              </a:defRPr>
            </a:pPr>
            <a:r>
              <a:rPr sz="900" b="1">
                <a:solidFill>
                  <a:srgbClr val="FF7A1A"/>
                </a:solidFill>
                <a:latin typeface="Oswald"/>
                <a:ea typeface="Roboto"/>
                <a:cs typeface="Roboto"/>
              </a:rPr>
              <a:t>MAX CONTROL</a:t>
            </a:r>
          </a:p>
        </p:txBody>
      </p:sp>
      <p:sp>
        <p:nvSpPr>
          <p:cNvPr id="33" name="Prostokąt 32">
            <a:extLst>
              <a:ext uri="{FF2B5EF4-FFF2-40B4-BE49-F238E27FC236}">
                <a16:creationId xmlns:a16="http://schemas.microsoft.com/office/drawing/2014/main" id="{905242E2-CC00-49E7-BC46-EE7D1BF06093}"/>
              </a:ext>
            </a:extLst>
          </p:cNvPr>
          <p:cNvSpPr>
            <a:spLocks noGrp="1"/>
          </p:cNvSpPr>
          <p:nvPr/>
        </p:nvSpPr>
        <p:spPr>
          <a:xfrm>
            <a:off x="9202773" y="5377100"/>
            <a:ext cx="2343150" cy="285750"/>
          </a:xfrm>
          <a:prstGeom prst="rect">
            <a:avLst/>
          </a:prstGeom>
          <a:noFill/>
          <a:ln w="0">
            <a:noFill/>
          </a:ln>
        </p:spPr>
        <p:txBody>
          <a:bodyPr anchor="ctr">
            <a:noAutofit/>
          </a:bodyPr>
          <a:lstStyle/>
          <a:p>
            <a:pPr algn="l">
              <a:defRPr sz="1275" b="1">
                <a:solidFill>
                  <a:srgbClr val="F7F5F1"/>
                </a:solidFill>
                <a:latin typeface="Roboto"/>
                <a:ea typeface="Roboto"/>
                <a:cs typeface="Roboto"/>
              </a:defRPr>
            </a:pPr>
            <a:r>
              <a:rPr sz="1400" b="1">
                <a:solidFill>
                  <a:srgbClr val="F7F5F1"/>
                </a:solidFill>
                <a:latin typeface="Oswald"/>
                <a:ea typeface="Roboto"/>
                <a:cs typeface="Roboto"/>
              </a:rPr>
              <a:t>AKS</a:t>
            </a:r>
          </a:p>
        </p:txBody>
      </p:sp>
      <p:sp>
        <p:nvSpPr>
          <p:cNvPr id="34" name="Prostokąt 33">
            <a:extLst>
              <a:ext uri="{FF2B5EF4-FFF2-40B4-BE49-F238E27FC236}">
                <a16:creationId xmlns:a16="http://schemas.microsoft.com/office/drawing/2014/main" id="{BBAE7D1E-6378-46CF-8DF6-FF9351ED0717}"/>
              </a:ext>
            </a:extLst>
          </p:cNvPr>
          <p:cNvSpPr>
            <a:spLocks noGrp="1"/>
          </p:cNvSpPr>
          <p:nvPr/>
        </p:nvSpPr>
        <p:spPr>
          <a:xfrm>
            <a:off x="9202773" y="5710475"/>
            <a:ext cx="2343150" cy="438150"/>
          </a:xfrm>
          <a:prstGeom prst="rect">
            <a:avLst/>
          </a:prstGeom>
          <a:noFill/>
          <a:ln w="0">
            <a:noFill/>
          </a:ln>
        </p:spPr>
        <p:txBody>
          <a:bodyPr anchor="t">
            <a:noAutofit/>
          </a:bodyPr>
          <a:lstStyle/>
          <a:p>
            <a:pPr algn="l">
              <a:defRPr sz="863" b="0">
                <a:solidFill>
                  <a:srgbClr val="CED7D9"/>
                </a:solidFill>
                <a:latin typeface="Roboto"/>
                <a:ea typeface="Roboto"/>
                <a:cs typeface="Roboto"/>
              </a:defRPr>
            </a:pPr>
            <a:r>
              <a:rPr sz="1100" b="0">
                <a:solidFill>
                  <a:srgbClr val="CED7D9"/>
                </a:solidFill>
                <a:latin typeface="Oswald"/>
                <a:ea typeface="Roboto"/>
                <a:cs typeface="Roboto"/>
              </a:rPr>
              <a:t>Kubernetes already exists and the team operates it</a:t>
            </a:r>
          </a:p>
        </p:txBody>
      </p:sp>
      <p:sp>
        <p:nvSpPr>
          <p:cNvPr id="36" name="Title 35">
            <a:extLst>
              <a:ext uri="{FF2B5EF4-FFF2-40B4-BE49-F238E27FC236}">
                <a16:creationId xmlns:a16="http://schemas.microsoft.com/office/drawing/2014/main" id="{A8C275A2-EBEB-094F-05CE-C5182B28DA9E}"/>
              </a:ext>
            </a:extLst>
          </p:cNvPr>
          <p:cNvSpPr>
            <a:spLocks noGrp="1"/>
          </p:cNvSpPr>
          <p:nvPr>
            <p:ph type="title"/>
          </p:nvPr>
        </p:nvSpPr>
        <p:spPr/>
        <p:txBody>
          <a:bodyPr/>
          <a:lstStyle/>
          <a:p>
            <a:r>
              <a:rPr lang="en-US">
                <a:latin typeface="Oswald"/>
              </a:rPr>
              <a:t>Where to run a custom MCP server</a:t>
            </a:r>
          </a:p>
        </p:txBody>
      </p:sp>
    </p:spTree>
    <p:extLst>
      <p:ext uri="{BB962C8B-B14F-4D97-AF65-F5344CB8AC3E}">
        <p14:creationId xmlns:p14="http://schemas.microsoft.com/office/powerpoint/2010/main" val="2898131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0A65-80CF-8B81-8A4F-6ED5DDC965E6}"/>
            </a:ext>
          </a:extLst>
        </p:cNvPr>
        <p:cNvGrpSpPr/>
        <p:nvPr/>
      </p:nvGrpSpPr>
      <p:grpSpPr>
        <a:xfrm>
          <a:off x="0" y="0"/>
          <a:ext cx="0" cy="0"/>
          <a:chOff x="0" y="0"/>
          <a:chExt cx="0" cy="0"/>
        </a:xfrm>
      </p:grpSpPr>
      <p:sp>
        <p:nvSpPr>
          <p:cNvPr id="3" name="pole tekstowe 2">
            <a:extLst>
              <a:ext uri="{FF2B5EF4-FFF2-40B4-BE49-F238E27FC236}">
                <a16:creationId xmlns:a16="http://schemas.microsoft.com/office/drawing/2014/main" id="{FF592864-FD09-754D-411D-5F313F3A59C6}"/>
              </a:ext>
            </a:extLst>
          </p:cNvPr>
          <p:cNvSpPr txBox="1"/>
          <p:nvPr/>
        </p:nvSpPr>
        <p:spPr>
          <a:xfrm>
            <a:off x="1244172" y="1711818"/>
            <a:ext cx="925724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Oswald"/>
                <a:ea typeface="Roboto"/>
                <a:cs typeface="Roboto"/>
              </a:rPr>
              <a:t>Same model. Same questions. Same </a:t>
            </a:r>
            <a:r>
              <a:rPr lang="en-US" sz="1600" b="0" i="0" u="none" strike="noStrike">
                <a:latin typeface="Oswald"/>
                <a:ea typeface="Roboto"/>
                <a:cs typeface="Roboto"/>
              </a:rPr>
              <a:t>database.</a:t>
            </a:r>
            <a:r>
              <a:rPr lang="en-US" sz="1600" b="0" i="0" u="none" strike="noStrike">
                <a:solidFill>
                  <a:srgbClr val="E5E0DF"/>
                </a:solidFill>
                <a:latin typeface="Oswald"/>
                <a:ea typeface="Roboto"/>
                <a:cs typeface="Roboto"/>
              </a:rPr>
              <a:t> </a:t>
            </a:r>
            <a:r>
              <a:rPr lang="en-US" sz="1600">
                <a:solidFill>
                  <a:srgbClr val="FFC000"/>
                </a:solidFill>
                <a:latin typeface="Oswald"/>
                <a:ea typeface="Roboto"/>
                <a:cs typeface="Roboto"/>
              </a:rPr>
              <a:t>Different access pattern</a:t>
            </a:r>
            <a:r>
              <a:rPr lang="en-US" sz="1600" b="0" i="0" u="none" strike="noStrike">
                <a:solidFill>
                  <a:srgbClr val="FFC000"/>
                </a:solidFill>
                <a:latin typeface="Oswald"/>
                <a:ea typeface="Roboto"/>
                <a:cs typeface="Roboto"/>
              </a:rPr>
              <a:t>.</a:t>
            </a:r>
            <a:endParaRPr lang="pl-PL" sz="1600">
              <a:solidFill>
                <a:srgbClr val="E5E0DF"/>
              </a:solidFill>
              <a:latin typeface="Oswald"/>
            </a:endParaRPr>
          </a:p>
          <a:p>
            <a:br>
              <a:rPr lang="en-US"/>
            </a:br>
            <a:endParaRPr lang="en-US"/>
          </a:p>
        </p:txBody>
      </p:sp>
      <p:sp>
        <p:nvSpPr>
          <p:cNvPr id="9" name="Shape 4">
            <a:extLst>
              <a:ext uri="{FF2B5EF4-FFF2-40B4-BE49-F238E27FC236}">
                <a16:creationId xmlns:a16="http://schemas.microsoft.com/office/drawing/2014/main" id="{BACC0247-0057-541B-1591-2A30647C8E1E}"/>
              </a:ext>
            </a:extLst>
          </p:cNvPr>
          <p:cNvSpPr/>
          <p:nvPr/>
        </p:nvSpPr>
        <p:spPr>
          <a:xfrm>
            <a:off x="6098360" y="2529846"/>
            <a:ext cx="4652025" cy="2137138"/>
          </a:xfrm>
          <a:prstGeom prst="roundRect">
            <a:avLst>
              <a:gd name="adj" fmla="val 7467"/>
            </a:avLst>
          </a:prstGeom>
          <a:solidFill>
            <a:srgbClr val="475C66"/>
          </a:solidFill>
          <a:ln w="30480">
            <a:solidFill>
              <a:srgbClr val="975C1B"/>
            </a:solidFill>
            <a:prstDash val="solid"/>
          </a:ln>
        </p:spPr>
        <p:txBody>
          <a:bodyPr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pl-PL" sz="2000">
              <a:solidFill>
                <a:srgbClr val="FFC000"/>
              </a:solidFill>
              <a:latin typeface="Oswald"/>
              <a:ea typeface="+mn-lt"/>
              <a:cs typeface="+mn-lt"/>
            </a:endParaRPr>
          </a:p>
          <a:p>
            <a:r>
              <a:rPr lang="pl-PL" sz="2000">
                <a:solidFill>
                  <a:srgbClr val="FFC000"/>
                </a:solidFill>
                <a:latin typeface="Oswald"/>
                <a:ea typeface="+mn-lt"/>
                <a:cs typeface="+mn-lt"/>
              </a:rPr>
              <a:t>MCP</a:t>
            </a:r>
            <a:r>
              <a:rPr lang="pl-PL" sz="2000">
                <a:solidFill>
                  <a:srgbClr val="FFC000"/>
                </a:solidFill>
                <a:latin typeface="Oswald"/>
                <a:ea typeface="Roboto"/>
                <a:cs typeface="Roboto"/>
              </a:rPr>
              <a:t> Agent</a:t>
            </a:r>
            <a:endParaRPr lang="pl-PL" sz="2000">
              <a:solidFill>
                <a:srgbClr val="FFC000"/>
              </a:solidFill>
            </a:endParaRPr>
          </a:p>
          <a:p>
            <a:br>
              <a:rPr lang="en-US"/>
            </a:br>
            <a:r>
              <a:rPr lang="en-US" sz="1200">
                <a:solidFill>
                  <a:schemeClr val="bg1"/>
                </a:solidFill>
                <a:latin typeface="Oswald"/>
                <a:ea typeface="Roboto"/>
                <a:cs typeface="Roboto"/>
              </a:rPr>
              <a:t>LLM + MCP toolkit with business rules + validation</a:t>
            </a:r>
          </a:p>
          <a:p>
            <a:endParaRPr lang="en-US" sz="1200">
              <a:solidFill>
                <a:schemeClr val="bg1"/>
              </a:solidFill>
              <a:latin typeface="Oswald"/>
              <a:ea typeface="Roboto"/>
              <a:cs typeface="Roboto"/>
            </a:endParaRPr>
          </a:p>
          <a:p>
            <a:endParaRPr lang="en-US" sz="1200">
              <a:solidFill>
                <a:schemeClr val="bg1"/>
              </a:solidFill>
              <a:latin typeface="Oswald"/>
              <a:ea typeface="Roboto"/>
              <a:cs typeface="Roboto"/>
            </a:endParaRPr>
          </a:p>
          <a:p>
            <a:r>
              <a:rPr lang="en-US" sz="1200" b="1">
                <a:solidFill>
                  <a:srgbClr val="FFC000"/>
                </a:solidFill>
                <a:latin typeface="Oswald"/>
                <a:ea typeface="Roboto"/>
                <a:cs typeface="Roboto"/>
              </a:rPr>
              <a:t>Expected behavior:</a:t>
            </a:r>
            <a:r>
              <a:rPr lang="en-US" sz="1200">
                <a:solidFill>
                  <a:schemeClr val="bg1"/>
                </a:solidFill>
                <a:latin typeface="Oswald"/>
                <a:ea typeface="Roboto"/>
                <a:cs typeface="Roboto"/>
              </a:rPr>
              <a:t> Uses the right tool, explains the source and assumptions.</a:t>
            </a:r>
            <a:endParaRPr lang="en-US" sz="1200">
              <a:solidFill>
                <a:schemeClr val="bg1"/>
              </a:solidFill>
              <a:latin typeface="Oswald"/>
            </a:endParaRPr>
          </a:p>
          <a:p>
            <a:br>
              <a:rPr lang="en-US"/>
            </a:br>
            <a:endParaRPr lang="en-US"/>
          </a:p>
        </p:txBody>
      </p:sp>
      <p:sp>
        <p:nvSpPr>
          <p:cNvPr id="11" name="Shape 4">
            <a:extLst>
              <a:ext uri="{FF2B5EF4-FFF2-40B4-BE49-F238E27FC236}">
                <a16:creationId xmlns:a16="http://schemas.microsoft.com/office/drawing/2014/main" id="{B571AE9D-634E-FD73-4C4F-175990224D1C}"/>
              </a:ext>
            </a:extLst>
          </p:cNvPr>
          <p:cNvSpPr/>
          <p:nvPr/>
        </p:nvSpPr>
        <p:spPr>
          <a:xfrm>
            <a:off x="998040" y="2529846"/>
            <a:ext cx="4519945" cy="2137138"/>
          </a:xfrm>
          <a:prstGeom prst="roundRect">
            <a:avLst>
              <a:gd name="adj" fmla="val 7467"/>
            </a:avLst>
          </a:prstGeom>
          <a:solidFill>
            <a:srgbClr val="475C66"/>
          </a:solidFill>
          <a:ln w="30480">
            <a:solidFill>
              <a:srgbClr val="975C1B"/>
            </a:solidFill>
            <a:prstDash val="solid"/>
          </a:ln>
        </p:spPr>
        <p:txBody>
          <a:bodyPr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pl-PL" sz="2000">
              <a:solidFill>
                <a:srgbClr val="FFC000"/>
              </a:solidFill>
              <a:latin typeface="Oswald"/>
              <a:ea typeface="+mn-lt"/>
              <a:cs typeface="+mn-lt"/>
            </a:endParaRPr>
          </a:p>
          <a:p>
            <a:r>
              <a:rPr lang="pl-PL" sz="2000">
                <a:solidFill>
                  <a:srgbClr val="FFC000"/>
                </a:solidFill>
                <a:latin typeface="Oswald"/>
                <a:ea typeface="+mn-lt"/>
                <a:cs typeface="+mn-lt"/>
              </a:rPr>
              <a:t>Baseline Agent</a:t>
            </a:r>
            <a:endParaRPr lang="pl-PL" sz="2000">
              <a:solidFill>
                <a:srgbClr val="FFC000"/>
              </a:solidFill>
            </a:endParaRPr>
          </a:p>
          <a:p>
            <a:br>
              <a:rPr lang="en-US">
                <a:solidFill>
                  <a:schemeClr val="bg1"/>
                </a:solidFill>
              </a:rPr>
            </a:br>
            <a:r>
              <a:rPr lang="en-US" sz="1200">
                <a:solidFill>
                  <a:schemeClr val="bg1"/>
                </a:solidFill>
                <a:latin typeface="Oswald"/>
                <a:ea typeface="Roboto"/>
                <a:cs typeface="Roboto"/>
              </a:rPr>
              <a:t>LLM + generic DB access + schema description</a:t>
            </a:r>
            <a:endParaRPr lang="en-US" sz="1200">
              <a:solidFill>
                <a:schemeClr val="bg1"/>
              </a:solidFill>
              <a:latin typeface="Oswald"/>
            </a:endParaRPr>
          </a:p>
          <a:p>
            <a:endParaRPr lang="en-US" sz="1200">
              <a:solidFill>
                <a:srgbClr val="E5E0DF"/>
              </a:solidFill>
              <a:latin typeface="Oswald"/>
              <a:ea typeface="Roboto"/>
              <a:cs typeface="Roboto"/>
            </a:endParaRPr>
          </a:p>
          <a:p>
            <a:endParaRPr lang="en-US" sz="1200">
              <a:solidFill>
                <a:srgbClr val="E5E0DF"/>
              </a:solidFill>
              <a:latin typeface="Oswald"/>
              <a:ea typeface="Roboto"/>
              <a:cs typeface="Roboto"/>
            </a:endParaRPr>
          </a:p>
          <a:p>
            <a:r>
              <a:rPr lang="en-US" sz="1200" b="1">
                <a:solidFill>
                  <a:srgbClr val="FFC000"/>
                </a:solidFill>
                <a:latin typeface="Oswald"/>
                <a:ea typeface="Roboto"/>
                <a:cs typeface="Roboto"/>
              </a:rPr>
              <a:t>Expected risk:</a:t>
            </a:r>
            <a:r>
              <a:rPr lang="en-US" sz="1200">
                <a:solidFill>
                  <a:srgbClr val="E5E0DF"/>
                </a:solidFill>
                <a:latin typeface="Oswald"/>
                <a:ea typeface="Roboto"/>
                <a:cs typeface="Roboto"/>
              </a:rPr>
              <a:t> </a:t>
            </a:r>
            <a:r>
              <a:rPr lang="en-US" sz="1200">
                <a:solidFill>
                  <a:schemeClr val="bg1"/>
                </a:solidFill>
                <a:latin typeface="Oswald"/>
                <a:ea typeface="Roboto"/>
                <a:cs typeface="Roboto"/>
              </a:rPr>
              <a:t>Good-looking SQL, but the wrong definition or source.</a:t>
            </a:r>
            <a:endParaRPr lang="en-US" sz="1200">
              <a:solidFill>
                <a:schemeClr val="bg1"/>
              </a:solidFill>
              <a:latin typeface="Oswald"/>
            </a:endParaRPr>
          </a:p>
          <a:p>
            <a:br>
              <a:rPr lang="en-US"/>
            </a:br>
            <a:endParaRPr lang="en-US"/>
          </a:p>
        </p:txBody>
      </p:sp>
      <p:sp>
        <p:nvSpPr>
          <p:cNvPr id="13" name="Shape 22">
            <a:extLst>
              <a:ext uri="{FF2B5EF4-FFF2-40B4-BE49-F238E27FC236}">
                <a16:creationId xmlns:a16="http://schemas.microsoft.com/office/drawing/2014/main" id="{103020F6-C447-D509-0833-ED317807D4BE}"/>
              </a:ext>
            </a:extLst>
          </p:cNvPr>
          <p:cNvSpPr/>
          <p:nvPr/>
        </p:nvSpPr>
        <p:spPr>
          <a:xfrm>
            <a:off x="2787970" y="4986985"/>
            <a:ext cx="6619327" cy="745956"/>
          </a:xfrm>
          <a:prstGeom prst="roundRect">
            <a:avLst>
              <a:gd name="adj" fmla="val 35660"/>
            </a:avLst>
          </a:prstGeom>
          <a:solidFill>
            <a:srgbClr val="483304"/>
          </a:solidFill>
          <a:ln/>
        </p:spPr>
        <p:txBody>
          <a:bodyPr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l-PL" sz="1200">
                <a:solidFill>
                  <a:srgbClr val="FFFFFF"/>
                </a:solidFill>
                <a:latin typeface="Oswald"/>
                <a:ea typeface="Roboto"/>
                <a:cs typeface="Roboto"/>
              </a:rPr>
              <a:t>Test </a:t>
            </a:r>
            <a:r>
              <a:rPr lang="pl-PL" sz="1200" err="1">
                <a:solidFill>
                  <a:srgbClr val="FFFFFF"/>
                </a:solidFill>
                <a:latin typeface="Oswald"/>
                <a:ea typeface="Roboto"/>
                <a:cs typeface="Roboto"/>
              </a:rPr>
              <a:t>both</a:t>
            </a:r>
            <a:r>
              <a:rPr lang="pl-PL" sz="1200">
                <a:solidFill>
                  <a:srgbClr val="FFFFFF"/>
                </a:solidFill>
                <a:latin typeface="Oswald"/>
                <a:ea typeface="Roboto"/>
                <a:cs typeface="Roboto"/>
              </a:rPr>
              <a:t> with the same benchmark </a:t>
            </a:r>
            <a:r>
              <a:rPr lang="pl-PL" sz="1200" err="1">
                <a:solidFill>
                  <a:srgbClr val="FFFFFF"/>
                </a:solidFill>
                <a:latin typeface="Oswald"/>
                <a:ea typeface="Roboto"/>
                <a:cs typeface="Roboto"/>
              </a:rPr>
              <a:t>questions</a:t>
            </a:r>
            <a:r>
              <a:rPr lang="pl-PL" sz="1200">
                <a:solidFill>
                  <a:srgbClr val="FFFFFF"/>
                </a:solidFill>
                <a:latin typeface="Oswald"/>
                <a:ea typeface="Roboto"/>
                <a:cs typeface="Roboto"/>
              </a:rPr>
              <a:t> and </a:t>
            </a:r>
            <a:r>
              <a:rPr lang="pl-PL" sz="1200" err="1">
                <a:solidFill>
                  <a:srgbClr val="FFFFFF"/>
                </a:solidFill>
                <a:latin typeface="Oswald"/>
                <a:ea typeface="Roboto"/>
                <a:cs typeface="Roboto"/>
              </a:rPr>
              <a:t>gold</a:t>
            </a:r>
            <a:r>
              <a:rPr lang="pl-PL" sz="1200">
                <a:solidFill>
                  <a:srgbClr val="FFFFFF"/>
                </a:solidFill>
                <a:latin typeface="Oswald"/>
                <a:ea typeface="Roboto"/>
                <a:cs typeface="Roboto"/>
              </a:rPr>
              <a:t> SQL / </a:t>
            </a:r>
            <a:r>
              <a:rPr lang="pl-PL" sz="1200" err="1">
                <a:solidFill>
                  <a:srgbClr val="FFFFFF"/>
                </a:solidFill>
                <a:latin typeface="Oswald"/>
                <a:ea typeface="Roboto"/>
                <a:cs typeface="Roboto"/>
              </a:rPr>
              <a:t>expected</a:t>
            </a:r>
            <a:r>
              <a:rPr lang="pl-PL" sz="1200">
                <a:solidFill>
                  <a:srgbClr val="FFFFFF"/>
                </a:solidFill>
                <a:latin typeface="Oswald"/>
                <a:ea typeface="Roboto"/>
                <a:cs typeface="Roboto"/>
              </a:rPr>
              <a:t> </a:t>
            </a:r>
            <a:r>
              <a:rPr lang="pl-PL" sz="1200" err="1">
                <a:solidFill>
                  <a:srgbClr val="FFFFFF"/>
                </a:solidFill>
                <a:latin typeface="Oswald"/>
                <a:ea typeface="Roboto"/>
                <a:cs typeface="Roboto"/>
              </a:rPr>
              <a:t>results</a:t>
            </a:r>
            <a:r>
              <a:rPr lang="pl-PL" sz="1200" i="0" u="none" strike="noStrike">
                <a:solidFill>
                  <a:srgbClr val="FFFFFF"/>
                </a:solidFill>
                <a:latin typeface="Oswald"/>
                <a:ea typeface="Roboto"/>
                <a:cs typeface="Roboto"/>
              </a:rPr>
              <a:t>.</a:t>
            </a:r>
            <a:endParaRPr lang="pl-PL" sz="1200">
              <a:latin typeface="Oswald"/>
            </a:endParaRPr>
          </a:p>
        </p:txBody>
      </p:sp>
      <p:pic>
        <p:nvPicPr>
          <p:cNvPr id="15" name="Image 0" descr="Obraz zawierający logo, symbol, design&#10;&#10;Zawartość wygenerowana przez AI może być niepoprawna.">
            <a:extLst>
              <a:ext uri="{FF2B5EF4-FFF2-40B4-BE49-F238E27FC236}">
                <a16:creationId xmlns:a16="http://schemas.microsoft.com/office/drawing/2014/main" id="{6B947CAA-0EF4-C3E5-2BC7-CAE9D55D6DAB}"/>
              </a:ext>
            </a:extLst>
          </p:cNvPr>
          <p:cNvPicPr>
            <a:picLocks noChangeAspect="1"/>
          </p:cNvPicPr>
          <p:nvPr/>
        </p:nvPicPr>
        <p:blipFill>
          <a:blip r:embed="rId2"/>
          <a:stretch>
            <a:fillRect/>
          </a:stretch>
        </p:blipFill>
        <p:spPr>
          <a:xfrm>
            <a:off x="3256044" y="5257976"/>
            <a:ext cx="245368" cy="196354"/>
          </a:xfrm>
          <a:prstGeom prst="rect">
            <a:avLst/>
          </a:prstGeom>
        </p:spPr>
      </p:pic>
      <p:sp>
        <p:nvSpPr>
          <p:cNvPr id="4" name="Title 3">
            <a:extLst>
              <a:ext uri="{FF2B5EF4-FFF2-40B4-BE49-F238E27FC236}">
                <a16:creationId xmlns:a16="http://schemas.microsoft.com/office/drawing/2014/main" id="{489BB775-3376-1911-7D86-D362C3B25876}"/>
              </a:ext>
            </a:extLst>
          </p:cNvPr>
          <p:cNvSpPr>
            <a:spLocks noGrp="1"/>
          </p:cNvSpPr>
          <p:nvPr>
            <p:ph type="title"/>
          </p:nvPr>
        </p:nvSpPr>
        <p:spPr/>
        <p:txBody>
          <a:bodyPr/>
          <a:lstStyle/>
          <a:p>
            <a:r>
              <a:rPr lang="en-US"/>
              <a:t>The Challenge: Agent vs. Agent + MCP </a:t>
            </a:r>
          </a:p>
        </p:txBody>
      </p:sp>
    </p:spTree>
    <p:extLst>
      <p:ext uri="{BB962C8B-B14F-4D97-AF65-F5344CB8AC3E}">
        <p14:creationId xmlns:p14="http://schemas.microsoft.com/office/powerpoint/2010/main" val="2944753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7404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lide-subtitle">
            <a:extLst>
              <a:ext uri="{FF2B5EF4-FFF2-40B4-BE49-F238E27FC236}">
                <a16:creationId xmlns:a16="http://schemas.microsoft.com/office/drawing/2014/main" id="{FB00129B-71C0-4DBA-A855-8A5CDE48A5E8}"/>
              </a:ext>
            </a:extLst>
          </p:cNvPr>
          <p:cNvSpPr>
            <a:spLocks noGrp="1"/>
          </p:cNvSpPr>
          <p:nvPr/>
        </p:nvSpPr>
        <p:spPr>
          <a:xfrm>
            <a:off x="922918" y="1728129"/>
            <a:ext cx="10096500" cy="590550"/>
          </a:xfrm>
          <a:prstGeom prst="rect">
            <a:avLst/>
          </a:prstGeom>
          <a:noFill/>
          <a:ln w="0">
            <a:noFill/>
          </a:ln>
        </p:spPr>
        <p:txBody>
          <a:bodyPr lIns="91440" tIns="45720" rIns="91440" bIns="45720" anchor="t">
            <a:normAutofit/>
          </a:bodyPr>
          <a:lstStyle/>
          <a:p>
            <a:pPr algn="ctr">
              <a:defRPr sz="1200" b="0">
                <a:solidFill>
                  <a:srgbClr val="CED7D9"/>
                </a:solidFill>
                <a:latin typeface="Roboto"/>
                <a:ea typeface="Roboto"/>
                <a:cs typeface="Roboto"/>
              </a:defRPr>
            </a:pPr>
            <a:r>
              <a:rPr sz="1400" b="0" dirty="0">
                <a:solidFill>
                  <a:srgbClr val="000000"/>
                </a:solidFill>
                <a:latin typeface="Oswald"/>
                <a:ea typeface="Roboto"/>
                <a:cs typeface="Roboto"/>
              </a:rPr>
              <a:t>The protocol helps when several agents or clients need the same governed capability. A single local function call may need nothing more.</a:t>
            </a:r>
            <a:endParaRPr lang="en-US" sz="1400" b="0" dirty="0">
              <a:solidFill>
                <a:srgbClr val="000000"/>
              </a:solidFill>
              <a:latin typeface="Oswald"/>
              <a:ea typeface="Roboto"/>
              <a:cs typeface="Roboto"/>
            </a:endParaRPr>
          </a:p>
        </p:txBody>
      </p:sp>
      <p:sp>
        <p:nvSpPr>
          <p:cNvPr id="170" name="Prostokąt: zaokrąglone rogi 169">
            <a:extLst>
              <a:ext uri="{FF2B5EF4-FFF2-40B4-BE49-F238E27FC236}">
                <a16:creationId xmlns:a16="http://schemas.microsoft.com/office/drawing/2014/main" id="{2232B6BB-A333-4F23-9EDD-CE6C912166BB}"/>
              </a:ext>
            </a:extLst>
          </p:cNvPr>
          <p:cNvSpPr>
            <a:spLocks noGrp="1"/>
          </p:cNvSpPr>
          <p:nvPr/>
        </p:nvSpPr>
        <p:spPr>
          <a:xfrm>
            <a:off x="913393" y="2661579"/>
            <a:ext cx="4762500" cy="2857500"/>
          </a:xfrm>
          <a:prstGeom prst="roundRect">
            <a:avLst>
              <a:gd name="adj" fmla="val 3333"/>
            </a:avLst>
          </a:prstGeom>
          <a:solidFill>
            <a:srgbClr val="365B65"/>
          </a:solidFill>
          <a:ln w="13335">
            <a:solidFill>
              <a:srgbClr val="FFC400"/>
            </a:solidFill>
            <a:prstDash val="solid"/>
          </a:ln>
        </p:spPr>
        <p:txBody>
          <a:bodyPr/>
          <a:lstStyle/>
          <a:p>
            <a:endParaRPr lang="pl-PL">
              <a:latin typeface="Oswald"/>
            </a:endParaRPr>
          </a:p>
        </p:txBody>
      </p:sp>
      <p:sp>
        <p:nvSpPr>
          <p:cNvPr id="171" name="Prostokąt 170">
            <a:extLst>
              <a:ext uri="{FF2B5EF4-FFF2-40B4-BE49-F238E27FC236}">
                <a16:creationId xmlns:a16="http://schemas.microsoft.com/office/drawing/2014/main" id="{24DB2FB5-FC96-4875-97AF-A8214DA14014}"/>
              </a:ext>
            </a:extLst>
          </p:cNvPr>
          <p:cNvSpPr>
            <a:spLocks noGrp="1"/>
          </p:cNvSpPr>
          <p:nvPr/>
        </p:nvSpPr>
        <p:spPr>
          <a:xfrm>
            <a:off x="1084843" y="2775879"/>
            <a:ext cx="4419600" cy="333375"/>
          </a:xfrm>
          <a:prstGeom prst="rect">
            <a:avLst/>
          </a:prstGeom>
          <a:noFill/>
          <a:ln w="0">
            <a:noFill/>
          </a:ln>
        </p:spPr>
        <p:txBody>
          <a:bodyPr anchor="t">
            <a:normAutofit fontScale="96212" lnSpcReduction="10000"/>
          </a:bodyPr>
          <a:lstStyle/>
          <a:p>
            <a:pPr algn="l">
              <a:defRPr sz="1650" b="1">
                <a:solidFill>
                  <a:srgbClr val="FFC400"/>
                </a:solidFill>
                <a:latin typeface="Roboto"/>
                <a:ea typeface="Roboto"/>
                <a:cs typeface="Roboto"/>
              </a:defRPr>
            </a:pPr>
            <a:r>
              <a:rPr sz="1650" b="1">
                <a:solidFill>
                  <a:srgbClr val="FFC400"/>
                </a:solidFill>
                <a:latin typeface="Oswald"/>
                <a:ea typeface="Roboto"/>
                <a:cs typeface="Roboto"/>
              </a:rPr>
              <a:t>Use MCP when</a:t>
            </a:r>
          </a:p>
        </p:txBody>
      </p:sp>
      <p:sp>
        <p:nvSpPr>
          <p:cNvPr id="172" name="Prostokąt 171">
            <a:extLst>
              <a:ext uri="{FF2B5EF4-FFF2-40B4-BE49-F238E27FC236}">
                <a16:creationId xmlns:a16="http://schemas.microsoft.com/office/drawing/2014/main" id="{B6312B44-B6E7-49F7-A78E-5C77AE49651B}"/>
              </a:ext>
            </a:extLst>
          </p:cNvPr>
          <p:cNvSpPr>
            <a:spLocks noGrp="1"/>
          </p:cNvSpPr>
          <p:nvPr/>
        </p:nvSpPr>
        <p:spPr>
          <a:xfrm>
            <a:off x="1084843" y="3290229"/>
            <a:ext cx="4419600" cy="2114550"/>
          </a:xfrm>
          <a:prstGeom prst="rect">
            <a:avLst/>
          </a:prstGeom>
          <a:noFill/>
          <a:ln w="0">
            <a:noFill/>
          </a:ln>
        </p:spPr>
        <p:txBody>
          <a:bodyPr anchor="t">
            <a:normAutofit/>
          </a:bodyPr>
          <a:lstStyle/>
          <a:p>
            <a:pPr algn="l">
              <a:defRPr sz="1200" b="0">
                <a:solidFill>
                  <a:srgbClr val="F7F5F1"/>
                </a:solidFill>
                <a:latin typeface="Roboto"/>
                <a:ea typeface="Roboto"/>
                <a:cs typeface="Roboto"/>
              </a:defRPr>
            </a:pPr>
            <a:r>
              <a:rPr sz="1400" b="0">
                <a:solidFill>
                  <a:srgbClr val="F7F5F1"/>
                </a:solidFill>
                <a:latin typeface="Oswald"/>
                <a:ea typeface="Roboto"/>
                <a:cs typeface="Roboto"/>
              </a:rPr>
              <a:t>Multiple clients need the same tools</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Business rules must live outside prompts</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Access needs identity, scope, and audit</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Teams need discoverable capabilities</a:t>
            </a:r>
          </a:p>
        </p:txBody>
      </p:sp>
      <p:sp>
        <p:nvSpPr>
          <p:cNvPr id="173" name="Prostokąt: zaokrąglone rogi 172">
            <a:extLst>
              <a:ext uri="{FF2B5EF4-FFF2-40B4-BE49-F238E27FC236}">
                <a16:creationId xmlns:a16="http://schemas.microsoft.com/office/drawing/2014/main" id="{4D329D9C-470E-4A13-94E8-78146D459390}"/>
              </a:ext>
            </a:extLst>
          </p:cNvPr>
          <p:cNvSpPr>
            <a:spLocks noGrp="1"/>
          </p:cNvSpPr>
          <p:nvPr/>
        </p:nvSpPr>
        <p:spPr>
          <a:xfrm>
            <a:off x="6342643" y="2661579"/>
            <a:ext cx="4762500" cy="2857500"/>
          </a:xfrm>
          <a:prstGeom prst="roundRect">
            <a:avLst>
              <a:gd name="adj" fmla="val 3333"/>
            </a:avLst>
          </a:prstGeom>
          <a:solidFill>
            <a:srgbClr val="4A5559"/>
          </a:solidFill>
          <a:ln w="13335">
            <a:solidFill>
              <a:srgbClr val="FF7A1A"/>
            </a:solidFill>
            <a:prstDash val="solid"/>
          </a:ln>
        </p:spPr>
        <p:txBody>
          <a:bodyPr/>
          <a:lstStyle/>
          <a:p>
            <a:endParaRPr lang="pl-PL">
              <a:latin typeface="Oswald"/>
            </a:endParaRPr>
          </a:p>
        </p:txBody>
      </p:sp>
      <p:sp>
        <p:nvSpPr>
          <p:cNvPr id="174" name="Prostokąt 173">
            <a:extLst>
              <a:ext uri="{FF2B5EF4-FFF2-40B4-BE49-F238E27FC236}">
                <a16:creationId xmlns:a16="http://schemas.microsoft.com/office/drawing/2014/main" id="{1EF92D80-4D9F-46EF-A682-2436E46EE9D3}"/>
              </a:ext>
            </a:extLst>
          </p:cNvPr>
          <p:cNvSpPr>
            <a:spLocks noGrp="1"/>
          </p:cNvSpPr>
          <p:nvPr/>
        </p:nvSpPr>
        <p:spPr>
          <a:xfrm>
            <a:off x="6514093" y="2775879"/>
            <a:ext cx="4419600" cy="333375"/>
          </a:xfrm>
          <a:prstGeom prst="rect">
            <a:avLst/>
          </a:prstGeom>
          <a:noFill/>
          <a:ln w="0">
            <a:noFill/>
          </a:ln>
        </p:spPr>
        <p:txBody>
          <a:bodyPr anchor="t">
            <a:normAutofit fontScale="96212" lnSpcReduction="10000"/>
          </a:bodyPr>
          <a:lstStyle/>
          <a:p>
            <a:pPr algn="l">
              <a:defRPr sz="1650" b="1">
                <a:solidFill>
                  <a:srgbClr val="FFC400"/>
                </a:solidFill>
                <a:latin typeface="Roboto"/>
                <a:ea typeface="Roboto"/>
                <a:cs typeface="Roboto"/>
              </a:defRPr>
            </a:pPr>
            <a:r>
              <a:rPr sz="1650" b="1">
                <a:solidFill>
                  <a:srgbClr val="FFC400"/>
                </a:solidFill>
                <a:latin typeface="Oswald"/>
                <a:ea typeface="Roboto"/>
                <a:cs typeface="Roboto"/>
              </a:rPr>
              <a:t>Skip it for now when</a:t>
            </a:r>
          </a:p>
        </p:txBody>
      </p:sp>
      <p:sp>
        <p:nvSpPr>
          <p:cNvPr id="175" name="Prostokąt 174">
            <a:extLst>
              <a:ext uri="{FF2B5EF4-FFF2-40B4-BE49-F238E27FC236}">
                <a16:creationId xmlns:a16="http://schemas.microsoft.com/office/drawing/2014/main" id="{0F738C83-BB32-45B6-A12E-717DB9BF4C47}"/>
              </a:ext>
            </a:extLst>
          </p:cNvPr>
          <p:cNvSpPr>
            <a:spLocks noGrp="1"/>
          </p:cNvSpPr>
          <p:nvPr/>
        </p:nvSpPr>
        <p:spPr>
          <a:xfrm>
            <a:off x="6514093" y="3290229"/>
            <a:ext cx="4419600" cy="2114550"/>
          </a:xfrm>
          <a:prstGeom prst="rect">
            <a:avLst/>
          </a:prstGeom>
          <a:noFill/>
          <a:ln w="0">
            <a:noFill/>
          </a:ln>
        </p:spPr>
        <p:txBody>
          <a:bodyPr anchor="t">
            <a:normAutofit/>
          </a:bodyPr>
          <a:lstStyle/>
          <a:p>
            <a:pPr algn="l">
              <a:defRPr sz="1200" b="0">
                <a:solidFill>
                  <a:srgbClr val="F7F5F1"/>
                </a:solidFill>
                <a:latin typeface="Roboto"/>
                <a:ea typeface="Roboto"/>
                <a:cs typeface="Roboto"/>
              </a:defRPr>
            </a:pPr>
            <a:r>
              <a:rPr sz="1400" b="0">
                <a:solidFill>
                  <a:srgbClr val="F7F5F1"/>
                </a:solidFill>
                <a:latin typeface="Oswald"/>
                <a:ea typeface="Roboto"/>
                <a:cs typeface="Roboto"/>
              </a:rPr>
              <a:t>One application calls one internal function</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No capability will be reused</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The interface changes every day</a:t>
            </a:r>
          </a:p>
          <a:p>
            <a:pPr algn="l">
              <a:defRPr sz="1200" b="0">
                <a:solidFill>
                  <a:srgbClr val="F7F5F1"/>
                </a:solidFill>
                <a:latin typeface="Roboto"/>
                <a:ea typeface="Roboto"/>
                <a:cs typeface="Roboto"/>
              </a:defRPr>
            </a:pPr>
            <a:r>
              <a:rPr sz="1400" b="0">
                <a:solidFill>
                  <a:srgbClr val="F7F5F1"/>
                </a:solidFill>
                <a:latin typeface="Oswald"/>
                <a:ea typeface="Roboto"/>
                <a:cs typeface="Roboto"/>
              </a:rPr>
              <a:t>The team cannot yet operate another service</a:t>
            </a:r>
          </a:p>
        </p:txBody>
      </p:sp>
      <p:sp>
        <p:nvSpPr>
          <p:cNvPr id="176" name="Prostokąt: zaokrąglone rogi 175">
            <a:extLst>
              <a:ext uri="{FF2B5EF4-FFF2-40B4-BE49-F238E27FC236}">
                <a16:creationId xmlns:a16="http://schemas.microsoft.com/office/drawing/2014/main" id="{C182E777-E6B9-403B-84BE-F803E07BFF75}"/>
              </a:ext>
            </a:extLst>
          </p:cNvPr>
          <p:cNvSpPr>
            <a:spLocks noGrp="1"/>
          </p:cNvSpPr>
          <p:nvPr/>
        </p:nvSpPr>
        <p:spPr>
          <a:xfrm>
            <a:off x="2253105" y="5813112"/>
            <a:ext cx="7429500" cy="571500"/>
          </a:xfrm>
          <a:prstGeom prst="roundRect">
            <a:avLst>
              <a:gd name="adj" fmla="val 21667"/>
            </a:avLst>
          </a:prstGeom>
          <a:solidFill>
            <a:srgbClr val="624D08"/>
          </a:solidFill>
          <a:ln w="13335">
            <a:solidFill>
              <a:srgbClr val="FFC400"/>
            </a:solidFill>
            <a:prstDash val="solid"/>
          </a:ln>
        </p:spPr>
        <p:txBody>
          <a:bodyPr anchor="ctr">
            <a:normAutofit/>
          </a:bodyPr>
          <a:lstStyle/>
          <a:p>
            <a:pPr algn="ctr">
              <a:defRPr sz="1500" b="1">
                <a:solidFill>
                  <a:srgbClr val="FFC400"/>
                </a:solidFill>
                <a:latin typeface="Roboto"/>
                <a:ea typeface="Roboto"/>
                <a:cs typeface="Roboto"/>
              </a:defRPr>
            </a:pPr>
            <a:r>
              <a:rPr sz="1500" b="1">
                <a:solidFill>
                  <a:srgbClr val="FFC400"/>
                </a:solidFill>
                <a:latin typeface="Oswald"/>
                <a:ea typeface="Roboto"/>
                <a:cs typeface="Roboto"/>
              </a:rPr>
              <a:t>MCP does not create correctness. It gives us a place to engineer it.</a:t>
            </a:r>
          </a:p>
        </p:txBody>
      </p:sp>
      <p:sp>
        <p:nvSpPr>
          <p:cNvPr id="2" name="Title 1">
            <a:extLst>
              <a:ext uri="{FF2B5EF4-FFF2-40B4-BE49-F238E27FC236}">
                <a16:creationId xmlns:a16="http://schemas.microsoft.com/office/drawing/2014/main" id="{3E138EB7-F770-ECE5-3D44-8A61A080D11C}"/>
              </a:ext>
            </a:extLst>
          </p:cNvPr>
          <p:cNvSpPr>
            <a:spLocks noGrp="1"/>
          </p:cNvSpPr>
          <p:nvPr>
            <p:ph type="title"/>
          </p:nvPr>
        </p:nvSpPr>
        <p:spPr/>
        <p:txBody>
          <a:bodyPr/>
          <a:lstStyle/>
          <a:p>
            <a:r>
              <a:rPr lang="en-US" dirty="0"/>
              <a:t>When to use MCP </a:t>
            </a:r>
          </a:p>
        </p:txBody>
      </p:sp>
    </p:spTree>
    <p:extLst>
      <p:ext uri="{BB962C8B-B14F-4D97-AF65-F5344CB8AC3E}">
        <p14:creationId xmlns:p14="http://schemas.microsoft.com/office/powerpoint/2010/main" val="3075183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C4ED62F4-FF02-8033-B81D-87560AD48DB2}"/>
              </a:ext>
            </a:extLst>
          </p:cNvPr>
          <p:cNvSpPr txBox="1"/>
          <p:nvPr/>
        </p:nvSpPr>
        <p:spPr>
          <a:xfrm>
            <a:off x="1400783" y="1546698"/>
            <a:ext cx="184731" cy="369332"/>
          </a:xfrm>
          <a:prstGeom prst="rect">
            <a:avLst/>
          </a:prstGeom>
          <a:noFill/>
        </p:spPr>
        <p:txBody>
          <a:bodyPr wrap="none" rtlCol="0">
            <a:spAutoFit/>
          </a:bodyPr>
          <a:lstStyle/>
          <a:p>
            <a:endParaRPr lang="pl-PL"/>
          </a:p>
        </p:txBody>
      </p:sp>
      <p:sp>
        <p:nvSpPr>
          <p:cNvPr id="2" name="Title 1">
            <a:extLst>
              <a:ext uri="{FF2B5EF4-FFF2-40B4-BE49-F238E27FC236}">
                <a16:creationId xmlns:a16="http://schemas.microsoft.com/office/drawing/2014/main" id="{36B82959-16CF-1E71-4FAA-05617D6FC5D4}"/>
              </a:ext>
            </a:extLst>
          </p:cNvPr>
          <p:cNvSpPr>
            <a:spLocks noGrp="1"/>
          </p:cNvSpPr>
          <p:nvPr>
            <p:ph type="title"/>
          </p:nvPr>
        </p:nvSpPr>
        <p:spPr>
          <a:xfrm>
            <a:off x="838200" y="365125"/>
            <a:ext cx="8647545" cy="1325563"/>
          </a:xfrm>
        </p:spPr>
        <p:txBody>
          <a:bodyPr/>
          <a:lstStyle/>
          <a:p>
            <a:r>
              <a:rPr lang="pl-PL" dirty="0"/>
              <a:t>Demo link</a:t>
            </a:r>
            <a:endParaRPr lang="en-US" dirty="0"/>
          </a:p>
        </p:txBody>
      </p:sp>
      <p:pic>
        <p:nvPicPr>
          <p:cNvPr id="4" name="Obraz 3">
            <a:extLst>
              <a:ext uri="{FF2B5EF4-FFF2-40B4-BE49-F238E27FC236}">
                <a16:creationId xmlns:a16="http://schemas.microsoft.com/office/drawing/2014/main" id="{1E5D2FB8-4A7E-37FC-9051-2F32BF4A1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1217" y="1731364"/>
            <a:ext cx="4000000" cy="4000000"/>
          </a:xfrm>
          <a:prstGeom prst="rect">
            <a:avLst/>
          </a:prstGeom>
        </p:spPr>
      </p:pic>
      <p:sp>
        <p:nvSpPr>
          <p:cNvPr id="6" name="slide-subtitle">
            <a:extLst>
              <a:ext uri="{FF2B5EF4-FFF2-40B4-BE49-F238E27FC236}">
                <a16:creationId xmlns:a16="http://schemas.microsoft.com/office/drawing/2014/main" id="{D2C89954-5FEC-7AAB-A5AA-F7C6162D65A1}"/>
              </a:ext>
            </a:extLst>
          </p:cNvPr>
          <p:cNvSpPr>
            <a:spLocks noGrp="1"/>
          </p:cNvSpPr>
          <p:nvPr/>
        </p:nvSpPr>
        <p:spPr>
          <a:xfrm>
            <a:off x="694717" y="3429000"/>
            <a:ext cx="10096500" cy="590550"/>
          </a:xfrm>
          <a:prstGeom prst="rect">
            <a:avLst/>
          </a:prstGeom>
          <a:noFill/>
          <a:ln w="0">
            <a:noFill/>
          </a:ln>
        </p:spPr>
        <p:txBody>
          <a:bodyPr lIns="91440" tIns="45720" rIns="91440" bIns="45720" anchor="t">
            <a:normAutofit/>
          </a:bodyPr>
          <a:lstStyle/>
          <a:p>
            <a:pPr>
              <a:defRPr sz="1200" b="0">
                <a:solidFill>
                  <a:srgbClr val="CED7D9"/>
                </a:solidFill>
                <a:latin typeface="Roboto"/>
                <a:ea typeface="Roboto"/>
                <a:cs typeface="Roboto"/>
              </a:defRPr>
            </a:pPr>
            <a:r>
              <a:rPr lang="pl-PL" sz="2000" dirty="0">
                <a:solidFill>
                  <a:srgbClr val="000000"/>
                </a:solidFill>
                <a:latin typeface="Oswald"/>
                <a:ea typeface="Roboto"/>
                <a:cs typeface="Roboto"/>
                <a:hlinkClick r:id="rId3"/>
              </a:rPr>
              <a:t>https://github.com/maciejkepa/sqlday-mcp-server-demo</a:t>
            </a:r>
            <a:r>
              <a:rPr lang="pl-PL" sz="2000" dirty="0">
                <a:solidFill>
                  <a:srgbClr val="000000"/>
                </a:solidFill>
                <a:latin typeface="Oswald"/>
                <a:ea typeface="Roboto"/>
                <a:cs typeface="Roboto"/>
              </a:rPr>
              <a:t> </a:t>
            </a:r>
            <a:endParaRPr lang="en-US" sz="2000" b="0" dirty="0">
              <a:solidFill>
                <a:srgbClr val="000000"/>
              </a:solidFill>
              <a:latin typeface="Oswald"/>
              <a:ea typeface="Roboto"/>
              <a:cs typeface="Roboto"/>
            </a:endParaRPr>
          </a:p>
        </p:txBody>
      </p:sp>
    </p:spTree>
    <p:extLst>
      <p:ext uri="{BB962C8B-B14F-4D97-AF65-F5344CB8AC3E}">
        <p14:creationId xmlns:p14="http://schemas.microsoft.com/office/powerpoint/2010/main" val="1657546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429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1339</Words>
  <Application>Microsoft Office PowerPoint</Application>
  <PresentationFormat>Panoramiczny</PresentationFormat>
  <Paragraphs>226</Paragraphs>
  <Slides>17</Slides>
  <Notes>5</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17</vt:i4>
      </vt:variant>
    </vt:vector>
  </HeadingPairs>
  <TitlesOfParts>
    <vt:vector size="24" baseType="lpstr">
      <vt:lpstr>Aptos</vt:lpstr>
      <vt:lpstr>Aptos Display</vt:lpstr>
      <vt:lpstr>Arial</vt:lpstr>
      <vt:lpstr>Calibri</vt:lpstr>
      <vt:lpstr>Oswald</vt:lpstr>
      <vt:lpstr>PT Sans</vt:lpstr>
      <vt:lpstr>Office Theme</vt:lpstr>
      <vt:lpstr>MCP Servers - build your own toolkit for AI agents</vt:lpstr>
      <vt:lpstr>Prezentacja programu PowerPoint</vt:lpstr>
      <vt:lpstr>About us</vt:lpstr>
      <vt:lpstr>Agenda</vt:lpstr>
      <vt:lpstr>LLM: The Language Engine </vt:lpstr>
      <vt:lpstr>An agent is an LLM inside a work loop </vt:lpstr>
      <vt:lpstr>The agent needs more than access</vt:lpstr>
      <vt:lpstr>Enterprise systems don't speak "agentic" </vt:lpstr>
      <vt:lpstr>The enterprise adapter</vt:lpstr>
      <vt:lpstr>MCP architecture</vt:lpstr>
      <vt:lpstr>Building the contract</vt:lpstr>
      <vt:lpstr>Where to run a custom MCP server</vt:lpstr>
      <vt:lpstr>The Challenge: Agent vs. Agent + MCP </vt:lpstr>
      <vt:lpstr>Prezentacja programu PowerPoint</vt:lpstr>
      <vt:lpstr>When to use MCP </vt:lpstr>
      <vt:lpstr>Demo link</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Michał Sadowski</dc:creator>
  <cp:lastModifiedBy>Maciej Kępa</cp:lastModifiedBy>
  <cp:revision>2</cp:revision>
  <dcterms:created xsi:type="dcterms:W3CDTF">2024-04-18T18:49:17Z</dcterms:created>
  <dcterms:modified xsi:type="dcterms:W3CDTF">2026-10-04T14:43:47Z</dcterms:modified>
</cp:coreProperties>
</file>